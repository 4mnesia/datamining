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86" r:id="rId5"/>
    <p:sldId id="287" r:id="rId6"/>
    <p:sldId id="263" r:id="rId7"/>
    <p:sldId id="259"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20104100" cy="11309350"/>
  <p:notesSz cx="20104100" cy="11309350"/>
  <p:embeddedFontLst>
    <p:embeddedFont>
      <p:font typeface="Arial Black" panose="020B0A04020102020204" pitchFamily="34" charset="0"/>
      <p:regular r:id="rId32"/>
      <p:bold r:id="rId33"/>
    </p:embeddedFont>
    <p:embeddedFont>
      <p:font typeface="Calibri" panose="020F0502020204030204" pitchFamily="34" charset="0"/>
      <p:regular r:id="rId34"/>
      <p:bold r:id="rId35"/>
      <p:italic r:id="rId36"/>
      <p:boldItalic r:id="rId37"/>
    </p:embeddedFont>
    <p:embeddedFont>
      <p:font typeface="Helvetica Neue" panose="020B060402020202020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hcOWd9BbKLBIBi7Vw6oJ2C5mkNV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8" d="100"/>
          <a:sy n="48" d="100"/>
        </p:scale>
        <p:origin x="821" y="4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8712200" cy="56673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 name="Google Shape;4;n"/>
          <p:cNvSpPr txBox="1">
            <a:spLocks noGrp="1"/>
          </p:cNvSpPr>
          <p:nvPr>
            <p:ph type="dt" idx="10"/>
          </p:nvPr>
        </p:nvSpPr>
        <p:spPr>
          <a:xfrm>
            <a:off x="11387138" y="0"/>
            <a:ext cx="8712200" cy="566738"/>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 name="Google Shape;5;n"/>
          <p:cNvSpPr>
            <a:spLocks noGrp="1" noRot="1" noChangeAspect="1"/>
          </p:cNvSpPr>
          <p:nvPr>
            <p:ph type="sldImg" idx="3"/>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2009775" y="5441950"/>
            <a:ext cx="16084550" cy="44545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742613"/>
            <a:ext cx="8712200" cy="5667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n"/>
          <p:cNvSpPr txBox="1">
            <a:spLocks noGrp="1"/>
          </p:cNvSpPr>
          <p:nvPr>
            <p:ph type="sldNum" idx="12"/>
          </p:nvPr>
        </p:nvSpPr>
        <p:spPr>
          <a:xfrm>
            <a:off x="11387138" y="10742613"/>
            <a:ext cx="8712200" cy="56673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CL" sz="1200"/>
              <a:t>‹Nº›</a:t>
            </a:fld>
            <a:endParaRPr sz="12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2: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3: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3: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8289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0676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0: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1:notes"/>
          <p:cNvSpPr txBox="1">
            <a:spLocks noGrp="1"/>
          </p:cNvSpPr>
          <p:nvPr>
            <p:ph type="body" idx="1"/>
          </p:nvPr>
        </p:nvSpPr>
        <p:spPr>
          <a:xfrm>
            <a:off x="2009775" y="5441950"/>
            <a:ext cx="16084550" cy="44545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1:notes"/>
          <p:cNvSpPr txBox="1">
            <a:spLocks noGrp="1"/>
          </p:cNvSpPr>
          <p:nvPr>
            <p:ph type="sldNum" idx="12"/>
          </p:nvPr>
        </p:nvSpPr>
        <p:spPr>
          <a:xfrm>
            <a:off x="11387138" y="10742613"/>
            <a:ext cx="8712200" cy="56673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CL"/>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2: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2: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6: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6: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7: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7: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8: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9: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1: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2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2: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2: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3: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3: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4: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6: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6: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7: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7: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8: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2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9: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0: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0: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obj">
  <p:cSld name="OBJECT">
    <p:spTree>
      <p:nvGrpSpPr>
        <p:cNvPr id="1" name="Shape 15"/>
        <p:cNvGrpSpPr/>
        <p:nvPr/>
      </p:nvGrpSpPr>
      <p:grpSpPr>
        <a:xfrm>
          <a:off x="0" y="0"/>
          <a:ext cx="0" cy="0"/>
          <a:chOff x="0" y="0"/>
          <a:chExt cx="0" cy="0"/>
        </a:xfrm>
      </p:grpSpPr>
      <p:pic>
        <p:nvPicPr>
          <p:cNvPr id="16" name="Google Shape;16;p32"/>
          <p:cNvPicPr preferRelativeResize="0"/>
          <p:nvPr/>
        </p:nvPicPr>
        <p:blipFill rotWithShape="1">
          <a:blip r:embed="rId2">
            <a:alphaModFix/>
          </a:blip>
          <a:srcRect/>
          <a:stretch/>
        </p:blipFill>
        <p:spPr>
          <a:xfrm>
            <a:off x="0" y="396"/>
            <a:ext cx="20104810" cy="11308953"/>
          </a:xfrm>
          <a:prstGeom prst="rect">
            <a:avLst/>
          </a:prstGeom>
          <a:noFill/>
          <a:ln>
            <a:noFill/>
          </a:ln>
        </p:spPr>
      </p:pic>
      <p:sp>
        <p:nvSpPr>
          <p:cNvPr id="17" name="Google Shape;17;p32"/>
          <p:cNvSpPr txBox="1">
            <a:spLocks noGrp="1"/>
          </p:cNvSpPr>
          <p:nvPr>
            <p:ph type="ctrTitle"/>
          </p:nvPr>
        </p:nvSpPr>
        <p:spPr>
          <a:xfrm>
            <a:off x="2838209" y="8700548"/>
            <a:ext cx="6781800" cy="5847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2"/>
          <p:cNvSpPr txBox="1">
            <a:spLocks noGrp="1"/>
          </p:cNvSpPr>
          <p:nvPr>
            <p:ph type="subTitle" idx="1"/>
          </p:nvPr>
        </p:nvSpPr>
        <p:spPr>
          <a:xfrm>
            <a:off x="2838209" y="9612314"/>
            <a:ext cx="8712681" cy="3693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2"/>
          <p:cNvSpPr/>
          <p:nvPr/>
        </p:nvSpPr>
        <p:spPr>
          <a:xfrm>
            <a:off x="2838209" y="9464675"/>
            <a:ext cx="8841105" cy="0"/>
          </a:xfrm>
          <a:custGeom>
            <a:avLst/>
            <a:gdLst/>
            <a:ahLst/>
            <a:cxnLst/>
            <a:rect l="l" t="t" r="r" b="b"/>
            <a:pathLst>
              <a:path w="8841105" h="120000" extrusionOk="0">
                <a:moveTo>
                  <a:pt x="0" y="0"/>
                </a:moveTo>
                <a:lnTo>
                  <a:pt x="8840652" y="0"/>
                </a:lnTo>
              </a:path>
            </a:pathLst>
          </a:custGeom>
          <a:noFill/>
          <a:ln w="1045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0"/>
        <p:cNvGrpSpPr/>
        <p:nvPr/>
      </p:nvGrpSpPr>
      <p:grpSpPr>
        <a:xfrm>
          <a:off x="0" y="0"/>
          <a:ext cx="0" cy="0"/>
          <a:chOff x="0" y="0"/>
          <a:chExt cx="0" cy="0"/>
        </a:xfrm>
      </p:grpSpPr>
      <p:pic>
        <p:nvPicPr>
          <p:cNvPr id="21" name="Google Shape;21;p33"/>
          <p:cNvPicPr preferRelativeResize="0"/>
          <p:nvPr/>
        </p:nvPicPr>
        <p:blipFill rotWithShape="1">
          <a:blip r:embed="rId2">
            <a:alphaModFix/>
          </a:blip>
          <a:srcRect/>
          <a:stretch/>
        </p:blipFill>
        <p:spPr>
          <a:xfrm>
            <a:off x="3362" y="0"/>
            <a:ext cx="20097375" cy="11309350"/>
          </a:xfrm>
          <a:prstGeom prst="rect">
            <a:avLst/>
          </a:prstGeom>
          <a:noFill/>
          <a:ln>
            <a:noFill/>
          </a:ln>
        </p:spPr>
      </p:pic>
      <p:sp>
        <p:nvSpPr>
          <p:cNvPr id="22" name="Google Shape;22;p33"/>
          <p:cNvSpPr txBox="1">
            <a:spLocks noGrp="1"/>
          </p:cNvSpPr>
          <p:nvPr>
            <p:ph type="title"/>
          </p:nvPr>
        </p:nvSpPr>
        <p:spPr>
          <a:xfrm>
            <a:off x="6851650" y="7483475"/>
            <a:ext cx="9782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3"/>
        <p:cNvGrpSpPr/>
        <p:nvPr/>
      </p:nvGrpSpPr>
      <p:grpSpPr>
        <a:xfrm>
          <a:off x="0" y="0"/>
          <a:ext cx="0" cy="0"/>
          <a:chOff x="0" y="0"/>
          <a:chExt cx="0" cy="0"/>
        </a:xfrm>
      </p:grpSpPr>
      <p:pic>
        <p:nvPicPr>
          <p:cNvPr id="24" name="Google Shape;24;p34"/>
          <p:cNvPicPr preferRelativeResize="0"/>
          <p:nvPr/>
        </p:nvPicPr>
        <p:blipFill rotWithShape="1">
          <a:blip r:embed="rId2">
            <a:alphaModFix/>
          </a:blip>
          <a:srcRect/>
          <a:stretch/>
        </p:blipFill>
        <p:spPr>
          <a:xfrm>
            <a:off x="3362" y="0"/>
            <a:ext cx="20097375" cy="11309350"/>
          </a:xfrm>
          <a:prstGeom prst="rect">
            <a:avLst/>
          </a:prstGeom>
          <a:noFill/>
          <a:ln>
            <a:noFill/>
          </a:ln>
        </p:spPr>
      </p:pic>
      <p:sp>
        <p:nvSpPr>
          <p:cNvPr id="25" name="Google Shape;25;p34"/>
          <p:cNvSpPr txBox="1">
            <a:spLocks noGrp="1"/>
          </p:cNvSpPr>
          <p:nvPr>
            <p:ph type="title"/>
          </p:nvPr>
        </p:nvSpPr>
        <p:spPr>
          <a:xfrm>
            <a:off x="4794250" y="6950075"/>
            <a:ext cx="9782022" cy="1538883"/>
          </a:xfrm>
          <a:prstGeom prst="rect">
            <a:avLst/>
          </a:prstGeom>
          <a:noFill/>
          <a:ln>
            <a:noFill/>
          </a:ln>
        </p:spPr>
        <p:txBody>
          <a:bodyPr spcFirstLastPara="1" wrap="square" lIns="0" tIns="0" rIns="0" bIns="0" anchor="t" anchorCtr="0">
            <a:spAutoFit/>
          </a:bodyPr>
          <a:lstStyle>
            <a:lvl1pPr lvl="0" algn="r">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6"/>
        <p:cNvGrpSpPr/>
        <p:nvPr/>
      </p:nvGrpSpPr>
      <p:grpSpPr>
        <a:xfrm>
          <a:off x="0" y="0"/>
          <a:ext cx="0" cy="0"/>
          <a:chOff x="0" y="0"/>
          <a:chExt cx="0" cy="0"/>
        </a:xfrm>
      </p:grpSpPr>
      <p:sp>
        <p:nvSpPr>
          <p:cNvPr id="27" name="Google Shape;27;p35"/>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5"/>
          <p:cNvSpPr/>
          <p:nvPr/>
        </p:nvSpPr>
        <p:spPr>
          <a:xfrm>
            <a:off x="-6350" y="656116"/>
            <a:ext cx="2243455" cy="1060450"/>
          </a:xfrm>
          <a:custGeom>
            <a:avLst/>
            <a:gdLst/>
            <a:ahLst/>
            <a:cxnLst/>
            <a:rect l="l" t="t" r="r" b="b"/>
            <a:pathLst>
              <a:path w="2243455" h="1060450" extrusionOk="0">
                <a:moveTo>
                  <a:pt x="2243429" y="0"/>
                </a:moveTo>
                <a:lnTo>
                  <a:pt x="0" y="0"/>
                </a:lnTo>
                <a:lnTo>
                  <a:pt x="0" y="1059999"/>
                </a:lnTo>
                <a:lnTo>
                  <a:pt x="2243429" y="1059999"/>
                </a:lnTo>
                <a:lnTo>
                  <a:pt x="2243429" y="0"/>
                </a:lnTo>
                <a:close/>
              </a:path>
            </a:pathLst>
          </a:custGeom>
          <a:solidFill>
            <a:srgbClr val="257CE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9" name="Google Shape;29;p35"/>
          <p:cNvSpPr/>
          <p:nvPr/>
        </p:nvSpPr>
        <p:spPr>
          <a:xfrm>
            <a:off x="16938421" y="10202309"/>
            <a:ext cx="1576070" cy="511175"/>
          </a:xfrm>
          <a:custGeom>
            <a:avLst/>
            <a:gdLst/>
            <a:ahLst/>
            <a:cxnLst/>
            <a:rect l="l" t="t" r="r" b="b"/>
            <a:pathLst>
              <a:path w="1576069" h="511175" extrusionOk="0">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extrusionOk="0">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extrusionOk="0">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extrusionOk="0">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0" name="Google Shape;30;p35"/>
          <p:cNvSpPr/>
          <p:nvPr/>
        </p:nvSpPr>
        <p:spPr>
          <a:xfrm>
            <a:off x="18623540" y="10245307"/>
            <a:ext cx="378460" cy="469900"/>
          </a:xfrm>
          <a:custGeom>
            <a:avLst/>
            <a:gdLst/>
            <a:ahLst/>
            <a:cxnLst/>
            <a:rect l="l" t="t" r="r" b="b"/>
            <a:pathLst>
              <a:path w="378459" h="469900" extrusionOk="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31" name="Google Shape;31;p35"/>
          <p:cNvGrpSpPr/>
          <p:nvPr/>
        </p:nvGrpSpPr>
        <p:grpSpPr>
          <a:xfrm>
            <a:off x="19053919" y="10117702"/>
            <a:ext cx="427015" cy="597582"/>
            <a:chOff x="19053919" y="10117702"/>
            <a:chExt cx="427015" cy="597582"/>
          </a:xfrm>
        </p:grpSpPr>
        <p:sp>
          <p:nvSpPr>
            <p:cNvPr id="32" name="Google Shape;32;p35"/>
            <p:cNvSpPr/>
            <p:nvPr/>
          </p:nvSpPr>
          <p:spPr>
            <a:xfrm>
              <a:off x="19053919" y="10237764"/>
              <a:ext cx="366395" cy="477520"/>
            </a:xfrm>
            <a:custGeom>
              <a:avLst/>
              <a:gdLst/>
              <a:ahLst/>
              <a:cxnLst/>
              <a:rect l="l" t="t" r="r" b="b"/>
              <a:pathLst>
                <a:path w="366394" h="477520" extrusionOk="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3" name="Google Shape;33;p35"/>
            <p:cNvPicPr preferRelativeResize="0"/>
            <p:nvPr/>
          </p:nvPicPr>
          <p:blipFill rotWithShape="1">
            <a:blip r:embed="rId2">
              <a:alphaModFix/>
            </a:blip>
            <a:srcRect/>
            <a:stretch/>
          </p:blipFill>
          <p:spPr>
            <a:xfrm>
              <a:off x="19368634" y="10117702"/>
              <a:ext cx="112300" cy="112268"/>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4"/>
        <p:cNvGrpSpPr/>
        <p:nvPr/>
      </p:nvGrpSpPr>
      <p:grpSpPr>
        <a:xfrm>
          <a:off x="0" y="0"/>
          <a:ext cx="0" cy="0"/>
          <a:chOff x="0" y="0"/>
          <a:chExt cx="0" cy="0"/>
        </a:xfrm>
      </p:grpSpPr>
      <p:pic>
        <p:nvPicPr>
          <p:cNvPr id="35" name="Google Shape;35;p36"/>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36" name="Google Shape;36;p36"/>
          <p:cNvPicPr preferRelativeResize="0"/>
          <p:nvPr/>
        </p:nvPicPr>
        <p:blipFill rotWithShape="1">
          <a:blip r:embed="rId3">
            <a:alphaModFix/>
          </a:blip>
          <a:srcRect/>
          <a:stretch/>
        </p:blipFill>
        <p:spPr>
          <a:xfrm>
            <a:off x="0" y="3340"/>
            <a:ext cx="20109342" cy="11305614"/>
          </a:xfrm>
          <a:prstGeom prst="rect">
            <a:avLst/>
          </a:prstGeom>
          <a:noFill/>
          <a:ln>
            <a:noFill/>
          </a:ln>
        </p:spPr>
      </p:pic>
      <p:sp>
        <p:nvSpPr>
          <p:cNvPr id="37" name="Google Shape;37;p36"/>
          <p:cNvSpPr/>
          <p:nvPr/>
        </p:nvSpPr>
        <p:spPr>
          <a:xfrm>
            <a:off x="755650" y="6264275"/>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38" name="Google Shape;38;p36"/>
          <p:cNvSpPr txBox="1">
            <a:spLocks noGrp="1"/>
          </p:cNvSpPr>
          <p:nvPr>
            <p:ph type="title"/>
          </p:nvPr>
        </p:nvSpPr>
        <p:spPr>
          <a:xfrm>
            <a:off x="1184428" y="6591401"/>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9"/>
        <p:cNvGrpSpPr/>
        <p:nvPr/>
      </p:nvGrpSpPr>
      <p:grpSpPr>
        <a:xfrm>
          <a:off x="0" y="0"/>
          <a:ext cx="0" cy="0"/>
          <a:chOff x="0" y="0"/>
          <a:chExt cx="0" cy="0"/>
        </a:xfrm>
      </p:grpSpPr>
      <p:sp>
        <p:nvSpPr>
          <p:cNvPr id="40" name="Google Shape;40;p37"/>
          <p:cNvSpPr/>
          <p:nvPr/>
        </p:nvSpPr>
        <p:spPr>
          <a:xfrm>
            <a:off x="727227" y="10202309"/>
            <a:ext cx="1576070" cy="511175"/>
          </a:xfrm>
          <a:custGeom>
            <a:avLst/>
            <a:gdLst/>
            <a:ahLst/>
            <a:cxnLst/>
            <a:rect l="l" t="t" r="r" b="b"/>
            <a:pathLst>
              <a:path w="1576070" h="511175" extrusionOk="0">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extrusionOk="0">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extrusionOk="0">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extrusionOk="0">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1" name="Google Shape;41;p37"/>
          <p:cNvSpPr/>
          <p:nvPr/>
        </p:nvSpPr>
        <p:spPr>
          <a:xfrm>
            <a:off x="2412348" y="10245307"/>
            <a:ext cx="378460" cy="469900"/>
          </a:xfrm>
          <a:custGeom>
            <a:avLst/>
            <a:gdLst/>
            <a:ahLst/>
            <a:cxnLst/>
            <a:rect l="l" t="t" r="r" b="b"/>
            <a:pathLst>
              <a:path w="378460" h="469900" extrusionOk="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42" name="Google Shape;42;p37"/>
          <p:cNvGrpSpPr/>
          <p:nvPr/>
        </p:nvGrpSpPr>
        <p:grpSpPr>
          <a:xfrm>
            <a:off x="2842727" y="10117702"/>
            <a:ext cx="427015" cy="597582"/>
            <a:chOff x="2842727" y="10117702"/>
            <a:chExt cx="427015" cy="597582"/>
          </a:xfrm>
        </p:grpSpPr>
        <p:sp>
          <p:nvSpPr>
            <p:cNvPr id="43" name="Google Shape;43;p37"/>
            <p:cNvSpPr/>
            <p:nvPr/>
          </p:nvSpPr>
          <p:spPr>
            <a:xfrm>
              <a:off x="2842727" y="10237764"/>
              <a:ext cx="366395" cy="477520"/>
            </a:xfrm>
            <a:custGeom>
              <a:avLst/>
              <a:gdLst/>
              <a:ahLst/>
              <a:cxnLst/>
              <a:rect l="l" t="t" r="r" b="b"/>
              <a:pathLst>
                <a:path w="366394" h="477520" extrusionOk="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44" name="Google Shape;44;p37"/>
            <p:cNvPicPr preferRelativeResize="0"/>
            <p:nvPr/>
          </p:nvPicPr>
          <p:blipFill rotWithShape="1">
            <a:blip r:embed="rId2">
              <a:alphaModFix/>
            </a:blip>
            <a:srcRect/>
            <a:stretch/>
          </p:blipFill>
          <p:spPr>
            <a:xfrm>
              <a:off x="3157442" y="10117702"/>
              <a:ext cx="112300" cy="112268"/>
            </a:xfrm>
            <a:prstGeom prst="rect">
              <a:avLst/>
            </a:prstGeom>
            <a:noFill/>
            <a:ln>
              <a:noFill/>
            </a:ln>
          </p:spPr>
        </p:pic>
      </p:grpSp>
      <p:sp>
        <p:nvSpPr>
          <p:cNvPr id="45" name="Google Shape;45;p37"/>
          <p:cNvSpPr/>
          <p:nvPr/>
        </p:nvSpPr>
        <p:spPr>
          <a:xfrm>
            <a:off x="17840597" y="656116"/>
            <a:ext cx="2243455" cy="1060450"/>
          </a:xfrm>
          <a:custGeom>
            <a:avLst/>
            <a:gdLst/>
            <a:ahLst/>
            <a:cxnLst/>
            <a:rect l="l" t="t" r="r" b="b"/>
            <a:pathLst>
              <a:path w="2243455" h="1060450" extrusionOk="0">
                <a:moveTo>
                  <a:pt x="2243429" y="0"/>
                </a:moveTo>
                <a:lnTo>
                  <a:pt x="0" y="0"/>
                </a:lnTo>
                <a:lnTo>
                  <a:pt x="0" y="1059999"/>
                </a:lnTo>
                <a:lnTo>
                  <a:pt x="2243429" y="1059999"/>
                </a:lnTo>
                <a:lnTo>
                  <a:pt x="2243429" y="0"/>
                </a:lnTo>
                <a:close/>
              </a:path>
            </a:pathLst>
          </a:custGeom>
          <a:solidFill>
            <a:srgbClr val="257CE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6" name="Google Shape;46;p37"/>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lvl1pPr marL="457200" lvl="0" indent="-228600" algn="r">
              <a:spcBef>
                <a:spcPts val="0"/>
              </a:spcBef>
              <a:spcAft>
                <a:spcPts val="0"/>
              </a:spcAft>
              <a:buSzPts val="1400"/>
              <a:buNone/>
              <a:defRPr sz="4800" b="1">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5_Diseño personalizado">
  <p:cSld name="5_Diseño personalizado">
    <p:spTree>
      <p:nvGrpSpPr>
        <p:cNvPr id="1" name="Shape 47"/>
        <p:cNvGrpSpPr/>
        <p:nvPr/>
      </p:nvGrpSpPr>
      <p:grpSpPr>
        <a:xfrm>
          <a:off x="0" y="0"/>
          <a:ext cx="0" cy="0"/>
          <a:chOff x="0" y="0"/>
          <a:chExt cx="0" cy="0"/>
        </a:xfrm>
      </p:grpSpPr>
      <p:pic>
        <p:nvPicPr>
          <p:cNvPr id="48" name="Google Shape;48;p38"/>
          <p:cNvPicPr preferRelativeResize="0"/>
          <p:nvPr/>
        </p:nvPicPr>
        <p:blipFill rotWithShape="1">
          <a:blip r:embed="rId2">
            <a:alphaModFix/>
          </a:blip>
          <a:srcRect/>
          <a:stretch/>
        </p:blipFill>
        <p:spPr>
          <a:xfrm>
            <a:off x="-1" y="3340"/>
            <a:ext cx="20110047" cy="11306010"/>
          </a:xfrm>
          <a:prstGeom prst="rect">
            <a:avLst/>
          </a:prstGeom>
          <a:noFill/>
          <a:ln>
            <a:noFill/>
          </a:ln>
        </p:spPr>
      </p:pic>
      <p:sp>
        <p:nvSpPr>
          <p:cNvPr id="49" name="Google Shape;49;p38"/>
          <p:cNvSpPr txBox="1">
            <a:spLocks noGrp="1"/>
          </p:cNvSpPr>
          <p:nvPr>
            <p:ph type="title"/>
          </p:nvPr>
        </p:nvSpPr>
        <p:spPr>
          <a:xfrm>
            <a:off x="831850" y="7178675"/>
            <a:ext cx="9782022" cy="1538883"/>
          </a:xfrm>
          <a:prstGeom prst="rect">
            <a:avLst/>
          </a:prstGeom>
          <a:noFill/>
          <a:ln>
            <a:noFill/>
          </a:ln>
        </p:spPr>
        <p:txBody>
          <a:bodyPr spcFirstLastPara="1" wrap="square" lIns="0" tIns="0" rIns="0" bIns="0" anchor="t" anchorCtr="0">
            <a:spAutoFit/>
          </a:bodyPr>
          <a:lstStyle>
            <a:lvl1pPr lvl="0" algn="r">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6_Diseño personalizado">
  <p:cSld name="6_Diseño personalizado">
    <p:spTree>
      <p:nvGrpSpPr>
        <p:cNvPr id="1" name="Shape 50"/>
        <p:cNvGrpSpPr/>
        <p:nvPr/>
      </p:nvGrpSpPr>
      <p:grpSpPr>
        <a:xfrm>
          <a:off x="0" y="0"/>
          <a:ext cx="0" cy="0"/>
          <a:chOff x="0" y="0"/>
          <a:chExt cx="0" cy="0"/>
        </a:xfrm>
      </p:grpSpPr>
      <p:pic>
        <p:nvPicPr>
          <p:cNvPr id="51" name="Google Shape;51;p39"/>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52" name="Google Shape;52;p39"/>
          <p:cNvPicPr preferRelativeResize="0"/>
          <p:nvPr/>
        </p:nvPicPr>
        <p:blipFill rotWithShape="1">
          <a:blip r:embed="rId3">
            <a:alphaModFix/>
          </a:blip>
          <a:srcRect/>
          <a:stretch/>
        </p:blipFill>
        <p:spPr>
          <a:xfrm>
            <a:off x="3362" y="0"/>
            <a:ext cx="20097375" cy="11309350"/>
          </a:xfrm>
          <a:prstGeom prst="rect">
            <a:avLst/>
          </a:prstGeom>
          <a:noFill/>
          <a:ln>
            <a:noFill/>
          </a:ln>
        </p:spPr>
      </p:pic>
      <p:sp>
        <p:nvSpPr>
          <p:cNvPr id="53" name="Google Shape;53;p39"/>
          <p:cNvSpPr/>
          <p:nvPr/>
        </p:nvSpPr>
        <p:spPr>
          <a:xfrm>
            <a:off x="7232650" y="7880350"/>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54" name="Google Shape;54;p39"/>
          <p:cNvSpPr txBox="1">
            <a:spLocks noGrp="1"/>
          </p:cNvSpPr>
          <p:nvPr>
            <p:ph type="title"/>
          </p:nvPr>
        </p:nvSpPr>
        <p:spPr>
          <a:xfrm>
            <a:off x="7661428" y="8207476"/>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Diseño personalizado">
  <p:cSld name="3_Diseño personalizado">
    <p:spTree>
      <p:nvGrpSpPr>
        <p:cNvPr id="1" name="Shape 55"/>
        <p:cNvGrpSpPr/>
        <p:nvPr/>
      </p:nvGrpSpPr>
      <p:grpSpPr>
        <a:xfrm>
          <a:off x="0" y="0"/>
          <a:ext cx="0" cy="0"/>
          <a:chOff x="0" y="0"/>
          <a:chExt cx="0" cy="0"/>
        </a:xfrm>
      </p:grpSpPr>
      <p:pic>
        <p:nvPicPr>
          <p:cNvPr id="56" name="Google Shape;56;p40"/>
          <p:cNvPicPr preferRelativeResize="0"/>
          <p:nvPr/>
        </p:nvPicPr>
        <p:blipFill rotWithShape="1">
          <a:blip r:embed="rId2">
            <a:alphaModFix/>
          </a:blip>
          <a:srcRect/>
          <a:stretch/>
        </p:blipFill>
        <p:spPr>
          <a:xfrm>
            <a:off x="3362" y="0"/>
            <a:ext cx="20097375" cy="11309350"/>
          </a:xfrm>
          <a:prstGeom prst="rect">
            <a:avLst/>
          </a:prstGeom>
          <a:noFill/>
          <a:ln>
            <a:noFill/>
          </a:ln>
        </p:spPr>
      </p:pic>
      <p:sp>
        <p:nvSpPr>
          <p:cNvPr id="57" name="Google Shape;57;p40"/>
          <p:cNvSpPr txBox="1">
            <a:spLocks noGrp="1"/>
          </p:cNvSpPr>
          <p:nvPr>
            <p:ph type="title"/>
          </p:nvPr>
        </p:nvSpPr>
        <p:spPr>
          <a:xfrm>
            <a:off x="6623050" y="7026275"/>
            <a:ext cx="9782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_Diseño personalizado">
  <p:cSld name="4_Diseño personalizado">
    <p:spTree>
      <p:nvGrpSpPr>
        <p:cNvPr id="1" name="Shape 58"/>
        <p:cNvGrpSpPr/>
        <p:nvPr/>
      </p:nvGrpSpPr>
      <p:grpSpPr>
        <a:xfrm>
          <a:off x="0" y="0"/>
          <a:ext cx="0" cy="0"/>
          <a:chOff x="0" y="0"/>
          <a:chExt cx="0" cy="0"/>
        </a:xfrm>
      </p:grpSpPr>
      <p:pic>
        <p:nvPicPr>
          <p:cNvPr id="59" name="Google Shape;59;p41"/>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60" name="Google Shape;60;p41"/>
          <p:cNvPicPr preferRelativeResize="0"/>
          <p:nvPr/>
        </p:nvPicPr>
        <p:blipFill rotWithShape="1">
          <a:blip r:embed="rId3">
            <a:alphaModFix/>
          </a:blip>
          <a:srcRect/>
          <a:stretch/>
        </p:blipFill>
        <p:spPr>
          <a:xfrm>
            <a:off x="3362" y="0"/>
            <a:ext cx="20097375" cy="11309350"/>
          </a:xfrm>
          <a:prstGeom prst="rect">
            <a:avLst/>
          </a:prstGeom>
          <a:noFill/>
          <a:ln>
            <a:noFill/>
          </a:ln>
        </p:spPr>
      </p:pic>
      <p:sp>
        <p:nvSpPr>
          <p:cNvPr id="61" name="Google Shape;61;p41"/>
          <p:cNvSpPr/>
          <p:nvPr/>
        </p:nvSpPr>
        <p:spPr>
          <a:xfrm>
            <a:off x="4413250" y="4206875"/>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62" name="Google Shape;62;p41"/>
          <p:cNvSpPr txBox="1">
            <a:spLocks noGrp="1"/>
          </p:cNvSpPr>
          <p:nvPr>
            <p:ph type="title"/>
          </p:nvPr>
        </p:nvSpPr>
        <p:spPr>
          <a:xfrm>
            <a:off x="4842028" y="4534001"/>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63"/>
        <p:cNvGrpSpPr/>
        <p:nvPr/>
      </p:nvGrpSpPr>
      <p:grpSpPr>
        <a:xfrm>
          <a:off x="0" y="0"/>
          <a:ext cx="0" cy="0"/>
          <a:chOff x="0" y="0"/>
          <a:chExt cx="0" cy="0"/>
        </a:xfrm>
      </p:grpSpPr>
      <p:pic>
        <p:nvPicPr>
          <p:cNvPr id="64" name="Google Shape;64;p42"/>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65" name="Google Shape;65;p42"/>
          <p:cNvPicPr preferRelativeResize="0"/>
          <p:nvPr/>
        </p:nvPicPr>
        <p:blipFill rotWithShape="1">
          <a:blip r:embed="rId3">
            <a:alphaModFix/>
          </a:blip>
          <a:srcRect/>
          <a:stretch/>
        </p:blipFill>
        <p:spPr>
          <a:xfrm>
            <a:off x="3362" y="0"/>
            <a:ext cx="20097375" cy="11309350"/>
          </a:xfrm>
          <a:prstGeom prst="rect">
            <a:avLst/>
          </a:prstGeom>
          <a:noFill/>
          <a:ln>
            <a:noFill/>
          </a:ln>
        </p:spPr>
      </p:pic>
      <p:sp>
        <p:nvSpPr>
          <p:cNvPr id="66" name="Google Shape;66;p42"/>
          <p:cNvSpPr/>
          <p:nvPr/>
        </p:nvSpPr>
        <p:spPr>
          <a:xfrm>
            <a:off x="7004050" y="7331075"/>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67" name="Google Shape;67;p42"/>
          <p:cNvSpPr txBox="1">
            <a:spLocks noGrp="1"/>
          </p:cNvSpPr>
          <p:nvPr>
            <p:ph type="title"/>
          </p:nvPr>
        </p:nvSpPr>
        <p:spPr>
          <a:xfrm>
            <a:off x="7432828" y="7658201"/>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6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6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1"/>
          <p:cNvSpPr txBox="1">
            <a:spLocks noGrp="1"/>
          </p:cNvSpPr>
          <p:nvPr>
            <p:ph type="title"/>
          </p:nvPr>
        </p:nvSpPr>
        <p:spPr>
          <a:xfrm>
            <a:off x="12314421" y="714594"/>
            <a:ext cx="5259705" cy="91566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58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1"/>
          <p:cNvSpPr txBox="1">
            <a:spLocks noGrp="1"/>
          </p:cNvSpPr>
          <p:nvPr>
            <p:ph type="body" idx="1"/>
          </p:nvPr>
        </p:nvSpPr>
        <p:spPr>
          <a:xfrm>
            <a:off x="1005205" y="2601150"/>
            <a:ext cx="18093690" cy="7464171"/>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31"/>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31"/>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31"/>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txBox="1">
            <a:spLocks noGrp="1"/>
          </p:cNvSpPr>
          <p:nvPr>
            <p:ph type="ctrTitle"/>
          </p:nvPr>
        </p:nvSpPr>
        <p:spPr>
          <a:xfrm>
            <a:off x="2889250" y="8169275"/>
            <a:ext cx="8749511" cy="1754326"/>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br>
              <a:rPr lang="es-CL" dirty="0"/>
            </a:br>
            <a:r>
              <a:rPr lang="es-CL" dirty="0"/>
              <a:t>LIMPIEZA DE DATOS</a:t>
            </a:r>
            <a:br>
              <a:rPr lang="es-CL" sz="3800" dirty="0"/>
            </a:br>
            <a:endParaRPr sz="3800" dirty="0"/>
          </a:p>
        </p:txBody>
      </p:sp>
      <p:sp>
        <p:nvSpPr>
          <p:cNvPr id="75" name="Google Shape;75;p1"/>
          <p:cNvSpPr txBox="1">
            <a:spLocks noGrp="1"/>
          </p:cNvSpPr>
          <p:nvPr>
            <p:ph type="subTitle" idx="1"/>
          </p:nvPr>
        </p:nvSpPr>
        <p:spPr>
          <a:xfrm>
            <a:off x="2926080" y="9554269"/>
            <a:ext cx="8712681" cy="369332"/>
          </a:xfrm>
          <a:prstGeom prst="rect">
            <a:avLst/>
          </a:prstGeom>
          <a:noFill/>
          <a:ln>
            <a:noFill/>
          </a:ln>
        </p:spPr>
        <p:txBody>
          <a:bodyPr spcFirstLastPara="1" wrap="square" lIns="0" tIns="0" rIns="0" bIns="0" anchor="t" anchorCtr="0">
            <a:spAutoFit/>
          </a:bodyPr>
          <a:lstStyle/>
          <a:p>
            <a:r>
              <a:rPr lang="es-CL" dirty="0">
                <a:latin typeface="Arial"/>
                <a:cs typeface="Arial"/>
              </a:rPr>
              <a:t>BIY7121 MINERÍA DE DATOS</a:t>
            </a:r>
            <a:endParaRPr lang="es-CL" sz="2400" dirty="0">
              <a:latin typeface="Arial"/>
              <a:cs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2"/>
          <p:cNvSpPr/>
          <p:nvPr/>
        </p:nvSpPr>
        <p:spPr>
          <a:xfrm>
            <a:off x="9518650" y="2378075"/>
            <a:ext cx="5357557" cy="1015663"/>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6000" b="1">
                <a:latin typeface="Arial Black"/>
                <a:ea typeface="Arial Black"/>
                <a:cs typeface="Arial Black"/>
                <a:sym typeface="Arial Black"/>
              </a:rPr>
              <a:t>CONTENIDO</a:t>
            </a:r>
            <a:endParaRPr/>
          </a:p>
        </p:txBody>
      </p:sp>
      <p:sp>
        <p:nvSpPr>
          <p:cNvPr id="81" name="Google Shape;81;p2"/>
          <p:cNvSpPr txBox="1"/>
          <p:nvPr/>
        </p:nvSpPr>
        <p:spPr>
          <a:xfrm>
            <a:off x="9518650" y="4020489"/>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000" b="1" i="0">
                <a:solidFill>
                  <a:schemeClr val="dk1"/>
                </a:solidFill>
                <a:latin typeface="Arial Black"/>
                <a:ea typeface="Arial Black"/>
                <a:cs typeface="Arial Black"/>
                <a:sym typeface="Arial Black"/>
              </a:rPr>
              <a:t>01</a:t>
            </a:r>
            <a:endParaRPr/>
          </a:p>
        </p:txBody>
      </p:sp>
      <p:sp>
        <p:nvSpPr>
          <p:cNvPr id="82" name="Google Shape;82;p2"/>
          <p:cNvSpPr txBox="1"/>
          <p:nvPr/>
        </p:nvSpPr>
        <p:spPr>
          <a:xfrm>
            <a:off x="9617262" y="7026177"/>
            <a:ext cx="4579097"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3000" b="1" dirty="0">
                <a:solidFill>
                  <a:schemeClr val="dk1"/>
                </a:solidFill>
              </a:rPr>
              <a:t>DATOS FALTANTES</a:t>
            </a:r>
            <a:endParaRPr dirty="0"/>
          </a:p>
        </p:txBody>
      </p:sp>
      <p:sp>
        <p:nvSpPr>
          <p:cNvPr id="83" name="Google Shape;83;p2"/>
          <p:cNvSpPr txBox="1"/>
          <p:nvPr/>
        </p:nvSpPr>
        <p:spPr>
          <a:xfrm>
            <a:off x="9518650" y="6264177"/>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000" b="1" i="0" dirty="0">
                <a:solidFill>
                  <a:schemeClr val="dk1"/>
                </a:solidFill>
                <a:latin typeface="Arial Black"/>
                <a:ea typeface="Arial Black"/>
                <a:cs typeface="Arial Black"/>
                <a:sym typeface="Arial Black"/>
              </a:rPr>
              <a:t>02</a:t>
            </a:r>
            <a:endParaRPr dirty="0"/>
          </a:p>
        </p:txBody>
      </p:sp>
      <p:sp>
        <p:nvSpPr>
          <p:cNvPr id="84" name="Google Shape;84;p2"/>
          <p:cNvSpPr txBox="1"/>
          <p:nvPr/>
        </p:nvSpPr>
        <p:spPr>
          <a:xfrm>
            <a:off x="9617262" y="9194781"/>
            <a:ext cx="4165973"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3000" b="1" dirty="0">
                <a:solidFill>
                  <a:schemeClr val="dk1"/>
                </a:solidFill>
              </a:rPr>
              <a:t>OUTLIERS</a:t>
            </a:r>
            <a:endParaRPr dirty="0"/>
          </a:p>
        </p:txBody>
      </p:sp>
      <p:sp>
        <p:nvSpPr>
          <p:cNvPr id="85" name="Google Shape;85;p2"/>
          <p:cNvSpPr txBox="1"/>
          <p:nvPr/>
        </p:nvSpPr>
        <p:spPr>
          <a:xfrm>
            <a:off x="9617262" y="8432781"/>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000" b="1" i="0">
                <a:solidFill>
                  <a:schemeClr val="dk1"/>
                </a:solidFill>
                <a:latin typeface="Arial Black"/>
                <a:ea typeface="Arial Black"/>
                <a:cs typeface="Arial Black"/>
                <a:sym typeface="Arial Black"/>
              </a:rPr>
              <a:t>03</a:t>
            </a:r>
            <a:endParaRPr/>
          </a:p>
        </p:txBody>
      </p:sp>
      <p:sp>
        <p:nvSpPr>
          <p:cNvPr id="86" name="Google Shape;86;p2"/>
          <p:cNvSpPr txBox="1"/>
          <p:nvPr/>
        </p:nvSpPr>
        <p:spPr>
          <a:xfrm>
            <a:off x="9617262" y="4782488"/>
            <a:ext cx="4579097"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3000" b="1" dirty="0">
                <a:solidFill>
                  <a:schemeClr val="dk1"/>
                </a:solidFill>
              </a:rPr>
              <a:t>INTRODUCCIÓN</a:t>
            </a:r>
            <a:endParaRPr dirty="0"/>
          </a:p>
        </p:txBody>
      </p:sp>
      <p:sp>
        <p:nvSpPr>
          <p:cNvPr id="87" name="Google Shape;87;p2"/>
          <p:cNvSpPr txBox="1"/>
          <p:nvPr/>
        </p:nvSpPr>
        <p:spPr>
          <a:xfrm>
            <a:off x="14771968" y="4782489"/>
            <a:ext cx="4728882"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3000" b="1" dirty="0">
                <a:solidFill>
                  <a:schemeClr val="dk1"/>
                </a:solidFill>
              </a:rPr>
              <a:t>RESUMEN</a:t>
            </a:r>
            <a:endParaRPr dirty="0"/>
          </a:p>
        </p:txBody>
      </p:sp>
      <p:sp>
        <p:nvSpPr>
          <p:cNvPr id="88" name="Google Shape;88;p2"/>
          <p:cNvSpPr txBox="1"/>
          <p:nvPr/>
        </p:nvSpPr>
        <p:spPr>
          <a:xfrm>
            <a:off x="14656174" y="4020489"/>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000" b="1" i="0" dirty="0">
                <a:solidFill>
                  <a:schemeClr val="dk1"/>
                </a:solidFill>
                <a:latin typeface="Arial Black"/>
                <a:ea typeface="Arial Black"/>
                <a:cs typeface="Arial Black"/>
                <a:sym typeface="Arial Black"/>
              </a:rPr>
              <a:t>04</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3"/>
          <p:cNvSpPr txBox="1">
            <a:spLocks noGrp="1"/>
          </p:cNvSpPr>
          <p:nvPr>
            <p:ph type="title"/>
          </p:nvPr>
        </p:nvSpPr>
        <p:spPr>
          <a:xfrm>
            <a:off x="4413250" y="7559675"/>
            <a:ext cx="10134600" cy="1015663"/>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sz="6600" dirty="0"/>
              <a:t>INTRODUCCIÓN</a:t>
            </a:r>
            <a:endParaRPr dirty="0"/>
          </a:p>
        </p:txBody>
      </p:sp>
      <p:sp>
        <p:nvSpPr>
          <p:cNvPr id="94" name="Google Shape;94;p3"/>
          <p:cNvSpPr txBox="1"/>
          <p:nvPr/>
        </p:nvSpPr>
        <p:spPr>
          <a:xfrm>
            <a:off x="12677531" y="6082347"/>
            <a:ext cx="1905000" cy="1477328"/>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sz="9600" b="1" i="0">
                <a:solidFill>
                  <a:schemeClr val="dk1"/>
                </a:solidFill>
                <a:latin typeface="Arial Black"/>
                <a:ea typeface="Arial Black"/>
                <a:cs typeface="Arial Black"/>
                <a:sym typeface="Arial Black"/>
              </a:rPr>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4"/>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dirty="0"/>
              <a:t>INTRODUCCIÓN</a:t>
            </a:r>
            <a:endParaRPr dirty="0"/>
          </a:p>
        </p:txBody>
      </p:sp>
      <p:sp>
        <p:nvSpPr>
          <p:cNvPr id="100" name="Google Shape;100;p4"/>
          <p:cNvSpPr txBox="1"/>
          <p:nvPr/>
        </p:nvSpPr>
        <p:spPr>
          <a:xfrm>
            <a:off x="2432050" y="2149475"/>
            <a:ext cx="9296399" cy="8063706"/>
          </a:xfrm>
          <a:prstGeom prst="rect">
            <a:avLst/>
          </a:prstGeom>
          <a:noFill/>
          <a:ln>
            <a:noFill/>
          </a:ln>
        </p:spPr>
        <p:txBody>
          <a:bodyPr spcFirstLastPara="1" wrap="square" lIns="91425" tIns="45700" rIns="91425" bIns="45700" anchor="t" anchorCtr="0">
            <a:spAutoFit/>
          </a:bodyPr>
          <a:lstStyle/>
          <a:p>
            <a:pPr marL="0" lvl="0" indent="0" algn="just" rtl="0">
              <a:spcBef>
                <a:spcPts val="0"/>
              </a:spcBef>
              <a:spcAft>
                <a:spcPts val="0"/>
              </a:spcAft>
              <a:buNone/>
            </a:pPr>
            <a:endParaRPr sz="2800" dirty="0"/>
          </a:p>
          <a:p>
            <a:pPr algn="just"/>
            <a:r>
              <a:rPr lang="es-ES" sz="2800" dirty="0">
                <a:solidFill>
                  <a:schemeClr val="dk1"/>
                </a:solidFill>
                <a:latin typeface="Helvetica Neue"/>
              </a:rPr>
              <a:t>La limpieza de datos también conocida como «Data </a:t>
            </a:r>
            <a:r>
              <a:rPr lang="es-ES" sz="2800" dirty="0" err="1">
                <a:solidFill>
                  <a:schemeClr val="dk1"/>
                </a:solidFill>
                <a:latin typeface="Helvetica Neue"/>
              </a:rPr>
              <a:t>Cleansing</a:t>
            </a:r>
            <a:r>
              <a:rPr lang="es-ES" sz="2800" dirty="0">
                <a:solidFill>
                  <a:schemeClr val="dk1"/>
                </a:solidFill>
                <a:latin typeface="Helvetica Neue"/>
              </a:rPr>
              <a:t>» o «Data </a:t>
            </a:r>
            <a:r>
              <a:rPr lang="es-ES" sz="2800" dirty="0" err="1">
                <a:solidFill>
                  <a:schemeClr val="dk1"/>
                </a:solidFill>
                <a:latin typeface="Helvetica Neue"/>
              </a:rPr>
              <a:t>Scrubbing</a:t>
            </a:r>
            <a:r>
              <a:rPr lang="es-ES" sz="2800" dirty="0">
                <a:solidFill>
                  <a:schemeClr val="dk1"/>
                </a:solidFill>
                <a:latin typeface="Helvetica Neue"/>
              </a:rPr>
              <a:t>» engloba varios procesos destinados a mejorar la calidad de los datos. Hay muchas herramientas y prácticas para eliminar los problemas de un conjunto de datos.</a:t>
            </a:r>
          </a:p>
          <a:p>
            <a:pPr algn="just"/>
            <a:endParaRPr lang="es-ES" sz="2800" dirty="0">
              <a:solidFill>
                <a:schemeClr val="dk1"/>
              </a:solidFill>
              <a:latin typeface="Helvetica Neue"/>
            </a:endParaRPr>
          </a:p>
          <a:p>
            <a:pPr algn="just"/>
            <a:r>
              <a:rPr lang="es-ES" sz="2800" dirty="0">
                <a:solidFill>
                  <a:schemeClr val="dk1"/>
                </a:solidFill>
                <a:latin typeface="Helvetica Neue"/>
              </a:rPr>
              <a:t>Estos procesos se utilizan para </a:t>
            </a:r>
            <a:r>
              <a:rPr lang="es-ES" sz="2800" dirty="0">
                <a:solidFill>
                  <a:srgbClr val="FF0000"/>
                </a:solidFill>
                <a:latin typeface="Helvetica Neue"/>
              </a:rPr>
              <a:t>corregir o eliminar registros inexactos</a:t>
            </a:r>
            <a:r>
              <a:rPr lang="es-ES" sz="2800" dirty="0">
                <a:solidFill>
                  <a:schemeClr val="dk1"/>
                </a:solidFill>
                <a:latin typeface="Helvetica Neue"/>
              </a:rPr>
              <a:t> en una base de datos o conjunto de datos. En general, esto significa </a:t>
            </a:r>
            <a:r>
              <a:rPr lang="es-ES" sz="2800" dirty="0">
                <a:solidFill>
                  <a:srgbClr val="FF0000"/>
                </a:solidFill>
                <a:latin typeface="Helvetica Neue"/>
              </a:rPr>
              <a:t>identificar y sustituir los datos o registros incompletos, inexactos, corruptos o irrelevantes</a:t>
            </a:r>
            <a:r>
              <a:rPr lang="es-ES" sz="2800" dirty="0">
                <a:solidFill>
                  <a:schemeClr val="dk1"/>
                </a:solidFill>
                <a:latin typeface="Helvetica Neue"/>
              </a:rPr>
              <a:t>.</a:t>
            </a:r>
          </a:p>
          <a:p>
            <a:pPr algn="just"/>
            <a:endParaRPr lang="es-ES" sz="2800" dirty="0">
              <a:solidFill>
                <a:schemeClr val="dk1"/>
              </a:solidFill>
              <a:latin typeface="Helvetica Neue"/>
            </a:endParaRPr>
          </a:p>
          <a:p>
            <a:pPr algn="just"/>
            <a:r>
              <a:rPr lang="es-ES" sz="2800" dirty="0">
                <a:solidFill>
                  <a:schemeClr val="dk1"/>
                </a:solidFill>
                <a:latin typeface="Helvetica Neue"/>
              </a:rPr>
              <a:t>Después de una limpieza de datos correctamente realizada, todos los conjuntos de datos deben ser coherentes y estar libres de errores. Esto es esencial para el uso y la explotación de los datos.</a:t>
            </a:r>
          </a:p>
          <a:p>
            <a:pPr marL="0" lvl="0" indent="0" algn="just" rtl="0">
              <a:spcBef>
                <a:spcPts val="0"/>
              </a:spcBef>
              <a:spcAft>
                <a:spcPts val="0"/>
              </a:spcAft>
              <a:buNone/>
            </a:pPr>
            <a:endParaRPr sz="2400" dirty="0">
              <a:latin typeface="Calibri"/>
              <a:ea typeface="Calibri"/>
              <a:cs typeface="Calibri"/>
              <a:sym typeface="Calibri"/>
            </a:endParaRPr>
          </a:p>
          <a:p>
            <a:pPr marL="0" lvl="0" indent="0" algn="l" rtl="0">
              <a:spcBef>
                <a:spcPts val="0"/>
              </a:spcBef>
              <a:spcAft>
                <a:spcPts val="0"/>
              </a:spcAft>
              <a:buNone/>
            </a:pPr>
            <a:endParaRPr sz="1800" dirty="0"/>
          </a:p>
        </p:txBody>
      </p:sp>
      <p:pic>
        <p:nvPicPr>
          <p:cNvPr id="2" name="Imagen 1">
            <a:extLst>
              <a:ext uri="{FF2B5EF4-FFF2-40B4-BE49-F238E27FC236}">
                <a16:creationId xmlns:a16="http://schemas.microsoft.com/office/drawing/2014/main" id="{B353D918-1E59-D564-015C-99E98BE6D65D}"/>
              </a:ext>
            </a:extLst>
          </p:cNvPr>
          <p:cNvPicPr>
            <a:picLocks noChangeAspect="1"/>
          </p:cNvPicPr>
          <p:nvPr/>
        </p:nvPicPr>
        <p:blipFill>
          <a:blip r:embed="rId3"/>
          <a:stretch>
            <a:fillRect/>
          </a:stretch>
        </p:blipFill>
        <p:spPr>
          <a:xfrm>
            <a:off x="11985123" y="3311525"/>
            <a:ext cx="7620000" cy="4686300"/>
          </a:xfrm>
          <a:prstGeom prst="rect">
            <a:avLst/>
          </a:prstGeom>
        </p:spPr>
      </p:pic>
    </p:spTree>
    <p:extLst>
      <p:ext uri="{BB962C8B-B14F-4D97-AF65-F5344CB8AC3E}">
        <p14:creationId xmlns:p14="http://schemas.microsoft.com/office/powerpoint/2010/main" val="857251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4"/>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dirty="0"/>
              <a:t>INTRODUCCIÓN</a:t>
            </a:r>
            <a:endParaRPr dirty="0"/>
          </a:p>
        </p:txBody>
      </p:sp>
      <p:sp>
        <p:nvSpPr>
          <p:cNvPr id="100" name="Google Shape;100;p4"/>
          <p:cNvSpPr txBox="1"/>
          <p:nvPr/>
        </p:nvSpPr>
        <p:spPr>
          <a:xfrm>
            <a:off x="2432050" y="2149475"/>
            <a:ext cx="9296399" cy="9417922"/>
          </a:xfrm>
          <a:prstGeom prst="rect">
            <a:avLst/>
          </a:prstGeom>
          <a:noFill/>
          <a:ln>
            <a:noFill/>
          </a:ln>
        </p:spPr>
        <p:txBody>
          <a:bodyPr spcFirstLastPara="1" wrap="square" lIns="91425" tIns="45700" rIns="91425" bIns="45700" anchor="t" anchorCtr="0">
            <a:spAutoFit/>
          </a:bodyPr>
          <a:lstStyle/>
          <a:p>
            <a:pPr marL="0" lvl="0" indent="0" algn="just" rtl="0">
              <a:spcBef>
                <a:spcPts val="0"/>
              </a:spcBef>
              <a:spcAft>
                <a:spcPts val="0"/>
              </a:spcAft>
              <a:buNone/>
            </a:pPr>
            <a:r>
              <a:rPr lang="es-ES" sz="2800" dirty="0">
                <a:solidFill>
                  <a:schemeClr val="dk1"/>
                </a:solidFill>
                <a:latin typeface="Helvetica Neue"/>
              </a:rPr>
              <a:t>Los datos de </a:t>
            </a:r>
            <a:r>
              <a:rPr lang="es-ES" sz="2800" dirty="0">
                <a:solidFill>
                  <a:srgbClr val="FF0000"/>
                </a:solidFill>
                <a:latin typeface="Helvetica Neue"/>
              </a:rPr>
              <a:t>baja calidad </a:t>
            </a:r>
            <a:r>
              <a:rPr lang="es-ES" sz="2800" dirty="0">
                <a:solidFill>
                  <a:schemeClr val="dk1"/>
                </a:solidFill>
                <a:latin typeface="Helvetica Neue"/>
              </a:rPr>
              <a:t>pueden provocar una </a:t>
            </a:r>
            <a:r>
              <a:rPr lang="es-ES" sz="2800" dirty="0">
                <a:solidFill>
                  <a:srgbClr val="FF0000"/>
                </a:solidFill>
                <a:latin typeface="Helvetica Neue"/>
              </a:rPr>
              <a:t>gran variedad de problemas</a:t>
            </a:r>
            <a:r>
              <a:rPr lang="es-ES" sz="2800" dirty="0">
                <a:solidFill>
                  <a:schemeClr val="dk1"/>
                </a:solidFill>
                <a:latin typeface="Helvetica Neue"/>
              </a:rPr>
              <a:t>. Por ejemplo, una campaña de marketing puede estar mal orientada y, por tanto, fracasar.</a:t>
            </a:r>
          </a:p>
          <a:p>
            <a:pPr marL="0" lvl="0" indent="0" algn="just" rtl="0">
              <a:spcBef>
                <a:spcPts val="0"/>
              </a:spcBef>
              <a:spcAft>
                <a:spcPts val="0"/>
              </a:spcAft>
              <a:buNone/>
            </a:pPr>
            <a:endParaRPr lang="es-ES" sz="2800" dirty="0">
              <a:solidFill>
                <a:schemeClr val="dk1"/>
              </a:solidFill>
              <a:latin typeface="Helvetica Neue"/>
            </a:endParaRPr>
          </a:p>
          <a:p>
            <a:pPr algn="just"/>
            <a:r>
              <a:rPr lang="es-ES" sz="2800" dirty="0">
                <a:solidFill>
                  <a:schemeClr val="dk1"/>
                </a:solidFill>
                <a:latin typeface="Helvetica Neue"/>
              </a:rPr>
              <a:t>En el ámbito de la sanidad, unos datos deficientes pueden llevar a tratamientos inadecuados e incluso al fracaso en el desarrollo de medicamentos. Un estudio realizado por Accenture revela que la falta de datos limpios es la principal barrera para la adopción de la IA en este campo.</a:t>
            </a:r>
          </a:p>
          <a:p>
            <a:pPr algn="just"/>
            <a:endParaRPr lang="es-ES" sz="2800" dirty="0">
              <a:solidFill>
                <a:schemeClr val="dk1"/>
              </a:solidFill>
              <a:latin typeface="Helvetica Neue"/>
            </a:endParaRPr>
          </a:p>
          <a:p>
            <a:pPr algn="just"/>
            <a:r>
              <a:rPr lang="es-ES" sz="2800" dirty="0">
                <a:solidFill>
                  <a:schemeClr val="dk1"/>
                </a:solidFill>
                <a:latin typeface="Helvetica Neue"/>
              </a:rPr>
              <a:t>En el ámbito de la logística, los datos pueden causar problemas de inventario, de planificación de las entregas y, por tanto, de satisfacción del cliente. </a:t>
            </a:r>
          </a:p>
          <a:p>
            <a:pPr algn="just"/>
            <a:endParaRPr lang="es-ES" sz="2800" dirty="0">
              <a:solidFill>
                <a:schemeClr val="dk1"/>
              </a:solidFill>
              <a:latin typeface="Helvetica Neue"/>
            </a:endParaRPr>
          </a:p>
          <a:p>
            <a:pPr algn="just"/>
            <a:r>
              <a:rPr lang="es-ES" sz="2800" dirty="0">
                <a:solidFill>
                  <a:srgbClr val="FF0000"/>
                </a:solidFill>
                <a:latin typeface="Helvetica Neue"/>
              </a:rPr>
              <a:t>Por último, la limpieza de datos es necesaria para cumplir con las normas de privacidad </a:t>
            </a:r>
            <a:r>
              <a:rPr lang="es-ES" sz="2800" dirty="0">
                <a:solidFill>
                  <a:schemeClr val="dk1"/>
                </a:solidFill>
                <a:latin typeface="Helvetica Neue"/>
              </a:rPr>
              <a:t>impuestas por la ley. Por lo tanto, sea cual sea el sector, esta práctica puede evitar grandes problemas. </a:t>
            </a:r>
          </a:p>
          <a:p>
            <a:pPr marL="0" lvl="0" indent="0" algn="just" rtl="0">
              <a:spcBef>
                <a:spcPts val="0"/>
              </a:spcBef>
              <a:spcAft>
                <a:spcPts val="0"/>
              </a:spcAft>
              <a:buNone/>
            </a:pPr>
            <a:endParaRPr sz="2800" dirty="0">
              <a:solidFill>
                <a:schemeClr val="dk1"/>
              </a:solidFill>
              <a:latin typeface="Helvetica Neue"/>
              <a:sym typeface="Calibri"/>
            </a:endParaRPr>
          </a:p>
          <a:p>
            <a:pPr marL="0" lvl="0" indent="0" algn="l" rtl="0">
              <a:spcBef>
                <a:spcPts val="0"/>
              </a:spcBef>
              <a:spcAft>
                <a:spcPts val="0"/>
              </a:spcAft>
              <a:buNone/>
            </a:pPr>
            <a:endParaRPr sz="1800" dirty="0"/>
          </a:p>
        </p:txBody>
      </p:sp>
      <p:pic>
        <p:nvPicPr>
          <p:cNvPr id="3" name="Imagen 2">
            <a:extLst>
              <a:ext uri="{FF2B5EF4-FFF2-40B4-BE49-F238E27FC236}">
                <a16:creationId xmlns:a16="http://schemas.microsoft.com/office/drawing/2014/main" id="{03FD5D2A-1E28-3E9D-C8BE-7C2D679BE73D}"/>
              </a:ext>
            </a:extLst>
          </p:cNvPr>
          <p:cNvPicPr>
            <a:picLocks noChangeAspect="1"/>
          </p:cNvPicPr>
          <p:nvPr/>
        </p:nvPicPr>
        <p:blipFill>
          <a:blip r:embed="rId3"/>
          <a:stretch>
            <a:fillRect/>
          </a:stretch>
        </p:blipFill>
        <p:spPr>
          <a:xfrm>
            <a:off x="12193671" y="1906337"/>
            <a:ext cx="7620000" cy="7753350"/>
          </a:xfrm>
          <a:prstGeom prst="rect">
            <a:avLst/>
          </a:prstGeom>
        </p:spPr>
      </p:pic>
    </p:spTree>
    <p:extLst>
      <p:ext uri="{BB962C8B-B14F-4D97-AF65-F5344CB8AC3E}">
        <p14:creationId xmlns:p14="http://schemas.microsoft.com/office/powerpoint/2010/main" val="121720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p:nvPr/>
        </p:nvSpPr>
        <p:spPr>
          <a:xfrm>
            <a:off x="8159750" y="6250622"/>
            <a:ext cx="1905000" cy="147732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9600" b="1" i="0">
                <a:solidFill>
                  <a:srgbClr val="257CE1"/>
                </a:solidFill>
                <a:latin typeface="Arial Black"/>
                <a:ea typeface="Arial Black"/>
                <a:cs typeface="Arial Black"/>
                <a:sym typeface="Arial Black"/>
              </a:rPr>
              <a:t>02</a:t>
            </a:r>
            <a:endParaRPr/>
          </a:p>
        </p:txBody>
      </p:sp>
      <p:sp>
        <p:nvSpPr>
          <p:cNvPr id="133" name="Google Shape;133;p8"/>
          <p:cNvSpPr txBox="1"/>
          <p:nvPr/>
        </p:nvSpPr>
        <p:spPr>
          <a:xfrm>
            <a:off x="1517650" y="7712075"/>
            <a:ext cx="8305800"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sz="4800" b="1" dirty="0">
                <a:solidFill>
                  <a:srgbClr val="257CE1"/>
                </a:solidFill>
              </a:rPr>
              <a:t>OUTLIERS</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4"/>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DATOS FALTANTES</a:t>
            </a:r>
            <a:endParaRPr/>
          </a:p>
        </p:txBody>
      </p:sp>
      <p:sp>
        <p:nvSpPr>
          <p:cNvPr id="100" name="Google Shape;100;p4"/>
          <p:cNvSpPr txBox="1"/>
          <p:nvPr/>
        </p:nvSpPr>
        <p:spPr>
          <a:xfrm>
            <a:off x="2432050" y="4898192"/>
            <a:ext cx="9296399" cy="2585283"/>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endParaRPr sz="2400" dirty="0"/>
          </a:p>
          <a:p>
            <a:pPr marL="0" lvl="0" indent="0" algn="just" rtl="0">
              <a:spcBef>
                <a:spcPts val="0"/>
              </a:spcBef>
              <a:spcAft>
                <a:spcPts val="0"/>
              </a:spcAft>
              <a:buNone/>
            </a:pPr>
            <a:r>
              <a:rPr lang="es-CL" sz="2400" dirty="0">
                <a:solidFill>
                  <a:schemeClr val="dk1"/>
                </a:solidFill>
                <a:latin typeface="Helvetica Neue"/>
                <a:ea typeface="Helvetica Neue"/>
                <a:cs typeface="Helvetica Neue"/>
                <a:sym typeface="Helvetica Neue"/>
              </a:rPr>
              <a:t>E</a:t>
            </a:r>
            <a:r>
              <a:rPr lang="es-CL" sz="2400" b="0" i="0" dirty="0">
                <a:solidFill>
                  <a:schemeClr val="dk1"/>
                </a:solidFill>
                <a:latin typeface="Helvetica Neue"/>
                <a:ea typeface="Helvetica Neue"/>
                <a:cs typeface="Helvetica Neue"/>
                <a:sym typeface="Helvetica Neue"/>
              </a:rPr>
              <a:t>n cualquier proyecto de Minería de Datos nos tenemos que enfrentar a una situación ineludible: los datos no son ideales </a:t>
            </a:r>
            <a:r>
              <a:rPr lang="es-CL" sz="2400" dirty="0">
                <a:solidFill>
                  <a:schemeClr val="dk1"/>
                </a:solidFill>
                <a:latin typeface="Helvetica Neue"/>
                <a:ea typeface="Helvetica Neue"/>
                <a:cs typeface="Helvetica Neue"/>
                <a:sym typeface="Helvetica Neue"/>
              </a:rPr>
              <a:t>y</a:t>
            </a:r>
            <a:r>
              <a:rPr lang="es-CL" sz="2400" b="0" i="0" dirty="0">
                <a:solidFill>
                  <a:schemeClr val="dk1"/>
                </a:solidFill>
                <a:latin typeface="Helvetica Neue"/>
                <a:ea typeface="Helvetica Neue"/>
                <a:cs typeface="Helvetica Neue"/>
                <a:sym typeface="Helvetica Neue"/>
              </a:rPr>
              <a:t>, generalmente, faltan muchos de ellos.</a:t>
            </a:r>
            <a:endParaRPr sz="2400" dirty="0">
              <a:solidFill>
                <a:schemeClr val="dk1"/>
              </a:solidFill>
              <a:latin typeface="Helvetica Neue"/>
              <a:ea typeface="Helvetica Neue"/>
              <a:cs typeface="Helvetica Neue"/>
              <a:sym typeface="Helvetica Neue"/>
            </a:endParaRPr>
          </a:p>
          <a:p>
            <a:pPr marL="0" lvl="0" indent="0" algn="just" rtl="0">
              <a:spcBef>
                <a:spcPts val="0"/>
              </a:spcBef>
              <a:spcAft>
                <a:spcPts val="0"/>
              </a:spcAft>
              <a:buNone/>
            </a:pPr>
            <a:endParaRPr sz="2400" dirty="0">
              <a:solidFill>
                <a:schemeClr val="dk1"/>
              </a:solidFill>
              <a:latin typeface="Helvetica Neue"/>
              <a:ea typeface="Helvetica Neue"/>
              <a:cs typeface="Helvetica Neue"/>
              <a:sym typeface="Helvetica Neue"/>
            </a:endParaRPr>
          </a:p>
          <a:p>
            <a:pPr marL="0" lvl="0" indent="0" algn="just" rtl="0">
              <a:spcBef>
                <a:spcPts val="0"/>
              </a:spcBef>
              <a:spcAft>
                <a:spcPts val="0"/>
              </a:spcAft>
              <a:buNone/>
            </a:pPr>
            <a:endParaRPr sz="2400" dirty="0">
              <a:latin typeface="Calibri"/>
              <a:ea typeface="Calibri"/>
              <a:cs typeface="Calibri"/>
              <a:sym typeface="Calibri"/>
            </a:endParaRPr>
          </a:p>
          <a:p>
            <a:pPr marL="0" lvl="0" indent="0" algn="l" rtl="0">
              <a:spcBef>
                <a:spcPts val="0"/>
              </a:spcBef>
              <a:spcAft>
                <a:spcPts val="0"/>
              </a:spcAft>
              <a:buNone/>
            </a:pPr>
            <a:endParaRPr sz="1800" dirty="0"/>
          </a:p>
        </p:txBody>
      </p:sp>
      <p:sp>
        <p:nvSpPr>
          <p:cNvPr id="101" name="Google Shape;101;p4"/>
          <p:cNvSpPr txBox="1"/>
          <p:nvPr/>
        </p:nvSpPr>
        <p:spPr>
          <a:xfrm>
            <a:off x="2736850" y="10069513"/>
            <a:ext cx="650370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https://www.codificandobits.com/blog/manejo-datos-faltantes/</a:t>
            </a:r>
            <a:endParaRPr sz="1800"/>
          </a:p>
        </p:txBody>
      </p:sp>
      <p:sp>
        <p:nvSpPr>
          <p:cNvPr id="102" name="Google Shape;102;p4"/>
          <p:cNvSpPr txBox="1"/>
          <p:nvPr/>
        </p:nvSpPr>
        <p:spPr>
          <a:xfrm>
            <a:off x="13454844" y="8016875"/>
            <a:ext cx="6170279" cy="276999"/>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200"/>
              <a:t>Fuente: https://apuntes-r.blogspot.com/2015/06/imputacion-con-randomforest.html?m=1</a:t>
            </a:r>
            <a:endParaRPr sz="1400"/>
          </a:p>
        </p:txBody>
      </p:sp>
      <p:pic>
        <p:nvPicPr>
          <p:cNvPr id="103" name="Google Shape;103;p4"/>
          <p:cNvPicPr preferRelativeResize="0"/>
          <p:nvPr/>
        </p:nvPicPr>
        <p:blipFill rotWithShape="1">
          <a:blip r:embed="rId3">
            <a:alphaModFix/>
          </a:blip>
          <a:srcRect/>
          <a:stretch/>
        </p:blipFill>
        <p:spPr>
          <a:xfrm>
            <a:off x="12185650" y="4130675"/>
            <a:ext cx="7439473" cy="3352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ESTRATEGIAS</a:t>
            </a:r>
            <a:endParaRPr/>
          </a:p>
        </p:txBody>
      </p:sp>
      <p:sp>
        <p:nvSpPr>
          <p:cNvPr id="139" name="Google Shape;139;p9"/>
          <p:cNvSpPr txBox="1"/>
          <p:nvPr/>
        </p:nvSpPr>
        <p:spPr>
          <a:xfrm>
            <a:off x="2432050" y="1844675"/>
            <a:ext cx="8153400" cy="8192400"/>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a:solidFill>
                  <a:srgbClr val="000000"/>
                </a:solidFill>
                <a:latin typeface="Arial"/>
                <a:ea typeface="Arial"/>
                <a:cs typeface="Arial"/>
                <a:sym typeface="Arial"/>
              </a:rPr>
              <a:t>Tenemos dos grandes grupos que son el descarte de datos y la imputación.</a:t>
            </a:r>
            <a:endParaRPr/>
          </a:p>
          <a:p>
            <a:pPr marL="50800" lvl="0" indent="0" algn="just" rtl="0">
              <a:lnSpc>
                <a:spcPct val="107000"/>
              </a:lnSpc>
              <a:spcBef>
                <a:spcPts val="800"/>
              </a:spcBef>
              <a:spcAft>
                <a:spcPts val="0"/>
              </a:spcAft>
              <a:buNone/>
            </a:pPr>
            <a:endParaRPr sz="2400">
              <a:solidFill>
                <a:srgbClr val="000000"/>
              </a:solidFill>
              <a:latin typeface="Arial"/>
              <a:ea typeface="Arial"/>
              <a:cs typeface="Arial"/>
              <a:sym typeface="Arial"/>
            </a:endParaRPr>
          </a:p>
          <a:p>
            <a:pPr marL="50800" lvl="0" indent="0" algn="just" rtl="0">
              <a:lnSpc>
                <a:spcPct val="107000"/>
              </a:lnSpc>
              <a:spcBef>
                <a:spcPts val="800"/>
              </a:spcBef>
              <a:spcAft>
                <a:spcPts val="0"/>
              </a:spcAft>
              <a:buNone/>
            </a:pPr>
            <a:r>
              <a:rPr lang="es-CL" sz="2400" b="1">
                <a:solidFill>
                  <a:srgbClr val="000000"/>
                </a:solidFill>
                <a:latin typeface="Arial"/>
                <a:ea typeface="Arial"/>
                <a:cs typeface="Arial"/>
                <a:sym typeface="Arial"/>
              </a:rPr>
              <a:t>El descarte </a:t>
            </a:r>
            <a:r>
              <a:rPr lang="es-CL" sz="2400">
                <a:solidFill>
                  <a:srgbClr val="000000"/>
                </a:solidFill>
                <a:latin typeface="Arial"/>
                <a:ea typeface="Arial"/>
                <a:cs typeface="Arial"/>
                <a:sym typeface="Arial"/>
              </a:rPr>
              <a:t>consiste simplemente en eliminar los registros que contengan datos faltantes, mientras que en </a:t>
            </a:r>
            <a:r>
              <a:rPr lang="es-CL" sz="2400" b="1">
                <a:solidFill>
                  <a:srgbClr val="000000"/>
                </a:solidFill>
                <a:latin typeface="Arial"/>
                <a:ea typeface="Arial"/>
                <a:cs typeface="Arial"/>
                <a:sym typeface="Arial"/>
              </a:rPr>
              <a:t>la imputación </a:t>
            </a:r>
            <a:r>
              <a:rPr lang="es-CL" sz="2400">
                <a:solidFill>
                  <a:srgbClr val="000000"/>
                </a:solidFill>
                <a:latin typeface="Arial"/>
                <a:ea typeface="Arial"/>
                <a:cs typeface="Arial"/>
                <a:sym typeface="Arial"/>
              </a:rPr>
              <a:t>lo que se busca es estimar el valor del dato faltante. Para esto último se puede</a:t>
            </a:r>
            <a:r>
              <a:rPr lang="es-CL" sz="2400"/>
              <a:t> usar</a:t>
            </a:r>
            <a:r>
              <a:rPr lang="es-CL" sz="2400">
                <a:solidFill>
                  <a:srgbClr val="000000"/>
                </a:solidFill>
                <a:latin typeface="Arial"/>
                <a:ea typeface="Arial"/>
                <a:cs typeface="Arial"/>
                <a:sym typeface="Arial"/>
              </a:rPr>
              <a:t> la información de los registros vecinos</a:t>
            </a:r>
            <a:r>
              <a:rPr lang="es-CL" sz="2400"/>
              <a:t>,</a:t>
            </a:r>
            <a:r>
              <a:rPr lang="es-CL" sz="2400">
                <a:solidFill>
                  <a:srgbClr val="000000"/>
                </a:solidFill>
                <a:latin typeface="Arial"/>
                <a:ea typeface="Arial"/>
                <a:cs typeface="Arial"/>
                <a:sym typeface="Arial"/>
              </a:rPr>
              <a:t> la información presente en otras variables (o columnas) del set de datos</a:t>
            </a:r>
            <a:r>
              <a:rPr lang="es-CL" sz="2400"/>
              <a:t>, como un estadístico o simplemente una constante.</a:t>
            </a:r>
            <a:endParaRPr/>
          </a:p>
          <a:p>
            <a:pPr marL="50800" lvl="0" indent="0" algn="just" rtl="0">
              <a:lnSpc>
                <a:spcPct val="107000"/>
              </a:lnSpc>
              <a:spcBef>
                <a:spcPts val="800"/>
              </a:spcBef>
              <a:spcAft>
                <a:spcPts val="0"/>
              </a:spcAft>
              <a:buNone/>
            </a:pPr>
            <a:endParaRPr sz="2400">
              <a:solidFill>
                <a:srgbClr val="000000"/>
              </a:solidFill>
              <a:latin typeface="Arial"/>
              <a:ea typeface="Arial"/>
              <a:cs typeface="Arial"/>
              <a:sym typeface="Arial"/>
            </a:endParaRPr>
          </a:p>
          <a:p>
            <a:pPr marL="50800" lvl="0" indent="0" algn="just" rtl="0">
              <a:lnSpc>
                <a:spcPct val="107000"/>
              </a:lnSpc>
              <a:spcBef>
                <a:spcPts val="800"/>
              </a:spcBef>
              <a:spcAft>
                <a:spcPts val="0"/>
              </a:spcAft>
              <a:buNone/>
            </a:pPr>
            <a:r>
              <a:rPr lang="es-CL" sz="2400">
                <a:solidFill>
                  <a:srgbClr val="000000"/>
                </a:solidFill>
                <a:latin typeface="Arial"/>
                <a:ea typeface="Arial"/>
                <a:cs typeface="Arial"/>
                <a:sym typeface="Arial"/>
              </a:rPr>
              <a:t>En términos generales estas técnicas se pueden aplicar a datos faltantes aleatorios o completamente aleatorios, es decir que asumen un grado de aleatoriedad en el mecanismo responsable de la pérdida de los datos.</a:t>
            </a:r>
            <a:endParaRPr/>
          </a:p>
          <a:p>
            <a:pPr marL="50800" lvl="0" indent="0" algn="just" rtl="0">
              <a:lnSpc>
                <a:spcPct val="107000"/>
              </a:lnSpc>
              <a:spcBef>
                <a:spcPts val="800"/>
              </a:spcBef>
              <a:spcAft>
                <a:spcPts val="0"/>
              </a:spcAft>
              <a:buNone/>
            </a:pPr>
            <a:endParaRPr sz="2400">
              <a:solidFill>
                <a:srgbClr val="000000"/>
              </a:solidFill>
              <a:latin typeface="Arial"/>
              <a:ea typeface="Arial"/>
              <a:cs typeface="Arial"/>
              <a:sym typeface="Arial"/>
            </a:endParaRPr>
          </a:p>
          <a:p>
            <a:pPr marL="50800" lvl="0" indent="0" algn="just" rtl="0">
              <a:lnSpc>
                <a:spcPct val="107000"/>
              </a:lnSpc>
              <a:spcBef>
                <a:spcPts val="800"/>
              </a:spcBef>
              <a:spcAft>
                <a:spcPts val="0"/>
              </a:spcAft>
              <a:buNone/>
            </a:pPr>
            <a:r>
              <a:rPr lang="es-CL" sz="2400">
                <a:solidFill>
                  <a:srgbClr val="000000"/>
                </a:solidFill>
                <a:latin typeface="Arial"/>
                <a:ea typeface="Arial"/>
                <a:cs typeface="Arial"/>
                <a:sym typeface="Arial"/>
              </a:rPr>
              <a:t>Sin embargo, para </a:t>
            </a:r>
            <a:r>
              <a:rPr lang="es-CL" sz="2400" b="1">
                <a:solidFill>
                  <a:srgbClr val="FF0000"/>
                </a:solidFill>
                <a:latin typeface="Arial"/>
                <a:ea typeface="Arial"/>
                <a:cs typeface="Arial"/>
                <a:sym typeface="Arial"/>
              </a:rPr>
              <a:t>el caso de datos faltantes no aleatorios no es recomendable usar estas técnicas </a:t>
            </a:r>
            <a:r>
              <a:rPr lang="es-CL" sz="2400">
                <a:solidFill>
                  <a:srgbClr val="000000"/>
                </a:solidFill>
                <a:latin typeface="Arial"/>
                <a:ea typeface="Arial"/>
                <a:cs typeface="Arial"/>
                <a:sym typeface="Arial"/>
              </a:rPr>
              <a:t>porque la pérdida de datos en este caso es sistemática.</a:t>
            </a:r>
            <a:endParaRPr/>
          </a:p>
        </p:txBody>
      </p:sp>
      <p:pic>
        <p:nvPicPr>
          <p:cNvPr id="140" name="Google Shape;140;p9"/>
          <p:cNvPicPr preferRelativeResize="0"/>
          <p:nvPr/>
        </p:nvPicPr>
        <p:blipFill rotWithShape="1">
          <a:blip r:embed="rId3">
            <a:alphaModFix/>
          </a:blip>
          <a:srcRect/>
          <a:stretch/>
        </p:blipFill>
        <p:spPr>
          <a:xfrm>
            <a:off x="11195050" y="2606675"/>
            <a:ext cx="8293170" cy="3651797"/>
          </a:xfrm>
          <a:prstGeom prst="rect">
            <a:avLst/>
          </a:prstGeom>
          <a:noFill/>
          <a:ln>
            <a:noFill/>
          </a:ln>
        </p:spPr>
      </p:pic>
      <p:pic>
        <p:nvPicPr>
          <p:cNvPr id="141" name="Google Shape;141;p9"/>
          <p:cNvPicPr preferRelativeResize="0"/>
          <p:nvPr/>
        </p:nvPicPr>
        <p:blipFill rotWithShape="1">
          <a:blip r:embed="rId4">
            <a:alphaModFix/>
          </a:blip>
          <a:srcRect/>
          <a:stretch/>
        </p:blipFill>
        <p:spPr>
          <a:xfrm>
            <a:off x="11221356" y="6950075"/>
            <a:ext cx="8293169" cy="2851594"/>
          </a:xfrm>
          <a:prstGeom prst="rect">
            <a:avLst/>
          </a:prstGeom>
          <a:noFill/>
          <a:ln>
            <a:noFill/>
          </a:ln>
        </p:spPr>
      </p:pic>
      <p:sp>
        <p:nvSpPr>
          <p:cNvPr id="142" name="Google Shape;142;p9"/>
          <p:cNvSpPr txBox="1"/>
          <p:nvPr/>
        </p:nvSpPr>
        <p:spPr>
          <a:xfrm>
            <a:off x="3879850" y="10215342"/>
            <a:ext cx="650370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https://www.codificandobits.com/blog/manejo-datos-faltantes/</a:t>
            </a:r>
            <a:endParaRPr sz="1800"/>
          </a:p>
        </p:txBody>
      </p:sp>
      <p:sp>
        <p:nvSpPr>
          <p:cNvPr id="143" name="Google Shape;143;p9"/>
          <p:cNvSpPr txBox="1"/>
          <p:nvPr/>
        </p:nvSpPr>
        <p:spPr>
          <a:xfrm>
            <a:off x="12566650" y="9938343"/>
            <a:ext cx="4762842" cy="276999"/>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200"/>
              <a:t>Fuente: https://phoenixnap.com/kb/handling-missing-data-in-python</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0"/>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ESTRATEGIAS</a:t>
            </a:r>
            <a:endParaRPr/>
          </a:p>
        </p:txBody>
      </p:sp>
      <p:sp>
        <p:nvSpPr>
          <p:cNvPr id="149" name="Google Shape;149;p10"/>
          <p:cNvSpPr txBox="1"/>
          <p:nvPr/>
        </p:nvSpPr>
        <p:spPr>
          <a:xfrm>
            <a:off x="2432050" y="1844675"/>
            <a:ext cx="8153400" cy="8117400"/>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DESCARTE o </a:t>
            </a:r>
            <a:r>
              <a:rPr lang="es-CL" sz="2400" b="1"/>
              <a:t>ELIMINACIÓN</a:t>
            </a:r>
            <a:endParaRPr/>
          </a:p>
          <a:p>
            <a:pPr marL="50800" lvl="0" indent="0" algn="just" rtl="0">
              <a:lnSpc>
                <a:spcPct val="107000"/>
              </a:lnSpc>
              <a:spcBef>
                <a:spcPts val="80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1200"/>
              </a:spcBef>
              <a:spcAft>
                <a:spcPts val="0"/>
              </a:spcAft>
              <a:buClr>
                <a:srgbClr val="000000"/>
              </a:buClr>
              <a:buSzPts val="2800"/>
              <a:buFont typeface="Arial"/>
              <a:buNone/>
            </a:pPr>
            <a:r>
              <a:rPr lang="es-CL" sz="2400">
                <a:solidFill>
                  <a:srgbClr val="000000"/>
                </a:solidFill>
                <a:latin typeface="Arial"/>
                <a:ea typeface="Arial"/>
                <a:cs typeface="Arial"/>
                <a:sym typeface="Arial"/>
              </a:rPr>
              <a:t>Eliminar los ejemplos (o variables) con MV: sencillo, pero no se puede aplicar siempre. </a:t>
            </a:r>
            <a:r>
              <a:rPr lang="es-CL" sz="2400" b="1">
                <a:solidFill>
                  <a:srgbClr val="FF0000"/>
                </a:solidFill>
                <a:latin typeface="Arial"/>
                <a:ea typeface="Arial"/>
                <a:cs typeface="Arial"/>
                <a:sym typeface="Arial"/>
              </a:rPr>
              <a:t>Sólo cuando el porcentaje de datos faltantes es pequeño</a:t>
            </a:r>
            <a:r>
              <a:rPr lang="es-CL" sz="2400">
                <a:solidFill>
                  <a:srgbClr val="000000"/>
                </a:solidFill>
                <a:latin typeface="Arial"/>
                <a:ea typeface="Arial"/>
                <a:cs typeface="Arial"/>
                <a:sym typeface="Arial"/>
              </a:rPr>
              <a:t>.</a:t>
            </a:r>
            <a:endParaRPr/>
          </a:p>
          <a:p>
            <a:pPr marL="0" lvl="0" indent="0" algn="just" rtl="0">
              <a:lnSpc>
                <a:spcPct val="100000"/>
              </a:lnSpc>
              <a:spcBef>
                <a:spcPts val="400"/>
              </a:spcBef>
              <a:spcAft>
                <a:spcPts val="0"/>
              </a:spcAft>
              <a:buSzPts val="2800"/>
              <a:buFont typeface="Arial"/>
              <a:buNone/>
            </a:pPr>
            <a:endParaRPr sz="2400">
              <a:solidFill>
                <a:srgbClr val="000000"/>
              </a:solidFill>
              <a:latin typeface="Arial"/>
              <a:ea typeface="Arial"/>
              <a:cs typeface="Arial"/>
              <a:sym typeface="Arial"/>
            </a:endParaRPr>
          </a:p>
          <a:p>
            <a:pPr marL="0" lvl="0" indent="0" algn="just" rtl="0">
              <a:lnSpc>
                <a:spcPct val="100000"/>
              </a:lnSpc>
              <a:spcBef>
                <a:spcPts val="400"/>
              </a:spcBef>
              <a:spcAft>
                <a:spcPts val="0"/>
              </a:spcAft>
              <a:buClr>
                <a:srgbClr val="000000"/>
              </a:buClr>
              <a:buSzPts val="2800"/>
              <a:buFont typeface="Arial"/>
              <a:buNone/>
            </a:pPr>
            <a:r>
              <a:rPr lang="es-CL" sz="2400">
                <a:solidFill>
                  <a:srgbClr val="000000"/>
                </a:solidFill>
                <a:latin typeface="Arial"/>
                <a:ea typeface="Arial"/>
                <a:cs typeface="Arial"/>
                <a:sym typeface="Arial"/>
              </a:rPr>
              <a:t>Si el porcentaje de MV es grande, debemos pensar en otra solución. Es bueno ver como están distribuido los MV en el dataset completo.</a:t>
            </a:r>
            <a:endParaRPr/>
          </a:p>
          <a:p>
            <a:pPr marL="0" lvl="0" indent="0" algn="just" rtl="0">
              <a:lnSpc>
                <a:spcPct val="100000"/>
              </a:lnSpc>
              <a:spcBef>
                <a:spcPts val="400"/>
              </a:spcBef>
              <a:spcAft>
                <a:spcPts val="0"/>
              </a:spcAft>
              <a:buSzPts val="2800"/>
              <a:buFont typeface="Arial"/>
              <a:buNone/>
            </a:pPr>
            <a:endParaRPr sz="2400">
              <a:solidFill>
                <a:srgbClr val="000000"/>
              </a:solidFill>
              <a:latin typeface="Arial"/>
              <a:ea typeface="Arial"/>
              <a:cs typeface="Arial"/>
              <a:sym typeface="Arial"/>
            </a:endParaRPr>
          </a:p>
          <a:p>
            <a:pPr marL="0" lvl="0" indent="0" algn="just" rtl="0">
              <a:lnSpc>
                <a:spcPct val="100000"/>
              </a:lnSpc>
              <a:spcBef>
                <a:spcPts val="400"/>
              </a:spcBef>
              <a:spcAft>
                <a:spcPts val="0"/>
              </a:spcAft>
              <a:buClr>
                <a:srgbClr val="000000"/>
              </a:buClr>
              <a:buSzPts val="2800"/>
              <a:buFont typeface="Arial"/>
              <a:buNone/>
            </a:pPr>
            <a:r>
              <a:rPr lang="es-CL" sz="2400">
                <a:solidFill>
                  <a:srgbClr val="000000"/>
                </a:solidFill>
                <a:latin typeface="Arial"/>
                <a:ea typeface="Arial"/>
                <a:cs typeface="Arial"/>
                <a:sym typeface="Arial"/>
              </a:rPr>
              <a:t>Aunque existen diferentes técnicas, en general estas </a:t>
            </a:r>
            <a:r>
              <a:rPr lang="es-CL" sz="2400"/>
              <a:t>se</a:t>
            </a:r>
            <a:r>
              <a:rPr lang="es-CL" sz="2400">
                <a:solidFill>
                  <a:srgbClr val="000000"/>
                </a:solidFill>
                <a:latin typeface="Arial"/>
                <a:ea typeface="Arial"/>
                <a:cs typeface="Arial"/>
                <a:sym typeface="Arial"/>
              </a:rPr>
              <a:t> centran en tres:</a:t>
            </a:r>
            <a:endParaRPr/>
          </a:p>
          <a:p>
            <a:pPr marL="0" lvl="0" indent="0" algn="just" rtl="0">
              <a:lnSpc>
                <a:spcPct val="100000"/>
              </a:lnSpc>
              <a:spcBef>
                <a:spcPts val="400"/>
              </a:spcBef>
              <a:spcAft>
                <a:spcPts val="0"/>
              </a:spcAft>
              <a:buSzPts val="2800"/>
              <a:buFont typeface="Arial"/>
              <a:buNone/>
            </a:pPr>
            <a:endParaRPr sz="2400">
              <a:solidFill>
                <a:srgbClr val="000000"/>
              </a:solidFill>
              <a:latin typeface="Arial"/>
              <a:ea typeface="Arial"/>
              <a:cs typeface="Arial"/>
              <a:sym typeface="Arial"/>
            </a:endParaRPr>
          </a:p>
          <a:p>
            <a:pPr marL="342900" lvl="0" indent="-342900" algn="just" rtl="0">
              <a:lnSpc>
                <a:spcPct val="100000"/>
              </a:lnSpc>
              <a:spcBef>
                <a:spcPts val="400"/>
              </a:spcBef>
              <a:spcAft>
                <a:spcPts val="0"/>
              </a:spcAft>
              <a:buClr>
                <a:srgbClr val="000000"/>
              </a:buClr>
              <a:buSzPts val="2800"/>
              <a:buFont typeface="Arial"/>
              <a:buChar char="•"/>
            </a:pPr>
            <a:r>
              <a:rPr lang="es-CL" sz="2400">
                <a:solidFill>
                  <a:srgbClr val="000000"/>
                </a:solidFill>
                <a:latin typeface="Arial"/>
                <a:ea typeface="Arial"/>
                <a:cs typeface="Arial"/>
                <a:sym typeface="Arial"/>
              </a:rPr>
              <a:t>Eliminar valores faltantes</a:t>
            </a:r>
            <a:endParaRPr/>
          </a:p>
          <a:p>
            <a:pPr marL="342900" lvl="0" indent="-342900" algn="just" rtl="0">
              <a:lnSpc>
                <a:spcPct val="100000"/>
              </a:lnSpc>
              <a:spcBef>
                <a:spcPts val="400"/>
              </a:spcBef>
              <a:spcAft>
                <a:spcPts val="0"/>
              </a:spcAft>
              <a:buClr>
                <a:srgbClr val="000000"/>
              </a:buClr>
              <a:buSzPts val="2800"/>
              <a:buFont typeface="Arial"/>
              <a:buChar char="•"/>
            </a:pPr>
            <a:r>
              <a:rPr lang="es-CL" sz="2400">
                <a:solidFill>
                  <a:srgbClr val="000000"/>
                </a:solidFill>
                <a:latin typeface="Arial"/>
                <a:ea typeface="Arial"/>
                <a:cs typeface="Arial"/>
                <a:sym typeface="Arial"/>
              </a:rPr>
              <a:t>Eliminar filas del dataset faltantes</a:t>
            </a:r>
            <a:endParaRPr/>
          </a:p>
          <a:p>
            <a:pPr marL="342900" lvl="0" indent="-342900" algn="just" rtl="0">
              <a:lnSpc>
                <a:spcPct val="100000"/>
              </a:lnSpc>
              <a:spcBef>
                <a:spcPts val="400"/>
              </a:spcBef>
              <a:spcAft>
                <a:spcPts val="0"/>
              </a:spcAft>
              <a:buClr>
                <a:srgbClr val="000000"/>
              </a:buClr>
              <a:buSzPts val="2800"/>
              <a:buFont typeface="Arial"/>
              <a:buChar char="•"/>
            </a:pPr>
            <a:r>
              <a:rPr lang="es-CL" sz="2400">
                <a:solidFill>
                  <a:srgbClr val="000000"/>
                </a:solidFill>
                <a:latin typeface="Arial"/>
                <a:ea typeface="Arial"/>
                <a:cs typeface="Arial"/>
                <a:sym typeface="Arial"/>
              </a:rPr>
              <a:t>Eliminar columnas del dataset faltantes</a:t>
            </a:r>
            <a:endParaRPr/>
          </a:p>
          <a:p>
            <a:pPr marL="0" lvl="0" indent="0" algn="just" rtl="0">
              <a:lnSpc>
                <a:spcPct val="100000"/>
              </a:lnSpc>
              <a:spcBef>
                <a:spcPts val="400"/>
              </a:spcBef>
              <a:spcAft>
                <a:spcPts val="0"/>
              </a:spcAft>
              <a:buSzPts val="2800"/>
              <a:buFont typeface="Arial"/>
              <a:buNone/>
            </a:pPr>
            <a:endParaRPr sz="2400">
              <a:solidFill>
                <a:srgbClr val="000000"/>
              </a:solidFill>
              <a:latin typeface="Arial"/>
              <a:ea typeface="Arial"/>
              <a:cs typeface="Arial"/>
              <a:sym typeface="Arial"/>
            </a:endParaRPr>
          </a:p>
          <a:p>
            <a:pPr marL="0" lvl="0" indent="0" algn="just" rtl="0">
              <a:lnSpc>
                <a:spcPct val="100000"/>
              </a:lnSpc>
              <a:spcBef>
                <a:spcPts val="400"/>
              </a:spcBef>
              <a:spcAft>
                <a:spcPts val="0"/>
              </a:spcAft>
              <a:buSzPts val="2800"/>
              <a:buFont typeface="Arial"/>
              <a:buNone/>
            </a:pPr>
            <a:endParaRPr sz="2400">
              <a:solidFill>
                <a:srgbClr val="000000"/>
              </a:solidFill>
              <a:latin typeface="Arial"/>
              <a:ea typeface="Arial"/>
              <a:cs typeface="Arial"/>
              <a:sym typeface="Arial"/>
            </a:endParaRPr>
          </a:p>
          <a:p>
            <a:pPr marL="50800" lvl="0" indent="0" algn="just" rtl="0">
              <a:lnSpc>
                <a:spcPct val="107000"/>
              </a:lnSpc>
              <a:spcBef>
                <a:spcPts val="0"/>
              </a:spcBef>
              <a:spcAft>
                <a:spcPts val="0"/>
              </a:spcAft>
              <a:buNone/>
            </a:pPr>
            <a:endParaRPr sz="2400">
              <a:solidFill>
                <a:srgbClr val="000000"/>
              </a:solidFill>
              <a:latin typeface="Arial"/>
              <a:ea typeface="Arial"/>
              <a:cs typeface="Arial"/>
              <a:sym typeface="Arial"/>
            </a:endParaRPr>
          </a:p>
        </p:txBody>
      </p:sp>
      <p:pic>
        <p:nvPicPr>
          <p:cNvPr id="150" name="Google Shape;150;p10"/>
          <p:cNvPicPr preferRelativeResize="0"/>
          <p:nvPr/>
        </p:nvPicPr>
        <p:blipFill rotWithShape="1">
          <a:blip r:embed="rId3">
            <a:alphaModFix/>
          </a:blip>
          <a:srcRect/>
          <a:stretch/>
        </p:blipFill>
        <p:spPr>
          <a:xfrm>
            <a:off x="11347450" y="2796588"/>
            <a:ext cx="8266053" cy="4495800"/>
          </a:xfrm>
          <a:prstGeom prst="rect">
            <a:avLst/>
          </a:prstGeom>
          <a:noFill/>
          <a:ln>
            <a:noFill/>
          </a:ln>
        </p:spPr>
      </p:pic>
      <p:sp>
        <p:nvSpPr>
          <p:cNvPr id="151" name="Google Shape;151;p10"/>
          <p:cNvSpPr txBox="1"/>
          <p:nvPr/>
        </p:nvSpPr>
        <p:spPr>
          <a:xfrm>
            <a:off x="12490450" y="8163838"/>
            <a:ext cx="6997800" cy="35391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CL" sz="1100" b="0" i="0" u="none" strike="noStrike" cap="none">
                <a:solidFill>
                  <a:srgbClr val="000000"/>
                </a:solidFill>
                <a:latin typeface="Arial"/>
                <a:ea typeface="Arial"/>
                <a:cs typeface="Arial"/>
                <a:sym typeface="Arial"/>
              </a:rPr>
              <a:t>Fuente: https://www.kaggle.com/parulpandey/a-guide-to-handling-missing-values-in-python</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ESTRATEGIAS</a:t>
            </a:r>
            <a:endParaRPr/>
          </a:p>
        </p:txBody>
      </p:sp>
      <p:sp>
        <p:nvSpPr>
          <p:cNvPr id="158" name="Google Shape;158;p11"/>
          <p:cNvSpPr txBox="1"/>
          <p:nvPr/>
        </p:nvSpPr>
        <p:spPr>
          <a:xfrm>
            <a:off x="2432050" y="1844675"/>
            <a:ext cx="8153400" cy="5777700"/>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DESCARTE o </a:t>
            </a:r>
            <a:r>
              <a:rPr lang="es-CL" sz="2400" b="1"/>
              <a:t>ELIMINACIÓN</a:t>
            </a:r>
            <a:endParaRPr/>
          </a:p>
          <a:p>
            <a:pPr marL="50800" lvl="0" indent="0" algn="just" rtl="0">
              <a:lnSpc>
                <a:spcPct val="107000"/>
              </a:lnSpc>
              <a:spcBef>
                <a:spcPts val="800"/>
              </a:spcBef>
              <a:spcAft>
                <a:spcPts val="0"/>
              </a:spcAft>
              <a:buNone/>
            </a:pPr>
            <a:endParaRPr sz="2400">
              <a:solidFill>
                <a:srgbClr val="000000"/>
              </a:solidFill>
              <a:latin typeface="Arial"/>
              <a:ea typeface="Arial"/>
              <a:cs typeface="Arial"/>
              <a:sym typeface="Arial"/>
            </a:endParaRPr>
          </a:p>
          <a:p>
            <a:pPr marL="0" lvl="0" indent="0" algn="just" rtl="0">
              <a:spcBef>
                <a:spcPts val="1200"/>
              </a:spcBef>
              <a:spcAft>
                <a:spcPts val="0"/>
              </a:spcAft>
              <a:buNone/>
            </a:pPr>
            <a:r>
              <a:rPr lang="es-CL" sz="2400">
                <a:solidFill>
                  <a:srgbClr val="000000"/>
                </a:solidFill>
                <a:latin typeface="Arial"/>
                <a:ea typeface="Arial"/>
                <a:cs typeface="Arial"/>
                <a:sym typeface="Arial"/>
              </a:rPr>
              <a:t>Una forma es la eliminación por pares (pairwise deletion),  </a:t>
            </a:r>
            <a:r>
              <a:rPr lang="es-CL" sz="2400" b="1">
                <a:solidFill>
                  <a:srgbClr val="000000"/>
                </a:solidFill>
                <a:latin typeface="Arial"/>
                <a:ea typeface="Arial"/>
                <a:cs typeface="Arial"/>
                <a:sym typeface="Arial"/>
              </a:rPr>
              <a:t>donde se quitarán únicamente las casillas con el dato faltante</a:t>
            </a:r>
            <a:r>
              <a:rPr lang="es-CL" sz="2400">
                <a:solidFill>
                  <a:srgbClr val="000000"/>
                </a:solidFill>
                <a:latin typeface="Arial"/>
                <a:ea typeface="Arial"/>
                <a:cs typeface="Arial"/>
                <a:sym typeface="Arial"/>
              </a:rPr>
              <a:t>. </a:t>
            </a:r>
            <a:endParaRPr/>
          </a:p>
          <a:p>
            <a:pPr marL="0" lvl="0" indent="0" algn="just" rtl="0">
              <a:spcBef>
                <a:spcPts val="400"/>
              </a:spcBef>
              <a:spcAft>
                <a:spcPts val="0"/>
              </a:spcAft>
              <a:buNone/>
            </a:pPr>
            <a:endParaRPr sz="2400">
              <a:solidFill>
                <a:srgbClr val="000000"/>
              </a:solidFill>
              <a:latin typeface="Arial"/>
              <a:ea typeface="Arial"/>
              <a:cs typeface="Arial"/>
              <a:sym typeface="Arial"/>
            </a:endParaRPr>
          </a:p>
          <a:p>
            <a:pPr marL="0" lvl="0" indent="0" algn="just" rtl="0">
              <a:spcBef>
                <a:spcPts val="400"/>
              </a:spcBef>
              <a:spcAft>
                <a:spcPts val="0"/>
              </a:spcAft>
              <a:buNone/>
            </a:pPr>
            <a:endParaRPr sz="2400">
              <a:solidFill>
                <a:srgbClr val="000000"/>
              </a:solidFill>
              <a:latin typeface="Arial"/>
              <a:ea typeface="Arial"/>
              <a:cs typeface="Arial"/>
              <a:sym typeface="Arial"/>
            </a:endParaRPr>
          </a:p>
          <a:p>
            <a:pPr marL="0" lvl="0" indent="0" algn="just" rtl="0">
              <a:spcBef>
                <a:spcPts val="400"/>
              </a:spcBef>
              <a:spcAft>
                <a:spcPts val="0"/>
              </a:spcAft>
              <a:buNone/>
            </a:pPr>
            <a:r>
              <a:rPr lang="es-CL" sz="2400">
                <a:solidFill>
                  <a:srgbClr val="000000"/>
                </a:solidFill>
                <a:latin typeface="Arial"/>
                <a:ea typeface="Arial"/>
                <a:cs typeface="Arial"/>
                <a:sym typeface="Arial"/>
              </a:rPr>
              <a:t>La ventaja es que </a:t>
            </a:r>
            <a:r>
              <a:rPr lang="es-CL" sz="2400"/>
              <a:t>preservamos</a:t>
            </a:r>
            <a:r>
              <a:rPr lang="es-CL" sz="2400">
                <a:solidFill>
                  <a:srgbClr val="000000"/>
                </a:solidFill>
                <a:latin typeface="Arial"/>
                <a:ea typeface="Arial"/>
                <a:cs typeface="Arial"/>
                <a:sym typeface="Arial"/>
              </a:rPr>
              <a:t> los datos conocidos, pero la desventaja es que podremos tener características (es decir columnas) con diferente cantidad de datos, lo que puede complicar el entrenamiento de un modelo de Machine Learning pues el número de datos debe ser el mismo para cada característica:</a:t>
            </a:r>
            <a:endParaRPr/>
          </a:p>
          <a:p>
            <a:pPr marL="0" lvl="0" indent="0" algn="just" rtl="0">
              <a:spcBef>
                <a:spcPts val="400"/>
              </a:spcBef>
              <a:spcAft>
                <a:spcPts val="0"/>
              </a:spcAft>
              <a:buNone/>
            </a:pPr>
            <a:endParaRPr sz="2400">
              <a:solidFill>
                <a:srgbClr val="000000"/>
              </a:solidFill>
              <a:latin typeface="Arial"/>
              <a:ea typeface="Arial"/>
              <a:cs typeface="Arial"/>
              <a:sym typeface="Arial"/>
            </a:endParaRPr>
          </a:p>
        </p:txBody>
      </p:sp>
      <p:sp>
        <p:nvSpPr>
          <p:cNvPr id="159" name="Google Shape;159;p11"/>
          <p:cNvSpPr txBox="1"/>
          <p:nvPr/>
        </p:nvSpPr>
        <p:spPr>
          <a:xfrm>
            <a:off x="3879850" y="10215342"/>
            <a:ext cx="650370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https://www.codificandobits.com/blog/manejo-datos-faltantes/</a:t>
            </a:r>
            <a:endParaRPr sz="1800"/>
          </a:p>
        </p:txBody>
      </p:sp>
      <p:pic>
        <p:nvPicPr>
          <p:cNvPr id="160" name="Google Shape;160;p11"/>
          <p:cNvPicPr preferRelativeResize="0"/>
          <p:nvPr/>
        </p:nvPicPr>
        <p:blipFill rotWithShape="1">
          <a:blip r:embed="rId3">
            <a:alphaModFix/>
          </a:blip>
          <a:srcRect/>
          <a:stretch/>
        </p:blipFill>
        <p:spPr>
          <a:xfrm>
            <a:off x="10890250" y="3063875"/>
            <a:ext cx="8088086" cy="4038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2"/>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ESTRATEGIAS</a:t>
            </a:r>
            <a:endParaRPr/>
          </a:p>
        </p:txBody>
      </p:sp>
      <p:sp>
        <p:nvSpPr>
          <p:cNvPr id="166" name="Google Shape;166;p12"/>
          <p:cNvSpPr txBox="1"/>
          <p:nvPr/>
        </p:nvSpPr>
        <p:spPr>
          <a:xfrm>
            <a:off x="2432050" y="1844675"/>
            <a:ext cx="8153400" cy="4566900"/>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DESCARTE o </a:t>
            </a:r>
            <a:r>
              <a:rPr lang="es-CL" sz="2400" b="1"/>
              <a:t>ELIMINACIÓN</a:t>
            </a:r>
            <a:endParaRPr/>
          </a:p>
          <a:p>
            <a:pPr marL="50800" lvl="0" indent="0" algn="just" rtl="0">
              <a:lnSpc>
                <a:spcPct val="107000"/>
              </a:lnSpc>
              <a:spcBef>
                <a:spcPts val="800"/>
              </a:spcBef>
              <a:spcAft>
                <a:spcPts val="0"/>
              </a:spcAft>
              <a:buNone/>
            </a:pPr>
            <a:endParaRPr sz="2400">
              <a:solidFill>
                <a:srgbClr val="000000"/>
              </a:solidFill>
              <a:latin typeface="Arial"/>
              <a:ea typeface="Arial"/>
              <a:cs typeface="Arial"/>
              <a:sym typeface="Arial"/>
            </a:endParaRPr>
          </a:p>
          <a:p>
            <a:pPr marL="0" lvl="0" indent="0" algn="just" rtl="0">
              <a:spcBef>
                <a:spcPts val="1200"/>
              </a:spcBef>
              <a:spcAft>
                <a:spcPts val="0"/>
              </a:spcAft>
              <a:buNone/>
            </a:pPr>
            <a:r>
              <a:rPr lang="es-CL" sz="2400">
                <a:solidFill>
                  <a:srgbClr val="000000"/>
                </a:solidFill>
                <a:latin typeface="Arial"/>
                <a:ea typeface="Arial"/>
                <a:cs typeface="Arial"/>
                <a:sym typeface="Arial"/>
              </a:rPr>
              <a:t>Una forma más agresiva, es la eliminación de la lista (listwise deletion).</a:t>
            </a:r>
            <a:endParaRPr/>
          </a:p>
          <a:p>
            <a:pPr marL="0" lvl="0" indent="0" algn="just" rtl="0">
              <a:spcBef>
                <a:spcPts val="400"/>
              </a:spcBef>
              <a:spcAft>
                <a:spcPts val="0"/>
              </a:spcAft>
              <a:buNone/>
            </a:pPr>
            <a:endParaRPr sz="2400">
              <a:solidFill>
                <a:srgbClr val="000000"/>
              </a:solidFill>
              <a:latin typeface="Arial"/>
              <a:ea typeface="Arial"/>
              <a:cs typeface="Arial"/>
              <a:sym typeface="Arial"/>
            </a:endParaRPr>
          </a:p>
          <a:p>
            <a:pPr marL="0" lvl="0" indent="0" algn="just" rtl="0">
              <a:spcBef>
                <a:spcPts val="400"/>
              </a:spcBef>
              <a:spcAft>
                <a:spcPts val="0"/>
              </a:spcAft>
              <a:buNone/>
            </a:pPr>
            <a:r>
              <a:rPr lang="es-CL" sz="2400">
                <a:solidFill>
                  <a:srgbClr val="000000"/>
                </a:solidFill>
                <a:latin typeface="Arial"/>
                <a:ea typeface="Arial"/>
                <a:cs typeface="Arial"/>
                <a:sym typeface="Arial"/>
              </a:rPr>
              <a:t>La cual consiste en </a:t>
            </a:r>
            <a:r>
              <a:rPr lang="es-CL" sz="2400" b="1">
                <a:solidFill>
                  <a:srgbClr val="000000"/>
                </a:solidFill>
                <a:latin typeface="Arial"/>
                <a:ea typeface="Arial"/>
                <a:cs typeface="Arial"/>
                <a:sym typeface="Arial"/>
              </a:rPr>
              <a:t>remover del set de datos las filas que contengan datos faltantes</a:t>
            </a:r>
            <a:r>
              <a:rPr lang="es-CL" sz="2400">
                <a:solidFill>
                  <a:srgbClr val="000000"/>
                </a:solidFill>
                <a:latin typeface="Arial"/>
                <a:ea typeface="Arial"/>
                <a:cs typeface="Arial"/>
                <a:sym typeface="Arial"/>
              </a:rPr>
              <a:t>, con la desventaja de que al eliminar la fila completa eliminaremos también algunos datos existentes, lo que puede llevar a una pérdida significativa de información</a:t>
            </a:r>
            <a:endParaRPr sz="2400">
              <a:solidFill>
                <a:srgbClr val="000000"/>
              </a:solidFill>
              <a:latin typeface="Arial"/>
              <a:ea typeface="Arial"/>
              <a:cs typeface="Arial"/>
              <a:sym typeface="Arial"/>
            </a:endParaRPr>
          </a:p>
          <a:p>
            <a:pPr marL="50800" lvl="0" indent="0" algn="just" rtl="0">
              <a:lnSpc>
                <a:spcPct val="107000"/>
              </a:lnSpc>
              <a:spcBef>
                <a:spcPts val="0"/>
              </a:spcBef>
              <a:spcAft>
                <a:spcPts val="0"/>
              </a:spcAft>
              <a:buNone/>
            </a:pPr>
            <a:endParaRPr sz="2400">
              <a:solidFill>
                <a:srgbClr val="000000"/>
              </a:solidFill>
              <a:latin typeface="Arial"/>
              <a:ea typeface="Arial"/>
              <a:cs typeface="Arial"/>
              <a:sym typeface="Arial"/>
            </a:endParaRPr>
          </a:p>
        </p:txBody>
      </p:sp>
      <p:sp>
        <p:nvSpPr>
          <p:cNvPr id="167" name="Google Shape;167;p12"/>
          <p:cNvSpPr txBox="1"/>
          <p:nvPr/>
        </p:nvSpPr>
        <p:spPr>
          <a:xfrm>
            <a:off x="3879850" y="10215342"/>
            <a:ext cx="650370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https://www.codificandobits.com/blog/manejo-datos-faltantes/</a:t>
            </a:r>
            <a:endParaRPr sz="1800"/>
          </a:p>
        </p:txBody>
      </p:sp>
      <p:pic>
        <p:nvPicPr>
          <p:cNvPr id="168" name="Google Shape;168;p12"/>
          <p:cNvPicPr preferRelativeResize="0"/>
          <p:nvPr/>
        </p:nvPicPr>
        <p:blipFill rotWithShape="1">
          <a:blip r:embed="rId3">
            <a:alphaModFix/>
          </a:blip>
          <a:srcRect/>
          <a:stretch/>
        </p:blipFill>
        <p:spPr>
          <a:xfrm>
            <a:off x="11195050" y="3063875"/>
            <a:ext cx="8393297" cy="419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3"/>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ESTRATEGIAS</a:t>
            </a:r>
            <a:endParaRPr/>
          </a:p>
        </p:txBody>
      </p:sp>
      <p:sp>
        <p:nvSpPr>
          <p:cNvPr id="174" name="Google Shape;174;p13"/>
          <p:cNvSpPr txBox="1"/>
          <p:nvPr/>
        </p:nvSpPr>
        <p:spPr>
          <a:xfrm>
            <a:off x="2432050" y="1844675"/>
            <a:ext cx="8153400" cy="8583247"/>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IMPUTACIÓN</a:t>
            </a:r>
            <a:endParaRPr/>
          </a:p>
          <a:p>
            <a:pPr marL="0" lvl="0" indent="0" algn="just" rtl="0">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Clr>
                <a:srgbClr val="000000"/>
              </a:buClr>
              <a:buSzPts val="2800"/>
              <a:buFont typeface="Arial"/>
              <a:buNone/>
            </a:pPr>
            <a:r>
              <a:rPr lang="es-CL" sz="2400">
                <a:solidFill>
                  <a:srgbClr val="000000"/>
                </a:solidFill>
                <a:latin typeface="Arial"/>
                <a:ea typeface="Arial"/>
                <a:cs typeface="Arial"/>
                <a:sym typeface="Arial"/>
              </a:rPr>
              <a:t>En muchos casos, la mejor opción es imputar datos, ya que esto permite trabajar con todos los datos aunque produzca un sesgo.</a:t>
            </a:r>
            <a:endParaRPr/>
          </a:p>
          <a:p>
            <a:pPr marL="0" lvl="0" indent="0" algn="just" rtl="0">
              <a:lnSpc>
                <a:spcPct val="115000"/>
              </a:lnSpc>
              <a:spcBef>
                <a:spcPts val="400"/>
              </a:spcBef>
              <a:spcAft>
                <a:spcPts val="0"/>
              </a:spcAft>
              <a:buSzPts val="2800"/>
              <a:buFont typeface="Arial"/>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Clr>
                <a:srgbClr val="000000"/>
              </a:buClr>
              <a:buSzPts val="2800"/>
              <a:buFont typeface="Arial"/>
              <a:buNone/>
            </a:pPr>
            <a:r>
              <a:rPr lang="es-CL" sz="2400">
                <a:solidFill>
                  <a:srgbClr val="000000"/>
                </a:solidFill>
                <a:latin typeface="Arial"/>
                <a:ea typeface="Arial"/>
                <a:cs typeface="Arial"/>
                <a:sym typeface="Arial"/>
              </a:rPr>
              <a:t>Existen muchas técnicas para lidiar con esto. La taxonomía no está 100% definida, pero acá entregamos un ejemplo.</a:t>
            </a:r>
            <a:endParaRPr/>
          </a:p>
          <a:p>
            <a:pPr marL="0" lvl="0" indent="0" algn="just" rtl="0">
              <a:lnSpc>
                <a:spcPct val="115000"/>
              </a:lnSpc>
              <a:spcBef>
                <a:spcPts val="400"/>
              </a:spcBef>
              <a:spcAft>
                <a:spcPts val="0"/>
              </a:spcAft>
              <a:buSzPts val="2800"/>
              <a:buFont typeface="Arial"/>
              <a:buNone/>
            </a:pPr>
            <a:endParaRPr sz="2400">
              <a:solidFill>
                <a:srgbClr val="000000"/>
              </a:solidFill>
              <a:latin typeface="Arial"/>
              <a:ea typeface="Arial"/>
              <a:cs typeface="Arial"/>
              <a:sym typeface="Arial"/>
            </a:endParaRPr>
          </a:p>
          <a:p>
            <a:pPr marL="0" marR="0" lvl="0" indent="0" algn="just" rtl="0">
              <a:lnSpc>
                <a:spcPct val="115000"/>
              </a:lnSpc>
              <a:spcBef>
                <a:spcPts val="400"/>
              </a:spcBef>
              <a:spcAft>
                <a:spcPts val="0"/>
              </a:spcAft>
              <a:buNone/>
            </a:pPr>
            <a:r>
              <a:rPr lang="es-CL" sz="2400" b="1">
                <a:solidFill>
                  <a:srgbClr val="FF0000"/>
                </a:solidFill>
                <a:latin typeface="Arial"/>
                <a:ea typeface="Arial"/>
                <a:cs typeface="Arial"/>
                <a:sym typeface="Arial"/>
              </a:rPr>
              <a:t>Las técnicas de imputación están enfocadas a variables numéricas</a:t>
            </a:r>
            <a:r>
              <a:rPr lang="es-CL" sz="2400">
                <a:solidFill>
                  <a:srgbClr val="000000"/>
                </a:solidFill>
                <a:latin typeface="Arial"/>
                <a:ea typeface="Arial"/>
                <a:cs typeface="Arial"/>
                <a:sym typeface="Arial"/>
              </a:rPr>
              <a:t>.</a:t>
            </a:r>
            <a:endParaRPr/>
          </a:p>
          <a:p>
            <a:pPr marL="0" marR="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marR="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Para </a:t>
            </a:r>
            <a:r>
              <a:rPr lang="es-CL" sz="2400" b="1">
                <a:solidFill>
                  <a:srgbClr val="000000"/>
                </a:solidFill>
                <a:latin typeface="Arial"/>
                <a:ea typeface="Arial"/>
                <a:cs typeface="Arial"/>
                <a:sym typeface="Arial"/>
              </a:rPr>
              <a:t>variables categóricas se podría imputar con la moda, pero es preferible realizar un encoding antes, identificando si es una variable categórica nominal u ordinal</a:t>
            </a:r>
            <a:r>
              <a:rPr lang="es-CL" sz="2400">
                <a:solidFill>
                  <a:srgbClr val="000000"/>
                </a:solidFill>
                <a:latin typeface="Arial"/>
                <a:ea typeface="Arial"/>
                <a:cs typeface="Arial"/>
                <a:sym typeface="Arial"/>
              </a:rPr>
              <a:t>.</a:t>
            </a:r>
            <a:endParaRPr/>
          </a:p>
          <a:p>
            <a:pPr marL="0" lvl="0" indent="0" algn="just" rtl="0">
              <a:lnSpc>
                <a:spcPct val="115000"/>
              </a:lnSpc>
              <a:spcBef>
                <a:spcPts val="400"/>
              </a:spcBef>
              <a:spcAft>
                <a:spcPts val="0"/>
              </a:spcAft>
              <a:buSzPts val="2800"/>
              <a:buFont typeface="Arial"/>
              <a:buNone/>
            </a:pPr>
            <a:endParaRPr sz="2400">
              <a:solidFill>
                <a:srgbClr val="000000"/>
              </a:solidFill>
              <a:latin typeface="Arial"/>
              <a:ea typeface="Arial"/>
              <a:cs typeface="Arial"/>
              <a:sym typeface="Arial"/>
            </a:endParaRPr>
          </a:p>
          <a:p>
            <a:pPr marL="50800" lvl="0" indent="0" algn="just" rtl="0">
              <a:lnSpc>
                <a:spcPct val="107000"/>
              </a:lnSpc>
              <a:spcBef>
                <a:spcPts val="0"/>
              </a:spcBef>
              <a:spcAft>
                <a:spcPts val="0"/>
              </a:spcAft>
              <a:buNone/>
            </a:pPr>
            <a:endParaRPr sz="2400">
              <a:solidFill>
                <a:srgbClr val="000000"/>
              </a:solidFill>
              <a:latin typeface="Arial"/>
              <a:ea typeface="Arial"/>
              <a:cs typeface="Arial"/>
              <a:sym typeface="Arial"/>
            </a:endParaRPr>
          </a:p>
        </p:txBody>
      </p:sp>
      <p:pic>
        <p:nvPicPr>
          <p:cNvPr id="175" name="Google Shape;175;p13"/>
          <p:cNvPicPr preferRelativeResize="0"/>
          <p:nvPr/>
        </p:nvPicPr>
        <p:blipFill rotWithShape="1">
          <a:blip r:embed="rId3">
            <a:alphaModFix/>
          </a:blip>
          <a:srcRect/>
          <a:stretch/>
        </p:blipFill>
        <p:spPr>
          <a:xfrm>
            <a:off x="11652250" y="2378075"/>
            <a:ext cx="8153400" cy="5435601"/>
          </a:xfrm>
          <a:prstGeom prst="rect">
            <a:avLst/>
          </a:prstGeom>
          <a:noFill/>
          <a:ln>
            <a:noFill/>
          </a:ln>
        </p:spPr>
      </p:pic>
      <p:sp>
        <p:nvSpPr>
          <p:cNvPr id="176" name="Google Shape;176;p13"/>
          <p:cNvSpPr txBox="1"/>
          <p:nvPr/>
        </p:nvSpPr>
        <p:spPr>
          <a:xfrm>
            <a:off x="12490450" y="8163838"/>
            <a:ext cx="6997800" cy="35391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s-CL" sz="1100" b="0" i="0" u="none" strike="noStrike" cap="none">
                <a:solidFill>
                  <a:srgbClr val="000000"/>
                </a:solidFill>
                <a:latin typeface="Arial"/>
                <a:ea typeface="Arial"/>
                <a:cs typeface="Arial"/>
                <a:sym typeface="Arial"/>
              </a:rPr>
              <a:t>Fuente: https://www.kaggle.com/parulpandey/a-guide-to-handling-missing-values-in-python</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4"/>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ESTRATEGIAS</a:t>
            </a:r>
            <a:endParaRPr/>
          </a:p>
        </p:txBody>
      </p:sp>
      <p:sp>
        <p:nvSpPr>
          <p:cNvPr id="182" name="Google Shape;182;p14"/>
          <p:cNvSpPr txBox="1"/>
          <p:nvPr/>
        </p:nvSpPr>
        <p:spPr>
          <a:xfrm>
            <a:off x="2432050" y="1844675"/>
            <a:ext cx="8153400" cy="7653314"/>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IMPUTACIÓN</a:t>
            </a:r>
            <a:endParaRPr/>
          </a:p>
          <a:p>
            <a:pPr marL="0" lvl="0" indent="0" algn="just" rtl="0">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Clr>
                <a:srgbClr val="000000"/>
              </a:buClr>
              <a:buSzPts val="2800"/>
              <a:buFont typeface="Arial"/>
              <a:buNone/>
            </a:pPr>
            <a:r>
              <a:rPr lang="es-CL" sz="2400">
                <a:solidFill>
                  <a:srgbClr val="000000"/>
                </a:solidFill>
                <a:latin typeface="Arial"/>
                <a:ea typeface="Arial"/>
                <a:cs typeface="Arial"/>
                <a:sym typeface="Arial"/>
              </a:rPr>
              <a:t>En la imputación </a:t>
            </a:r>
            <a:r>
              <a:rPr lang="es-CL" sz="2400" b="1">
                <a:solidFill>
                  <a:srgbClr val="000000"/>
                </a:solidFill>
                <a:latin typeface="Arial"/>
                <a:ea typeface="Arial"/>
                <a:cs typeface="Arial"/>
                <a:sym typeface="Arial"/>
              </a:rPr>
              <a:t>lo que hacemos es mirar el comportamiento de los datos vecinos para poder estimar el valor del dato faltante</a:t>
            </a:r>
            <a:r>
              <a:rPr lang="es-CL" sz="2400">
                <a:solidFill>
                  <a:srgbClr val="000000"/>
                </a:solidFill>
                <a:latin typeface="Arial"/>
                <a:ea typeface="Arial"/>
                <a:cs typeface="Arial"/>
                <a:sym typeface="Arial"/>
              </a:rPr>
              <a:t>.</a:t>
            </a:r>
            <a:endParaRPr/>
          </a:p>
          <a:p>
            <a:pPr marL="0" lvl="0" indent="0" algn="just" rtl="0">
              <a:lnSpc>
                <a:spcPct val="115000"/>
              </a:lnSpc>
              <a:spcBef>
                <a:spcPts val="400"/>
              </a:spcBef>
              <a:spcAft>
                <a:spcPts val="0"/>
              </a:spcAft>
              <a:buSzPts val="2800"/>
              <a:buFont typeface="Arial"/>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Idealmente esta imputación no debería cambiar la distribución de nuestros datos. Así que si originalmente teníamos una distribución normal (con forma de campana), entonces después de la imputación se debería mantener esta distribución original .</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Acá podemos usar dos técnicas: </a:t>
            </a:r>
            <a:r>
              <a:rPr lang="es-CL" sz="2400" b="1">
                <a:solidFill>
                  <a:srgbClr val="FF0000"/>
                </a:solidFill>
                <a:latin typeface="Arial"/>
                <a:ea typeface="Arial"/>
                <a:cs typeface="Arial"/>
                <a:sym typeface="Arial"/>
              </a:rPr>
              <a:t>la imputación simple y la imputación múltiple</a:t>
            </a:r>
            <a:r>
              <a:rPr lang="es-CL" sz="2400">
                <a:solidFill>
                  <a:srgbClr val="000000"/>
                </a:solidFill>
                <a:latin typeface="Arial"/>
                <a:ea typeface="Arial"/>
                <a:cs typeface="Arial"/>
                <a:sym typeface="Arial"/>
              </a:rPr>
              <a:t>, y en ambos casos, las debemos usar sólo si estamos seguros de que los mecanismos son para datos faltantes completamente aleatorios.</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
        <p:nvSpPr>
          <p:cNvPr id="183" name="Google Shape;183;p14"/>
          <p:cNvSpPr txBox="1"/>
          <p:nvPr/>
        </p:nvSpPr>
        <p:spPr>
          <a:xfrm>
            <a:off x="3879850" y="10215342"/>
            <a:ext cx="650370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https://www.codificandobits.com/blog/manejo-datos-faltantes/</a:t>
            </a:r>
            <a:endParaRPr sz="1800"/>
          </a:p>
        </p:txBody>
      </p:sp>
      <p:pic>
        <p:nvPicPr>
          <p:cNvPr id="184" name="Google Shape;184;p14"/>
          <p:cNvPicPr preferRelativeResize="0"/>
          <p:nvPr/>
        </p:nvPicPr>
        <p:blipFill rotWithShape="1">
          <a:blip r:embed="rId3">
            <a:alphaModFix/>
          </a:blip>
          <a:srcRect/>
          <a:stretch/>
        </p:blipFill>
        <p:spPr>
          <a:xfrm>
            <a:off x="11176301" y="2835275"/>
            <a:ext cx="8439451" cy="3581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5"/>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ESTRATEGIAS</a:t>
            </a:r>
            <a:endParaRPr/>
          </a:p>
        </p:txBody>
      </p:sp>
      <p:sp>
        <p:nvSpPr>
          <p:cNvPr id="190" name="Google Shape;190;p15"/>
          <p:cNvSpPr txBox="1"/>
          <p:nvPr/>
        </p:nvSpPr>
        <p:spPr>
          <a:xfrm>
            <a:off x="2432050" y="1844675"/>
            <a:ext cx="8153400" cy="8505000"/>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IMPUTACIÓN SIMPLE</a:t>
            </a:r>
            <a:endParaRPr/>
          </a:p>
          <a:p>
            <a:pPr marL="0" lvl="0" indent="0" algn="just" rtl="0">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En la imputación simple se usa un algoritmo para hacer una única estimación y el valor obtenido se usa para reemplazar el dato faltante correspondiente. En este caso las tres técnicas más usadas son:</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342900" lvl="0" indent="-342900" algn="just" rtl="0">
              <a:lnSpc>
                <a:spcPct val="115000"/>
              </a:lnSpc>
              <a:spcBef>
                <a:spcPts val="400"/>
              </a:spcBef>
              <a:spcAft>
                <a:spcPts val="0"/>
              </a:spcAft>
              <a:buClr>
                <a:srgbClr val="000000"/>
              </a:buClr>
              <a:buSzPts val="2800"/>
              <a:buFont typeface="Arial"/>
              <a:buChar char="•"/>
            </a:pPr>
            <a:r>
              <a:rPr lang="es-CL" sz="2400" b="1">
                <a:solidFill>
                  <a:srgbClr val="000000"/>
                </a:solidFill>
                <a:latin typeface="Arial"/>
                <a:ea typeface="Arial"/>
                <a:cs typeface="Arial"/>
                <a:sym typeface="Arial"/>
              </a:rPr>
              <a:t>Imputación por la media o la mediana</a:t>
            </a:r>
            <a:r>
              <a:rPr lang="es-CL" sz="2400">
                <a:solidFill>
                  <a:srgbClr val="000000"/>
                </a:solidFill>
                <a:latin typeface="Arial"/>
                <a:ea typeface="Arial"/>
                <a:cs typeface="Arial"/>
                <a:sym typeface="Arial"/>
              </a:rPr>
              <a:t>: se </a:t>
            </a:r>
            <a:r>
              <a:rPr lang="es-CL" sz="2400"/>
              <a:t>calcula</a:t>
            </a:r>
            <a:r>
              <a:rPr lang="es-CL" sz="2400">
                <a:solidFill>
                  <a:srgbClr val="000000"/>
                </a:solidFill>
                <a:latin typeface="Arial"/>
                <a:ea typeface="Arial"/>
                <a:cs typeface="Arial"/>
                <a:sym typeface="Arial"/>
              </a:rPr>
              <a:t> la media o la mediana y se reemplazan los datos faltantes con cualquiera de estos dos valores.  Tiene </a:t>
            </a:r>
            <a:r>
              <a:rPr lang="es-CL" sz="2400">
                <a:solidFill>
                  <a:srgbClr val="FF0000"/>
                </a:solidFill>
                <a:latin typeface="Arial"/>
                <a:ea typeface="Arial"/>
                <a:cs typeface="Arial"/>
                <a:sym typeface="Arial"/>
              </a:rPr>
              <a:t>la desventaja de que al reemplazar muchos datos faltantes con un único valor estaremos cambiando la distribución de los datos</a:t>
            </a:r>
            <a:r>
              <a:rPr lang="es-CL" sz="2400">
                <a:solidFill>
                  <a:srgbClr val="000000"/>
                </a:solidFill>
                <a:latin typeface="Arial"/>
                <a:ea typeface="Arial"/>
                <a:cs typeface="Arial"/>
                <a:sym typeface="Arial"/>
              </a:rPr>
              <a:t>.</a:t>
            </a:r>
            <a:endParaRPr sz="2400">
              <a:solidFill>
                <a:srgbClr val="000000"/>
              </a:solidFill>
              <a:latin typeface="Arial"/>
              <a:ea typeface="Arial"/>
              <a:cs typeface="Arial"/>
              <a:sym typeface="Arial"/>
            </a:endParaRPr>
          </a:p>
          <a:p>
            <a:pPr marL="342900" lvl="0" indent="-317500" algn="just" rtl="0">
              <a:lnSpc>
                <a:spcPct val="115000"/>
              </a:lnSpc>
              <a:spcBef>
                <a:spcPts val="400"/>
              </a:spcBef>
              <a:spcAft>
                <a:spcPts val="0"/>
              </a:spcAft>
              <a:buSzPts val="2400"/>
              <a:buChar char="•"/>
            </a:pPr>
            <a:r>
              <a:rPr lang="es-CL" sz="2400" b="1"/>
              <a:t>Imputación por una constante:</a:t>
            </a:r>
            <a:r>
              <a:rPr lang="es-CL" sz="2400"/>
              <a:t> se reemplazan los valores faltantes con un valor que luego nos ayudará a reconocer estos registros como faltantes. Tiene la desventaja que el modelo de ML puede detectar reglas en los datos de manera errónea.</a:t>
            </a:r>
            <a:endParaRPr sz="2400"/>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
        <p:nvSpPr>
          <p:cNvPr id="191" name="Google Shape;191;p15"/>
          <p:cNvSpPr txBox="1"/>
          <p:nvPr/>
        </p:nvSpPr>
        <p:spPr>
          <a:xfrm>
            <a:off x="3879850" y="10215342"/>
            <a:ext cx="650370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https://www.codificandobits.com/blog/manejo-datos-faltantes/</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6"/>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ESTRATEGIAS</a:t>
            </a:r>
            <a:endParaRPr/>
          </a:p>
        </p:txBody>
      </p:sp>
      <p:sp>
        <p:nvSpPr>
          <p:cNvPr id="197" name="Google Shape;197;p16"/>
          <p:cNvSpPr txBox="1"/>
          <p:nvPr/>
        </p:nvSpPr>
        <p:spPr>
          <a:xfrm>
            <a:off x="2432050" y="1844675"/>
            <a:ext cx="8153400" cy="9352240"/>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IMPUTACIÓN SIMPLE</a:t>
            </a:r>
            <a:endParaRPr/>
          </a:p>
          <a:p>
            <a:pPr marL="0" lvl="0" indent="0" algn="just" rtl="0">
              <a:spcBef>
                <a:spcPts val="1200"/>
              </a:spcBef>
              <a:spcAft>
                <a:spcPts val="0"/>
              </a:spcAft>
              <a:buNone/>
            </a:pPr>
            <a:endParaRPr sz="2400">
              <a:solidFill>
                <a:srgbClr val="000000"/>
              </a:solidFill>
              <a:latin typeface="Arial"/>
              <a:ea typeface="Arial"/>
              <a:cs typeface="Arial"/>
              <a:sym typeface="Arial"/>
            </a:endParaRPr>
          </a:p>
          <a:p>
            <a:pPr marL="342900" lvl="0" indent="-342900" algn="just" rtl="0">
              <a:lnSpc>
                <a:spcPct val="115000"/>
              </a:lnSpc>
              <a:spcBef>
                <a:spcPts val="400"/>
              </a:spcBef>
              <a:spcAft>
                <a:spcPts val="0"/>
              </a:spcAft>
              <a:buClr>
                <a:srgbClr val="000000"/>
              </a:buClr>
              <a:buSzPts val="2800"/>
              <a:buFont typeface="Arial"/>
              <a:buChar char="•"/>
            </a:pPr>
            <a:r>
              <a:rPr lang="es-CL" sz="2400" b="1">
                <a:solidFill>
                  <a:srgbClr val="000000"/>
                </a:solidFill>
                <a:latin typeface="Arial"/>
                <a:ea typeface="Arial"/>
                <a:cs typeface="Arial"/>
                <a:sym typeface="Arial"/>
              </a:rPr>
              <a:t>Hacer la imputación por regresión</a:t>
            </a:r>
            <a:r>
              <a:rPr lang="es-CL" sz="2400">
                <a:solidFill>
                  <a:srgbClr val="000000"/>
                </a:solidFill>
                <a:latin typeface="Arial"/>
                <a:ea typeface="Arial"/>
                <a:cs typeface="Arial"/>
                <a:sym typeface="Arial"/>
              </a:rPr>
              <a:t>. En este caso cada dato faltante es reemplazado con el valor predicho por un modelo de regresión. Aquí se preserva la distribución de los datos. Pero, </a:t>
            </a:r>
            <a:r>
              <a:rPr lang="es-CL" sz="2400">
                <a:solidFill>
                  <a:srgbClr val="FF0000"/>
                </a:solidFill>
                <a:latin typeface="Arial"/>
                <a:ea typeface="Arial"/>
                <a:cs typeface="Arial"/>
                <a:sym typeface="Arial"/>
              </a:rPr>
              <a:t>debe haber algún tipo de correlación entre las variables que estamos usando para construir este modelo</a:t>
            </a:r>
            <a:r>
              <a:rPr lang="es-CL" sz="2400">
                <a:solidFill>
                  <a:srgbClr val="000000"/>
                </a:solidFill>
                <a:latin typeface="Arial"/>
                <a:ea typeface="Arial"/>
                <a:cs typeface="Arial"/>
                <a:sym typeface="Arial"/>
              </a:rPr>
              <a:t>.</a:t>
            </a:r>
            <a:endParaRPr/>
          </a:p>
          <a:p>
            <a:pPr marL="342900" lvl="0" indent="-165100" algn="just" rtl="0">
              <a:lnSpc>
                <a:spcPct val="115000"/>
              </a:lnSpc>
              <a:spcBef>
                <a:spcPts val="400"/>
              </a:spcBef>
              <a:spcAft>
                <a:spcPts val="0"/>
              </a:spcAft>
              <a:buSzPts val="2800"/>
              <a:buFont typeface="Arial"/>
              <a:buNone/>
            </a:pPr>
            <a:endParaRPr sz="2400">
              <a:solidFill>
                <a:srgbClr val="000000"/>
              </a:solidFill>
              <a:latin typeface="Arial"/>
              <a:ea typeface="Arial"/>
              <a:cs typeface="Arial"/>
              <a:sym typeface="Arial"/>
            </a:endParaRPr>
          </a:p>
          <a:p>
            <a:pPr marL="342900" lvl="0" indent="-342900" algn="just" rtl="0">
              <a:lnSpc>
                <a:spcPct val="115000"/>
              </a:lnSpc>
              <a:spcBef>
                <a:spcPts val="400"/>
              </a:spcBef>
              <a:spcAft>
                <a:spcPts val="0"/>
              </a:spcAft>
              <a:buClr>
                <a:schemeClr val="dk1"/>
              </a:buClr>
              <a:buSzPts val="2800"/>
              <a:buFont typeface="Arial"/>
              <a:buChar char="•"/>
            </a:pPr>
            <a:r>
              <a:rPr lang="es-CL" sz="2400" b="1">
                <a:solidFill>
                  <a:schemeClr val="dk1"/>
                </a:solidFill>
                <a:latin typeface="Arial"/>
                <a:ea typeface="Arial"/>
                <a:cs typeface="Arial"/>
                <a:sym typeface="Arial"/>
              </a:rPr>
              <a:t>Imputación hot-deck</a:t>
            </a:r>
            <a:r>
              <a:rPr lang="es-CL" sz="2400">
                <a:solidFill>
                  <a:srgbClr val="000000"/>
                </a:solidFill>
                <a:latin typeface="Arial"/>
                <a:ea typeface="Arial"/>
                <a:cs typeface="Arial"/>
                <a:sym typeface="Arial"/>
              </a:rPr>
              <a:t>. En este caso, el dato faltante es reemplazado con valores tomados de datos “cercanos” al dato faltante. Dentro de esta categoría el método más usado es el de k-vecinos más cercanos (o kNN por sus siglas en Inglés: k-Nearest Neighbors). Es mucho más preciso que la media o la mediana, y puede funcionar en lugar de la regresión cuando los datos no están correlacionados</a:t>
            </a:r>
            <a:r>
              <a:rPr lang="es-CL" sz="2400">
                <a:solidFill>
                  <a:srgbClr val="FF0000"/>
                </a:solidFill>
                <a:latin typeface="Arial"/>
                <a:ea typeface="Arial"/>
                <a:cs typeface="Arial"/>
                <a:sym typeface="Arial"/>
              </a:rPr>
              <a:t>. La desventaja es que si tenemos muchos datos se requiere bastante tiempo de cómputo.</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
        <p:nvSpPr>
          <p:cNvPr id="198" name="Google Shape;198;p16"/>
          <p:cNvSpPr txBox="1"/>
          <p:nvPr/>
        </p:nvSpPr>
        <p:spPr>
          <a:xfrm>
            <a:off x="3879850" y="10215342"/>
            <a:ext cx="650370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https://www.codificandobits.com/blog/manejo-datos-faltantes/</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7"/>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ESTRATEGIAS</a:t>
            </a:r>
            <a:endParaRPr/>
          </a:p>
        </p:txBody>
      </p:sp>
      <p:sp>
        <p:nvSpPr>
          <p:cNvPr id="204" name="Google Shape;204;p17"/>
          <p:cNvSpPr txBox="1"/>
          <p:nvPr/>
        </p:nvSpPr>
        <p:spPr>
          <a:xfrm>
            <a:off x="2432050" y="1844675"/>
            <a:ext cx="8153400" cy="8956200"/>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IMPUTACIÓN </a:t>
            </a:r>
            <a:r>
              <a:rPr lang="es-CL" sz="2400" b="1"/>
              <a:t>MÚLTIPLE</a:t>
            </a:r>
            <a:r>
              <a:rPr lang="es-CL" sz="2400" b="1">
                <a:solidFill>
                  <a:srgbClr val="000000"/>
                </a:solidFill>
                <a:latin typeface="Arial"/>
                <a:ea typeface="Arial"/>
                <a:cs typeface="Arial"/>
                <a:sym typeface="Arial"/>
              </a:rPr>
              <a:t>: EL ALGORITMO MICE</a:t>
            </a:r>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En la </a:t>
            </a:r>
            <a:r>
              <a:rPr lang="es-CL" sz="2400" b="1">
                <a:solidFill>
                  <a:srgbClr val="000000"/>
                </a:solidFill>
                <a:latin typeface="Arial"/>
                <a:ea typeface="Arial"/>
                <a:cs typeface="Arial"/>
                <a:sym typeface="Arial"/>
              </a:rPr>
              <a:t>imputación múltiple </a:t>
            </a:r>
            <a:r>
              <a:rPr lang="es-CL" sz="2400">
                <a:solidFill>
                  <a:srgbClr val="000000"/>
                </a:solidFill>
                <a:latin typeface="Arial"/>
                <a:ea typeface="Arial"/>
                <a:cs typeface="Arial"/>
                <a:sym typeface="Arial"/>
              </a:rPr>
              <a:t>se hacen múltiples estimaciones, que luego se combinan para producir un único valor, que será el usado para reemplazar el dato faltante correspondiente, con lo cual se puede disminuir el sesgo de la estimación.</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07000"/>
              </a:lnSpc>
              <a:spcBef>
                <a:spcPts val="0"/>
              </a:spcBef>
              <a:spcAft>
                <a:spcPts val="0"/>
              </a:spcAft>
              <a:buNone/>
            </a:pPr>
            <a:r>
              <a:rPr lang="es-CL" sz="2400">
                <a:solidFill>
                  <a:srgbClr val="000000"/>
                </a:solidFill>
                <a:latin typeface="Arial"/>
                <a:ea typeface="Arial"/>
                <a:cs typeface="Arial"/>
                <a:sym typeface="Arial"/>
              </a:rPr>
              <a:t>El método más usado es el algoritmo de Imputación Múltiple con Ecuaciones Encadenadas (o MICE por sus siglas en Inglés: </a:t>
            </a:r>
            <a:r>
              <a:rPr lang="es-CL" sz="2400" b="1">
                <a:solidFill>
                  <a:srgbClr val="000000"/>
                </a:solidFill>
                <a:latin typeface="Arial"/>
                <a:ea typeface="Arial"/>
                <a:cs typeface="Arial"/>
                <a:sym typeface="Arial"/>
              </a:rPr>
              <a:t>Multiple Imputation by Chained Equations</a:t>
            </a:r>
            <a:r>
              <a:rPr lang="es-CL" sz="2400">
                <a:solidFill>
                  <a:srgbClr val="000000"/>
                </a:solidFill>
                <a:latin typeface="Arial"/>
                <a:ea typeface="Arial"/>
                <a:cs typeface="Arial"/>
                <a:sym typeface="Arial"/>
              </a:rPr>
              <a:t>). Aquí, la idea es que progresivamente las estimaciones sean cada vez más precisas y se acerquen más y más al valor real.</a:t>
            </a:r>
            <a:endParaRPr/>
          </a:p>
          <a:p>
            <a:pPr marL="0" lvl="0" indent="0" algn="just" rtl="0">
              <a:lnSpc>
                <a:spcPct val="107000"/>
              </a:lnSpc>
              <a:spcBef>
                <a:spcPts val="800"/>
              </a:spcBef>
              <a:spcAft>
                <a:spcPts val="0"/>
              </a:spcAft>
              <a:buNone/>
            </a:pPr>
            <a:endParaRPr sz="2400">
              <a:solidFill>
                <a:srgbClr val="000000"/>
              </a:solidFill>
              <a:latin typeface="Arial"/>
              <a:ea typeface="Arial"/>
              <a:cs typeface="Arial"/>
              <a:sym typeface="Arial"/>
            </a:endParaRPr>
          </a:p>
          <a:p>
            <a:pPr marL="0" lvl="0" indent="0" algn="just" rtl="0">
              <a:lnSpc>
                <a:spcPct val="107000"/>
              </a:lnSpc>
              <a:spcBef>
                <a:spcPts val="800"/>
              </a:spcBef>
              <a:spcAft>
                <a:spcPts val="0"/>
              </a:spcAft>
              <a:buNone/>
            </a:pPr>
            <a:r>
              <a:rPr lang="es-CL" sz="2400">
                <a:solidFill>
                  <a:srgbClr val="000000"/>
                </a:solidFill>
                <a:latin typeface="Arial"/>
                <a:ea typeface="Arial"/>
                <a:cs typeface="Arial"/>
                <a:sym typeface="Arial"/>
              </a:rPr>
              <a:t>Aunque es un método muy preciso, </a:t>
            </a:r>
            <a:r>
              <a:rPr lang="es-CL" sz="2400">
                <a:solidFill>
                  <a:srgbClr val="FF0000"/>
                </a:solidFill>
                <a:latin typeface="Arial"/>
                <a:ea typeface="Arial"/>
                <a:cs typeface="Arial"/>
                <a:sym typeface="Arial"/>
              </a:rPr>
              <a:t>requiere que haya relación lineal entre las variables</a:t>
            </a:r>
            <a:r>
              <a:rPr lang="es-CL" sz="2400">
                <a:solidFill>
                  <a:srgbClr val="000000"/>
                </a:solidFill>
                <a:latin typeface="Arial"/>
                <a:ea typeface="Arial"/>
                <a:cs typeface="Arial"/>
                <a:sym typeface="Arial"/>
              </a:rPr>
              <a:t>.</a:t>
            </a:r>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
        <p:nvSpPr>
          <p:cNvPr id="205" name="Google Shape;205;p17"/>
          <p:cNvSpPr txBox="1"/>
          <p:nvPr/>
        </p:nvSpPr>
        <p:spPr>
          <a:xfrm>
            <a:off x="3879850" y="10215342"/>
            <a:ext cx="650370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https://www.codificandobits.com/blog/manejo-datos-faltantes/</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8"/>
          <p:cNvSpPr txBox="1">
            <a:spLocks noGrp="1"/>
          </p:cNvSpPr>
          <p:nvPr>
            <p:ph type="title"/>
          </p:nvPr>
        </p:nvSpPr>
        <p:spPr>
          <a:xfrm>
            <a:off x="222250" y="7407275"/>
            <a:ext cx="10393528" cy="1015663"/>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sz="6600" dirty="0"/>
              <a:t>OUTLIERS</a:t>
            </a:r>
            <a:endParaRPr dirty="0"/>
          </a:p>
        </p:txBody>
      </p:sp>
      <p:sp>
        <p:nvSpPr>
          <p:cNvPr id="211" name="Google Shape;211;p18"/>
          <p:cNvSpPr txBox="1"/>
          <p:nvPr/>
        </p:nvSpPr>
        <p:spPr>
          <a:xfrm>
            <a:off x="9089872" y="6188075"/>
            <a:ext cx="1905000" cy="147732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9600" b="1" i="0">
                <a:solidFill>
                  <a:schemeClr val="dk1"/>
                </a:solidFill>
                <a:latin typeface="Arial Black"/>
                <a:ea typeface="Arial Black"/>
                <a:cs typeface="Arial Black"/>
                <a:sym typeface="Arial Black"/>
              </a:rPr>
              <a:t>03</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9"/>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OUTLIERS</a:t>
            </a:r>
            <a:endParaRPr/>
          </a:p>
        </p:txBody>
      </p:sp>
      <p:sp>
        <p:nvSpPr>
          <p:cNvPr id="217" name="Google Shape;217;p19"/>
          <p:cNvSpPr txBox="1"/>
          <p:nvPr/>
        </p:nvSpPr>
        <p:spPr>
          <a:xfrm>
            <a:off x="2432050" y="1844675"/>
            <a:ext cx="8153400" cy="8214749"/>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DEFINICIÓN</a:t>
            </a:r>
            <a:endParaRPr sz="240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Los valores atípicos son </a:t>
            </a:r>
            <a:r>
              <a:rPr lang="es-CL" sz="2400" b="1">
                <a:solidFill>
                  <a:srgbClr val="FF0000"/>
                </a:solidFill>
                <a:latin typeface="Arial"/>
                <a:ea typeface="Arial"/>
                <a:cs typeface="Arial"/>
                <a:sym typeface="Arial"/>
              </a:rPr>
              <a:t>aquellos puntos de datos que difieren significativamente de otras observaciones presentes en un conjunto de datos dado</a:t>
            </a:r>
            <a:r>
              <a:rPr lang="es-CL" sz="2400">
                <a:solidFill>
                  <a:srgbClr val="000000"/>
                </a:solidFill>
                <a:latin typeface="Arial"/>
                <a:ea typeface="Arial"/>
                <a:cs typeface="Arial"/>
                <a:sym typeface="Arial"/>
              </a:rPr>
              <a:t>. Puede ocurrir debido a la variabilidad en la medición y debido a una mala interpretación al llenar los puntos de datos.</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Al realizar la recopilación de datos, es cuando los valores atípicos se presentan por primera vez a la población. Los valores atípicos </a:t>
            </a:r>
            <a:r>
              <a:rPr lang="es-CL" sz="2400" b="1">
                <a:solidFill>
                  <a:srgbClr val="000000"/>
                </a:solidFill>
                <a:latin typeface="Arial"/>
                <a:ea typeface="Arial"/>
                <a:cs typeface="Arial"/>
                <a:sym typeface="Arial"/>
              </a:rPr>
              <a:t>pueden ser el resultado de un error durante la recopilación de datos o pueden ser solo una indicación de variación </a:t>
            </a:r>
            <a:r>
              <a:rPr lang="es-CL" sz="2400">
                <a:solidFill>
                  <a:srgbClr val="000000"/>
                </a:solidFill>
                <a:latin typeface="Arial"/>
                <a:ea typeface="Arial"/>
                <a:cs typeface="Arial"/>
                <a:sym typeface="Arial"/>
              </a:rPr>
              <a:t>en los datos.</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spcBef>
                <a:spcPts val="0"/>
              </a:spcBef>
              <a:spcAft>
                <a:spcPts val="0"/>
              </a:spcAft>
              <a:buNone/>
            </a:pPr>
            <a:r>
              <a:rPr lang="es-CL" sz="2400">
                <a:solidFill>
                  <a:srgbClr val="000000"/>
                </a:solidFill>
                <a:latin typeface="Arial"/>
                <a:ea typeface="Arial"/>
                <a:cs typeface="Arial"/>
                <a:sym typeface="Arial"/>
              </a:rPr>
              <a:t>En el ejemplo,  todos los jugadores obtuvieron una puntuación de más de 300, excepto el Jugador 3, que obtuvo una puntuación de 10. Si esto es un error, podemos ignorarlo, pero si es una variación en los datos, debemos analizar un poco más.</a:t>
            </a:r>
            <a:endParaRPr/>
          </a:p>
        </p:txBody>
      </p:sp>
      <p:sp>
        <p:nvSpPr>
          <p:cNvPr id="218" name="Google Shape;218;p19"/>
          <p:cNvSpPr txBox="1"/>
          <p:nvPr/>
        </p:nvSpPr>
        <p:spPr>
          <a:xfrm>
            <a:off x="2584450" y="10256202"/>
            <a:ext cx="8888972"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https://towardsdatascience.com/ways-to-detect-and-remove-the-outliers-404d16608dba</a:t>
            </a:r>
            <a:endParaRPr sz="1800"/>
          </a:p>
        </p:txBody>
      </p:sp>
      <p:pic>
        <p:nvPicPr>
          <p:cNvPr id="219" name="Google Shape;219;p19"/>
          <p:cNvPicPr preferRelativeResize="0"/>
          <p:nvPr/>
        </p:nvPicPr>
        <p:blipFill rotWithShape="1">
          <a:blip r:embed="rId3">
            <a:alphaModFix/>
          </a:blip>
          <a:srcRect/>
          <a:stretch/>
        </p:blipFill>
        <p:spPr>
          <a:xfrm>
            <a:off x="11957050" y="2911475"/>
            <a:ext cx="6248400" cy="61705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0"/>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OUTLIERS</a:t>
            </a:r>
            <a:endParaRPr/>
          </a:p>
        </p:txBody>
      </p:sp>
      <p:sp>
        <p:nvSpPr>
          <p:cNvPr id="225" name="Google Shape;225;p20"/>
          <p:cNvSpPr txBox="1"/>
          <p:nvPr/>
        </p:nvSpPr>
        <p:spPr>
          <a:xfrm>
            <a:off x="2432050" y="1844675"/>
            <a:ext cx="8153400" cy="5533759"/>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DETECCIÓN CON VISUALIZACIÓN</a:t>
            </a:r>
            <a:endParaRPr sz="240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En un </a:t>
            </a:r>
            <a:r>
              <a:rPr lang="es-CL" sz="2400" b="1">
                <a:solidFill>
                  <a:srgbClr val="000000"/>
                </a:solidFill>
                <a:latin typeface="Arial"/>
                <a:ea typeface="Arial"/>
                <a:cs typeface="Arial"/>
                <a:sym typeface="Arial"/>
              </a:rPr>
              <a:t>gráfico de caja (boxplot), </a:t>
            </a:r>
            <a:r>
              <a:rPr lang="es-CL" sz="2400">
                <a:solidFill>
                  <a:srgbClr val="000000"/>
                </a:solidFill>
                <a:latin typeface="Arial"/>
                <a:ea typeface="Arial"/>
                <a:cs typeface="Arial"/>
                <a:sym typeface="Arial"/>
              </a:rPr>
              <a:t>los outliers se trazan como puntos individuales, mientras que el resto de la población se agrupará dentro de la caja o los “bigotes” del gráfico.</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La gráfica muestra tres puntos entre 10 y 12, estos son valores atípicos ya que no están incluidos en el cuadro de la observación, es decir, no están cerca de los cuartiles.</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Aquí analizamos el </a:t>
            </a:r>
            <a:r>
              <a:rPr lang="es-CL" sz="2400" b="1">
                <a:solidFill>
                  <a:srgbClr val="FF0000"/>
                </a:solidFill>
                <a:latin typeface="Arial"/>
                <a:ea typeface="Arial"/>
                <a:cs typeface="Arial"/>
                <a:sym typeface="Arial"/>
              </a:rPr>
              <a:t>valor atípico univariable</a:t>
            </a:r>
            <a:r>
              <a:rPr lang="es-CL" sz="2400">
                <a:solidFill>
                  <a:srgbClr val="000000"/>
                </a:solidFill>
                <a:latin typeface="Arial"/>
                <a:ea typeface="Arial"/>
                <a:cs typeface="Arial"/>
                <a:sym typeface="Arial"/>
              </a:rPr>
              <a:t>.</a:t>
            </a:r>
            <a:endParaRPr/>
          </a:p>
        </p:txBody>
      </p:sp>
      <p:sp>
        <p:nvSpPr>
          <p:cNvPr id="226" name="Google Shape;226;p20"/>
          <p:cNvSpPr txBox="1"/>
          <p:nvPr/>
        </p:nvSpPr>
        <p:spPr>
          <a:xfrm>
            <a:off x="2584450" y="10256202"/>
            <a:ext cx="8888972"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https://towardsdatascience.com/ways-to-detect-and-remove-the-outliers-404d16608dba</a:t>
            </a:r>
            <a:endParaRPr sz="1800"/>
          </a:p>
        </p:txBody>
      </p:sp>
      <p:pic>
        <p:nvPicPr>
          <p:cNvPr id="227" name="Google Shape;227;p20"/>
          <p:cNvPicPr preferRelativeResize="0"/>
          <p:nvPr/>
        </p:nvPicPr>
        <p:blipFill rotWithShape="1">
          <a:blip r:embed="rId3">
            <a:alphaModFix/>
          </a:blip>
          <a:srcRect/>
          <a:stretch/>
        </p:blipFill>
        <p:spPr>
          <a:xfrm>
            <a:off x="11473422" y="3161254"/>
            <a:ext cx="7646428" cy="52515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1"/>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OUTLIERS</a:t>
            </a:r>
            <a:endParaRPr/>
          </a:p>
        </p:txBody>
      </p:sp>
      <p:sp>
        <p:nvSpPr>
          <p:cNvPr id="233" name="Google Shape;233;p21"/>
          <p:cNvSpPr txBox="1"/>
          <p:nvPr/>
        </p:nvSpPr>
        <p:spPr>
          <a:xfrm>
            <a:off x="2432050" y="1844675"/>
            <a:ext cx="8153400" cy="6910546"/>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DETECCIÓN CON VISUALIZACIÓN</a:t>
            </a:r>
            <a:endParaRPr sz="240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Un </a:t>
            </a:r>
            <a:r>
              <a:rPr lang="es-CL" sz="2400" b="1">
                <a:solidFill>
                  <a:srgbClr val="000000"/>
                </a:solidFill>
                <a:latin typeface="Arial"/>
                <a:ea typeface="Arial"/>
                <a:cs typeface="Arial"/>
                <a:sym typeface="Arial"/>
              </a:rPr>
              <a:t>gráfico de dispersión </a:t>
            </a:r>
            <a:r>
              <a:rPr lang="es-CL" sz="2400">
                <a:solidFill>
                  <a:srgbClr val="000000"/>
                </a:solidFill>
                <a:latin typeface="Arial"/>
                <a:ea typeface="Arial"/>
                <a:cs typeface="Arial"/>
                <a:sym typeface="Arial"/>
              </a:rPr>
              <a:t>es un tipo de gráfico o diagrama matemático que utiliza coordenadas cartesianas para mostrar valores de dos variables típicamente para un conjunto de datos. </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Mirando la gráfica, podemos ver que la mayoría de los puntos de datos se encuentran en el lado inferior izquierdo, pero hay puntos que están lejos de la población, como la esquina superior derecha.</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Este es un análisis de  </a:t>
            </a:r>
            <a:r>
              <a:rPr lang="es-CL" sz="2400" b="1">
                <a:solidFill>
                  <a:srgbClr val="FF0000"/>
                </a:solidFill>
                <a:latin typeface="Arial"/>
                <a:ea typeface="Arial"/>
                <a:cs typeface="Arial"/>
                <a:sym typeface="Arial"/>
              </a:rPr>
              <a:t>valores atípico multivariable</a:t>
            </a:r>
            <a:r>
              <a:rPr lang="es-CL" sz="2400">
                <a:solidFill>
                  <a:srgbClr val="000000"/>
                </a:solidFill>
                <a:latin typeface="Arial"/>
                <a:ea typeface="Arial"/>
                <a:cs typeface="Arial"/>
                <a:sym typeface="Arial"/>
              </a:rPr>
              <a:t>.</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
        <p:nvSpPr>
          <p:cNvPr id="234" name="Google Shape;234;p21"/>
          <p:cNvSpPr txBox="1"/>
          <p:nvPr/>
        </p:nvSpPr>
        <p:spPr>
          <a:xfrm>
            <a:off x="2584450" y="10256202"/>
            <a:ext cx="8888972"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https://towardsdatascience.com/ways-to-detect-and-remove-the-outliers-404d16608dba</a:t>
            </a:r>
            <a:endParaRPr sz="1800"/>
          </a:p>
        </p:txBody>
      </p:sp>
      <p:pic>
        <p:nvPicPr>
          <p:cNvPr id="235" name="Google Shape;235;p21"/>
          <p:cNvPicPr preferRelativeResize="0"/>
          <p:nvPr/>
        </p:nvPicPr>
        <p:blipFill rotWithShape="1">
          <a:blip r:embed="rId3">
            <a:alphaModFix/>
          </a:blip>
          <a:srcRect/>
          <a:stretch/>
        </p:blipFill>
        <p:spPr>
          <a:xfrm>
            <a:off x="11118850" y="3094778"/>
            <a:ext cx="8701747" cy="441033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2"/>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OUTLIERS</a:t>
            </a:r>
            <a:endParaRPr/>
          </a:p>
        </p:txBody>
      </p:sp>
      <p:sp>
        <p:nvSpPr>
          <p:cNvPr id="241" name="Google Shape;241;p22"/>
          <p:cNvSpPr txBox="1"/>
          <p:nvPr/>
        </p:nvSpPr>
        <p:spPr>
          <a:xfrm>
            <a:off x="2432050" y="1844675"/>
            <a:ext cx="8153400" cy="5057731"/>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DETECCIÓN CON MÉTRICAS</a:t>
            </a:r>
            <a:endParaRPr sz="240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b="1">
                <a:solidFill>
                  <a:srgbClr val="000000"/>
                </a:solidFill>
                <a:latin typeface="Arial"/>
                <a:ea typeface="Arial"/>
                <a:cs typeface="Arial"/>
                <a:sym typeface="Arial"/>
              </a:rPr>
              <a:t>La puntuación Z </a:t>
            </a:r>
            <a:r>
              <a:rPr lang="es-CL" sz="2400">
                <a:solidFill>
                  <a:srgbClr val="000000"/>
                </a:solidFill>
                <a:latin typeface="Arial"/>
                <a:ea typeface="Arial"/>
                <a:cs typeface="Arial"/>
                <a:sym typeface="Arial"/>
              </a:rPr>
              <a:t>asume que las variables tienen una distribución Gaussiana. Aquí se representan el “número de desviaciones estándar” alejadas de la media.</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Aquí, normalmente definimos valores atípicos como puntos cuyo módulo de puntuación z es mayor que un valor de umbral. Este valor de umbral suele ser superior a 2 (3 es un valor común).</a:t>
            </a: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
        <p:nvSpPr>
          <p:cNvPr id="242" name="Google Shape;242;p22"/>
          <p:cNvSpPr txBox="1"/>
          <p:nvPr/>
        </p:nvSpPr>
        <p:spPr>
          <a:xfrm>
            <a:off x="2584450" y="10256202"/>
            <a:ext cx="977543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https://medium.com/analytics-vidhya/how-to-remove-outliers-for-machine-learning-24620c4657e8</a:t>
            </a:r>
            <a:endParaRPr sz="1800"/>
          </a:p>
        </p:txBody>
      </p:sp>
      <p:pic>
        <p:nvPicPr>
          <p:cNvPr id="243" name="Google Shape;243;p22"/>
          <p:cNvPicPr preferRelativeResize="0"/>
          <p:nvPr/>
        </p:nvPicPr>
        <p:blipFill rotWithShape="1">
          <a:blip r:embed="rId3">
            <a:alphaModFix/>
          </a:blip>
          <a:srcRect/>
          <a:stretch/>
        </p:blipFill>
        <p:spPr>
          <a:xfrm>
            <a:off x="12109450" y="2301875"/>
            <a:ext cx="6106541" cy="3352800"/>
          </a:xfrm>
          <a:prstGeom prst="rect">
            <a:avLst/>
          </a:prstGeom>
          <a:noFill/>
          <a:ln>
            <a:noFill/>
          </a:ln>
        </p:spPr>
      </p:pic>
      <p:pic>
        <p:nvPicPr>
          <p:cNvPr id="244" name="Google Shape;244;p22"/>
          <p:cNvPicPr preferRelativeResize="0"/>
          <p:nvPr/>
        </p:nvPicPr>
        <p:blipFill rotWithShape="1">
          <a:blip r:embed="rId4">
            <a:alphaModFix/>
          </a:blip>
          <a:srcRect/>
          <a:stretch/>
        </p:blipFill>
        <p:spPr>
          <a:xfrm>
            <a:off x="11767987" y="5959475"/>
            <a:ext cx="7645976" cy="386222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3"/>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OUTLIERS</a:t>
            </a:r>
            <a:endParaRPr/>
          </a:p>
        </p:txBody>
      </p:sp>
      <p:sp>
        <p:nvSpPr>
          <p:cNvPr id="250" name="Google Shape;250;p23"/>
          <p:cNvSpPr txBox="1"/>
          <p:nvPr/>
        </p:nvSpPr>
        <p:spPr>
          <a:xfrm>
            <a:off x="2432050" y="1844675"/>
            <a:ext cx="8153400" cy="7862602"/>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DETECCIÓN CON MÉTRICAS</a:t>
            </a:r>
            <a:endParaRPr sz="240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b="1">
                <a:solidFill>
                  <a:srgbClr val="000000"/>
                </a:solidFill>
                <a:latin typeface="Arial"/>
                <a:ea typeface="Arial"/>
                <a:cs typeface="Arial"/>
                <a:sym typeface="Arial"/>
              </a:rPr>
              <a:t>El método IQR</a:t>
            </a:r>
            <a:r>
              <a:rPr lang="es-CL" sz="2400">
                <a:solidFill>
                  <a:srgbClr val="000000"/>
                </a:solidFill>
                <a:latin typeface="Arial"/>
                <a:ea typeface="Arial"/>
                <a:cs typeface="Arial"/>
                <a:sym typeface="Arial"/>
              </a:rPr>
              <a:t>, usa del rango intercuartílico (IQR), para detectar valores atípicos. </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r>
              <a:rPr lang="es-CL" sz="2400">
                <a:solidFill>
                  <a:srgbClr val="000000"/>
                </a:solidFill>
                <a:latin typeface="Arial"/>
                <a:ea typeface="Arial"/>
                <a:cs typeface="Arial"/>
                <a:sym typeface="Arial"/>
              </a:rPr>
              <a:t>IQR nos dice la variación en el conjunto de datos. </a:t>
            </a:r>
            <a:r>
              <a:rPr lang="es-CL" sz="2400" b="1">
                <a:solidFill>
                  <a:srgbClr val="000000"/>
                </a:solidFill>
                <a:latin typeface="Arial"/>
                <a:ea typeface="Arial"/>
                <a:cs typeface="Arial"/>
                <a:sym typeface="Arial"/>
              </a:rPr>
              <a:t>Cualquier valor que esté más allá del rango de -1,5 x IQR a 1,5 x IQR se trata como un valor atípico</a:t>
            </a:r>
            <a:r>
              <a:rPr lang="es-CL" sz="2400">
                <a:solidFill>
                  <a:srgbClr val="000000"/>
                </a:solidFill>
                <a:latin typeface="Arial"/>
                <a:ea typeface="Arial"/>
                <a:cs typeface="Arial"/>
                <a:sym typeface="Arial"/>
              </a:rPr>
              <a:t>.</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342900" lvl="0" indent="-342900" algn="just" rtl="0">
              <a:lnSpc>
                <a:spcPct val="115000"/>
              </a:lnSpc>
              <a:spcBef>
                <a:spcPts val="400"/>
              </a:spcBef>
              <a:spcAft>
                <a:spcPts val="0"/>
              </a:spcAft>
              <a:buClr>
                <a:srgbClr val="000000"/>
              </a:buClr>
              <a:buSzPts val="2800"/>
              <a:buFont typeface="Arial"/>
              <a:buChar char="•"/>
            </a:pPr>
            <a:r>
              <a:rPr lang="es-CL" sz="2400">
                <a:solidFill>
                  <a:srgbClr val="000000"/>
                </a:solidFill>
                <a:latin typeface="Arial"/>
                <a:ea typeface="Arial"/>
                <a:cs typeface="Arial"/>
                <a:sym typeface="Arial"/>
              </a:rPr>
              <a:t>Q1 representa el primer cuartil/percentil 25 de los datos.</a:t>
            </a:r>
            <a:endParaRPr/>
          </a:p>
          <a:p>
            <a:pPr marL="342900" lvl="0" indent="-342900" algn="just" rtl="0">
              <a:lnSpc>
                <a:spcPct val="115000"/>
              </a:lnSpc>
              <a:spcBef>
                <a:spcPts val="400"/>
              </a:spcBef>
              <a:spcAft>
                <a:spcPts val="0"/>
              </a:spcAft>
              <a:buClr>
                <a:srgbClr val="000000"/>
              </a:buClr>
              <a:buSzPts val="2800"/>
              <a:buFont typeface="Arial"/>
              <a:buChar char="•"/>
            </a:pPr>
            <a:r>
              <a:rPr lang="es-CL" sz="2400">
                <a:solidFill>
                  <a:srgbClr val="000000"/>
                </a:solidFill>
                <a:latin typeface="Arial"/>
                <a:ea typeface="Arial"/>
                <a:cs typeface="Arial"/>
                <a:sym typeface="Arial"/>
              </a:rPr>
              <a:t>Q2 representa el segundo cuartil/mediana/percentil 50 de los datos.</a:t>
            </a:r>
            <a:endParaRPr/>
          </a:p>
          <a:p>
            <a:pPr marL="342900" lvl="0" indent="-342900" algn="just" rtl="0">
              <a:lnSpc>
                <a:spcPct val="115000"/>
              </a:lnSpc>
              <a:spcBef>
                <a:spcPts val="400"/>
              </a:spcBef>
              <a:spcAft>
                <a:spcPts val="0"/>
              </a:spcAft>
              <a:buClr>
                <a:srgbClr val="000000"/>
              </a:buClr>
              <a:buSzPts val="2800"/>
              <a:buFont typeface="Arial"/>
              <a:buChar char="•"/>
            </a:pPr>
            <a:r>
              <a:rPr lang="es-CL" sz="2400">
                <a:solidFill>
                  <a:srgbClr val="000000"/>
                </a:solidFill>
                <a:latin typeface="Arial"/>
                <a:ea typeface="Arial"/>
                <a:cs typeface="Arial"/>
                <a:sym typeface="Arial"/>
              </a:rPr>
              <a:t>Q3 representa el tercer cuartil/percentil 75 de los datos.</a:t>
            </a:r>
            <a:endParaRPr/>
          </a:p>
          <a:p>
            <a:pPr marL="342900" lvl="0" indent="-342900" algn="just" rtl="0">
              <a:lnSpc>
                <a:spcPct val="115000"/>
              </a:lnSpc>
              <a:spcBef>
                <a:spcPts val="400"/>
              </a:spcBef>
              <a:spcAft>
                <a:spcPts val="0"/>
              </a:spcAft>
              <a:buClr>
                <a:srgbClr val="000000"/>
              </a:buClr>
              <a:buSzPts val="2800"/>
              <a:buFont typeface="Arial"/>
              <a:buChar char="•"/>
            </a:pPr>
            <a:r>
              <a:rPr lang="es-CL" sz="2400">
                <a:solidFill>
                  <a:srgbClr val="000000"/>
                </a:solidFill>
                <a:latin typeface="Arial"/>
                <a:ea typeface="Arial"/>
                <a:cs typeface="Arial"/>
                <a:sym typeface="Arial"/>
              </a:rPr>
              <a:t>(Q1–1.5IQR) representan el valor más pequeño en el conjunto de datos y </a:t>
            </a:r>
            <a:endParaRPr/>
          </a:p>
          <a:p>
            <a:pPr marL="342900" lvl="0" indent="-342900" algn="just" rtl="0">
              <a:lnSpc>
                <a:spcPct val="115000"/>
              </a:lnSpc>
              <a:spcBef>
                <a:spcPts val="400"/>
              </a:spcBef>
              <a:spcAft>
                <a:spcPts val="0"/>
              </a:spcAft>
              <a:buClr>
                <a:srgbClr val="000000"/>
              </a:buClr>
              <a:buSzPts val="2800"/>
              <a:buFont typeface="Arial"/>
              <a:buChar char="•"/>
            </a:pPr>
            <a:r>
              <a:rPr lang="es-CL" sz="2400">
                <a:solidFill>
                  <a:srgbClr val="000000"/>
                </a:solidFill>
                <a:latin typeface="Arial"/>
                <a:ea typeface="Arial"/>
                <a:cs typeface="Arial"/>
                <a:sym typeface="Arial"/>
              </a:rPr>
              <a:t>(Q3+1.5IQR) representan el valor más grande en el conjunto de datos</a:t>
            </a:r>
            <a:endParaRPr sz="2400">
              <a:solidFill>
                <a:srgbClr val="000000"/>
              </a:solidFill>
              <a:latin typeface="Arial"/>
              <a:ea typeface="Arial"/>
              <a:cs typeface="Arial"/>
              <a:sym typeface="Arial"/>
            </a:endParaRPr>
          </a:p>
        </p:txBody>
      </p:sp>
      <p:sp>
        <p:nvSpPr>
          <p:cNvPr id="251" name="Google Shape;251;p23"/>
          <p:cNvSpPr txBox="1"/>
          <p:nvPr/>
        </p:nvSpPr>
        <p:spPr>
          <a:xfrm>
            <a:off x="2584450" y="10256202"/>
            <a:ext cx="977543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https://medium.com/analytics-vidhya/how-to-remove-outliers-for-machine-learning-24620c4657e8</a:t>
            </a:r>
            <a:endParaRPr sz="1800"/>
          </a:p>
        </p:txBody>
      </p:sp>
      <p:pic>
        <p:nvPicPr>
          <p:cNvPr id="252" name="Google Shape;252;p23"/>
          <p:cNvPicPr preferRelativeResize="0"/>
          <p:nvPr/>
        </p:nvPicPr>
        <p:blipFill rotWithShape="1">
          <a:blip r:embed="rId3">
            <a:alphaModFix/>
          </a:blip>
          <a:srcRect/>
          <a:stretch/>
        </p:blipFill>
        <p:spPr>
          <a:xfrm>
            <a:off x="11576050" y="3430617"/>
            <a:ext cx="7477125" cy="4848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4"/>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OUTLIERS</a:t>
            </a:r>
            <a:endParaRPr/>
          </a:p>
        </p:txBody>
      </p:sp>
      <p:sp>
        <p:nvSpPr>
          <p:cNvPr id="258" name="Google Shape;258;p24"/>
          <p:cNvSpPr txBox="1"/>
          <p:nvPr/>
        </p:nvSpPr>
        <p:spPr>
          <a:xfrm>
            <a:off x="2432050" y="1844675"/>
            <a:ext cx="8153400" cy="4752007"/>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CORRECCIÓN o ELIMINACIÓN</a:t>
            </a:r>
            <a:endParaRPr sz="240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s-CL" sz="2400" b="1">
                <a:solidFill>
                  <a:srgbClr val="000000"/>
                </a:solidFill>
                <a:latin typeface="Arial"/>
                <a:ea typeface="Arial"/>
                <a:cs typeface="Arial"/>
                <a:sym typeface="Arial"/>
              </a:rPr>
              <a:t>Usando el puntaje Z</a:t>
            </a:r>
            <a:r>
              <a:rPr lang="es-CL" sz="2400">
                <a:solidFill>
                  <a:srgbClr val="000000"/>
                </a:solidFill>
                <a:latin typeface="Arial"/>
                <a:ea typeface="Arial"/>
                <a:cs typeface="Arial"/>
                <a:sym typeface="Arial"/>
              </a:rPr>
              <a:t>: si queremos eliminar o filtrar los valores atípicos y obtener los datos limpios, se puede hacer con solo un código de línea, ya que ya hemos calculado el puntaje Z.</a:t>
            </a:r>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 </a:t>
            </a:r>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 </a:t>
            </a:r>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En el código se eliminan más de 90 filas del conjunto de datos BOSTON HOUSE, es decir, se eliminaron los valores atípicos usando la librería SPICY.</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
        <p:nvSpPr>
          <p:cNvPr id="259" name="Google Shape;259;p24"/>
          <p:cNvSpPr txBox="1"/>
          <p:nvPr/>
        </p:nvSpPr>
        <p:spPr>
          <a:xfrm>
            <a:off x="2584450" y="10256202"/>
            <a:ext cx="8888972"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https://towardsdatascience.com/ways-to-detect-and-remove-the-outliers-404d16608dba</a:t>
            </a:r>
            <a:endParaRPr sz="1800"/>
          </a:p>
        </p:txBody>
      </p:sp>
      <p:pic>
        <p:nvPicPr>
          <p:cNvPr id="260" name="Google Shape;260;p24"/>
          <p:cNvPicPr preferRelativeResize="0"/>
          <p:nvPr/>
        </p:nvPicPr>
        <p:blipFill rotWithShape="1">
          <a:blip r:embed="rId3">
            <a:alphaModFix/>
          </a:blip>
          <a:srcRect/>
          <a:stretch/>
        </p:blipFill>
        <p:spPr>
          <a:xfrm>
            <a:off x="11195050" y="2682875"/>
            <a:ext cx="7258372" cy="1524000"/>
          </a:xfrm>
          <a:prstGeom prst="rect">
            <a:avLst/>
          </a:prstGeom>
          <a:noFill/>
          <a:ln>
            <a:noFill/>
          </a:ln>
        </p:spPr>
      </p:pic>
      <p:sp>
        <p:nvSpPr>
          <p:cNvPr id="261" name="Google Shape;261;p24"/>
          <p:cNvSpPr/>
          <p:nvPr/>
        </p:nvSpPr>
        <p:spPr>
          <a:xfrm>
            <a:off x="13862050" y="4732087"/>
            <a:ext cx="2209800" cy="533400"/>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pic>
        <p:nvPicPr>
          <p:cNvPr id="262" name="Google Shape;262;p24"/>
          <p:cNvPicPr preferRelativeResize="0"/>
          <p:nvPr/>
        </p:nvPicPr>
        <p:blipFill rotWithShape="1">
          <a:blip r:embed="rId4">
            <a:alphaModFix/>
          </a:blip>
          <a:srcRect/>
          <a:stretch/>
        </p:blipFill>
        <p:spPr>
          <a:xfrm>
            <a:off x="11418086" y="5719985"/>
            <a:ext cx="6634964" cy="899477"/>
          </a:xfrm>
          <a:prstGeom prst="rect">
            <a:avLst/>
          </a:prstGeom>
          <a:noFill/>
          <a:ln>
            <a:noFill/>
          </a:ln>
        </p:spPr>
      </p:pic>
      <p:sp>
        <p:nvSpPr>
          <p:cNvPr id="263" name="Google Shape;263;p24"/>
          <p:cNvSpPr/>
          <p:nvPr/>
        </p:nvSpPr>
        <p:spPr>
          <a:xfrm>
            <a:off x="13862050" y="6964838"/>
            <a:ext cx="2209800" cy="533400"/>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pic>
        <p:nvPicPr>
          <p:cNvPr id="264" name="Google Shape;264;p24"/>
          <p:cNvPicPr preferRelativeResize="0"/>
          <p:nvPr/>
        </p:nvPicPr>
        <p:blipFill rotWithShape="1">
          <a:blip r:embed="rId5">
            <a:alphaModFix/>
          </a:blip>
          <a:srcRect/>
          <a:stretch/>
        </p:blipFill>
        <p:spPr>
          <a:xfrm>
            <a:off x="13557128" y="7897719"/>
            <a:ext cx="2819644" cy="224809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5"/>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OUTLIERS</a:t>
            </a:r>
            <a:endParaRPr/>
          </a:p>
        </p:txBody>
      </p:sp>
      <p:sp>
        <p:nvSpPr>
          <p:cNvPr id="270" name="Google Shape;270;p25"/>
          <p:cNvSpPr txBox="1"/>
          <p:nvPr/>
        </p:nvSpPr>
        <p:spPr>
          <a:xfrm>
            <a:off x="2432050" y="1844675"/>
            <a:ext cx="8153400" cy="3968202"/>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CORRECCIÓN o ELIMINACIÓN</a:t>
            </a:r>
            <a:endParaRPr sz="240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s-CL" sz="2400" b="1">
                <a:solidFill>
                  <a:srgbClr val="000000"/>
                </a:solidFill>
                <a:latin typeface="Arial"/>
                <a:ea typeface="Arial"/>
                <a:cs typeface="Arial"/>
                <a:sym typeface="Arial"/>
              </a:rPr>
              <a:t>Puntuación IQR</a:t>
            </a:r>
            <a:r>
              <a:rPr lang="es-CL" sz="2400">
                <a:solidFill>
                  <a:srgbClr val="000000"/>
                </a:solidFill>
                <a:latin typeface="Arial"/>
                <a:ea typeface="Arial"/>
                <a:cs typeface="Arial"/>
                <a:sym typeface="Arial"/>
              </a:rPr>
              <a:t>, al igual que el puntaje Z, podemos usar el puntaje IQR para filtrar los valores atípicos manteniendo solo los valores válidos.</a:t>
            </a:r>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 </a:t>
            </a:r>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 </a:t>
            </a:r>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El código descrito eliminará los valores atípicos del conjunto de datos.</a:t>
            </a:r>
            <a:endParaRPr/>
          </a:p>
          <a:p>
            <a:pPr marL="0" lvl="0" indent="0" algn="just" rtl="0">
              <a:lnSpc>
                <a:spcPct val="100000"/>
              </a:lnSpc>
              <a:spcBef>
                <a:spcPts val="0"/>
              </a:spcBef>
              <a:spcAft>
                <a:spcPts val="0"/>
              </a:spcAft>
              <a:buNone/>
            </a:pP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
        <p:nvSpPr>
          <p:cNvPr id="271" name="Google Shape;271;p25"/>
          <p:cNvSpPr txBox="1"/>
          <p:nvPr/>
        </p:nvSpPr>
        <p:spPr>
          <a:xfrm>
            <a:off x="2584450" y="10256202"/>
            <a:ext cx="8888972"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https://towardsdatascience.com/ways-to-detect-and-remove-the-outliers-404d16608dba</a:t>
            </a:r>
            <a:endParaRPr sz="1800"/>
          </a:p>
        </p:txBody>
      </p:sp>
      <p:pic>
        <p:nvPicPr>
          <p:cNvPr id="272" name="Google Shape;272;p25"/>
          <p:cNvPicPr preferRelativeResize="0"/>
          <p:nvPr/>
        </p:nvPicPr>
        <p:blipFill rotWithShape="1">
          <a:blip r:embed="rId3">
            <a:alphaModFix/>
          </a:blip>
          <a:srcRect/>
          <a:stretch/>
        </p:blipFill>
        <p:spPr>
          <a:xfrm>
            <a:off x="11473422" y="2835275"/>
            <a:ext cx="7715255" cy="1371600"/>
          </a:xfrm>
          <a:prstGeom prst="rect">
            <a:avLst/>
          </a:prstGeom>
          <a:noFill/>
          <a:ln>
            <a:noFill/>
          </a:ln>
        </p:spPr>
      </p:pic>
      <p:sp>
        <p:nvSpPr>
          <p:cNvPr id="273" name="Google Shape;273;p25"/>
          <p:cNvSpPr/>
          <p:nvPr/>
        </p:nvSpPr>
        <p:spPr>
          <a:xfrm>
            <a:off x="13633450" y="4740275"/>
            <a:ext cx="2209800" cy="533400"/>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pic>
        <p:nvPicPr>
          <p:cNvPr id="274" name="Google Shape;274;p25"/>
          <p:cNvPicPr preferRelativeResize="0"/>
          <p:nvPr/>
        </p:nvPicPr>
        <p:blipFill rotWithShape="1">
          <a:blip r:embed="rId4">
            <a:alphaModFix/>
          </a:blip>
          <a:srcRect/>
          <a:stretch/>
        </p:blipFill>
        <p:spPr>
          <a:xfrm>
            <a:off x="11434414" y="5907790"/>
            <a:ext cx="8036415" cy="1371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6"/>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OUTLIERS</a:t>
            </a:r>
            <a:endParaRPr/>
          </a:p>
        </p:txBody>
      </p:sp>
      <p:sp>
        <p:nvSpPr>
          <p:cNvPr id="280" name="Google Shape;280;p26"/>
          <p:cNvSpPr txBox="1"/>
          <p:nvPr/>
        </p:nvSpPr>
        <p:spPr>
          <a:xfrm>
            <a:off x="2432050" y="1844675"/>
            <a:ext cx="8153400" cy="4275979"/>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CORRECCIÓN o ELIMINACIÓN</a:t>
            </a:r>
            <a:endParaRPr sz="240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Al igual que la imputación de valores faltantes, también podemos imputar valores atípicos. </a:t>
            </a:r>
            <a:endParaRPr/>
          </a:p>
          <a:p>
            <a:pPr marL="0" lvl="0" indent="0" algn="just" rtl="0">
              <a:lnSpc>
                <a:spcPct val="100000"/>
              </a:lnSpc>
              <a:spcBef>
                <a:spcPts val="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Podemos </a:t>
            </a:r>
            <a:r>
              <a:rPr lang="es-CL" sz="2400" b="1">
                <a:solidFill>
                  <a:srgbClr val="000000"/>
                </a:solidFill>
                <a:latin typeface="Arial"/>
                <a:ea typeface="Arial"/>
                <a:cs typeface="Arial"/>
                <a:sym typeface="Arial"/>
              </a:rPr>
              <a:t>usar la media, la mediana, el valor cero en este método</a:t>
            </a:r>
            <a:r>
              <a:rPr lang="es-CL" sz="2400">
                <a:solidFill>
                  <a:srgbClr val="000000"/>
                </a:solidFill>
                <a:latin typeface="Arial"/>
                <a:ea typeface="Arial"/>
                <a:cs typeface="Arial"/>
                <a:sym typeface="Arial"/>
              </a:rPr>
              <a:t>. </a:t>
            </a:r>
            <a:endParaRPr/>
          </a:p>
          <a:p>
            <a:pPr marL="0" lvl="0" indent="0" algn="just" rtl="0">
              <a:lnSpc>
                <a:spcPct val="100000"/>
              </a:lnSpc>
              <a:spcBef>
                <a:spcPts val="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Al imputar, no hay pérdida de datos. </a:t>
            </a:r>
            <a:endParaRPr/>
          </a:p>
          <a:p>
            <a:pPr marL="0" lvl="0" indent="0" algn="just" rtl="0">
              <a:lnSpc>
                <a:spcPct val="100000"/>
              </a:lnSpc>
              <a:spcBef>
                <a:spcPts val="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Por ejemplo, </a:t>
            </a:r>
            <a:r>
              <a:rPr lang="es-CL" sz="2400" b="1">
                <a:solidFill>
                  <a:srgbClr val="000000"/>
                </a:solidFill>
                <a:latin typeface="Arial"/>
                <a:ea typeface="Arial"/>
                <a:cs typeface="Arial"/>
                <a:sym typeface="Arial"/>
              </a:rPr>
              <a:t>aquí aplicamos la media</a:t>
            </a:r>
            <a:r>
              <a:rPr lang="es-CL" sz="2400">
                <a:solidFill>
                  <a:srgbClr val="000000"/>
                </a:solidFill>
                <a:latin typeface="Arial"/>
                <a:ea typeface="Arial"/>
                <a:cs typeface="Arial"/>
                <a:sym typeface="Arial"/>
              </a:rPr>
              <a:t>.</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
        <p:nvSpPr>
          <p:cNvPr id="281" name="Google Shape;281;p26"/>
          <p:cNvSpPr txBox="1"/>
          <p:nvPr/>
        </p:nvSpPr>
        <p:spPr>
          <a:xfrm>
            <a:off x="2468335" y="10841570"/>
            <a:ext cx="977543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https://medium.com/analytics-vidhya/how-to-remove-outliers-for-machine-learning-24620c4657e8</a:t>
            </a:r>
            <a:endParaRPr sz="1800"/>
          </a:p>
        </p:txBody>
      </p:sp>
      <p:pic>
        <p:nvPicPr>
          <p:cNvPr id="282" name="Google Shape;282;p26"/>
          <p:cNvPicPr preferRelativeResize="0"/>
          <p:nvPr/>
        </p:nvPicPr>
        <p:blipFill rotWithShape="1">
          <a:blip r:embed="rId3">
            <a:alphaModFix/>
          </a:blip>
          <a:srcRect/>
          <a:stretch/>
        </p:blipFill>
        <p:spPr>
          <a:xfrm>
            <a:off x="2452914" y="6264275"/>
            <a:ext cx="8153400" cy="4533380"/>
          </a:xfrm>
          <a:prstGeom prst="rect">
            <a:avLst/>
          </a:prstGeom>
          <a:noFill/>
          <a:ln>
            <a:noFill/>
          </a:ln>
        </p:spPr>
      </p:pic>
      <p:pic>
        <p:nvPicPr>
          <p:cNvPr id="283" name="Google Shape;283;p26"/>
          <p:cNvPicPr preferRelativeResize="0"/>
          <p:nvPr/>
        </p:nvPicPr>
        <p:blipFill rotWithShape="1">
          <a:blip r:embed="rId4">
            <a:alphaModFix/>
          </a:blip>
          <a:srcRect/>
          <a:stretch/>
        </p:blipFill>
        <p:spPr>
          <a:xfrm>
            <a:off x="12243768" y="2279438"/>
            <a:ext cx="5334000" cy="77132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7"/>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OUTLIERS</a:t>
            </a:r>
            <a:endParaRPr/>
          </a:p>
        </p:txBody>
      </p:sp>
      <p:sp>
        <p:nvSpPr>
          <p:cNvPr id="289" name="Google Shape;289;p27"/>
          <p:cNvSpPr txBox="1"/>
          <p:nvPr/>
        </p:nvSpPr>
        <p:spPr>
          <a:xfrm>
            <a:off x="2432050" y="1844675"/>
            <a:ext cx="8153400" cy="2121543"/>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CORRECCIÓN o ELIMINACIÓN</a:t>
            </a:r>
            <a:endParaRPr sz="240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En este otro caso,  aplicamos la mediana</a:t>
            </a:r>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
        <p:nvSpPr>
          <p:cNvPr id="290" name="Google Shape;290;p27"/>
          <p:cNvSpPr txBox="1"/>
          <p:nvPr/>
        </p:nvSpPr>
        <p:spPr>
          <a:xfrm>
            <a:off x="2468335" y="10841570"/>
            <a:ext cx="9775433" cy="33855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600"/>
              <a:t>Fuente: https://medium.com/analytics-vidhya/how-to-remove-outliers-for-machine-learning-24620c4657e8</a:t>
            </a:r>
            <a:endParaRPr sz="1800"/>
          </a:p>
        </p:txBody>
      </p:sp>
      <p:pic>
        <p:nvPicPr>
          <p:cNvPr id="291" name="Google Shape;291;p27"/>
          <p:cNvPicPr preferRelativeResize="0"/>
          <p:nvPr/>
        </p:nvPicPr>
        <p:blipFill rotWithShape="1">
          <a:blip r:embed="rId3">
            <a:alphaModFix/>
          </a:blip>
          <a:srcRect/>
          <a:stretch/>
        </p:blipFill>
        <p:spPr>
          <a:xfrm>
            <a:off x="1575998" y="5872842"/>
            <a:ext cx="9343833" cy="4721914"/>
          </a:xfrm>
          <a:prstGeom prst="rect">
            <a:avLst/>
          </a:prstGeom>
          <a:noFill/>
          <a:ln>
            <a:noFill/>
          </a:ln>
        </p:spPr>
      </p:pic>
      <p:pic>
        <p:nvPicPr>
          <p:cNvPr id="292" name="Google Shape;292;p27"/>
          <p:cNvPicPr preferRelativeResize="0"/>
          <p:nvPr/>
        </p:nvPicPr>
        <p:blipFill rotWithShape="1">
          <a:blip r:embed="rId4">
            <a:alphaModFix/>
          </a:blip>
          <a:srcRect/>
          <a:stretch/>
        </p:blipFill>
        <p:spPr>
          <a:xfrm>
            <a:off x="12680887" y="2987675"/>
            <a:ext cx="4991163" cy="731624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8"/>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OUTLIERS</a:t>
            </a:r>
            <a:endParaRPr/>
          </a:p>
        </p:txBody>
      </p:sp>
      <p:sp>
        <p:nvSpPr>
          <p:cNvPr id="298" name="Google Shape;298;p28"/>
          <p:cNvSpPr txBox="1"/>
          <p:nvPr/>
        </p:nvSpPr>
        <p:spPr>
          <a:xfrm>
            <a:off x="2432050" y="1844675"/>
            <a:ext cx="8153400" cy="3615285"/>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b="1">
                <a:solidFill>
                  <a:srgbClr val="000000"/>
                </a:solidFill>
                <a:latin typeface="Arial"/>
                <a:ea typeface="Arial"/>
                <a:cs typeface="Arial"/>
                <a:sym typeface="Arial"/>
              </a:rPr>
              <a:t>CONSIDERACIONES</a:t>
            </a:r>
            <a:endParaRPr sz="2400">
              <a:solidFill>
                <a:srgbClr val="000000"/>
              </a:solidFill>
              <a:latin typeface="Arial"/>
              <a:ea typeface="Arial"/>
              <a:cs typeface="Arial"/>
              <a:sym typeface="Arial"/>
            </a:endParaRPr>
          </a:p>
          <a:p>
            <a:pPr marL="0" lvl="0" indent="0" algn="just" rtl="0">
              <a:lnSpc>
                <a:spcPct val="100000"/>
              </a:lnSpc>
              <a:spcBef>
                <a:spcPts val="80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r>
              <a:rPr lang="es-CL" sz="2400">
                <a:solidFill>
                  <a:srgbClr val="000000"/>
                </a:solidFill>
                <a:latin typeface="Arial"/>
                <a:ea typeface="Arial"/>
                <a:cs typeface="Arial"/>
                <a:sym typeface="Arial"/>
              </a:rPr>
              <a:t>Existen varias formas de detectar y eliminar los valores atípicos, pero los métodos que hemos visto son ampliamente utilizados y fáciles de entender.</a:t>
            </a:r>
            <a:endParaRPr/>
          </a:p>
          <a:p>
            <a:pPr marL="0" lvl="0" indent="0" algn="just" rtl="0">
              <a:lnSpc>
                <a:spcPct val="100000"/>
              </a:lnSpc>
              <a:spcBef>
                <a:spcPts val="0"/>
              </a:spcBef>
              <a:spcAft>
                <a:spcPts val="0"/>
              </a:spcAft>
              <a:buNone/>
            </a:pPr>
            <a:endParaRPr sz="2400">
              <a:solidFill>
                <a:srgbClr val="000000"/>
              </a:solidFill>
              <a:latin typeface="Arial"/>
              <a:ea typeface="Arial"/>
              <a:cs typeface="Arial"/>
              <a:sym typeface="Arial"/>
            </a:endParaRPr>
          </a:p>
          <a:p>
            <a:pPr marL="0" lvl="0" indent="0" algn="just" rtl="0">
              <a:lnSpc>
                <a:spcPct val="100000"/>
              </a:lnSpc>
              <a:spcBef>
                <a:spcPts val="0"/>
              </a:spcBef>
              <a:spcAft>
                <a:spcPts val="0"/>
              </a:spcAft>
              <a:buNone/>
            </a:pPr>
            <a:endParaRPr sz="2400">
              <a:solidFill>
                <a:srgbClr val="000000"/>
              </a:solidFill>
              <a:latin typeface="Arial"/>
              <a:ea typeface="Arial"/>
              <a:cs typeface="Arial"/>
              <a:sym typeface="Arial"/>
            </a:endParaRPr>
          </a:p>
          <a:p>
            <a:pPr marL="0" lvl="0" indent="0" algn="just" rtl="0">
              <a:spcBef>
                <a:spcPts val="0"/>
              </a:spcBef>
              <a:spcAft>
                <a:spcPts val="0"/>
              </a:spcAft>
              <a:buNone/>
            </a:pPr>
            <a:r>
              <a:rPr lang="es-CL" sz="2400">
                <a:solidFill>
                  <a:srgbClr val="FF0000"/>
                </a:solidFill>
                <a:latin typeface="Arial"/>
                <a:ea typeface="Arial"/>
                <a:cs typeface="Arial"/>
                <a:sym typeface="Arial"/>
              </a:rPr>
              <a:t>Si un valor atípico debe eliminarse o no dependerá  de cada problema en el que esté trabajando</a:t>
            </a:r>
            <a:r>
              <a:rPr lang="es-CL" sz="2400">
                <a:solidFill>
                  <a:srgbClr val="000000"/>
                </a:solidFill>
                <a:latin typeface="Arial"/>
                <a:ea typeface="Arial"/>
                <a:cs typeface="Arial"/>
                <a:sym typeface="Arial"/>
              </a:rPr>
              <a:t>. </a:t>
            </a:r>
            <a:endParaRPr sz="2400">
              <a:solidFill>
                <a:srgbClr val="000000"/>
              </a:solidFill>
              <a:latin typeface="Arial"/>
              <a:ea typeface="Arial"/>
              <a:cs typeface="Arial"/>
              <a:sym typeface="Arial"/>
            </a:endParaRPr>
          </a:p>
          <a:p>
            <a:pPr marL="0" lvl="0" indent="0" algn="just" rtl="0">
              <a:lnSpc>
                <a:spcPct val="115000"/>
              </a:lnSpc>
              <a:spcBef>
                <a:spcPts val="400"/>
              </a:spcBef>
              <a:spcAft>
                <a:spcPts val="0"/>
              </a:spcAft>
              <a:buNone/>
            </a:pPr>
            <a:endParaRPr sz="2400">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9"/>
          <p:cNvSpPr txBox="1">
            <a:spLocks noGrp="1"/>
          </p:cNvSpPr>
          <p:nvPr>
            <p:ph type="title"/>
          </p:nvPr>
        </p:nvSpPr>
        <p:spPr>
          <a:xfrm>
            <a:off x="6242050" y="9007475"/>
            <a:ext cx="9020022" cy="101566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600"/>
              <a:t>RESUMEN</a:t>
            </a:r>
            <a:endParaRPr/>
          </a:p>
        </p:txBody>
      </p:sp>
      <p:sp>
        <p:nvSpPr>
          <p:cNvPr id="304" name="Google Shape;304;p29"/>
          <p:cNvSpPr txBox="1"/>
          <p:nvPr/>
        </p:nvSpPr>
        <p:spPr>
          <a:xfrm>
            <a:off x="6276975" y="7752358"/>
            <a:ext cx="1670957" cy="147732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9600" b="1" i="0">
                <a:solidFill>
                  <a:srgbClr val="257CE1"/>
                </a:solidFill>
                <a:latin typeface="Arial Black"/>
                <a:ea typeface="Arial Black"/>
                <a:cs typeface="Arial Black"/>
                <a:sym typeface="Arial Black"/>
              </a:rPr>
              <a:t>04</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0"/>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RESUMEN</a:t>
            </a:r>
            <a:endParaRPr/>
          </a:p>
        </p:txBody>
      </p:sp>
      <p:sp>
        <p:nvSpPr>
          <p:cNvPr id="310" name="Google Shape;310;p30"/>
          <p:cNvSpPr txBox="1"/>
          <p:nvPr/>
        </p:nvSpPr>
        <p:spPr>
          <a:xfrm>
            <a:off x="2355850" y="2225675"/>
            <a:ext cx="12344400" cy="4052672"/>
          </a:xfrm>
          <a:prstGeom prst="rect">
            <a:avLst/>
          </a:prstGeom>
          <a:noFill/>
          <a:ln>
            <a:noFill/>
          </a:ln>
        </p:spPr>
        <p:txBody>
          <a:bodyPr spcFirstLastPara="1" wrap="square" lIns="91425" tIns="45700" rIns="91425" bIns="45700" anchor="t" anchorCtr="0">
            <a:spAutoFit/>
          </a:bodyPr>
          <a:lstStyle/>
          <a:p>
            <a:pPr marL="50800" lvl="0" indent="0" algn="just" rtl="0">
              <a:lnSpc>
                <a:spcPct val="107000"/>
              </a:lnSpc>
              <a:spcBef>
                <a:spcPts val="0"/>
              </a:spcBef>
              <a:spcAft>
                <a:spcPts val="0"/>
              </a:spcAft>
              <a:buNone/>
            </a:pPr>
            <a:r>
              <a:rPr lang="es-CL" sz="2400" dirty="0">
                <a:solidFill>
                  <a:srgbClr val="000000"/>
                </a:solidFill>
                <a:latin typeface="Arial"/>
                <a:ea typeface="Arial"/>
                <a:cs typeface="Arial"/>
                <a:sym typeface="Arial"/>
              </a:rPr>
              <a:t>En esta presentación, hemos visto</a:t>
            </a:r>
            <a:r>
              <a:rPr lang="es-CL" sz="2400" b="1" dirty="0">
                <a:solidFill>
                  <a:srgbClr val="000000"/>
                </a:solidFill>
                <a:latin typeface="Arial"/>
                <a:ea typeface="Arial"/>
                <a:cs typeface="Arial"/>
                <a:sym typeface="Arial"/>
              </a:rPr>
              <a:t>:</a:t>
            </a:r>
            <a:endParaRPr dirty="0"/>
          </a:p>
          <a:p>
            <a:pPr marL="50800" lvl="0" indent="0" algn="just" rtl="0">
              <a:lnSpc>
                <a:spcPct val="107000"/>
              </a:lnSpc>
              <a:spcBef>
                <a:spcPts val="800"/>
              </a:spcBef>
              <a:spcAft>
                <a:spcPts val="0"/>
              </a:spcAft>
              <a:buNone/>
            </a:pPr>
            <a:endParaRPr sz="2400" b="1" dirty="0">
              <a:solidFill>
                <a:srgbClr val="000000"/>
              </a:solidFill>
              <a:latin typeface="Arial"/>
              <a:ea typeface="Arial"/>
              <a:cs typeface="Arial"/>
              <a:sym typeface="Arial"/>
            </a:endParaRPr>
          </a:p>
          <a:p>
            <a:pPr marL="393700" lvl="0" indent="-342900" algn="just" rtl="0">
              <a:lnSpc>
                <a:spcPct val="107000"/>
              </a:lnSpc>
              <a:spcBef>
                <a:spcPts val="800"/>
              </a:spcBef>
              <a:spcAft>
                <a:spcPts val="0"/>
              </a:spcAft>
              <a:buClr>
                <a:srgbClr val="000000"/>
              </a:buClr>
              <a:buSzPts val="2800"/>
              <a:buFont typeface="Noto Sans Symbols"/>
              <a:buChar char="❑"/>
            </a:pPr>
            <a:r>
              <a:rPr lang="es-CL" sz="2400" dirty="0">
                <a:solidFill>
                  <a:srgbClr val="000000"/>
                </a:solidFill>
                <a:latin typeface="Arial"/>
                <a:ea typeface="Arial"/>
                <a:cs typeface="Arial"/>
                <a:sym typeface="Arial"/>
              </a:rPr>
              <a:t>El problema de los datos faltantes y sus estrategias para enfrentarlos</a:t>
            </a:r>
            <a:endParaRPr dirty="0"/>
          </a:p>
          <a:p>
            <a:pPr marL="393700" lvl="0" indent="-165100" algn="just" rtl="0">
              <a:lnSpc>
                <a:spcPct val="107000"/>
              </a:lnSpc>
              <a:spcBef>
                <a:spcPts val="800"/>
              </a:spcBef>
              <a:spcAft>
                <a:spcPts val="0"/>
              </a:spcAft>
              <a:buSzPts val="2800"/>
              <a:buFont typeface="Noto Sans Symbols"/>
              <a:buNone/>
            </a:pPr>
            <a:endParaRPr sz="2400" dirty="0">
              <a:solidFill>
                <a:srgbClr val="000000"/>
              </a:solidFill>
              <a:latin typeface="Arial"/>
              <a:ea typeface="Arial"/>
              <a:cs typeface="Arial"/>
              <a:sym typeface="Arial"/>
            </a:endParaRPr>
          </a:p>
          <a:p>
            <a:pPr marL="393700" lvl="0" indent="-342900" algn="just" rtl="0">
              <a:lnSpc>
                <a:spcPct val="107000"/>
              </a:lnSpc>
              <a:spcBef>
                <a:spcPts val="800"/>
              </a:spcBef>
              <a:spcAft>
                <a:spcPts val="0"/>
              </a:spcAft>
              <a:buClr>
                <a:srgbClr val="000000"/>
              </a:buClr>
              <a:buSzPts val="2800"/>
              <a:buFont typeface="Noto Sans Symbols"/>
              <a:buChar char="❑"/>
            </a:pPr>
            <a:r>
              <a:rPr lang="es-CL" sz="2400" dirty="0">
                <a:solidFill>
                  <a:srgbClr val="000000"/>
                </a:solidFill>
                <a:latin typeface="Arial"/>
                <a:ea typeface="Arial"/>
                <a:cs typeface="Arial"/>
                <a:sym typeface="Arial"/>
              </a:rPr>
              <a:t>El manejo de </a:t>
            </a:r>
            <a:r>
              <a:rPr lang="es-CL" sz="2400" dirty="0" err="1">
                <a:solidFill>
                  <a:srgbClr val="000000"/>
                </a:solidFill>
                <a:latin typeface="Arial"/>
                <a:ea typeface="Arial"/>
                <a:cs typeface="Arial"/>
                <a:sym typeface="Arial"/>
              </a:rPr>
              <a:t>outliers</a:t>
            </a:r>
            <a:endParaRPr sz="2400" dirty="0">
              <a:solidFill>
                <a:srgbClr val="000000"/>
              </a:solidFill>
              <a:latin typeface="Arial"/>
              <a:ea typeface="Arial"/>
              <a:cs typeface="Arial"/>
              <a:sym typeface="Arial"/>
            </a:endParaRPr>
          </a:p>
          <a:p>
            <a:pPr marL="50800" lvl="0" indent="0" algn="just" rtl="0">
              <a:lnSpc>
                <a:spcPct val="107000"/>
              </a:lnSpc>
              <a:spcBef>
                <a:spcPts val="800"/>
              </a:spcBef>
              <a:spcAft>
                <a:spcPts val="0"/>
              </a:spcAft>
              <a:buNone/>
            </a:pPr>
            <a:endParaRPr sz="2400" dirty="0">
              <a:solidFill>
                <a:srgbClr val="000000"/>
              </a:solidFill>
              <a:latin typeface="Arial"/>
              <a:ea typeface="Arial"/>
              <a:cs typeface="Arial"/>
              <a:sym typeface="Arial"/>
            </a:endParaRPr>
          </a:p>
          <a:p>
            <a:pPr marL="50800" lvl="0" indent="0" algn="just" rtl="0">
              <a:lnSpc>
                <a:spcPct val="107000"/>
              </a:lnSpc>
              <a:spcBef>
                <a:spcPts val="800"/>
              </a:spcBef>
              <a:spcAft>
                <a:spcPts val="0"/>
              </a:spcAft>
              <a:buNone/>
            </a:pPr>
            <a:endParaRPr sz="2400" dirty="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endParaRPr sz="2400"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2284</Words>
  <Application>Microsoft Office PowerPoint</Application>
  <PresentationFormat>Personalizado</PresentationFormat>
  <Paragraphs>220</Paragraphs>
  <Slides>29</Slides>
  <Notes>29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29</vt:i4>
      </vt:variant>
    </vt:vector>
  </HeadingPairs>
  <TitlesOfParts>
    <vt:vector size="35" baseType="lpstr">
      <vt:lpstr>Arial Black</vt:lpstr>
      <vt:lpstr>Helvetica Neue</vt:lpstr>
      <vt:lpstr>Noto Sans Symbols</vt:lpstr>
      <vt:lpstr>Arial</vt:lpstr>
      <vt:lpstr>Calibri</vt:lpstr>
      <vt:lpstr>Office Theme</vt:lpstr>
      <vt:lpstr> LIMPIEZA DE DATOS </vt:lpstr>
      <vt:lpstr>Presentación de PowerPoint</vt:lpstr>
      <vt:lpstr>INTRODUCCIÓN</vt:lpstr>
      <vt:lpstr>INTRODUCCIÓN</vt:lpstr>
      <vt:lpstr>INTRODUCCIÓN</vt:lpstr>
      <vt:lpstr>Presentación de PowerPoint</vt:lpstr>
      <vt:lpstr>DATOS FALTANTES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OUTLIERS</vt:lpstr>
      <vt:lpstr>OUTLIERS</vt:lpstr>
      <vt:lpstr>OUTLIERS</vt:lpstr>
      <vt:lpstr>OUTLIERS</vt:lpstr>
      <vt:lpstr>OUTLIERS</vt:lpstr>
      <vt:lpstr>OUTLIERS</vt:lpstr>
      <vt:lpstr>OUTLIERS</vt:lpstr>
      <vt:lpstr>OUTLIERS</vt:lpstr>
      <vt:lpstr>OUTLIERS</vt:lpstr>
      <vt:lpstr>OUTLIERS</vt:lpstr>
      <vt:lpstr>OUTLIERS</vt:lpstr>
      <vt:lpstr>RESUMEN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LIMPIEZA DE DATOS </dc:title>
  <dc:creator>Daniela Taito R.</dc:creator>
  <cp:lastModifiedBy>guillermo pinto</cp:lastModifiedBy>
  <cp:revision>1</cp:revision>
  <dcterms:created xsi:type="dcterms:W3CDTF">2022-07-20T19:15:37Z</dcterms:created>
  <dcterms:modified xsi:type="dcterms:W3CDTF">2023-11-12T20:29:57Z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