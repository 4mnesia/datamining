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2"/>
  </p:notesMasterIdLst>
  <p:sldIdLst>
    <p:sldId id="261" r:id="rId5"/>
    <p:sldId id="337" r:id="rId6"/>
    <p:sldId id="344" r:id="rId7"/>
    <p:sldId id="339" r:id="rId8"/>
    <p:sldId id="345" r:id="rId9"/>
    <p:sldId id="346" r:id="rId10"/>
    <p:sldId id="270" r:id="rId11"/>
    <p:sldId id="340" r:id="rId12"/>
    <p:sldId id="347" r:id="rId13"/>
    <p:sldId id="348" r:id="rId14"/>
    <p:sldId id="349" r:id="rId15"/>
    <p:sldId id="327" r:id="rId16"/>
    <p:sldId id="341" r:id="rId17"/>
    <p:sldId id="351" r:id="rId18"/>
    <p:sldId id="350" r:id="rId19"/>
    <p:sldId id="332" r:id="rId20"/>
    <p:sldId id="342" r:id="rId21"/>
  </p:sldIdLst>
  <p:sldSz cx="20104100" cy="11309350"/>
  <p:notesSz cx="20104100" cy="113093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7CE1"/>
    <a:srgbClr val="C2D501"/>
    <a:srgbClr val="DB0532"/>
    <a:srgbClr val="B14EC4"/>
    <a:srgbClr val="FF595A"/>
    <a:srgbClr val="D39F17"/>
    <a:srgbClr val="58C0E9"/>
    <a:srgbClr val="DC0031"/>
    <a:srgbClr val="EF7821"/>
    <a:srgbClr val="C4D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42" autoAdjust="0"/>
    <p:restoredTop sz="94558"/>
  </p:normalViewPr>
  <p:slideViewPr>
    <p:cSldViewPr>
      <p:cViewPr varScale="1">
        <p:scale>
          <a:sx n="59" d="100"/>
          <a:sy n="59" d="100"/>
        </p:scale>
        <p:origin x="144" y="28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11387138" y="0"/>
            <a:ext cx="8712200" cy="566738"/>
          </a:xfrm>
          <a:prstGeom prst="rect">
            <a:avLst/>
          </a:prstGeom>
        </p:spPr>
        <p:txBody>
          <a:bodyPr vert="horz" lIns="91440" tIns="45720" rIns="91440" bIns="45720" rtlCol="0"/>
          <a:lstStyle>
            <a:lvl1pPr algn="r">
              <a:defRPr sz="1200"/>
            </a:lvl1pPr>
          </a:lstStyle>
          <a:p>
            <a:fld id="{54D35674-3C19-9844-8370-EE59E1CD260A}" type="datetimeFigureOut">
              <a:rPr lang="es-CL" smtClean="0"/>
              <a:t>26-11-2023</a:t>
            </a:fld>
            <a:endParaRPr lang="es-CL"/>
          </a:p>
        </p:txBody>
      </p:sp>
      <p:sp>
        <p:nvSpPr>
          <p:cNvPr id="4" name="Marcador de imagen de diapositiva 3"/>
          <p:cNvSpPr>
            <a:spLocks noGrp="1" noRot="1" noChangeAspect="1"/>
          </p:cNvSpPr>
          <p:nvPr>
            <p:ph type="sldImg" idx="2"/>
          </p:nvPr>
        </p:nvSpPr>
        <p:spPr>
          <a:xfrm>
            <a:off x="6659563" y="1414463"/>
            <a:ext cx="6784975" cy="381635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2009775" y="5441950"/>
            <a:ext cx="16084550" cy="4454525"/>
          </a:xfrm>
          <a:prstGeom prst="rect">
            <a:avLst/>
          </a:prstGeom>
        </p:spPr>
        <p:txBody>
          <a:bodyPr vert="horz" lIns="91440" tIns="45720" rIns="91440" bIns="45720" rtlCol="0"/>
          <a:lstStyle/>
          <a:p>
            <a:r>
              <a:rPr lang="es-ES"/>
              <a:t>Editar los estilos de texto del patrón
Segundo nivel
Tercer nivel
Cuarto nivel
Quinto nivel</a:t>
            </a:r>
            <a:endParaRPr lang="es-CL"/>
          </a:p>
        </p:txBody>
      </p:sp>
      <p:sp>
        <p:nvSpPr>
          <p:cNvPr id="6" name="Marcador de pie de página 5"/>
          <p:cNvSpPr>
            <a:spLocks noGrp="1"/>
          </p:cNvSpPr>
          <p:nvPr>
            <p:ph type="ftr" sz="quarter" idx="4"/>
          </p:nvPr>
        </p:nvSpPr>
        <p:spPr>
          <a:xfrm>
            <a:off x="0" y="10742613"/>
            <a:ext cx="8712200" cy="56673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11387138" y="10742613"/>
            <a:ext cx="8712200" cy="566737"/>
          </a:xfrm>
          <a:prstGeom prst="rect">
            <a:avLst/>
          </a:prstGeom>
        </p:spPr>
        <p:txBody>
          <a:bodyPr vert="horz" lIns="91440" tIns="45720" rIns="91440" bIns="45720" rtlCol="0" anchor="b"/>
          <a:lstStyle>
            <a:lvl1pPr algn="r">
              <a:defRPr sz="1200"/>
            </a:lvl1pPr>
          </a:lstStyle>
          <a:p>
            <a:fld id="{35C2C890-E6DE-1A45-98C6-E722FA6368DA}" type="slidenum">
              <a:rPr lang="es-CL" smtClean="0"/>
              <a:t>‹Nº›</a:t>
            </a:fld>
            <a:endParaRPr lang="es-CL"/>
          </a:p>
        </p:txBody>
      </p:sp>
    </p:spTree>
    <p:extLst>
      <p:ext uri="{BB962C8B-B14F-4D97-AF65-F5344CB8AC3E}">
        <p14:creationId xmlns:p14="http://schemas.microsoft.com/office/powerpoint/2010/main" val="2341394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9F4E23B3-D17D-BBDA-CF94-0F577C2DCCC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sp>
        <p:nvSpPr>
          <p:cNvPr id="2" name="Holder 2"/>
          <p:cNvSpPr>
            <a:spLocks noGrp="1"/>
          </p:cNvSpPr>
          <p:nvPr>
            <p:ph type="ctrTitle"/>
          </p:nvPr>
        </p:nvSpPr>
        <p:spPr>
          <a:xfrm>
            <a:off x="2838209" y="8700548"/>
            <a:ext cx="6781800" cy="584775"/>
          </a:xfrm>
          <a:prstGeom prst="rect">
            <a:avLst/>
          </a:prstGeom>
        </p:spPr>
        <p:txBody>
          <a:bodyPr wrap="square" lIns="0" tIns="0" rIns="0" bIns="0">
            <a:spAutoFit/>
          </a:bodyPr>
          <a:lstStyle>
            <a:lvl1pPr>
              <a:defRPr sz="3800">
                <a:solidFill>
                  <a:schemeClr val="bg1"/>
                </a:solidFill>
              </a:defRPr>
            </a:lvl1pPr>
          </a:lstStyle>
          <a:p>
            <a:endParaRPr dirty="0"/>
          </a:p>
        </p:txBody>
      </p:sp>
      <p:sp>
        <p:nvSpPr>
          <p:cNvPr id="3" name="Holder 3"/>
          <p:cNvSpPr>
            <a:spLocks noGrp="1"/>
          </p:cNvSpPr>
          <p:nvPr>
            <p:ph type="subTitle" idx="4"/>
          </p:nvPr>
        </p:nvSpPr>
        <p:spPr>
          <a:xfrm>
            <a:off x="2838209" y="9612314"/>
            <a:ext cx="8712681" cy="369332"/>
          </a:xfrm>
          <a:prstGeom prst="rect">
            <a:avLst/>
          </a:prstGeom>
        </p:spPr>
        <p:txBody>
          <a:bodyPr wrap="square" lIns="0" tIns="0" rIns="0" bIns="0">
            <a:spAutoFit/>
          </a:bodyPr>
          <a:lstStyle>
            <a:lvl1pPr>
              <a:defRPr sz="2400">
                <a:solidFill>
                  <a:schemeClr val="bg1"/>
                </a:solidFill>
                <a:latin typeface="Arial" panose="020B0604020202020204" pitchFamily="34" charset="0"/>
                <a:cs typeface="Arial" panose="020B0604020202020204" pitchFamily="34" charset="0"/>
              </a:defRPr>
            </a:lvl1pPr>
          </a:lstStyle>
          <a:p>
            <a:endParaRPr dirty="0"/>
          </a:p>
        </p:txBody>
      </p:sp>
      <p:sp>
        <p:nvSpPr>
          <p:cNvPr id="14" name="object 10">
            <a:extLst>
              <a:ext uri="{FF2B5EF4-FFF2-40B4-BE49-F238E27FC236}">
                <a16:creationId xmlns:a16="http://schemas.microsoft.com/office/drawing/2014/main" id="{60E109FA-AB96-844B-8998-73B547E74E45}"/>
              </a:ext>
            </a:extLst>
          </p:cNvPr>
          <p:cNvSpPr/>
          <p:nvPr userDrawn="1"/>
        </p:nvSpPr>
        <p:spPr>
          <a:xfrm>
            <a:off x="2838209" y="9464675"/>
            <a:ext cx="8841105" cy="0"/>
          </a:xfrm>
          <a:custGeom>
            <a:avLst/>
            <a:gdLst/>
            <a:ahLst/>
            <a:cxnLst/>
            <a:rect l="l" t="t" r="r" b="b"/>
            <a:pathLst>
              <a:path w="8841105">
                <a:moveTo>
                  <a:pt x="0" y="0"/>
                </a:moveTo>
                <a:lnTo>
                  <a:pt x="8840652" y="0"/>
                </a:lnTo>
              </a:path>
            </a:pathLst>
          </a:custGeom>
          <a:ln w="10470">
            <a:solidFill>
              <a:schemeClr val="bg1"/>
            </a:solidFill>
          </a:ln>
        </p:spPr>
        <p:txBody>
          <a:bodyPr wrap="square" lIns="0" tIns="0" rIns="0" bIns="0" rtlCol="0"/>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5_Diseño personalizado">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71AAB55C-247D-ECE0-5655-F1E1F2AF1A4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3340"/>
            <a:ext cx="20110047" cy="11306010"/>
          </a:xfrm>
          <a:prstGeom prst="rect">
            <a:avLst/>
          </a:prstGeom>
        </p:spPr>
      </p:pic>
      <p:sp>
        <p:nvSpPr>
          <p:cNvPr id="10" name="Título 1">
            <a:extLst>
              <a:ext uri="{FF2B5EF4-FFF2-40B4-BE49-F238E27FC236}">
                <a16:creationId xmlns:a16="http://schemas.microsoft.com/office/drawing/2014/main" id="{2F0E50CD-FEFD-B21C-4BE3-4F2AA3739A6A}"/>
              </a:ext>
            </a:extLst>
          </p:cNvPr>
          <p:cNvSpPr>
            <a:spLocks noGrp="1"/>
          </p:cNvSpPr>
          <p:nvPr>
            <p:ph type="title"/>
          </p:nvPr>
        </p:nvSpPr>
        <p:spPr>
          <a:xfrm>
            <a:off x="831850" y="7178675"/>
            <a:ext cx="9782022" cy="1538883"/>
          </a:xfrm>
        </p:spPr>
        <p:txBody>
          <a:bodyPr/>
          <a:lstStyle>
            <a:lvl1pPr algn="r">
              <a:defRPr sz="5000"/>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1774612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121D21F6-64EA-9F7E-F1FC-89374B30965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10" name="Título 1">
            <a:extLst>
              <a:ext uri="{FF2B5EF4-FFF2-40B4-BE49-F238E27FC236}">
                <a16:creationId xmlns:a16="http://schemas.microsoft.com/office/drawing/2014/main" id="{994F59E7-28C4-825A-1194-67522AF99C22}"/>
              </a:ext>
            </a:extLst>
          </p:cNvPr>
          <p:cNvSpPr>
            <a:spLocks noGrp="1"/>
          </p:cNvSpPr>
          <p:nvPr>
            <p:ph type="title"/>
          </p:nvPr>
        </p:nvSpPr>
        <p:spPr>
          <a:xfrm>
            <a:off x="6851650" y="7483475"/>
            <a:ext cx="9782022" cy="1538883"/>
          </a:xfrm>
        </p:spPr>
        <p:txBody>
          <a:bodyPr/>
          <a:lstStyle>
            <a:lvl1pPr algn="l">
              <a:defRPr sz="5000"/>
            </a:lvl1pPr>
          </a:lstStyle>
          <a:p>
            <a:r>
              <a:rPr lang="es-ES" dirty="0"/>
              <a:t>Haga clic para modificar el estilo de título del patrón</a:t>
            </a:r>
            <a:endParaRPr lang="es-CL"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Diseño personalizado">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87451F99-8CB8-50AA-1CC0-54512CBB6F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9" name="Título 1">
            <a:extLst>
              <a:ext uri="{FF2B5EF4-FFF2-40B4-BE49-F238E27FC236}">
                <a16:creationId xmlns:a16="http://schemas.microsoft.com/office/drawing/2014/main" id="{2C83ACDF-F359-C1DD-3AF9-368B761AA8DB}"/>
              </a:ext>
            </a:extLst>
          </p:cNvPr>
          <p:cNvSpPr>
            <a:spLocks noGrp="1"/>
          </p:cNvSpPr>
          <p:nvPr>
            <p:ph type="title"/>
          </p:nvPr>
        </p:nvSpPr>
        <p:spPr>
          <a:xfrm>
            <a:off x="6623050" y="7026275"/>
            <a:ext cx="9782022" cy="1538883"/>
          </a:xfrm>
        </p:spPr>
        <p:txBody>
          <a:bodyPr/>
          <a:lstStyle>
            <a:lvl1pPr algn="l">
              <a:defRPr sz="5000"/>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2343363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2F738965-FD99-AFAE-3CAA-5CEAF99952B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11" name="Título 1">
            <a:extLst>
              <a:ext uri="{FF2B5EF4-FFF2-40B4-BE49-F238E27FC236}">
                <a16:creationId xmlns:a16="http://schemas.microsoft.com/office/drawing/2014/main" id="{4AB59064-93F0-56FE-006F-C58F84A825C5}"/>
              </a:ext>
            </a:extLst>
          </p:cNvPr>
          <p:cNvSpPr>
            <a:spLocks noGrp="1"/>
          </p:cNvSpPr>
          <p:nvPr>
            <p:ph type="title"/>
          </p:nvPr>
        </p:nvSpPr>
        <p:spPr>
          <a:xfrm>
            <a:off x="4794250" y="6950075"/>
            <a:ext cx="9782022" cy="1538883"/>
          </a:xfrm>
        </p:spPr>
        <p:txBody>
          <a:bodyPr/>
          <a:lstStyle>
            <a:lvl1pPr algn="r">
              <a:defRPr sz="5000"/>
            </a:lvl1pPr>
          </a:lstStyle>
          <a:p>
            <a:r>
              <a:rPr lang="es-ES" dirty="0"/>
              <a:t>Haga clic para modificar el estilo de título del patrón</a:t>
            </a:r>
            <a:endParaRPr lang="es-CL"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Diseño personalizado">
    <p:spTree>
      <p:nvGrpSpPr>
        <p:cNvPr id="1" name=""/>
        <p:cNvGrpSpPr/>
        <p:nvPr/>
      </p:nvGrpSpPr>
      <p:grpSpPr>
        <a:xfrm>
          <a:off x="0" y="0"/>
          <a:ext cx="0" cy="0"/>
          <a:chOff x="0" y="0"/>
          <a:chExt cx="0" cy="0"/>
        </a:xfrm>
      </p:grpSpPr>
      <p:pic>
        <p:nvPicPr>
          <p:cNvPr id="22" name="Imagen 21">
            <a:extLst>
              <a:ext uri="{FF2B5EF4-FFF2-40B4-BE49-F238E27FC236}">
                <a16:creationId xmlns:a16="http://schemas.microsoft.com/office/drawing/2014/main" id="{3973E67C-611D-F88A-80C1-185A9B8D413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pic>
        <p:nvPicPr>
          <p:cNvPr id="28" name="Imagen 27">
            <a:extLst>
              <a:ext uri="{FF2B5EF4-FFF2-40B4-BE49-F238E27FC236}">
                <a16:creationId xmlns:a16="http://schemas.microsoft.com/office/drawing/2014/main" id="{3E466965-0C09-5FCB-13FD-111D1D2AD25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29" name="Rectángulo 28">
            <a:extLst>
              <a:ext uri="{FF2B5EF4-FFF2-40B4-BE49-F238E27FC236}">
                <a16:creationId xmlns:a16="http://schemas.microsoft.com/office/drawing/2014/main" id="{98C6A4D7-FDE0-20C5-1EB3-30217CE5E1DC}"/>
              </a:ext>
            </a:extLst>
          </p:cNvPr>
          <p:cNvSpPr/>
          <p:nvPr userDrawn="1"/>
        </p:nvSpPr>
        <p:spPr>
          <a:xfrm>
            <a:off x="4413250" y="4206875"/>
            <a:ext cx="9892434" cy="2286000"/>
          </a:xfrm>
          <a:prstGeom prst="rect">
            <a:avLst/>
          </a:prstGeom>
          <a:solidFill>
            <a:schemeClr val="tx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30" name="Título 1">
            <a:extLst>
              <a:ext uri="{FF2B5EF4-FFF2-40B4-BE49-F238E27FC236}">
                <a16:creationId xmlns:a16="http://schemas.microsoft.com/office/drawing/2014/main" id="{EE9CC866-5882-3C12-E5D7-404765C18C0C}"/>
              </a:ext>
            </a:extLst>
          </p:cNvPr>
          <p:cNvSpPr>
            <a:spLocks noGrp="1"/>
          </p:cNvSpPr>
          <p:nvPr>
            <p:ph type="title"/>
          </p:nvPr>
        </p:nvSpPr>
        <p:spPr>
          <a:xfrm>
            <a:off x="4842028" y="4534001"/>
            <a:ext cx="9020022" cy="1538883"/>
          </a:xfrm>
        </p:spPr>
        <p:txBody>
          <a:bodyPr/>
          <a:lstStyle>
            <a:lvl1pPr algn="l">
              <a:defRPr sz="5000">
                <a:solidFill>
                  <a:srgbClr val="257CE1"/>
                </a:solidFill>
              </a:defRPr>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1038586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Diseño personalizado">
    <p:spTree>
      <p:nvGrpSpPr>
        <p:cNvPr id="1" name=""/>
        <p:cNvGrpSpPr/>
        <p:nvPr/>
      </p:nvGrpSpPr>
      <p:grpSpPr>
        <a:xfrm>
          <a:off x="0" y="0"/>
          <a:ext cx="0" cy="0"/>
          <a:chOff x="0" y="0"/>
          <a:chExt cx="0" cy="0"/>
        </a:xfrm>
      </p:grpSpPr>
      <p:pic>
        <p:nvPicPr>
          <p:cNvPr id="21" name="Imagen 20">
            <a:extLst>
              <a:ext uri="{FF2B5EF4-FFF2-40B4-BE49-F238E27FC236}">
                <a16:creationId xmlns:a16="http://schemas.microsoft.com/office/drawing/2014/main" id="{FADFFD87-E732-F006-B065-62B946429B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pic>
        <p:nvPicPr>
          <p:cNvPr id="23" name="Imagen 22">
            <a:extLst>
              <a:ext uri="{FF2B5EF4-FFF2-40B4-BE49-F238E27FC236}">
                <a16:creationId xmlns:a16="http://schemas.microsoft.com/office/drawing/2014/main" id="{5FB62982-E03B-E5B0-2921-4742F850F5A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24" name="Rectángulo 23">
            <a:extLst>
              <a:ext uri="{FF2B5EF4-FFF2-40B4-BE49-F238E27FC236}">
                <a16:creationId xmlns:a16="http://schemas.microsoft.com/office/drawing/2014/main" id="{FA473640-6785-830B-E009-5E08A060B6B1}"/>
              </a:ext>
            </a:extLst>
          </p:cNvPr>
          <p:cNvSpPr/>
          <p:nvPr userDrawn="1"/>
        </p:nvSpPr>
        <p:spPr>
          <a:xfrm>
            <a:off x="7232650" y="7880350"/>
            <a:ext cx="9892434" cy="2286000"/>
          </a:xfrm>
          <a:prstGeom prst="rect">
            <a:avLst/>
          </a:prstGeom>
          <a:solidFill>
            <a:schemeClr val="tx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25" name="Título 1">
            <a:extLst>
              <a:ext uri="{FF2B5EF4-FFF2-40B4-BE49-F238E27FC236}">
                <a16:creationId xmlns:a16="http://schemas.microsoft.com/office/drawing/2014/main" id="{B55FBF2B-6203-81C7-B7DD-070ABE20B4BB}"/>
              </a:ext>
            </a:extLst>
          </p:cNvPr>
          <p:cNvSpPr>
            <a:spLocks noGrp="1"/>
          </p:cNvSpPr>
          <p:nvPr>
            <p:ph type="title"/>
          </p:nvPr>
        </p:nvSpPr>
        <p:spPr>
          <a:xfrm>
            <a:off x="7661428" y="8207476"/>
            <a:ext cx="9020022" cy="1538883"/>
          </a:xfrm>
        </p:spPr>
        <p:txBody>
          <a:bodyPr/>
          <a:lstStyle>
            <a:lvl1pPr algn="l">
              <a:defRPr sz="5000">
                <a:solidFill>
                  <a:srgbClr val="257CE1"/>
                </a:solidFill>
              </a:defRPr>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1711097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438F75-3EE0-1345-84D2-95B57EB1A45B}"/>
              </a:ext>
            </a:extLst>
          </p:cNvPr>
          <p:cNvSpPr>
            <a:spLocks noGrp="1"/>
          </p:cNvSpPr>
          <p:nvPr>
            <p:ph type="title"/>
          </p:nvPr>
        </p:nvSpPr>
        <p:spPr>
          <a:xfrm>
            <a:off x="2432050" y="714594"/>
            <a:ext cx="16988263" cy="738664"/>
          </a:xfrm>
        </p:spPr>
        <p:txBody>
          <a:bodyPr/>
          <a:lstStyle>
            <a:lvl1pPr>
              <a:defRPr sz="4800"/>
            </a:lvl1pPr>
          </a:lstStyle>
          <a:p>
            <a:r>
              <a:rPr lang="es-ES" dirty="0"/>
              <a:t>Haga clic para modificar el estilo de título del patrón</a:t>
            </a:r>
            <a:endParaRPr lang="es-CL" dirty="0"/>
          </a:p>
        </p:txBody>
      </p:sp>
      <p:sp>
        <p:nvSpPr>
          <p:cNvPr id="6" name="object 7">
            <a:extLst>
              <a:ext uri="{FF2B5EF4-FFF2-40B4-BE49-F238E27FC236}">
                <a16:creationId xmlns:a16="http://schemas.microsoft.com/office/drawing/2014/main" id="{14BF04F1-8F4E-3E46-A3B2-80F47EADF391}"/>
              </a:ext>
            </a:extLst>
          </p:cNvPr>
          <p:cNvSpPr/>
          <p:nvPr userDrawn="1"/>
        </p:nvSpPr>
        <p:spPr>
          <a:xfrm>
            <a:off x="-6350" y="656116"/>
            <a:ext cx="2243455" cy="1060450"/>
          </a:xfrm>
          <a:custGeom>
            <a:avLst/>
            <a:gdLst/>
            <a:ahLst/>
            <a:cxnLst/>
            <a:rect l="l" t="t" r="r" b="b"/>
            <a:pathLst>
              <a:path w="2243455" h="1060450">
                <a:moveTo>
                  <a:pt x="2243429" y="0"/>
                </a:moveTo>
                <a:lnTo>
                  <a:pt x="0" y="0"/>
                </a:lnTo>
                <a:lnTo>
                  <a:pt x="0" y="1059999"/>
                </a:lnTo>
                <a:lnTo>
                  <a:pt x="2243429" y="1059999"/>
                </a:lnTo>
                <a:lnTo>
                  <a:pt x="2243429" y="0"/>
                </a:lnTo>
                <a:close/>
              </a:path>
            </a:pathLst>
          </a:custGeom>
          <a:solidFill>
            <a:srgbClr val="257CE1"/>
          </a:solidFill>
        </p:spPr>
        <p:txBody>
          <a:bodyPr wrap="square" lIns="0" tIns="0" rIns="0" bIns="0" rtlCol="0"/>
          <a:lstStyle/>
          <a:p>
            <a:endParaRPr/>
          </a:p>
        </p:txBody>
      </p:sp>
      <p:sp>
        <p:nvSpPr>
          <p:cNvPr id="7" name="object 3">
            <a:extLst>
              <a:ext uri="{FF2B5EF4-FFF2-40B4-BE49-F238E27FC236}">
                <a16:creationId xmlns:a16="http://schemas.microsoft.com/office/drawing/2014/main" id="{7932DF43-D838-5B47-A92B-B88C568B4A19}"/>
              </a:ext>
            </a:extLst>
          </p:cNvPr>
          <p:cNvSpPr/>
          <p:nvPr userDrawn="1"/>
        </p:nvSpPr>
        <p:spPr>
          <a:xfrm>
            <a:off x="16938421" y="10202309"/>
            <a:ext cx="1576070" cy="511175"/>
          </a:xfrm>
          <a:custGeom>
            <a:avLst/>
            <a:gdLst/>
            <a:ahLst/>
            <a:cxnLst/>
            <a:rect l="l" t="t" r="r" b="b"/>
            <a:pathLst>
              <a:path w="1576069" h="511175">
                <a:moveTo>
                  <a:pt x="441172" y="241312"/>
                </a:moveTo>
                <a:lnTo>
                  <a:pt x="435267" y="179641"/>
                </a:lnTo>
                <a:lnTo>
                  <a:pt x="418414" y="127673"/>
                </a:lnTo>
                <a:lnTo>
                  <a:pt x="392747" y="86601"/>
                </a:lnTo>
                <a:lnTo>
                  <a:pt x="391845" y="85153"/>
                </a:lnTo>
                <a:lnTo>
                  <a:pt x="356819" y="51803"/>
                </a:lnTo>
                <a:lnTo>
                  <a:pt x="322008" y="30734"/>
                </a:lnTo>
                <a:lnTo>
                  <a:pt x="322008" y="245008"/>
                </a:lnTo>
                <a:lnTo>
                  <a:pt x="316534" y="299389"/>
                </a:lnTo>
                <a:lnTo>
                  <a:pt x="300723" y="343433"/>
                </a:lnTo>
                <a:lnTo>
                  <a:pt x="275463" y="377329"/>
                </a:lnTo>
                <a:lnTo>
                  <a:pt x="241617" y="401231"/>
                </a:lnTo>
                <a:lnTo>
                  <a:pt x="200088" y="415315"/>
                </a:lnTo>
                <a:lnTo>
                  <a:pt x="151752" y="419722"/>
                </a:lnTo>
                <a:lnTo>
                  <a:pt x="141351" y="419684"/>
                </a:lnTo>
                <a:lnTo>
                  <a:pt x="130746" y="419442"/>
                </a:lnTo>
                <a:lnTo>
                  <a:pt x="120827" y="418769"/>
                </a:lnTo>
                <a:lnTo>
                  <a:pt x="112496" y="417474"/>
                </a:lnTo>
                <a:lnTo>
                  <a:pt x="112496" y="91033"/>
                </a:lnTo>
                <a:lnTo>
                  <a:pt x="121107" y="89408"/>
                </a:lnTo>
                <a:lnTo>
                  <a:pt x="132499" y="87985"/>
                </a:lnTo>
                <a:lnTo>
                  <a:pt x="146659" y="86982"/>
                </a:lnTo>
                <a:lnTo>
                  <a:pt x="163588" y="86601"/>
                </a:lnTo>
                <a:lnTo>
                  <a:pt x="209257" y="90881"/>
                </a:lnTo>
                <a:lnTo>
                  <a:pt x="248094" y="103809"/>
                </a:lnTo>
                <a:lnTo>
                  <a:pt x="279438" y="125552"/>
                </a:lnTo>
                <a:lnTo>
                  <a:pt x="302653" y="156235"/>
                </a:lnTo>
                <a:lnTo>
                  <a:pt x="317055" y="196011"/>
                </a:lnTo>
                <a:lnTo>
                  <a:pt x="322008" y="245008"/>
                </a:lnTo>
                <a:lnTo>
                  <a:pt x="322008" y="30734"/>
                </a:lnTo>
                <a:lnTo>
                  <a:pt x="318211" y="28422"/>
                </a:lnTo>
                <a:lnTo>
                  <a:pt x="272313" y="12306"/>
                </a:lnTo>
                <a:lnTo>
                  <a:pt x="217411" y="2997"/>
                </a:lnTo>
                <a:lnTo>
                  <a:pt x="151752" y="0"/>
                </a:lnTo>
                <a:lnTo>
                  <a:pt x="110134" y="685"/>
                </a:lnTo>
                <a:lnTo>
                  <a:pt x="70319" y="2768"/>
                </a:lnTo>
                <a:lnTo>
                  <a:pt x="33286" y="6235"/>
                </a:lnTo>
                <a:lnTo>
                  <a:pt x="0" y="11099"/>
                </a:lnTo>
                <a:lnTo>
                  <a:pt x="0" y="500392"/>
                </a:lnTo>
                <a:lnTo>
                  <a:pt x="23342" y="503123"/>
                </a:lnTo>
                <a:lnTo>
                  <a:pt x="52374" y="505485"/>
                </a:lnTo>
                <a:lnTo>
                  <a:pt x="87236" y="507161"/>
                </a:lnTo>
                <a:lnTo>
                  <a:pt x="128054" y="507796"/>
                </a:lnTo>
                <a:lnTo>
                  <a:pt x="184556" y="505294"/>
                </a:lnTo>
                <a:lnTo>
                  <a:pt x="236435" y="497713"/>
                </a:lnTo>
                <a:lnTo>
                  <a:pt x="283159" y="484936"/>
                </a:lnTo>
                <a:lnTo>
                  <a:pt x="324205" y="466864"/>
                </a:lnTo>
                <a:lnTo>
                  <a:pt x="359016" y="443407"/>
                </a:lnTo>
                <a:lnTo>
                  <a:pt x="382054" y="419722"/>
                </a:lnTo>
                <a:lnTo>
                  <a:pt x="385749" y="415925"/>
                </a:lnTo>
                <a:lnTo>
                  <a:pt x="408393" y="382181"/>
                </a:lnTo>
                <a:lnTo>
                  <a:pt x="425894" y="341972"/>
                </a:lnTo>
                <a:lnTo>
                  <a:pt x="437172" y="295097"/>
                </a:lnTo>
                <a:lnTo>
                  <a:pt x="441172" y="241312"/>
                </a:lnTo>
                <a:close/>
              </a:path>
              <a:path w="1576069" h="511175">
                <a:moveTo>
                  <a:pt x="827582" y="502602"/>
                </a:moveTo>
                <a:lnTo>
                  <a:pt x="826490" y="478307"/>
                </a:lnTo>
                <a:lnTo>
                  <a:pt x="825538" y="450888"/>
                </a:lnTo>
                <a:lnTo>
                  <a:pt x="824865" y="420268"/>
                </a:lnTo>
                <a:lnTo>
                  <a:pt x="824611" y="386397"/>
                </a:lnTo>
                <a:lnTo>
                  <a:pt x="824611" y="140639"/>
                </a:lnTo>
                <a:lnTo>
                  <a:pt x="712089" y="140639"/>
                </a:lnTo>
                <a:lnTo>
                  <a:pt x="712089" y="365671"/>
                </a:lnTo>
                <a:lnTo>
                  <a:pt x="710628" y="373811"/>
                </a:lnTo>
                <a:lnTo>
                  <a:pt x="688695" y="406768"/>
                </a:lnTo>
                <a:lnTo>
                  <a:pt x="651395" y="419722"/>
                </a:lnTo>
                <a:lnTo>
                  <a:pt x="625627" y="413918"/>
                </a:lnTo>
                <a:lnTo>
                  <a:pt x="607910" y="397230"/>
                </a:lnTo>
                <a:lnTo>
                  <a:pt x="597687" y="370674"/>
                </a:lnTo>
                <a:lnTo>
                  <a:pt x="594398" y="335330"/>
                </a:lnTo>
                <a:lnTo>
                  <a:pt x="594398" y="140639"/>
                </a:lnTo>
                <a:lnTo>
                  <a:pt x="481888" y="140639"/>
                </a:lnTo>
                <a:lnTo>
                  <a:pt x="481888" y="353072"/>
                </a:lnTo>
                <a:lnTo>
                  <a:pt x="488022" y="412394"/>
                </a:lnTo>
                <a:lnTo>
                  <a:pt x="505383" y="456869"/>
                </a:lnTo>
                <a:lnTo>
                  <a:pt x="532409" y="487451"/>
                </a:lnTo>
                <a:lnTo>
                  <a:pt x="567537" y="505091"/>
                </a:lnTo>
                <a:lnTo>
                  <a:pt x="609206" y="510768"/>
                </a:lnTo>
                <a:lnTo>
                  <a:pt x="652399" y="504634"/>
                </a:lnTo>
                <a:lnTo>
                  <a:pt x="684987" y="489483"/>
                </a:lnTo>
                <a:lnTo>
                  <a:pt x="707986" y="470154"/>
                </a:lnTo>
                <a:lnTo>
                  <a:pt x="722452" y="451535"/>
                </a:lnTo>
                <a:lnTo>
                  <a:pt x="724674" y="451535"/>
                </a:lnTo>
                <a:lnTo>
                  <a:pt x="729869" y="502602"/>
                </a:lnTo>
                <a:lnTo>
                  <a:pt x="827582" y="502602"/>
                </a:lnTo>
                <a:close/>
              </a:path>
              <a:path w="1576069" h="511175">
                <a:moveTo>
                  <a:pt x="1244155" y="318274"/>
                </a:moveTo>
                <a:lnTo>
                  <a:pt x="1238161" y="266484"/>
                </a:lnTo>
                <a:lnTo>
                  <a:pt x="1220876" y="221424"/>
                </a:lnTo>
                <a:lnTo>
                  <a:pt x="1193355" y="184315"/>
                </a:lnTo>
                <a:lnTo>
                  <a:pt x="1156639" y="156324"/>
                </a:lnTo>
                <a:lnTo>
                  <a:pt x="1127175" y="144729"/>
                </a:lnTo>
                <a:lnTo>
                  <a:pt x="1127175" y="321259"/>
                </a:lnTo>
                <a:lnTo>
                  <a:pt x="1122210" y="365747"/>
                </a:lnTo>
                <a:lnTo>
                  <a:pt x="1107948" y="400088"/>
                </a:lnTo>
                <a:lnTo>
                  <a:pt x="1085354" y="422224"/>
                </a:lnTo>
                <a:lnTo>
                  <a:pt x="1055395" y="430072"/>
                </a:lnTo>
                <a:lnTo>
                  <a:pt x="1054658" y="430072"/>
                </a:lnTo>
                <a:lnTo>
                  <a:pt x="1023213" y="421817"/>
                </a:lnTo>
                <a:lnTo>
                  <a:pt x="1000239" y="399072"/>
                </a:lnTo>
                <a:lnTo>
                  <a:pt x="986155" y="364807"/>
                </a:lnTo>
                <a:lnTo>
                  <a:pt x="981367" y="322008"/>
                </a:lnTo>
                <a:lnTo>
                  <a:pt x="985443" y="282206"/>
                </a:lnTo>
                <a:lnTo>
                  <a:pt x="998397" y="247332"/>
                </a:lnTo>
                <a:lnTo>
                  <a:pt x="1021346" y="222580"/>
                </a:lnTo>
                <a:lnTo>
                  <a:pt x="1055395" y="213169"/>
                </a:lnTo>
                <a:lnTo>
                  <a:pt x="1088174" y="222580"/>
                </a:lnTo>
                <a:lnTo>
                  <a:pt x="1110437" y="247230"/>
                </a:lnTo>
                <a:lnTo>
                  <a:pt x="1123149" y="281889"/>
                </a:lnTo>
                <a:lnTo>
                  <a:pt x="1127175" y="321259"/>
                </a:lnTo>
                <a:lnTo>
                  <a:pt x="1127175" y="144729"/>
                </a:lnTo>
                <a:lnTo>
                  <a:pt x="1111783" y="138658"/>
                </a:lnTo>
                <a:lnTo>
                  <a:pt x="1059827" y="132511"/>
                </a:lnTo>
                <a:lnTo>
                  <a:pt x="1012253" y="136982"/>
                </a:lnTo>
                <a:lnTo>
                  <a:pt x="970229" y="150050"/>
                </a:lnTo>
                <a:lnTo>
                  <a:pt x="934402" y="171119"/>
                </a:lnTo>
                <a:lnTo>
                  <a:pt x="905395" y="199644"/>
                </a:lnTo>
                <a:lnTo>
                  <a:pt x="883894" y="235051"/>
                </a:lnTo>
                <a:lnTo>
                  <a:pt x="870508" y="276745"/>
                </a:lnTo>
                <a:lnTo>
                  <a:pt x="865911" y="324192"/>
                </a:lnTo>
                <a:lnTo>
                  <a:pt x="872426" y="378625"/>
                </a:lnTo>
                <a:lnTo>
                  <a:pt x="890930" y="424548"/>
                </a:lnTo>
                <a:lnTo>
                  <a:pt x="919835" y="461340"/>
                </a:lnTo>
                <a:lnTo>
                  <a:pt x="957567" y="488378"/>
                </a:lnTo>
                <a:lnTo>
                  <a:pt x="1002538" y="505066"/>
                </a:lnTo>
                <a:lnTo>
                  <a:pt x="1053160" y="510755"/>
                </a:lnTo>
                <a:lnTo>
                  <a:pt x="1053896" y="510755"/>
                </a:lnTo>
                <a:lnTo>
                  <a:pt x="1094740" y="507009"/>
                </a:lnTo>
                <a:lnTo>
                  <a:pt x="1133703" y="495655"/>
                </a:lnTo>
                <a:lnTo>
                  <a:pt x="1169187" y="476491"/>
                </a:lnTo>
                <a:lnTo>
                  <a:pt x="1199578" y="449364"/>
                </a:lnTo>
                <a:lnTo>
                  <a:pt x="1223276" y="414070"/>
                </a:lnTo>
                <a:lnTo>
                  <a:pt x="1238669" y="370433"/>
                </a:lnTo>
                <a:lnTo>
                  <a:pt x="1244155" y="318274"/>
                </a:lnTo>
                <a:close/>
              </a:path>
              <a:path w="1576069" h="511175">
                <a:moveTo>
                  <a:pt x="1575854" y="146558"/>
                </a:moveTo>
                <a:lnTo>
                  <a:pt x="1556600" y="140614"/>
                </a:lnTo>
                <a:lnTo>
                  <a:pt x="1535125" y="136194"/>
                </a:lnTo>
                <a:lnTo>
                  <a:pt x="1512544" y="133451"/>
                </a:lnTo>
                <a:lnTo>
                  <a:pt x="1489964" y="132499"/>
                </a:lnTo>
                <a:lnTo>
                  <a:pt x="1436065" y="137604"/>
                </a:lnTo>
                <a:lnTo>
                  <a:pt x="1389964" y="152133"/>
                </a:lnTo>
                <a:lnTo>
                  <a:pt x="1351838" y="174917"/>
                </a:lnTo>
                <a:lnTo>
                  <a:pt x="1321866" y="204762"/>
                </a:lnTo>
                <a:lnTo>
                  <a:pt x="1300238" y="240499"/>
                </a:lnTo>
                <a:lnTo>
                  <a:pt x="1287132" y="280949"/>
                </a:lnTo>
                <a:lnTo>
                  <a:pt x="1282712" y="324942"/>
                </a:lnTo>
                <a:lnTo>
                  <a:pt x="1287195" y="371144"/>
                </a:lnTo>
                <a:lnTo>
                  <a:pt x="1300264" y="411645"/>
                </a:lnTo>
                <a:lnTo>
                  <a:pt x="1321346" y="445947"/>
                </a:lnTo>
                <a:lnTo>
                  <a:pt x="1349870" y="473532"/>
                </a:lnTo>
                <a:lnTo>
                  <a:pt x="1385277" y="493864"/>
                </a:lnTo>
                <a:lnTo>
                  <a:pt x="1426984" y="506450"/>
                </a:lnTo>
                <a:lnTo>
                  <a:pt x="1474431" y="510755"/>
                </a:lnTo>
                <a:lnTo>
                  <a:pt x="1505470" y="509460"/>
                </a:lnTo>
                <a:lnTo>
                  <a:pt x="1556994" y="500468"/>
                </a:lnTo>
                <a:lnTo>
                  <a:pt x="1561782" y="410832"/>
                </a:lnTo>
                <a:lnTo>
                  <a:pt x="1548282" y="415810"/>
                </a:lnTo>
                <a:lnTo>
                  <a:pt x="1533182" y="419531"/>
                </a:lnTo>
                <a:lnTo>
                  <a:pt x="1516278" y="421868"/>
                </a:lnTo>
                <a:lnTo>
                  <a:pt x="1497355" y="422681"/>
                </a:lnTo>
                <a:lnTo>
                  <a:pt x="1458760" y="416090"/>
                </a:lnTo>
                <a:lnTo>
                  <a:pt x="1427226" y="396582"/>
                </a:lnTo>
                <a:lnTo>
                  <a:pt x="1405966" y="364591"/>
                </a:lnTo>
                <a:lnTo>
                  <a:pt x="1398155" y="320522"/>
                </a:lnTo>
                <a:lnTo>
                  <a:pt x="1404683" y="279692"/>
                </a:lnTo>
                <a:lnTo>
                  <a:pt x="1424178" y="247599"/>
                </a:lnTo>
                <a:lnTo>
                  <a:pt x="1454924" y="226606"/>
                </a:lnTo>
                <a:lnTo>
                  <a:pt x="1495171" y="219087"/>
                </a:lnTo>
                <a:lnTo>
                  <a:pt x="1515630" y="219989"/>
                </a:lnTo>
                <a:lnTo>
                  <a:pt x="1532737" y="222427"/>
                </a:lnTo>
                <a:lnTo>
                  <a:pt x="1546796" y="225971"/>
                </a:lnTo>
                <a:lnTo>
                  <a:pt x="1558086" y="230212"/>
                </a:lnTo>
                <a:lnTo>
                  <a:pt x="1575854" y="146558"/>
                </a:lnTo>
                <a:close/>
              </a:path>
            </a:pathLst>
          </a:custGeom>
          <a:solidFill>
            <a:srgbClr val="000000"/>
          </a:solidFill>
        </p:spPr>
        <p:txBody>
          <a:bodyPr wrap="square" lIns="0" tIns="0" rIns="0" bIns="0" rtlCol="0"/>
          <a:lstStyle/>
          <a:p>
            <a:endParaRPr/>
          </a:p>
        </p:txBody>
      </p:sp>
      <p:sp>
        <p:nvSpPr>
          <p:cNvPr id="8" name="object 4">
            <a:extLst>
              <a:ext uri="{FF2B5EF4-FFF2-40B4-BE49-F238E27FC236}">
                <a16:creationId xmlns:a16="http://schemas.microsoft.com/office/drawing/2014/main" id="{9DEB8F4A-6C01-284B-B123-A27D152597CD}"/>
              </a:ext>
            </a:extLst>
          </p:cNvPr>
          <p:cNvSpPr/>
          <p:nvPr userDrawn="1"/>
        </p:nvSpPr>
        <p:spPr>
          <a:xfrm>
            <a:off x="18623540" y="10245307"/>
            <a:ext cx="378460" cy="469900"/>
          </a:xfrm>
          <a:custGeom>
            <a:avLst/>
            <a:gdLst/>
            <a:ahLst/>
            <a:cxnLst/>
            <a:rect l="l" t="t" r="r" b="b"/>
            <a:pathLst>
              <a:path w="378459" h="469900">
                <a:moveTo>
                  <a:pt x="377967" y="0"/>
                </a:moveTo>
                <a:lnTo>
                  <a:pt x="273688" y="0"/>
                </a:lnTo>
                <a:lnTo>
                  <a:pt x="273688" y="266117"/>
                </a:lnTo>
                <a:lnTo>
                  <a:pt x="268116" y="319317"/>
                </a:lnTo>
                <a:lnTo>
                  <a:pt x="251744" y="356757"/>
                </a:lnTo>
                <a:lnTo>
                  <a:pt x="225083" y="378889"/>
                </a:lnTo>
                <a:lnTo>
                  <a:pt x="188643" y="386166"/>
                </a:lnTo>
                <a:lnTo>
                  <a:pt x="152992" y="378600"/>
                </a:lnTo>
                <a:lnTo>
                  <a:pt x="126738" y="355987"/>
                </a:lnTo>
                <a:lnTo>
                  <a:pt x="110518" y="318451"/>
                </a:lnTo>
                <a:lnTo>
                  <a:pt x="104970" y="266117"/>
                </a:lnTo>
                <a:lnTo>
                  <a:pt x="104970" y="0"/>
                </a:lnTo>
                <a:lnTo>
                  <a:pt x="0" y="0"/>
                </a:lnTo>
                <a:lnTo>
                  <a:pt x="0" y="257897"/>
                </a:lnTo>
                <a:lnTo>
                  <a:pt x="4140" y="316080"/>
                </a:lnTo>
                <a:lnTo>
                  <a:pt x="16320" y="364420"/>
                </a:lnTo>
                <a:lnTo>
                  <a:pt x="36180" y="403244"/>
                </a:lnTo>
                <a:lnTo>
                  <a:pt x="63360" y="432875"/>
                </a:lnTo>
                <a:lnTo>
                  <a:pt x="97498" y="453638"/>
                </a:lnTo>
                <a:lnTo>
                  <a:pt x="138234" y="465858"/>
                </a:lnTo>
                <a:lnTo>
                  <a:pt x="185209" y="469860"/>
                </a:lnTo>
                <a:lnTo>
                  <a:pt x="233897" y="465682"/>
                </a:lnTo>
                <a:lnTo>
                  <a:pt x="276216" y="453068"/>
                </a:lnTo>
                <a:lnTo>
                  <a:pt x="311756" y="431899"/>
                </a:lnTo>
                <a:lnTo>
                  <a:pt x="340111" y="402056"/>
                </a:lnTo>
                <a:lnTo>
                  <a:pt x="360870" y="363417"/>
                </a:lnTo>
                <a:lnTo>
                  <a:pt x="373625" y="315865"/>
                </a:lnTo>
                <a:lnTo>
                  <a:pt x="377967" y="259280"/>
                </a:lnTo>
                <a:lnTo>
                  <a:pt x="377967" y="0"/>
                </a:lnTo>
                <a:close/>
              </a:path>
            </a:pathLst>
          </a:custGeom>
          <a:solidFill>
            <a:srgbClr val="000000"/>
          </a:solidFill>
        </p:spPr>
        <p:txBody>
          <a:bodyPr wrap="square" lIns="0" tIns="0" rIns="0" bIns="0" rtlCol="0"/>
          <a:lstStyle/>
          <a:p>
            <a:endParaRPr/>
          </a:p>
        </p:txBody>
      </p:sp>
      <p:grpSp>
        <p:nvGrpSpPr>
          <p:cNvPr id="9" name="object 5">
            <a:extLst>
              <a:ext uri="{FF2B5EF4-FFF2-40B4-BE49-F238E27FC236}">
                <a16:creationId xmlns:a16="http://schemas.microsoft.com/office/drawing/2014/main" id="{50440F77-9AF6-2142-A93F-4B5F6DDBD871}"/>
              </a:ext>
            </a:extLst>
          </p:cNvPr>
          <p:cNvGrpSpPr/>
          <p:nvPr userDrawn="1"/>
        </p:nvGrpSpPr>
        <p:grpSpPr>
          <a:xfrm>
            <a:off x="19053919" y="10117702"/>
            <a:ext cx="427355" cy="597535"/>
            <a:chOff x="19053919" y="10117702"/>
            <a:chExt cx="427355" cy="597535"/>
          </a:xfrm>
        </p:grpSpPr>
        <p:sp>
          <p:nvSpPr>
            <p:cNvPr id="10" name="object 6">
              <a:extLst>
                <a:ext uri="{FF2B5EF4-FFF2-40B4-BE49-F238E27FC236}">
                  <a16:creationId xmlns:a16="http://schemas.microsoft.com/office/drawing/2014/main" id="{B5FF8718-DC05-C046-A01E-6155D9ABE0D5}"/>
                </a:ext>
              </a:extLst>
            </p:cNvPr>
            <p:cNvSpPr/>
            <p:nvPr/>
          </p:nvSpPr>
          <p:spPr>
            <a:xfrm>
              <a:off x="19053919" y="10237764"/>
              <a:ext cx="366395" cy="477520"/>
            </a:xfrm>
            <a:custGeom>
              <a:avLst/>
              <a:gdLst/>
              <a:ahLst/>
              <a:cxnLst/>
              <a:rect l="l" t="t" r="r" b="b"/>
              <a:pathLst>
                <a:path w="366394" h="477520">
                  <a:moveTo>
                    <a:pt x="252421" y="0"/>
                  </a:moveTo>
                  <a:lnTo>
                    <a:pt x="206913" y="3226"/>
                  </a:lnTo>
                  <a:lnTo>
                    <a:pt x="164136" y="12810"/>
                  </a:lnTo>
                  <a:lnTo>
                    <a:pt x="124791" y="28603"/>
                  </a:lnTo>
                  <a:lnTo>
                    <a:pt x="89578" y="50459"/>
                  </a:lnTo>
                  <a:lnTo>
                    <a:pt x="59197" y="78232"/>
                  </a:lnTo>
                  <a:lnTo>
                    <a:pt x="34348" y="111776"/>
                  </a:lnTo>
                  <a:lnTo>
                    <a:pt x="15732" y="150943"/>
                  </a:lnTo>
                  <a:lnTo>
                    <a:pt x="4049" y="195587"/>
                  </a:lnTo>
                  <a:lnTo>
                    <a:pt x="0" y="245563"/>
                  </a:lnTo>
                  <a:lnTo>
                    <a:pt x="3849" y="293331"/>
                  </a:lnTo>
                  <a:lnTo>
                    <a:pt x="15359" y="337340"/>
                  </a:lnTo>
                  <a:lnTo>
                    <a:pt x="34475" y="376785"/>
                  </a:lnTo>
                  <a:lnTo>
                    <a:pt x="61138" y="410861"/>
                  </a:lnTo>
                  <a:lnTo>
                    <a:pt x="95292" y="438765"/>
                  </a:lnTo>
                  <a:lnTo>
                    <a:pt x="136882" y="459692"/>
                  </a:lnTo>
                  <a:lnTo>
                    <a:pt x="185849" y="472838"/>
                  </a:lnTo>
                  <a:lnTo>
                    <a:pt x="242139" y="477399"/>
                  </a:lnTo>
                  <a:lnTo>
                    <a:pt x="281711" y="475535"/>
                  </a:lnTo>
                  <a:lnTo>
                    <a:pt x="315367" y="470716"/>
                  </a:lnTo>
                  <a:lnTo>
                    <a:pt x="342072" y="464093"/>
                  </a:lnTo>
                  <a:lnTo>
                    <a:pt x="360795" y="456823"/>
                  </a:lnTo>
                  <a:lnTo>
                    <a:pt x="345036" y="375213"/>
                  </a:lnTo>
                  <a:lnTo>
                    <a:pt x="327174" y="381031"/>
                  </a:lnTo>
                  <a:lnTo>
                    <a:pt x="305583" y="385825"/>
                  </a:lnTo>
                  <a:lnTo>
                    <a:pt x="281936" y="389081"/>
                  </a:lnTo>
                  <a:lnTo>
                    <a:pt x="257908" y="390281"/>
                  </a:lnTo>
                  <a:lnTo>
                    <a:pt x="206680" y="383477"/>
                  </a:lnTo>
                  <a:lnTo>
                    <a:pt x="165463" y="363832"/>
                  </a:lnTo>
                  <a:lnTo>
                    <a:pt x="135046" y="332499"/>
                  </a:lnTo>
                  <a:lnTo>
                    <a:pt x="116217" y="290629"/>
                  </a:lnTo>
                  <a:lnTo>
                    <a:pt x="109766" y="239374"/>
                  </a:lnTo>
                  <a:lnTo>
                    <a:pt x="117134" y="183960"/>
                  </a:lnTo>
                  <a:lnTo>
                    <a:pt x="137767" y="141083"/>
                  </a:lnTo>
                  <a:lnTo>
                    <a:pt x="169464" y="110615"/>
                  </a:lnTo>
                  <a:lnTo>
                    <a:pt x="210018" y="92429"/>
                  </a:lnTo>
                  <a:lnTo>
                    <a:pt x="257227" y="86395"/>
                  </a:lnTo>
                  <a:lnTo>
                    <a:pt x="283580" y="87824"/>
                  </a:lnTo>
                  <a:lnTo>
                    <a:pt x="307041" y="91638"/>
                  </a:lnTo>
                  <a:lnTo>
                    <a:pt x="327548" y="97129"/>
                  </a:lnTo>
                  <a:lnTo>
                    <a:pt x="345036" y="103588"/>
                  </a:lnTo>
                  <a:lnTo>
                    <a:pt x="366302" y="20575"/>
                  </a:lnTo>
                  <a:lnTo>
                    <a:pt x="348314" y="13309"/>
                  </a:lnTo>
                  <a:lnTo>
                    <a:pt x="322736" y="6686"/>
                  </a:lnTo>
                  <a:lnTo>
                    <a:pt x="290470" y="1864"/>
                  </a:lnTo>
                  <a:lnTo>
                    <a:pt x="252421" y="0"/>
                  </a:lnTo>
                  <a:close/>
                </a:path>
              </a:pathLst>
            </a:custGeom>
            <a:solidFill>
              <a:srgbClr val="000000"/>
            </a:solidFill>
          </p:spPr>
          <p:txBody>
            <a:bodyPr wrap="square" lIns="0" tIns="0" rIns="0" bIns="0" rtlCol="0"/>
            <a:lstStyle/>
            <a:p>
              <a:endParaRPr/>
            </a:p>
          </p:txBody>
        </p:sp>
        <p:pic>
          <p:nvPicPr>
            <p:cNvPr id="11" name="object 7">
              <a:extLst>
                <a:ext uri="{FF2B5EF4-FFF2-40B4-BE49-F238E27FC236}">
                  <a16:creationId xmlns:a16="http://schemas.microsoft.com/office/drawing/2014/main" id="{680319A8-C88C-E845-B967-74CD5DD4CA96}"/>
                </a:ext>
              </a:extLst>
            </p:cNvPr>
            <p:cNvPicPr/>
            <p:nvPr/>
          </p:nvPicPr>
          <p:blipFill>
            <a:blip r:embed="rId2" cstate="email">
              <a:extLst>
                <a:ext uri="{28A0092B-C50C-407E-A947-70E740481C1C}">
                  <a14:useLocalDpi xmlns:a14="http://schemas.microsoft.com/office/drawing/2010/main"/>
                </a:ext>
              </a:extLst>
            </a:blip>
            <a:stretch>
              <a:fillRect/>
            </a:stretch>
          </p:blipFill>
          <p:spPr>
            <a:xfrm>
              <a:off x="19368634" y="10117702"/>
              <a:ext cx="112300" cy="112268"/>
            </a:xfrm>
            <a:prstGeom prst="rect">
              <a:avLst/>
            </a:prstGeom>
          </p:spPr>
        </p:pic>
      </p:grpSp>
    </p:spTree>
    <p:extLst>
      <p:ext uri="{BB962C8B-B14F-4D97-AF65-F5344CB8AC3E}">
        <p14:creationId xmlns:p14="http://schemas.microsoft.com/office/powerpoint/2010/main" val="23913852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1" name="object 2">
            <a:extLst>
              <a:ext uri="{FF2B5EF4-FFF2-40B4-BE49-F238E27FC236}">
                <a16:creationId xmlns:a16="http://schemas.microsoft.com/office/drawing/2014/main" id="{248CA032-B7CF-AC47-80C3-3DC0FECADE87}"/>
              </a:ext>
            </a:extLst>
          </p:cNvPr>
          <p:cNvSpPr/>
          <p:nvPr userDrawn="1"/>
        </p:nvSpPr>
        <p:spPr>
          <a:xfrm>
            <a:off x="727227" y="10202309"/>
            <a:ext cx="1576070" cy="511175"/>
          </a:xfrm>
          <a:custGeom>
            <a:avLst/>
            <a:gdLst/>
            <a:ahLst/>
            <a:cxnLst/>
            <a:rect l="l" t="t" r="r" b="b"/>
            <a:pathLst>
              <a:path w="1576070" h="511175">
                <a:moveTo>
                  <a:pt x="441172" y="241312"/>
                </a:moveTo>
                <a:lnTo>
                  <a:pt x="435267" y="179641"/>
                </a:lnTo>
                <a:lnTo>
                  <a:pt x="418414" y="127673"/>
                </a:lnTo>
                <a:lnTo>
                  <a:pt x="392747" y="86601"/>
                </a:lnTo>
                <a:lnTo>
                  <a:pt x="391845" y="85153"/>
                </a:lnTo>
                <a:lnTo>
                  <a:pt x="356819" y="51803"/>
                </a:lnTo>
                <a:lnTo>
                  <a:pt x="322008" y="30734"/>
                </a:lnTo>
                <a:lnTo>
                  <a:pt x="322008" y="245008"/>
                </a:lnTo>
                <a:lnTo>
                  <a:pt x="316547" y="299389"/>
                </a:lnTo>
                <a:lnTo>
                  <a:pt x="300736" y="343433"/>
                </a:lnTo>
                <a:lnTo>
                  <a:pt x="275463" y="377329"/>
                </a:lnTo>
                <a:lnTo>
                  <a:pt x="241617" y="401231"/>
                </a:lnTo>
                <a:lnTo>
                  <a:pt x="200088" y="415315"/>
                </a:lnTo>
                <a:lnTo>
                  <a:pt x="151752" y="419722"/>
                </a:lnTo>
                <a:lnTo>
                  <a:pt x="141351" y="419684"/>
                </a:lnTo>
                <a:lnTo>
                  <a:pt x="130746" y="419442"/>
                </a:lnTo>
                <a:lnTo>
                  <a:pt x="120827" y="418769"/>
                </a:lnTo>
                <a:lnTo>
                  <a:pt x="112496" y="417474"/>
                </a:lnTo>
                <a:lnTo>
                  <a:pt x="112496" y="91033"/>
                </a:lnTo>
                <a:lnTo>
                  <a:pt x="121119" y="89408"/>
                </a:lnTo>
                <a:lnTo>
                  <a:pt x="132499" y="87985"/>
                </a:lnTo>
                <a:lnTo>
                  <a:pt x="146659" y="86982"/>
                </a:lnTo>
                <a:lnTo>
                  <a:pt x="163601" y="86601"/>
                </a:lnTo>
                <a:lnTo>
                  <a:pt x="209257" y="90881"/>
                </a:lnTo>
                <a:lnTo>
                  <a:pt x="248094" y="103809"/>
                </a:lnTo>
                <a:lnTo>
                  <a:pt x="279450" y="125552"/>
                </a:lnTo>
                <a:lnTo>
                  <a:pt x="302653" y="156235"/>
                </a:lnTo>
                <a:lnTo>
                  <a:pt x="317055" y="196011"/>
                </a:lnTo>
                <a:lnTo>
                  <a:pt x="322008" y="245008"/>
                </a:lnTo>
                <a:lnTo>
                  <a:pt x="322008" y="30734"/>
                </a:lnTo>
                <a:lnTo>
                  <a:pt x="318211" y="28422"/>
                </a:lnTo>
                <a:lnTo>
                  <a:pt x="272313" y="12306"/>
                </a:lnTo>
                <a:lnTo>
                  <a:pt x="217411" y="2997"/>
                </a:lnTo>
                <a:lnTo>
                  <a:pt x="151752" y="0"/>
                </a:lnTo>
                <a:lnTo>
                  <a:pt x="110134" y="685"/>
                </a:lnTo>
                <a:lnTo>
                  <a:pt x="70319" y="2768"/>
                </a:lnTo>
                <a:lnTo>
                  <a:pt x="33286" y="6235"/>
                </a:lnTo>
                <a:lnTo>
                  <a:pt x="0" y="11099"/>
                </a:lnTo>
                <a:lnTo>
                  <a:pt x="0" y="500392"/>
                </a:lnTo>
                <a:lnTo>
                  <a:pt x="23342" y="503123"/>
                </a:lnTo>
                <a:lnTo>
                  <a:pt x="52374" y="505485"/>
                </a:lnTo>
                <a:lnTo>
                  <a:pt x="87236" y="507161"/>
                </a:lnTo>
                <a:lnTo>
                  <a:pt x="128054" y="507796"/>
                </a:lnTo>
                <a:lnTo>
                  <a:pt x="184556" y="505294"/>
                </a:lnTo>
                <a:lnTo>
                  <a:pt x="236435" y="497713"/>
                </a:lnTo>
                <a:lnTo>
                  <a:pt x="283171" y="484936"/>
                </a:lnTo>
                <a:lnTo>
                  <a:pt x="324205" y="466864"/>
                </a:lnTo>
                <a:lnTo>
                  <a:pt x="359029" y="443407"/>
                </a:lnTo>
                <a:lnTo>
                  <a:pt x="382054" y="419722"/>
                </a:lnTo>
                <a:lnTo>
                  <a:pt x="385749" y="415925"/>
                </a:lnTo>
                <a:lnTo>
                  <a:pt x="408393" y="382181"/>
                </a:lnTo>
                <a:lnTo>
                  <a:pt x="425894" y="341972"/>
                </a:lnTo>
                <a:lnTo>
                  <a:pt x="437172" y="295097"/>
                </a:lnTo>
                <a:lnTo>
                  <a:pt x="441172" y="241312"/>
                </a:lnTo>
                <a:close/>
              </a:path>
              <a:path w="1576070" h="511175">
                <a:moveTo>
                  <a:pt x="827582" y="502602"/>
                </a:moveTo>
                <a:lnTo>
                  <a:pt x="826503" y="478307"/>
                </a:lnTo>
                <a:lnTo>
                  <a:pt x="825550" y="450888"/>
                </a:lnTo>
                <a:lnTo>
                  <a:pt x="824865" y="420268"/>
                </a:lnTo>
                <a:lnTo>
                  <a:pt x="824611" y="386397"/>
                </a:lnTo>
                <a:lnTo>
                  <a:pt x="824611" y="140639"/>
                </a:lnTo>
                <a:lnTo>
                  <a:pt x="712089" y="140639"/>
                </a:lnTo>
                <a:lnTo>
                  <a:pt x="712089" y="365671"/>
                </a:lnTo>
                <a:lnTo>
                  <a:pt x="710641" y="373811"/>
                </a:lnTo>
                <a:lnTo>
                  <a:pt x="688695" y="406768"/>
                </a:lnTo>
                <a:lnTo>
                  <a:pt x="651395" y="419722"/>
                </a:lnTo>
                <a:lnTo>
                  <a:pt x="625627" y="413918"/>
                </a:lnTo>
                <a:lnTo>
                  <a:pt x="607910" y="397230"/>
                </a:lnTo>
                <a:lnTo>
                  <a:pt x="597687" y="370674"/>
                </a:lnTo>
                <a:lnTo>
                  <a:pt x="594398" y="335330"/>
                </a:lnTo>
                <a:lnTo>
                  <a:pt x="594398" y="140639"/>
                </a:lnTo>
                <a:lnTo>
                  <a:pt x="481888" y="140639"/>
                </a:lnTo>
                <a:lnTo>
                  <a:pt x="481888" y="353072"/>
                </a:lnTo>
                <a:lnTo>
                  <a:pt x="488022" y="412394"/>
                </a:lnTo>
                <a:lnTo>
                  <a:pt x="505383" y="456869"/>
                </a:lnTo>
                <a:lnTo>
                  <a:pt x="532409" y="487451"/>
                </a:lnTo>
                <a:lnTo>
                  <a:pt x="567537" y="505091"/>
                </a:lnTo>
                <a:lnTo>
                  <a:pt x="609206" y="510768"/>
                </a:lnTo>
                <a:lnTo>
                  <a:pt x="652399" y="504634"/>
                </a:lnTo>
                <a:lnTo>
                  <a:pt x="684987" y="489483"/>
                </a:lnTo>
                <a:lnTo>
                  <a:pt x="707986" y="470154"/>
                </a:lnTo>
                <a:lnTo>
                  <a:pt x="722452" y="451535"/>
                </a:lnTo>
                <a:lnTo>
                  <a:pt x="724674" y="451535"/>
                </a:lnTo>
                <a:lnTo>
                  <a:pt x="729869" y="502602"/>
                </a:lnTo>
                <a:lnTo>
                  <a:pt x="827582" y="502602"/>
                </a:lnTo>
                <a:close/>
              </a:path>
              <a:path w="1576070" h="511175">
                <a:moveTo>
                  <a:pt x="1244155" y="318274"/>
                </a:moveTo>
                <a:lnTo>
                  <a:pt x="1238161" y="266484"/>
                </a:lnTo>
                <a:lnTo>
                  <a:pt x="1220889" y="221424"/>
                </a:lnTo>
                <a:lnTo>
                  <a:pt x="1193355" y="184315"/>
                </a:lnTo>
                <a:lnTo>
                  <a:pt x="1156652" y="156324"/>
                </a:lnTo>
                <a:lnTo>
                  <a:pt x="1127175" y="144729"/>
                </a:lnTo>
                <a:lnTo>
                  <a:pt x="1127175" y="321259"/>
                </a:lnTo>
                <a:lnTo>
                  <a:pt x="1122210" y="365747"/>
                </a:lnTo>
                <a:lnTo>
                  <a:pt x="1107948" y="400088"/>
                </a:lnTo>
                <a:lnTo>
                  <a:pt x="1085354" y="422224"/>
                </a:lnTo>
                <a:lnTo>
                  <a:pt x="1055395" y="430072"/>
                </a:lnTo>
                <a:lnTo>
                  <a:pt x="1054658" y="430072"/>
                </a:lnTo>
                <a:lnTo>
                  <a:pt x="1023213" y="421817"/>
                </a:lnTo>
                <a:lnTo>
                  <a:pt x="1000252" y="399072"/>
                </a:lnTo>
                <a:lnTo>
                  <a:pt x="986155" y="364807"/>
                </a:lnTo>
                <a:lnTo>
                  <a:pt x="981367" y="322008"/>
                </a:lnTo>
                <a:lnTo>
                  <a:pt x="985443" y="282206"/>
                </a:lnTo>
                <a:lnTo>
                  <a:pt x="998397" y="247332"/>
                </a:lnTo>
                <a:lnTo>
                  <a:pt x="1021359" y="222580"/>
                </a:lnTo>
                <a:lnTo>
                  <a:pt x="1055395" y="213169"/>
                </a:lnTo>
                <a:lnTo>
                  <a:pt x="1088174" y="222580"/>
                </a:lnTo>
                <a:lnTo>
                  <a:pt x="1110449" y="247230"/>
                </a:lnTo>
                <a:lnTo>
                  <a:pt x="1123149" y="281889"/>
                </a:lnTo>
                <a:lnTo>
                  <a:pt x="1127175" y="321259"/>
                </a:lnTo>
                <a:lnTo>
                  <a:pt x="1127175" y="144729"/>
                </a:lnTo>
                <a:lnTo>
                  <a:pt x="1111783" y="138658"/>
                </a:lnTo>
                <a:lnTo>
                  <a:pt x="1059827" y="132511"/>
                </a:lnTo>
                <a:lnTo>
                  <a:pt x="1012253" y="136982"/>
                </a:lnTo>
                <a:lnTo>
                  <a:pt x="970229" y="150050"/>
                </a:lnTo>
                <a:lnTo>
                  <a:pt x="934402" y="171119"/>
                </a:lnTo>
                <a:lnTo>
                  <a:pt x="905408" y="199644"/>
                </a:lnTo>
                <a:lnTo>
                  <a:pt x="883894" y="235051"/>
                </a:lnTo>
                <a:lnTo>
                  <a:pt x="870508" y="276745"/>
                </a:lnTo>
                <a:lnTo>
                  <a:pt x="865911" y="324192"/>
                </a:lnTo>
                <a:lnTo>
                  <a:pt x="872426" y="378625"/>
                </a:lnTo>
                <a:lnTo>
                  <a:pt x="890930" y="424548"/>
                </a:lnTo>
                <a:lnTo>
                  <a:pt x="919848" y="461340"/>
                </a:lnTo>
                <a:lnTo>
                  <a:pt x="957580" y="488378"/>
                </a:lnTo>
                <a:lnTo>
                  <a:pt x="1002538" y="505066"/>
                </a:lnTo>
                <a:lnTo>
                  <a:pt x="1053160" y="510755"/>
                </a:lnTo>
                <a:lnTo>
                  <a:pt x="1053909" y="510755"/>
                </a:lnTo>
                <a:lnTo>
                  <a:pt x="1094740" y="507009"/>
                </a:lnTo>
                <a:lnTo>
                  <a:pt x="1133703" y="495655"/>
                </a:lnTo>
                <a:lnTo>
                  <a:pt x="1169187" y="476491"/>
                </a:lnTo>
                <a:lnTo>
                  <a:pt x="1199578" y="449364"/>
                </a:lnTo>
                <a:lnTo>
                  <a:pt x="1223276" y="414070"/>
                </a:lnTo>
                <a:lnTo>
                  <a:pt x="1238669" y="370433"/>
                </a:lnTo>
                <a:lnTo>
                  <a:pt x="1244155" y="318274"/>
                </a:lnTo>
                <a:close/>
              </a:path>
              <a:path w="1576070" h="511175">
                <a:moveTo>
                  <a:pt x="1575854" y="146558"/>
                </a:moveTo>
                <a:lnTo>
                  <a:pt x="1556600" y="140614"/>
                </a:lnTo>
                <a:lnTo>
                  <a:pt x="1535125" y="136194"/>
                </a:lnTo>
                <a:lnTo>
                  <a:pt x="1512557" y="133451"/>
                </a:lnTo>
                <a:lnTo>
                  <a:pt x="1489964" y="132499"/>
                </a:lnTo>
                <a:lnTo>
                  <a:pt x="1436077" y="137604"/>
                </a:lnTo>
                <a:lnTo>
                  <a:pt x="1389964" y="152133"/>
                </a:lnTo>
                <a:lnTo>
                  <a:pt x="1351838" y="174917"/>
                </a:lnTo>
                <a:lnTo>
                  <a:pt x="1321866" y="204762"/>
                </a:lnTo>
                <a:lnTo>
                  <a:pt x="1300238" y="240499"/>
                </a:lnTo>
                <a:lnTo>
                  <a:pt x="1287132" y="280949"/>
                </a:lnTo>
                <a:lnTo>
                  <a:pt x="1282712" y="324942"/>
                </a:lnTo>
                <a:lnTo>
                  <a:pt x="1287195" y="371144"/>
                </a:lnTo>
                <a:lnTo>
                  <a:pt x="1300264" y="411645"/>
                </a:lnTo>
                <a:lnTo>
                  <a:pt x="1321346" y="445947"/>
                </a:lnTo>
                <a:lnTo>
                  <a:pt x="1349870" y="473532"/>
                </a:lnTo>
                <a:lnTo>
                  <a:pt x="1385277" y="493864"/>
                </a:lnTo>
                <a:lnTo>
                  <a:pt x="1426984" y="506450"/>
                </a:lnTo>
                <a:lnTo>
                  <a:pt x="1474431" y="510755"/>
                </a:lnTo>
                <a:lnTo>
                  <a:pt x="1505470" y="509460"/>
                </a:lnTo>
                <a:lnTo>
                  <a:pt x="1556994" y="500468"/>
                </a:lnTo>
                <a:lnTo>
                  <a:pt x="1561782" y="410832"/>
                </a:lnTo>
                <a:lnTo>
                  <a:pt x="1548282" y="415810"/>
                </a:lnTo>
                <a:lnTo>
                  <a:pt x="1533194" y="419531"/>
                </a:lnTo>
                <a:lnTo>
                  <a:pt x="1516278" y="421868"/>
                </a:lnTo>
                <a:lnTo>
                  <a:pt x="1497355" y="422681"/>
                </a:lnTo>
                <a:lnTo>
                  <a:pt x="1458760" y="416090"/>
                </a:lnTo>
                <a:lnTo>
                  <a:pt x="1427226" y="396582"/>
                </a:lnTo>
                <a:lnTo>
                  <a:pt x="1405966" y="364591"/>
                </a:lnTo>
                <a:lnTo>
                  <a:pt x="1398155" y="320522"/>
                </a:lnTo>
                <a:lnTo>
                  <a:pt x="1404683" y="279692"/>
                </a:lnTo>
                <a:lnTo>
                  <a:pt x="1424178" y="247599"/>
                </a:lnTo>
                <a:lnTo>
                  <a:pt x="1454924" y="226606"/>
                </a:lnTo>
                <a:lnTo>
                  <a:pt x="1495171" y="219087"/>
                </a:lnTo>
                <a:lnTo>
                  <a:pt x="1515630" y="219989"/>
                </a:lnTo>
                <a:lnTo>
                  <a:pt x="1532737" y="222427"/>
                </a:lnTo>
                <a:lnTo>
                  <a:pt x="1546796" y="225971"/>
                </a:lnTo>
                <a:lnTo>
                  <a:pt x="1558086" y="230212"/>
                </a:lnTo>
                <a:lnTo>
                  <a:pt x="1575854" y="146558"/>
                </a:lnTo>
                <a:close/>
              </a:path>
            </a:pathLst>
          </a:custGeom>
          <a:solidFill>
            <a:srgbClr val="000000"/>
          </a:solidFill>
        </p:spPr>
        <p:txBody>
          <a:bodyPr wrap="square" lIns="0" tIns="0" rIns="0" bIns="0" rtlCol="0"/>
          <a:lstStyle/>
          <a:p>
            <a:endParaRPr/>
          </a:p>
        </p:txBody>
      </p:sp>
      <p:sp>
        <p:nvSpPr>
          <p:cNvPr id="12" name="object 3">
            <a:extLst>
              <a:ext uri="{FF2B5EF4-FFF2-40B4-BE49-F238E27FC236}">
                <a16:creationId xmlns:a16="http://schemas.microsoft.com/office/drawing/2014/main" id="{AB72D184-1BCC-8E4D-AB97-E7C9B55D20C7}"/>
              </a:ext>
            </a:extLst>
          </p:cNvPr>
          <p:cNvSpPr/>
          <p:nvPr userDrawn="1"/>
        </p:nvSpPr>
        <p:spPr>
          <a:xfrm>
            <a:off x="2412348" y="10245307"/>
            <a:ext cx="378460" cy="469900"/>
          </a:xfrm>
          <a:custGeom>
            <a:avLst/>
            <a:gdLst/>
            <a:ahLst/>
            <a:cxnLst/>
            <a:rect l="l" t="t" r="r" b="b"/>
            <a:pathLst>
              <a:path w="378460" h="469900">
                <a:moveTo>
                  <a:pt x="377967" y="0"/>
                </a:moveTo>
                <a:lnTo>
                  <a:pt x="273688" y="0"/>
                </a:lnTo>
                <a:lnTo>
                  <a:pt x="273688" y="266117"/>
                </a:lnTo>
                <a:lnTo>
                  <a:pt x="268116" y="319317"/>
                </a:lnTo>
                <a:lnTo>
                  <a:pt x="251744" y="356757"/>
                </a:lnTo>
                <a:lnTo>
                  <a:pt x="225083" y="378889"/>
                </a:lnTo>
                <a:lnTo>
                  <a:pt x="188643" y="386166"/>
                </a:lnTo>
                <a:lnTo>
                  <a:pt x="152992" y="378600"/>
                </a:lnTo>
                <a:lnTo>
                  <a:pt x="126738" y="355987"/>
                </a:lnTo>
                <a:lnTo>
                  <a:pt x="110518" y="318451"/>
                </a:lnTo>
                <a:lnTo>
                  <a:pt x="104970" y="266117"/>
                </a:lnTo>
                <a:lnTo>
                  <a:pt x="104970" y="0"/>
                </a:lnTo>
                <a:lnTo>
                  <a:pt x="0" y="0"/>
                </a:lnTo>
                <a:lnTo>
                  <a:pt x="0" y="257897"/>
                </a:lnTo>
                <a:lnTo>
                  <a:pt x="4140" y="316080"/>
                </a:lnTo>
                <a:lnTo>
                  <a:pt x="16320" y="364420"/>
                </a:lnTo>
                <a:lnTo>
                  <a:pt x="36180" y="403244"/>
                </a:lnTo>
                <a:lnTo>
                  <a:pt x="63360" y="432875"/>
                </a:lnTo>
                <a:lnTo>
                  <a:pt x="97498" y="453638"/>
                </a:lnTo>
                <a:lnTo>
                  <a:pt x="138234" y="465858"/>
                </a:lnTo>
                <a:lnTo>
                  <a:pt x="185209" y="469860"/>
                </a:lnTo>
                <a:lnTo>
                  <a:pt x="233897" y="465682"/>
                </a:lnTo>
                <a:lnTo>
                  <a:pt x="276216" y="453068"/>
                </a:lnTo>
                <a:lnTo>
                  <a:pt x="311756" y="431899"/>
                </a:lnTo>
                <a:lnTo>
                  <a:pt x="340111" y="402056"/>
                </a:lnTo>
                <a:lnTo>
                  <a:pt x="360870" y="363417"/>
                </a:lnTo>
                <a:lnTo>
                  <a:pt x="373625" y="315865"/>
                </a:lnTo>
                <a:lnTo>
                  <a:pt x="377967" y="259280"/>
                </a:lnTo>
                <a:lnTo>
                  <a:pt x="377967" y="0"/>
                </a:lnTo>
                <a:close/>
              </a:path>
            </a:pathLst>
          </a:custGeom>
          <a:solidFill>
            <a:srgbClr val="000000"/>
          </a:solidFill>
        </p:spPr>
        <p:txBody>
          <a:bodyPr wrap="square" lIns="0" tIns="0" rIns="0" bIns="0" rtlCol="0"/>
          <a:lstStyle/>
          <a:p>
            <a:endParaRPr/>
          </a:p>
        </p:txBody>
      </p:sp>
      <p:grpSp>
        <p:nvGrpSpPr>
          <p:cNvPr id="13" name="object 4">
            <a:extLst>
              <a:ext uri="{FF2B5EF4-FFF2-40B4-BE49-F238E27FC236}">
                <a16:creationId xmlns:a16="http://schemas.microsoft.com/office/drawing/2014/main" id="{A2800012-DA06-CF45-A47A-D4B30EA37B75}"/>
              </a:ext>
            </a:extLst>
          </p:cNvPr>
          <p:cNvGrpSpPr/>
          <p:nvPr userDrawn="1"/>
        </p:nvGrpSpPr>
        <p:grpSpPr>
          <a:xfrm>
            <a:off x="2842727" y="10117702"/>
            <a:ext cx="427355" cy="597535"/>
            <a:chOff x="2842727" y="10117702"/>
            <a:chExt cx="427355" cy="597535"/>
          </a:xfrm>
        </p:grpSpPr>
        <p:sp>
          <p:nvSpPr>
            <p:cNvPr id="14" name="object 5">
              <a:extLst>
                <a:ext uri="{FF2B5EF4-FFF2-40B4-BE49-F238E27FC236}">
                  <a16:creationId xmlns:a16="http://schemas.microsoft.com/office/drawing/2014/main" id="{039AC548-D805-B546-AF98-3B421C054969}"/>
                </a:ext>
              </a:extLst>
            </p:cNvPr>
            <p:cNvSpPr/>
            <p:nvPr/>
          </p:nvSpPr>
          <p:spPr>
            <a:xfrm>
              <a:off x="2842727" y="10237764"/>
              <a:ext cx="366395" cy="477520"/>
            </a:xfrm>
            <a:custGeom>
              <a:avLst/>
              <a:gdLst/>
              <a:ahLst/>
              <a:cxnLst/>
              <a:rect l="l" t="t" r="r" b="b"/>
              <a:pathLst>
                <a:path w="366394" h="477520">
                  <a:moveTo>
                    <a:pt x="252421" y="0"/>
                  </a:moveTo>
                  <a:lnTo>
                    <a:pt x="206913" y="3226"/>
                  </a:lnTo>
                  <a:lnTo>
                    <a:pt x="164136" y="12810"/>
                  </a:lnTo>
                  <a:lnTo>
                    <a:pt x="124791" y="28603"/>
                  </a:lnTo>
                  <a:lnTo>
                    <a:pt x="89578" y="50459"/>
                  </a:lnTo>
                  <a:lnTo>
                    <a:pt x="59197" y="78232"/>
                  </a:lnTo>
                  <a:lnTo>
                    <a:pt x="34348" y="111776"/>
                  </a:lnTo>
                  <a:lnTo>
                    <a:pt x="15732" y="150943"/>
                  </a:lnTo>
                  <a:lnTo>
                    <a:pt x="4049" y="195587"/>
                  </a:lnTo>
                  <a:lnTo>
                    <a:pt x="0" y="245563"/>
                  </a:lnTo>
                  <a:lnTo>
                    <a:pt x="3849" y="293331"/>
                  </a:lnTo>
                  <a:lnTo>
                    <a:pt x="15359" y="337340"/>
                  </a:lnTo>
                  <a:lnTo>
                    <a:pt x="34475" y="376785"/>
                  </a:lnTo>
                  <a:lnTo>
                    <a:pt x="61138" y="410861"/>
                  </a:lnTo>
                  <a:lnTo>
                    <a:pt x="95292" y="438765"/>
                  </a:lnTo>
                  <a:lnTo>
                    <a:pt x="136882" y="459692"/>
                  </a:lnTo>
                  <a:lnTo>
                    <a:pt x="185849" y="472838"/>
                  </a:lnTo>
                  <a:lnTo>
                    <a:pt x="242139" y="477399"/>
                  </a:lnTo>
                  <a:lnTo>
                    <a:pt x="281711" y="475535"/>
                  </a:lnTo>
                  <a:lnTo>
                    <a:pt x="315367" y="470716"/>
                  </a:lnTo>
                  <a:lnTo>
                    <a:pt x="342072" y="464093"/>
                  </a:lnTo>
                  <a:lnTo>
                    <a:pt x="360795" y="456823"/>
                  </a:lnTo>
                  <a:lnTo>
                    <a:pt x="345036" y="375213"/>
                  </a:lnTo>
                  <a:lnTo>
                    <a:pt x="327174" y="381031"/>
                  </a:lnTo>
                  <a:lnTo>
                    <a:pt x="305583" y="385825"/>
                  </a:lnTo>
                  <a:lnTo>
                    <a:pt x="281936" y="389081"/>
                  </a:lnTo>
                  <a:lnTo>
                    <a:pt x="257908" y="390281"/>
                  </a:lnTo>
                  <a:lnTo>
                    <a:pt x="206680" y="383477"/>
                  </a:lnTo>
                  <a:lnTo>
                    <a:pt x="165463" y="363832"/>
                  </a:lnTo>
                  <a:lnTo>
                    <a:pt x="135046" y="332499"/>
                  </a:lnTo>
                  <a:lnTo>
                    <a:pt x="116217" y="290629"/>
                  </a:lnTo>
                  <a:lnTo>
                    <a:pt x="109766" y="239374"/>
                  </a:lnTo>
                  <a:lnTo>
                    <a:pt x="117134" y="183960"/>
                  </a:lnTo>
                  <a:lnTo>
                    <a:pt x="137767" y="141083"/>
                  </a:lnTo>
                  <a:lnTo>
                    <a:pt x="169464" y="110615"/>
                  </a:lnTo>
                  <a:lnTo>
                    <a:pt x="210018" y="92429"/>
                  </a:lnTo>
                  <a:lnTo>
                    <a:pt x="257227" y="86395"/>
                  </a:lnTo>
                  <a:lnTo>
                    <a:pt x="283580" y="87824"/>
                  </a:lnTo>
                  <a:lnTo>
                    <a:pt x="307041" y="91638"/>
                  </a:lnTo>
                  <a:lnTo>
                    <a:pt x="327548" y="97129"/>
                  </a:lnTo>
                  <a:lnTo>
                    <a:pt x="345036" y="103588"/>
                  </a:lnTo>
                  <a:lnTo>
                    <a:pt x="366302" y="20575"/>
                  </a:lnTo>
                  <a:lnTo>
                    <a:pt x="348314" y="13309"/>
                  </a:lnTo>
                  <a:lnTo>
                    <a:pt x="322736" y="6686"/>
                  </a:lnTo>
                  <a:lnTo>
                    <a:pt x="290470" y="1864"/>
                  </a:lnTo>
                  <a:lnTo>
                    <a:pt x="252421" y="0"/>
                  </a:lnTo>
                  <a:close/>
                </a:path>
              </a:pathLst>
            </a:custGeom>
            <a:solidFill>
              <a:srgbClr val="000000"/>
            </a:solidFill>
          </p:spPr>
          <p:txBody>
            <a:bodyPr wrap="square" lIns="0" tIns="0" rIns="0" bIns="0" rtlCol="0"/>
            <a:lstStyle/>
            <a:p>
              <a:endParaRPr/>
            </a:p>
          </p:txBody>
        </p:sp>
        <p:pic>
          <p:nvPicPr>
            <p:cNvPr id="15" name="object 6">
              <a:extLst>
                <a:ext uri="{FF2B5EF4-FFF2-40B4-BE49-F238E27FC236}">
                  <a16:creationId xmlns:a16="http://schemas.microsoft.com/office/drawing/2014/main" id="{DAA5A1C9-3FFD-F741-93B2-F1CDA55129CC}"/>
                </a:ext>
              </a:extLst>
            </p:cNvPr>
            <p:cNvPicPr/>
            <p:nvPr/>
          </p:nvPicPr>
          <p:blipFill>
            <a:blip r:embed="rId2" cstate="email">
              <a:extLst>
                <a:ext uri="{28A0092B-C50C-407E-A947-70E740481C1C}">
                  <a14:useLocalDpi xmlns:a14="http://schemas.microsoft.com/office/drawing/2010/main"/>
                </a:ext>
              </a:extLst>
            </a:blip>
            <a:stretch>
              <a:fillRect/>
            </a:stretch>
          </p:blipFill>
          <p:spPr>
            <a:xfrm>
              <a:off x="3157442" y="10117702"/>
              <a:ext cx="112300" cy="112268"/>
            </a:xfrm>
            <a:prstGeom prst="rect">
              <a:avLst/>
            </a:prstGeom>
          </p:spPr>
        </p:pic>
      </p:grpSp>
      <p:sp>
        <p:nvSpPr>
          <p:cNvPr id="16" name="object 7">
            <a:extLst>
              <a:ext uri="{FF2B5EF4-FFF2-40B4-BE49-F238E27FC236}">
                <a16:creationId xmlns:a16="http://schemas.microsoft.com/office/drawing/2014/main" id="{2AF2BE2F-4D9A-CF4D-AF78-BAD6CC1B2837}"/>
              </a:ext>
            </a:extLst>
          </p:cNvPr>
          <p:cNvSpPr/>
          <p:nvPr userDrawn="1"/>
        </p:nvSpPr>
        <p:spPr>
          <a:xfrm>
            <a:off x="17840597" y="656116"/>
            <a:ext cx="2243455" cy="1060450"/>
          </a:xfrm>
          <a:custGeom>
            <a:avLst/>
            <a:gdLst/>
            <a:ahLst/>
            <a:cxnLst/>
            <a:rect l="l" t="t" r="r" b="b"/>
            <a:pathLst>
              <a:path w="2243455" h="1060450">
                <a:moveTo>
                  <a:pt x="2243429" y="0"/>
                </a:moveTo>
                <a:lnTo>
                  <a:pt x="0" y="0"/>
                </a:lnTo>
                <a:lnTo>
                  <a:pt x="0" y="1059999"/>
                </a:lnTo>
                <a:lnTo>
                  <a:pt x="2243429" y="1059999"/>
                </a:lnTo>
                <a:lnTo>
                  <a:pt x="2243429" y="0"/>
                </a:lnTo>
                <a:close/>
              </a:path>
            </a:pathLst>
          </a:custGeom>
          <a:solidFill>
            <a:srgbClr val="257CE1"/>
          </a:solidFill>
        </p:spPr>
        <p:txBody>
          <a:bodyPr wrap="square" lIns="0" tIns="0" rIns="0" bIns="0" rtlCol="0"/>
          <a:lstStyle/>
          <a:p>
            <a:endParaRPr/>
          </a:p>
        </p:txBody>
      </p:sp>
      <p:sp>
        <p:nvSpPr>
          <p:cNvPr id="18" name="Marcador de texto 17">
            <a:extLst>
              <a:ext uri="{FF2B5EF4-FFF2-40B4-BE49-F238E27FC236}">
                <a16:creationId xmlns:a16="http://schemas.microsoft.com/office/drawing/2014/main" id="{E6AC5AA0-C4FD-A742-898F-2F81DD6B4DF8}"/>
              </a:ext>
            </a:extLst>
          </p:cNvPr>
          <p:cNvSpPr>
            <a:spLocks noGrp="1"/>
          </p:cNvSpPr>
          <p:nvPr>
            <p:ph type="body" sz="quarter" idx="10"/>
          </p:nvPr>
        </p:nvSpPr>
        <p:spPr>
          <a:xfrm>
            <a:off x="727227" y="755454"/>
            <a:ext cx="16792423" cy="738664"/>
          </a:xfrm>
        </p:spPr>
        <p:txBody>
          <a:bodyPr/>
          <a:lstStyle>
            <a:lvl1pPr algn="r">
              <a:defRPr sz="4800" b="1">
                <a:latin typeface="Arial" panose="020B0604020202020204" pitchFamily="34" charset="0"/>
                <a:cs typeface="Arial" panose="020B0604020202020204" pitchFamily="34" charset="0"/>
              </a:defRPr>
            </a:lvl1pPr>
          </a:lstStyle>
          <a:p>
            <a:r>
              <a:rPr lang="es-ES" dirty="0"/>
              <a:t>Editar los estilos de texto del patrón</a:t>
            </a:r>
            <a:endParaRPr lang="es-CL"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20" name="Imagen 19">
            <a:extLst>
              <a:ext uri="{FF2B5EF4-FFF2-40B4-BE49-F238E27FC236}">
                <a16:creationId xmlns:a16="http://schemas.microsoft.com/office/drawing/2014/main" id="{293DC4AC-3CD1-B728-F1D4-9297A3D9EA4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pic>
        <p:nvPicPr>
          <p:cNvPr id="22" name="Imagen 21">
            <a:extLst>
              <a:ext uri="{FF2B5EF4-FFF2-40B4-BE49-F238E27FC236}">
                <a16:creationId xmlns:a16="http://schemas.microsoft.com/office/drawing/2014/main" id="{75BA927C-DF3C-76F9-F858-D08E957A4C0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3340"/>
            <a:ext cx="20109342" cy="11305614"/>
          </a:xfrm>
          <a:prstGeom prst="rect">
            <a:avLst/>
          </a:prstGeom>
        </p:spPr>
      </p:pic>
      <p:sp>
        <p:nvSpPr>
          <p:cNvPr id="23" name="Rectángulo 22">
            <a:extLst>
              <a:ext uri="{FF2B5EF4-FFF2-40B4-BE49-F238E27FC236}">
                <a16:creationId xmlns:a16="http://schemas.microsoft.com/office/drawing/2014/main" id="{B6946770-F426-2FD2-6657-14F29D5A8E25}"/>
              </a:ext>
            </a:extLst>
          </p:cNvPr>
          <p:cNvSpPr/>
          <p:nvPr userDrawn="1"/>
        </p:nvSpPr>
        <p:spPr>
          <a:xfrm>
            <a:off x="755650" y="6264275"/>
            <a:ext cx="9892434" cy="2286000"/>
          </a:xfrm>
          <a:prstGeom prst="rect">
            <a:avLst/>
          </a:prstGeom>
          <a:solidFill>
            <a:schemeClr val="tx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24" name="Título 1">
            <a:extLst>
              <a:ext uri="{FF2B5EF4-FFF2-40B4-BE49-F238E27FC236}">
                <a16:creationId xmlns:a16="http://schemas.microsoft.com/office/drawing/2014/main" id="{38E6F079-F9D6-8270-ADE8-DE597BD21FFF}"/>
              </a:ext>
            </a:extLst>
          </p:cNvPr>
          <p:cNvSpPr>
            <a:spLocks noGrp="1"/>
          </p:cNvSpPr>
          <p:nvPr>
            <p:ph type="title"/>
          </p:nvPr>
        </p:nvSpPr>
        <p:spPr>
          <a:xfrm>
            <a:off x="1184428" y="6591401"/>
            <a:ext cx="9020022" cy="1538883"/>
          </a:xfrm>
        </p:spPr>
        <p:txBody>
          <a:bodyPr/>
          <a:lstStyle>
            <a:lvl1pPr algn="l">
              <a:defRPr sz="5000">
                <a:solidFill>
                  <a:srgbClr val="257CE1"/>
                </a:solidFill>
              </a:defRPr>
            </a:lvl1pPr>
          </a:lstStyle>
          <a:p>
            <a:r>
              <a:rPr lang="es-ES" dirty="0"/>
              <a:t>Haga clic para modificar el estilo de título del patrón</a:t>
            </a:r>
            <a:endParaRPr lang="es-CL"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pic>
        <p:nvPicPr>
          <p:cNvPr id="19" name="Imagen 18">
            <a:extLst>
              <a:ext uri="{FF2B5EF4-FFF2-40B4-BE49-F238E27FC236}">
                <a16:creationId xmlns:a16="http://schemas.microsoft.com/office/drawing/2014/main" id="{CC49A5DC-7F63-7053-BF30-9BEB915A861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pic>
        <p:nvPicPr>
          <p:cNvPr id="23" name="Imagen 22">
            <a:extLst>
              <a:ext uri="{FF2B5EF4-FFF2-40B4-BE49-F238E27FC236}">
                <a16:creationId xmlns:a16="http://schemas.microsoft.com/office/drawing/2014/main" id="{97E369C9-9696-52E0-3D5A-4A3A83A9C22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24" name="Rectángulo 23">
            <a:extLst>
              <a:ext uri="{FF2B5EF4-FFF2-40B4-BE49-F238E27FC236}">
                <a16:creationId xmlns:a16="http://schemas.microsoft.com/office/drawing/2014/main" id="{EDE5CBD5-32E9-715D-214E-87F7F64407EA}"/>
              </a:ext>
            </a:extLst>
          </p:cNvPr>
          <p:cNvSpPr/>
          <p:nvPr userDrawn="1"/>
        </p:nvSpPr>
        <p:spPr>
          <a:xfrm>
            <a:off x="7004050" y="7331075"/>
            <a:ext cx="9892434" cy="2286000"/>
          </a:xfrm>
          <a:prstGeom prst="rect">
            <a:avLst/>
          </a:prstGeom>
          <a:solidFill>
            <a:schemeClr val="tx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25" name="Título 1">
            <a:extLst>
              <a:ext uri="{FF2B5EF4-FFF2-40B4-BE49-F238E27FC236}">
                <a16:creationId xmlns:a16="http://schemas.microsoft.com/office/drawing/2014/main" id="{FA2B3E84-593C-1926-74EE-AA7B31F62D0D}"/>
              </a:ext>
            </a:extLst>
          </p:cNvPr>
          <p:cNvSpPr>
            <a:spLocks noGrp="1"/>
          </p:cNvSpPr>
          <p:nvPr>
            <p:ph type="title"/>
          </p:nvPr>
        </p:nvSpPr>
        <p:spPr>
          <a:xfrm>
            <a:off x="7432828" y="7658201"/>
            <a:ext cx="9020022" cy="1538883"/>
          </a:xfrm>
        </p:spPr>
        <p:txBody>
          <a:bodyPr/>
          <a:lstStyle>
            <a:lvl1pPr algn="l">
              <a:defRPr sz="5000">
                <a:solidFill>
                  <a:srgbClr val="257CE1"/>
                </a:solidFill>
              </a:defRPr>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16545789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2212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2707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2314421" y="714594"/>
            <a:ext cx="5259705" cy="915669"/>
          </a:xfrm>
          <a:prstGeom prst="rect">
            <a:avLst/>
          </a:prstGeom>
        </p:spPr>
        <p:txBody>
          <a:bodyPr wrap="square" lIns="0" tIns="0" rIns="0" bIns="0">
            <a:spAutoFit/>
          </a:bodyPr>
          <a:lstStyle>
            <a:lvl1pPr>
              <a:defRPr sz="5800" b="1" i="0">
                <a:solidFill>
                  <a:schemeClr val="tx1"/>
                </a:solidFill>
                <a:latin typeface="Arial"/>
                <a:cs typeface="Arial"/>
              </a:defRPr>
            </a:lvl1pPr>
          </a:lstStyle>
          <a:p>
            <a:endParaRPr/>
          </a:p>
        </p:txBody>
      </p:sp>
      <p:sp>
        <p:nvSpPr>
          <p:cNvPr id="3" name="Holder 3"/>
          <p:cNvSpPr>
            <a:spLocks noGrp="1"/>
          </p:cNvSpPr>
          <p:nvPr>
            <p:ph type="body" idx="1"/>
          </p:nvPr>
        </p:nvSpPr>
        <p:spPr>
          <a:xfrm>
            <a:off x="1005205" y="2601150"/>
            <a:ext cx="18093690" cy="7464171"/>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6835394" y="10517696"/>
            <a:ext cx="6433312" cy="56546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1005205" y="10517696"/>
            <a:ext cx="4623943" cy="56546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11/26/2023</a:t>
            </a:fld>
            <a:endParaRPr lang="en-US"/>
          </a:p>
        </p:txBody>
      </p:sp>
      <p:sp>
        <p:nvSpPr>
          <p:cNvPr id="6" name="Holder 6"/>
          <p:cNvSpPr>
            <a:spLocks noGrp="1"/>
          </p:cNvSpPr>
          <p:nvPr>
            <p:ph type="sldNum" sz="quarter" idx="7"/>
          </p:nvPr>
        </p:nvSpPr>
        <p:spPr>
          <a:xfrm>
            <a:off x="14474953" y="10517696"/>
            <a:ext cx="4623943" cy="56546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72" r:id="rId2"/>
    <p:sldLayoutId id="2147483662" r:id="rId3"/>
    <p:sldLayoutId id="2147483669" r:id="rId4"/>
    <p:sldLayoutId id="2147483664" r:id="rId5"/>
    <p:sldLayoutId id="2147483670" r:id="rId6"/>
    <p:sldLayoutId id="2147483677" r:id="rId7"/>
    <p:sldLayoutId id="2147483666" r:id="rId8"/>
    <p:sldLayoutId id="2147483665" r:id="rId9"/>
    <p:sldLayoutId id="2147483663" r:id="rId10"/>
    <p:sldLayoutId id="2147483673" r:id="rId11"/>
    <p:sldLayoutId id="2147483671" r:id="rId12"/>
    <p:sldLayoutId id="2147483678" r:id="rId13"/>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70841C-0ACF-DE6F-43AC-3E3396A2923B}"/>
              </a:ext>
            </a:extLst>
          </p:cNvPr>
          <p:cNvSpPr>
            <a:spLocks noGrp="1"/>
          </p:cNvSpPr>
          <p:nvPr>
            <p:ph type="ctrTitle"/>
          </p:nvPr>
        </p:nvSpPr>
        <p:spPr>
          <a:xfrm>
            <a:off x="2889250" y="8169275"/>
            <a:ext cx="8749511" cy="1169551"/>
          </a:xfrm>
        </p:spPr>
        <p:txBody>
          <a:bodyPr/>
          <a:lstStyle/>
          <a:p>
            <a:r>
              <a:rPr lang="es-CL" spc="-10" dirty="0"/>
              <a:t>MODELOS ESTADÍSTICOS</a:t>
            </a:r>
            <a:br>
              <a:rPr lang="es-CL" sz="3800" spc="-10" dirty="0"/>
            </a:br>
            <a:r>
              <a:rPr lang="es-CL" spc="-10" dirty="0"/>
              <a:t>PARAMÉTRICOS (REGRESIÓN)</a:t>
            </a:r>
            <a:endParaRPr lang="es-CL" sz="3800" dirty="0"/>
          </a:p>
        </p:txBody>
      </p:sp>
      <p:sp>
        <p:nvSpPr>
          <p:cNvPr id="3" name="Subtítulo 2">
            <a:extLst>
              <a:ext uri="{FF2B5EF4-FFF2-40B4-BE49-F238E27FC236}">
                <a16:creationId xmlns:a16="http://schemas.microsoft.com/office/drawing/2014/main" id="{B839BAB8-5980-04D6-9003-ABBE79FC69B7}"/>
              </a:ext>
            </a:extLst>
          </p:cNvPr>
          <p:cNvSpPr>
            <a:spLocks noGrp="1"/>
          </p:cNvSpPr>
          <p:nvPr>
            <p:ph type="subTitle" idx="4"/>
          </p:nvPr>
        </p:nvSpPr>
        <p:spPr>
          <a:xfrm>
            <a:off x="2926080" y="9554269"/>
            <a:ext cx="8712681" cy="369332"/>
          </a:xfrm>
        </p:spPr>
        <p:txBody>
          <a:bodyPr/>
          <a:lstStyle/>
          <a:p>
            <a:r>
              <a:rPr lang="es-CL" dirty="0">
                <a:latin typeface="Arial"/>
                <a:cs typeface="Arial"/>
              </a:rPr>
              <a:t>BIY7121 MINERÍA DE DATOS</a:t>
            </a:r>
            <a:endParaRPr lang="es-CL" sz="2400" dirty="0">
              <a:latin typeface="Arial"/>
              <a:cs typeface="Arial"/>
            </a:endParaRPr>
          </a:p>
        </p:txBody>
      </p:sp>
    </p:spTree>
    <p:extLst>
      <p:ext uri="{BB962C8B-B14F-4D97-AF65-F5344CB8AC3E}">
        <p14:creationId xmlns:p14="http://schemas.microsoft.com/office/powerpoint/2010/main" val="3642932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FFB337F0-2FCC-924F-952C-07C673B763B0}"/>
              </a:ext>
            </a:extLst>
          </p:cNvPr>
          <p:cNvSpPr/>
          <p:nvPr/>
        </p:nvSpPr>
        <p:spPr>
          <a:xfrm>
            <a:off x="9518650" y="2378075"/>
            <a:ext cx="5357557" cy="1015663"/>
          </a:xfrm>
          <a:prstGeom prst="rect">
            <a:avLst/>
          </a:prstGeom>
        </p:spPr>
        <p:txBody>
          <a:bodyPr wrap="none">
            <a:spAutoFit/>
          </a:bodyPr>
          <a:lstStyle/>
          <a:p>
            <a:r>
              <a:rPr lang="es-CL" sz="6000" b="1" dirty="0">
                <a:latin typeface="Arial Black" panose="020B0604020202020204" pitchFamily="34" charset="0"/>
                <a:cs typeface="Arial Black" panose="020B0604020202020204" pitchFamily="34" charset="0"/>
              </a:rPr>
              <a:t>CONTENIDO</a:t>
            </a:r>
          </a:p>
        </p:txBody>
      </p:sp>
      <p:sp>
        <p:nvSpPr>
          <p:cNvPr id="9" name="Título 1">
            <a:extLst>
              <a:ext uri="{FF2B5EF4-FFF2-40B4-BE49-F238E27FC236}">
                <a16:creationId xmlns:a16="http://schemas.microsoft.com/office/drawing/2014/main" id="{8A3E674A-F038-D144-A91A-8FBF8FFE0F11}"/>
              </a:ext>
            </a:extLst>
          </p:cNvPr>
          <p:cNvSpPr txBox="1">
            <a:spLocks/>
          </p:cNvSpPr>
          <p:nvPr/>
        </p:nvSpPr>
        <p:spPr>
          <a:xfrm>
            <a:off x="9518650" y="4020489"/>
            <a:ext cx="1066800"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6000" dirty="0">
                <a:latin typeface="Arial Black" panose="020B0604020202020204" pitchFamily="34" charset="0"/>
                <a:cs typeface="Arial Black" panose="020B0604020202020204" pitchFamily="34" charset="0"/>
              </a:rPr>
              <a:t>01</a:t>
            </a:r>
          </a:p>
        </p:txBody>
      </p:sp>
      <p:sp>
        <p:nvSpPr>
          <p:cNvPr id="12" name="Título 1">
            <a:extLst>
              <a:ext uri="{FF2B5EF4-FFF2-40B4-BE49-F238E27FC236}">
                <a16:creationId xmlns:a16="http://schemas.microsoft.com/office/drawing/2014/main" id="{BB375BB0-38DE-5947-A049-E37CBB392147}"/>
              </a:ext>
            </a:extLst>
          </p:cNvPr>
          <p:cNvSpPr txBox="1">
            <a:spLocks/>
          </p:cNvSpPr>
          <p:nvPr/>
        </p:nvSpPr>
        <p:spPr>
          <a:xfrm>
            <a:off x="9617262" y="7026177"/>
            <a:ext cx="4579097"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3000" dirty="0"/>
              <a:t>MODELOS DE REGRESIÓN LINEAL</a:t>
            </a:r>
          </a:p>
        </p:txBody>
      </p:sp>
      <p:sp>
        <p:nvSpPr>
          <p:cNvPr id="14" name="Título 1">
            <a:extLst>
              <a:ext uri="{FF2B5EF4-FFF2-40B4-BE49-F238E27FC236}">
                <a16:creationId xmlns:a16="http://schemas.microsoft.com/office/drawing/2014/main" id="{D2775DA9-AA36-2B46-A647-A78656981246}"/>
              </a:ext>
            </a:extLst>
          </p:cNvPr>
          <p:cNvSpPr txBox="1">
            <a:spLocks/>
          </p:cNvSpPr>
          <p:nvPr/>
        </p:nvSpPr>
        <p:spPr>
          <a:xfrm>
            <a:off x="9518650" y="6264177"/>
            <a:ext cx="1066800"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6000" dirty="0">
                <a:latin typeface="Arial Black" panose="020B0604020202020204" pitchFamily="34" charset="0"/>
                <a:cs typeface="Arial Black" panose="020B0604020202020204" pitchFamily="34" charset="0"/>
              </a:rPr>
              <a:t>02</a:t>
            </a:r>
          </a:p>
        </p:txBody>
      </p:sp>
      <p:sp>
        <p:nvSpPr>
          <p:cNvPr id="16" name="Título 1">
            <a:extLst>
              <a:ext uri="{FF2B5EF4-FFF2-40B4-BE49-F238E27FC236}">
                <a16:creationId xmlns:a16="http://schemas.microsoft.com/office/drawing/2014/main" id="{5AD2299A-27D1-AA45-A043-C0D64B734853}"/>
              </a:ext>
            </a:extLst>
          </p:cNvPr>
          <p:cNvSpPr txBox="1">
            <a:spLocks/>
          </p:cNvSpPr>
          <p:nvPr/>
        </p:nvSpPr>
        <p:spPr>
          <a:xfrm>
            <a:off x="9617262" y="9194781"/>
            <a:ext cx="4165973"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3000" dirty="0"/>
              <a:t>ERROR</a:t>
            </a:r>
          </a:p>
          <a:p>
            <a:pPr algn="l"/>
            <a:r>
              <a:rPr lang="es-CL" sz="3000" dirty="0"/>
              <a:t>CUADRATICO MEDIO</a:t>
            </a:r>
          </a:p>
        </p:txBody>
      </p:sp>
      <p:sp>
        <p:nvSpPr>
          <p:cNvPr id="18" name="Título 1">
            <a:extLst>
              <a:ext uri="{FF2B5EF4-FFF2-40B4-BE49-F238E27FC236}">
                <a16:creationId xmlns:a16="http://schemas.microsoft.com/office/drawing/2014/main" id="{5FEE1E9F-D6A8-614C-BB95-3AFA463327D0}"/>
              </a:ext>
            </a:extLst>
          </p:cNvPr>
          <p:cNvSpPr txBox="1">
            <a:spLocks/>
          </p:cNvSpPr>
          <p:nvPr/>
        </p:nvSpPr>
        <p:spPr>
          <a:xfrm>
            <a:off x="9617262" y="8432781"/>
            <a:ext cx="1066800"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6000" dirty="0">
                <a:latin typeface="Arial Black" panose="020B0604020202020204" pitchFamily="34" charset="0"/>
                <a:cs typeface="Arial Black" panose="020B0604020202020204" pitchFamily="34" charset="0"/>
              </a:rPr>
              <a:t>03</a:t>
            </a:r>
          </a:p>
        </p:txBody>
      </p:sp>
      <p:sp>
        <p:nvSpPr>
          <p:cNvPr id="21" name="Título 1">
            <a:extLst>
              <a:ext uri="{FF2B5EF4-FFF2-40B4-BE49-F238E27FC236}">
                <a16:creationId xmlns:a16="http://schemas.microsoft.com/office/drawing/2014/main" id="{325E44F9-8B81-FD43-8DCF-00283585DD6D}"/>
              </a:ext>
            </a:extLst>
          </p:cNvPr>
          <p:cNvSpPr txBox="1">
            <a:spLocks/>
          </p:cNvSpPr>
          <p:nvPr/>
        </p:nvSpPr>
        <p:spPr>
          <a:xfrm>
            <a:off x="9617262" y="4782488"/>
            <a:ext cx="4579097" cy="461665"/>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3000" dirty="0"/>
              <a:t>INTRODUCCION</a:t>
            </a:r>
          </a:p>
        </p:txBody>
      </p:sp>
      <p:sp>
        <p:nvSpPr>
          <p:cNvPr id="2" name="Título 1">
            <a:extLst>
              <a:ext uri="{FF2B5EF4-FFF2-40B4-BE49-F238E27FC236}">
                <a16:creationId xmlns:a16="http://schemas.microsoft.com/office/drawing/2014/main" id="{7EFE992D-1CA3-14C0-F902-6542723FD1C3}"/>
              </a:ext>
            </a:extLst>
          </p:cNvPr>
          <p:cNvSpPr txBox="1">
            <a:spLocks/>
          </p:cNvSpPr>
          <p:nvPr/>
        </p:nvSpPr>
        <p:spPr>
          <a:xfrm>
            <a:off x="14876207" y="4859339"/>
            <a:ext cx="4728882" cy="461665"/>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3000" dirty="0"/>
              <a:t>RESUMEN</a:t>
            </a:r>
          </a:p>
        </p:txBody>
      </p:sp>
      <p:sp>
        <p:nvSpPr>
          <p:cNvPr id="4" name="Título 1">
            <a:extLst>
              <a:ext uri="{FF2B5EF4-FFF2-40B4-BE49-F238E27FC236}">
                <a16:creationId xmlns:a16="http://schemas.microsoft.com/office/drawing/2014/main" id="{47002DBB-23A6-9BA0-FF76-8B2A5E9F6159}"/>
              </a:ext>
            </a:extLst>
          </p:cNvPr>
          <p:cNvSpPr txBox="1">
            <a:spLocks/>
          </p:cNvSpPr>
          <p:nvPr/>
        </p:nvSpPr>
        <p:spPr>
          <a:xfrm>
            <a:off x="14656174" y="4020489"/>
            <a:ext cx="1066800"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6000" dirty="0">
                <a:latin typeface="Arial Black" panose="020B0604020202020204" pitchFamily="34" charset="0"/>
                <a:cs typeface="Arial Black" panose="020B0604020202020204" pitchFamily="34" charset="0"/>
              </a:rPr>
              <a:t>04</a:t>
            </a:r>
          </a:p>
        </p:txBody>
      </p:sp>
    </p:spTree>
    <p:extLst>
      <p:ext uri="{BB962C8B-B14F-4D97-AF65-F5344CB8AC3E}">
        <p14:creationId xmlns:p14="http://schemas.microsoft.com/office/powerpoint/2010/main" val="3979444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87A9F761-F66D-564C-A85F-5D24B1E7B998}"/>
              </a:ext>
            </a:extLst>
          </p:cNvPr>
          <p:cNvSpPr>
            <a:spLocks noGrp="1"/>
          </p:cNvSpPr>
          <p:nvPr>
            <p:ph type="title"/>
          </p:nvPr>
        </p:nvSpPr>
        <p:spPr>
          <a:xfrm>
            <a:off x="4413250" y="7559675"/>
            <a:ext cx="10134600" cy="1015663"/>
          </a:xfrm>
        </p:spPr>
        <p:txBody>
          <a:bodyPr/>
          <a:lstStyle/>
          <a:p>
            <a:pPr algn="r"/>
            <a:r>
              <a:rPr lang="es-CL" sz="6600" dirty="0"/>
              <a:t>INTRODUCCIÓN</a:t>
            </a:r>
          </a:p>
        </p:txBody>
      </p:sp>
      <p:sp>
        <p:nvSpPr>
          <p:cNvPr id="4" name="Título 1">
            <a:extLst>
              <a:ext uri="{FF2B5EF4-FFF2-40B4-BE49-F238E27FC236}">
                <a16:creationId xmlns:a16="http://schemas.microsoft.com/office/drawing/2014/main" id="{DC622BE7-4A49-A749-B2F2-EA3AD97A1AEF}"/>
              </a:ext>
            </a:extLst>
          </p:cNvPr>
          <p:cNvSpPr txBox="1">
            <a:spLocks/>
          </p:cNvSpPr>
          <p:nvPr/>
        </p:nvSpPr>
        <p:spPr>
          <a:xfrm>
            <a:off x="12677531" y="6082347"/>
            <a:ext cx="1905000" cy="147732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r"/>
            <a:r>
              <a:rPr lang="es-CL" sz="9600" dirty="0">
                <a:latin typeface="Arial Black" panose="020B0604020202020204" pitchFamily="34" charset="0"/>
                <a:cs typeface="Arial Black" panose="020B0604020202020204" pitchFamily="34" charset="0"/>
              </a:rPr>
              <a:t>01</a:t>
            </a:r>
          </a:p>
        </p:txBody>
      </p:sp>
    </p:spTree>
    <p:extLst>
      <p:ext uri="{BB962C8B-B14F-4D97-AF65-F5344CB8AC3E}">
        <p14:creationId xmlns:p14="http://schemas.microsoft.com/office/powerpoint/2010/main" val="31175710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lstStyle/>
          <a:p>
            <a:r>
              <a:rPr lang="es-CL" dirty="0"/>
              <a:t>INTRODUCCIÓN</a:t>
            </a:r>
          </a:p>
        </p:txBody>
      </p:sp>
      <p:sp>
        <p:nvSpPr>
          <p:cNvPr id="3" name="CuadroTexto 2">
            <a:extLst>
              <a:ext uri="{FF2B5EF4-FFF2-40B4-BE49-F238E27FC236}">
                <a16:creationId xmlns:a16="http://schemas.microsoft.com/office/drawing/2014/main" id="{8F4D9069-61BC-606E-6D98-4D82B593F24F}"/>
              </a:ext>
            </a:extLst>
          </p:cNvPr>
          <p:cNvSpPr txBox="1"/>
          <p:nvPr/>
        </p:nvSpPr>
        <p:spPr>
          <a:xfrm>
            <a:off x="2279650" y="2682875"/>
            <a:ext cx="8915400" cy="6124754"/>
          </a:xfrm>
          <a:prstGeom prst="rect">
            <a:avLst/>
          </a:prstGeom>
          <a:noFill/>
        </p:spPr>
        <p:txBody>
          <a:bodyPr wrap="square" rtlCol="0">
            <a:spAutoFit/>
          </a:bodyPr>
          <a:lstStyle/>
          <a:p>
            <a:pPr algn="just"/>
            <a:r>
              <a:rPr lang="es-ES" sz="2800" dirty="0"/>
              <a:t>El objetivo de la modelización estadística consiste en </a:t>
            </a:r>
            <a:r>
              <a:rPr lang="es-ES" sz="2800" dirty="0">
                <a:solidFill>
                  <a:srgbClr val="FF0000"/>
                </a:solidFill>
              </a:rPr>
              <a:t>explicar el comportamiento de una variable a partir del conocimiento de otras</a:t>
            </a:r>
            <a:r>
              <a:rPr lang="es-ES" sz="2800" dirty="0"/>
              <a:t>.</a:t>
            </a:r>
          </a:p>
          <a:p>
            <a:pPr algn="l"/>
            <a:endParaRPr lang="es-ES" sz="2800" dirty="0"/>
          </a:p>
          <a:p>
            <a:pPr algn="just"/>
            <a:r>
              <a:rPr lang="es-ES" sz="2800" dirty="0"/>
              <a:t>Por ejemplo, el saldo total bancario de las personas de una cierta edad, con un mismo nivel profesional y residiendo en el mismo distrito no es igual para todos ellos sino que sigue una cierta distribución, pero no hay duda de que si sabemos la edad de una persona, su nivel profesional y su distrito de </a:t>
            </a:r>
            <a:r>
              <a:rPr lang="es-CL" sz="2800" dirty="0"/>
              <a:t>residencia  podremos aproximar bastante fidedignamente su saldo bancario.</a:t>
            </a:r>
            <a:endParaRPr lang="es-ES" sz="2800" dirty="0"/>
          </a:p>
          <a:p>
            <a:pPr algn="l"/>
            <a:endParaRPr lang="es-ES" sz="2800" dirty="0"/>
          </a:p>
          <a:p>
            <a:pPr algn="l"/>
            <a:endParaRPr lang="es-CL" sz="2800" dirty="0"/>
          </a:p>
        </p:txBody>
      </p:sp>
      <p:sp>
        <p:nvSpPr>
          <p:cNvPr id="5" name="CuadroTexto 4">
            <a:extLst>
              <a:ext uri="{FF2B5EF4-FFF2-40B4-BE49-F238E27FC236}">
                <a16:creationId xmlns:a16="http://schemas.microsoft.com/office/drawing/2014/main" id="{F7610392-ADFB-52B0-6FF3-C4C573143DA6}"/>
              </a:ext>
            </a:extLst>
          </p:cNvPr>
          <p:cNvSpPr txBox="1"/>
          <p:nvPr/>
        </p:nvSpPr>
        <p:spPr>
          <a:xfrm>
            <a:off x="2432050" y="9998075"/>
            <a:ext cx="7486345" cy="307777"/>
          </a:xfrm>
          <a:prstGeom prst="rect">
            <a:avLst/>
          </a:prstGeom>
          <a:noFill/>
        </p:spPr>
        <p:txBody>
          <a:bodyPr wrap="none" rtlCol="0">
            <a:spAutoFit/>
          </a:bodyPr>
          <a:lstStyle/>
          <a:p>
            <a:r>
              <a:rPr lang="es-CL" sz="1400" dirty="0"/>
              <a:t>Fuente: Introducción a la Minería de Datos. José Hernández y otros. Pearson / Prentice Hall</a:t>
            </a:r>
          </a:p>
        </p:txBody>
      </p:sp>
      <p:pic>
        <p:nvPicPr>
          <p:cNvPr id="8" name="Imagen 7">
            <a:extLst>
              <a:ext uri="{FF2B5EF4-FFF2-40B4-BE49-F238E27FC236}">
                <a16:creationId xmlns:a16="http://schemas.microsoft.com/office/drawing/2014/main" id="{D997F513-9E59-FEAD-0CA5-7878B52884A9}"/>
              </a:ext>
            </a:extLst>
          </p:cNvPr>
          <p:cNvPicPr>
            <a:picLocks noChangeAspect="1"/>
          </p:cNvPicPr>
          <p:nvPr/>
        </p:nvPicPr>
        <p:blipFill>
          <a:blip r:embed="rId2"/>
          <a:stretch>
            <a:fillRect/>
          </a:stretch>
        </p:blipFill>
        <p:spPr>
          <a:xfrm>
            <a:off x="11721238" y="2682875"/>
            <a:ext cx="7699075" cy="5181600"/>
          </a:xfrm>
          <a:prstGeom prst="rect">
            <a:avLst/>
          </a:prstGeom>
        </p:spPr>
      </p:pic>
    </p:spTree>
    <p:extLst>
      <p:ext uri="{BB962C8B-B14F-4D97-AF65-F5344CB8AC3E}">
        <p14:creationId xmlns:p14="http://schemas.microsoft.com/office/powerpoint/2010/main" val="2149623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lstStyle/>
          <a:p>
            <a:r>
              <a:rPr lang="es-CL" dirty="0"/>
              <a:t>INTRODUCCIÓN</a:t>
            </a:r>
          </a:p>
        </p:txBody>
      </p:sp>
      <p:sp>
        <p:nvSpPr>
          <p:cNvPr id="3" name="CuadroTexto 2">
            <a:extLst>
              <a:ext uri="{FF2B5EF4-FFF2-40B4-BE49-F238E27FC236}">
                <a16:creationId xmlns:a16="http://schemas.microsoft.com/office/drawing/2014/main" id="{8F4D9069-61BC-606E-6D98-4D82B593F24F}"/>
              </a:ext>
            </a:extLst>
          </p:cNvPr>
          <p:cNvSpPr txBox="1"/>
          <p:nvPr/>
        </p:nvSpPr>
        <p:spPr>
          <a:xfrm>
            <a:off x="2279650" y="2682875"/>
            <a:ext cx="8915400" cy="6986528"/>
          </a:xfrm>
          <a:prstGeom prst="rect">
            <a:avLst/>
          </a:prstGeom>
          <a:noFill/>
        </p:spPr>
        <p:txBody>
          <a:bodyPr wrap="square" rtlCol="0">
            <a:spAutoFit/>
          </a:bodyPr>
          <a:lstStyle/>
          <a:p>
            <a:pPr algn="just"/>
            <a:r>
              <a:rPr lang="es-ES" sz="2800" dirty="0"/>
              <a:t>A la variable que queremos estudiar, en este ejemplo el saldo bancario, se le denomina </a:t>
            </a:r>
            <a:r>
              <a:rPr lang="es-ES" sz="2800" dirty="0">
                <a:solidFill>
                  <a:srgbClr val="FF0000"/>
                </a:solidFill>
              </a:rPr>
              <a:t>variable de salida </a:t>
            </a:r>
            <a:r>
              <a:rPr lang="es-ES" sz="2800" dirty="0"/>
              <a:t>(output), de respuesta, endógena... según el contexto en que nos encontremos y se denota por la letra </a:t>
            </a:r>
            <a:r>
              <a:rPr lang="es-ES" sz="2800" b="1" i="1" dirty="0"/>
              <a:t>y</a:t>
            </a:r>
            <a:r>
              <a:rPr lang="es-ES" sz="2800" dirty="0"/>
              <a:t>, mientras que las variables edad, nivel profesional,</a:t>
            </a:r>
          </a:p>
          <a:p>
            <a:pPr algn="just"/>
            <a:r>
              <a:rPr lang="es-CL" sz="2800" dirty="0"/>
              <a:t>distrito, se denominan </a:t>
            </a:r>
            <a:r>
              <a:rPr lang="es-CL" sz="2800" dirty="0">
                <a:solidFill>
                  <a:srgbClr val="FF0000"/>
                </a:solidFill>
              </a:rPr>
              <a:t>variables de entrada </a:t>
            </a:r>
            <a:r>
              <a:rPr lang="es-CL" sz="2800" dirty="0"/>
              <a:t>(input), predictoras, explicativas, regresores, </a:t>
            </a:r>
            <a:r>
              <a:rPr lang="es-ES" sz="2800" dirty="0"/>
              <a:t>exógena... y se denotan por </a:t>
            </a:r>
            <a:r>
              <a:rPr lang="es-ES" sz="2800" b="1" i="1" dirty="0" err="1"/>
              <a:t>x</a:t>
            </a:r>
            <a:r>
              <a:rPr lang="es-ES" sz="2800" b="1" i="1" baseline="-25000" dirty="0" err="1"/>
              <a:t>j</a:t>
            </a:r>
            <a:r>
              <a:rPr lang="es-ES" sz="2800" b="1" i="1" dirty="0"/>
              <a:t>.</a:t>
            </a:r>
          </a:p>
          <a:p>
            <a:pPr algn="just"/>
            <a:endParaRPr lang="es-ES" sz="2800" b="1" i="1" dirty="0"/>
          </a:p>
          <a:p>
            <a:pPr algn="just"/>
            <a:r>
              <a:rPr lang="es-CL" sz="2800" dirty="0">
                <a:solidFill>
                  <a:srgbClr val="FF0000"/>
                </a:solidFill>
              </a:rPr>
              <a:t>En minería de </a:t>
            </a:r>
            <a:r>
              <a:rPr lang="es-ES" sz="2800" dirty="0">
                <a:solidFill>
                  <a:srgbClr val="FF0000"/>
                </a:solidFill>
              </a:rPr>
              <a:t>datos una parte importante de problemas es de predicción</a:t>
            </a:r>
            <a:r>
              <a:rPr lang="es-ES" sz="2800" dirty="0"/>
              <a:t>, de forma que basta que las variables explicativas estén asociadas a la variable de respuesta, para que sabiendo el valor que toman aquellas podamos hacer predicciones sobre el valor que tomará la variable de </a:t>
            </a:r>
            <a:r>
              <a:rPr lang="es-CL" sz="2800" dirty="0"/>
              <a:t>respuesta.</a:t>
            </a:r>
            <a:endParaRPr lang="es-ES" sz="2800" dirty="0"/>
          </a:p>
          <a:p>
            <a:pPr algn="l"/>
            <a:endParaRPr lang="es-CL" sz="2800" dirty="0"/>
          </a:p>
        </p:txBody>
      </p:sp>
      <p:sp>
        <p:nvSpPr>
          <p:cNvPr id="5" name="CuadroTexto 4">
            <a:extLst>
              <a:ext uri="{FF2B5EF4-FFF2-40B4-BE49-F238E27FC236}">
                <a16:creationId xmlns:a16="http://schemas.microsoft.com/office/drawing/2014/main" id="{F7610392-ADFB-52B0-6FF3-C4C573143DA6}"/>
              </a:ext>
            </a:extLst>
          </p:cNvPr>
          <p:cNvSpPr txBox="1"/>
          <p:nvPr/>
        </p:nvSpPr>
        <p:spPr>
          <a:xfrm>
            <a:off x="2432050" y="9998075"/>
            <a:ext cx="7486345" cy="307777"/>
          </a:xfrm>
          <a:prstGeom prst="rect">
            <a:avLst/>
          </a:prstGeom>
          <a:noFill/>
        </p:spPr>
        <p:txBody>
          <a:bodyPr wrap="none" rtlCol="0">
            <a:spAutoFit/>
          </a:bodyPr>
          <a:lstStyle/>
          <a:p>
            <a:r>
              <a:rPr lang="es-CL" sz="1400" dirty="0"/>
              <a:t>Fuente: Introducción a la Minería de Datos. José Hernández y otros. Pearson / Prentice Hall</a:t>
            </a:r>
          </a:p>
        </p:txBody>
      </p:sp>
      <p:pic>
        <p:nvPicPr>
          <p:cNvPr id="7" name="Imagen 6">
            <a:extLst>
              <a:ext uri="{FF2B5EF4-FFF2-40B4-BE49-F238E27FC236}">
                <a16:creationId xmlns:a16="http://schemas.microsoft.com/office/drawing/2014/main" id="{928364F9-AB94-3965-DAE8-CBED094F74FB}"/>
              </a:ext>
            </a:extLst>
          </p:cNvPr>
          <p:cNvPicPr>
            <a:picLocks noChangeAspect="1"/>
          </p:cNvPicPr>
          <p:nvPr/>
        </p:nvPicPr>
        <p:blipFill>
          <a:blip r:embed="rId2"/>
          <a:stretch>
            <a:fillRect/>
          </a:stretch>
        </p:blipFill>
        <p:spPr>
          <a:xfrm>
            <a:off x="11232243" y="4206875"/>
            <a:ext cx="8419723" cy="2362200"/>
          </a:xfrm>
          <a:prstGeom prst="rect">
            <a:avLst/>
          </a:prstGeom>
        </p:spPr>
      </p:pic>
    </p:spTree>
    <p:extLst>
      <p:ext uri="{BB962C8B-B14F-4D97-AF65-F5344CB8AC3E}">
        <p14:creationId xmlns:p14="http://schemas.microsoft.com/office/powerpoint/2010/main" val="56325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lstStyle/>
          <a:p>
            <a:r>
              <a:rPr lang="es-CL" dirty="0"/>
              <a:t>INTRODUCCIÓN</a:t>
            </a:r>
          </a:p>
        </p:txBody>
      </p:sp>
      <p:sp>
        <p:nvSpPr>
          <p:cNvPr id="3" name="CuadroTexto 2">
            <a:extLst>
              <a:ext uri="{FF2B5EF4-FFF2-40B4-BE49-F238E27FC236}">
                <a16:creationId xmlns:a16="http://schemas.microsoft.com/office/drawing/2014/main" id="{8F4D9069-61BC-606E-6D98-4D82B593F24F}"/>
              </a:ext>
            </a:extLst>
          </p:cNvPr>
          <p:cNvSpPr txBox="1"/>
          <p:nvPr/>
        </p:nvSpPr>
        <p:spPr>
          <a:xfrm>
            <a:off x="2279650" y="2682875"/>
            <a:ext cx="8915400" cy="7417415"/>
          </a:xfrm>
          <a:prstGeom prst="rect">
            <a:avLst/>
          </a:prstGeom>
          <a:noFill/>
        </p:spPr>
        <p:txBody>
          <a:bodyPr wrap="square" rtlCol="0">
            <a:spAutoFit/>
          </a:bodyPr>
          <a:lstStyle/>
          <a:p>
            <a:pPr algn="just"/>
            <a:r>
              <a:rPr lang="es-ES" sz="2800" dirty="0"/>
              <a:t>La modelización estadística consiste pues en descomponer los valores que toma la variable y para cada individuo en dos componentes, uno función de las variables explicativas y otro que es específico al individuo en cuestión.</a:t>
            </a:r>
          </a:p>
          <a:p>
            <a:pPr algn="l"/>
            <a:endParaRPr lang="es-ES" sz="2800" dirty="0"/>
          </a:p>
          <a:p>
            <a:pPr algn="just"/>
            <a:r>
              <a:rPr lang="es-ES" sz="2800" dirty="0"/>
              <a:t>Donde </a:t>
            </a:r>
            <a:r>
              <a:rPr lang="es-ES" sz="2800" b="1" i="1" dirty="0">
                <a:solidFill>
                  <a:srgbClr val="FF0000"/>
                </a:solidFill>
              </a:rPr>
              <a:t>r </a:t>
            </a:r>
            <a:r>
              <a:rPr lang="es-ES" sz="2800" dirty="0">
                <a:solidFill>
                  <a:srgbClr val="FF0000"/>
                </a:solidFill>
              </a:rPr>
              <a:t>es la función</a:t>
            </a:r>
            <a:r>
              <a:rPr lang="es-ES" sz="2800" dirty="0"/>
              <a:t> relacionando los valores de la variable de respuesta con las explicativas, mientras que </a:t>
            </a:r>
            <a:r>
              <a:rPr lang="es-ES" sz="2800" b="1" i="1" dirty="0" err="1">
                <a:solidFill>
                  <a:srgbClr val="FF0000"/>
                </a:solidFill>
              </a:rPr>
              <a:t>εi</a:t>
            </a:r>
            <a:r>
              <a:rPr lang="es-ES" sz="2800" dirty="0"/>
              <a:t> </a:t>
            </a:r>
            <a:r>
              <a:rPr lang="es-ES" sz="2800" dirty="0">
                <a:solidFill>
                  <a:srgbClr val="FF0000"/>
                </a:solidFill>
              </a:rPr>
              <a:t>es la parte específica </a:t>
            </a:r>
            <a:r>
              <a:rPr lang="es-ES" sz="2800" dirty="0"/>
              <a:t>al individuo </a:t>
            </a:r>
            <a:r>
              <a:rPr lang="es-ES" sz="2800" b="1" i="1" dirty="0">
                <a:solidFill>
                  <a:srgbClr val="FF0000"/>
                </a:solidFill>
              </a:rPr>
              <a:t>i</a:t>
            </a:r>
            <a:r>
              <a:rPr lang="es-ES" sz="2800" dirty="0"/>
              <a:t> que no viene explicado por </a:t>
            </a:r>
            <a:r>
              <a:rPr lang="es-CL" sz="2800" dirty="0"/>
              <a:t>ninguna variable.</a:t>
            </a:r>
          </a:p>
          <a:p>
            <a:pPr algn="just"/>
            <a:r>
              <a:rPr lang="es-ES" sz="2800" dirty="0"/>
              <a:t>La función </a:t>
            </a:r>
            <a:r>
              <a:rPr lang="es-ES" sz="2800" b="1" i="1" dirty="0">
                <a:solidFill>
                  <a:srgbClr val="FF0000"/>
                </a:solidFill>
              </a:rPr>
              <a:t>r</a:t>
            </a:r>
            <a:r>
              <a:rPr lang="es-ES" sz="2800" dirty="0"/>
              <a:t> representa pues la parte determinista, estructural del modelo, que nos </a:t>
            </a:r>
            <a:r>
              <a:rPr lang="es-ES" sz="2800" dirty="0">
                <a:solidFill>
                  <a:srgbClr val="FF0000"/>
                </a:solidFill>
              </a:rPr>
              <a:t>permite explicar el comportamiento de la variable de respuesta </a:t>
            </a:r>
            <a:r>
              <a:rPr lang="es-ES" sz="2800" dirty="0"/>
              <a:t>y hacer predicciones sobre ella, mientras que la parte específica representa la parte impredecible, aleatoria y se denomina, sin ninguna connotación moral, término de error.</a:t>
            </a:r>
            <a:endParaRPr lang="es-CL" sz="2800" dirty="0"/>
          </a:p>
        </p:txBody>
      </p:sp>
      <p:sp>
        <p:nvSpPr>
          <p:cNvPr id="5" name="CuadroTexto 4">
            <a:extLst>
              <a:ext uri="{FF2B5EF4-FFF2-40B4-BE49-F238E27FC236}">
                <a16:creationId xmlns:a16="http://schemas.microsoft.com/office/drawing/2014/main" id="{F7610392-ADFB-52B0-6FF3-C4C573143DA6}"/>
              </a:ext>
            </a:extLst>
          </p:cNvPr>
          <p:cNvSpPr txBox="1"/>
          <p:nvPr/>
        </p:nvSpPr>
        <p:spPr>
          <a:xfrm>
            <a:off x="2432050" y="10308297"/>
            <a:ext cx="7486345" cy="307777"/>
          </a:xfrm>
          <a:prstGeom prst="rect">
            <a:avLst/>
          </a:prstGeom>
          <a:noFill/>
        </p:spPr>
        <p:txBody>
          <a:bodyPr wrap="none" rtlCol="0">
            <a:spAutoFit/>
          </a:bodyPr>
          <a:lstStyle/>
          <a:p>
            <a:r>
              <a:rPr lang="es-CL" sz="1400" dirty="0"/>
              <a:t>Fuente: Introducción a la Minería de Datos. José Hernández y otros. Pearson / Prentice Hall</a:t>
            </a:r>
          </a:p>
        </p:txBody>
      </p:sp>
      <p:pic>
        <p:nvPicPr>
          <p:cNvPr id="9" name="Imagen 8">
            <a:extLst>
              <a:ext uri="{FF2B5EF4-FFF2-40B4-BE49-F238E27FC236}">
                <a16:creationId xmlns:a16="http://schemas.microsoft.com/office/drawing/2014/main" id="{B6478573-B4E4-0EFC-7B5F-B7BB9D31E25C}"/>
              </a:ext>
            </a:extLst>
          </p:cNvPr>
          <p:cNvPicPr>
            <a:picLocks noChangeAspect="1"/>
          </p:cNvPicPr>
          <p:nvPr/>
        </p:nvPicPr>
        <p:blipFill>
          <a:blip r:embed="rId2"/>
          <a:stretch>
            <a:fillRect/>
          </a:stretch>
        </p:blipFill>
        <p:spPr>
          <a:xfrm>
            <a:off x="12185650" y="4951566"/>
            <a:ext cx="6831979" cy="1406218"/>
          </a:xfrm>
          <a:prstGeom prst="rect">
            <a:avLst/>
          </a:prstGeom>
          <a:ln w="31750">
            <a:solidFill>
              <a:schemeClr val="accent1"/>
            </a:solidFill>
          </a:ln>
        </p:spPr>
      </p:pic>
    </p:spTree>
    <p:extLst>
      <p:ext uri="{BB962C8B-B14F-4D97-AF65-F5344CB8AC3E}">
        <p14:creationId xmlns:p14="http://schemas.microsoft.com/office/powerpoint/2010/main" val="14645214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025BEF-C6CB-D142-BFA0-F95C5E30AC13}"/>
              </a:ext>
            </a:extLst>
          </p:cNvPr>
          <p:cNvSpPr>
            <a:spLocks noGrp="1"/>
          </p:cNvSpPr>
          <p:nvPr>
            <p:ph type="title"/>
          </p:nvPr>
        </p:nvSpPr>
        <p:spPr>
          <a:xfrm>
            <a:off x="8147050" y="7712075"/>
            <a:ext cx="8305800" cy="738664"/>
          </a:xfrm>
        </p:spPr>
        <p:txBody>
          <a:bodyPr/>
          <a:lstStyle/>
          <a:p>
            <a:pPr algn="r"/>
            <a:r>
              <a:rPr lang="es-CL" sz="4800" dirty="0"/>
              <a:t>TÍTULO</a:t>
            </a:r>
          </a:p>
        </p:txBody>
      </p:sp>
      <p:sp>
        <p:nvSpPr>
          <p:cNvPr id="3" name="Título 1">
            <a:extLst>
              <a:ext uri="{FF2B5EF4-FFF2-40B4-BE49-F238E27FC236}">
                <a16:creationId xmlns:a16="http://schemas.microsoft.com/office/drawing/2014/main" id="{94FE4634-98DF-A44A-92BF-86BBAE37A404}"/>
              </a:ext>
            </a:extLst>
          </p:cNvPr>
          <p:cNvSpPr txBox="1">
            <a:spLocks/>
          </p:cNvSpPr>
          <p:nvPr/>
        </p:nvSpPr>
        <p:spPr>
          <a:xfrm>
            <a:off x="8159750" y="6250622"/>
            <a:ext cx="1905000" cy="147732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9600" dirty="0">
                <a:solidFill>
                  <a:srgbClr val="257CE1"/>
                </a:solidFill>
                <a:latin typeface="Arial Black" panose="020B0604020202020204" pitchFamily="34" charset="0"/>
                <a:cs typeface="Arial Black" panose="020B0604020202020204" pitchFamily="34" charset="0"/>
              </a:rPr>
              <a:t>02</a:t>
            </a:r>
          </a:p>
        </p:txBody>
      </p:sp>
      <p:sp>
        <p:nvSpPr>
          <p:cNvPr id="4" name="Título 1">
            <a:extLst>
              <a:ext uri="{FF2B5EF4-FFF2-40B4-BE49-F238E27FC236}">
                <a16:creationId xmlns:a16="http://schemas.microsoft.com/office/drawing/2014/main" id="{8B7ACE31-74A9-95B3-1599-372FB822D0E6}"/>
              </a:ext>
            </a:extLst>
          </p:cNvPr>
          <p:cNvSpPr txBox="1">
            <a:spLocks/>
          </p:cNvSpPr>
          <p:nvPr/>
        </p:nvSpPr>
        <p:spPr>
          <a:xfrm>
            <a:off x="1517650" y="7712075"/>
            <a:ext cx="8305800" cy="1477328"/>
          </a:xfrm>
          <a:prstGeom prst="rect">
            <a:avLst/>
          </a:prstGeom>
        </p:spPr>
        <p:txBody>
          <a:bodyPr wrap="square" lIns="0" tIns="0" rIns="0" bIns="0">
            <a:spAutoFit/>
          </a:bodyPr>
          <a:lstStyle>
            <a:lvl1pPr algn="l">
              <a:defRPr sz="5000" b="1" i="0">
                <a:solidFill>
                  <a:srgbClr val="257CE1"/>
                </a:solidFill>
                <a:latin typeface="Arial"/>
                <a:ea typeface="+mj-ea"/>
                <a:cs typeface="Arial"/>
              </a:defRPr>
            </a:lvl1pPr>
          </a:lstStyle>
          <a:p>
            <a:pPr algn="r"/>
            <a:r>
              <a:rPr lang="es-CL" sz="4800" dirty="0"/>
              <a:t>MODELO</a:t>
            </a:r>
          </a:p>
          <a:p>
            <a:pPr algn="r"/>
            <a:r>
              <a:rPr lang="es-CL" sz="4800" dirty="0"/>
              <a:t>DE REGRESIÓN</a:t>
            </a:r>
          </a:p>
        </p:txBody>
      </p:sp>
    </p:spTree>
    <p:extLst>
      <p:ext uri="{BB962C8B-B14F-4D97-AF65-F5344CB8AC3E}">
        <p14:creationId xmlns:p14="http://schemas.microsoft.com/office/powerpoint/2010/main" val="2257653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CL" dirty="0"/>
              <a:t>MODELO DE REGRESIÓN LINEAL</a:t>
            </a:r>
          </a:p>
        </p:txBody>
      </p:sp>
      <p:sp>
        <p:nvSpPr>
          <p:cNvPr id="3" name="CuadroTexto 2">
            <a:extLst>
              <a:ext uri="{FF2B5EF4-FFF2-40B4-BE49-F238E27FC236}">
                <a16:creationId xmlns:a16="http://schemas.microsoft.com/office/drawing/2014/main" id="{374B26D9-6484-8A3D-D1C7-2F2BBF65A190}"/>
              </a:ext>
            </a:extLst>
          </p:cNvPr>
          <p:cNvSpPr txBox="1"/>
          <p:nvPr/>
        </p:nvSpPr>
        <p:spPr>
          <a:xfrm>
            <a:off x="1898650" y="2530475"/>
            <a:ext cx="7798705" cy="3970318"/>
          </a:xfrm>
          <a:prstGeom prst="rect">
            <a:avLst/>
          </a:prstGeom>
          <a:noFill/>
        </p:spPr>
        <p:txBody>
          <a:bodyPr wrap="square" rtlCol="0">
            <a:spAutoFit/>
          </a:bodyPr>
          <a:lstStyle/>
          <a:p>
            <a:pPr algn="just"/>
            <a:r>
              <a:rPr lang="es-ES" sz="2800" dirty="0"/>
              <a:t>Hablamos de modelo de regresión cuando la variable de respuesta y las variables explicativas son todas ellas cuantitativas. </a:t>
            </a:r>
          </a:p>
          <a:p>
            <a:pPr algn="just"/>
            <a:endParaRPr lang="es-ES" sz="2800" dirty="0"/>
          </a:p>
          <a:p>
            <a:pPr algn="just"/>
            <a:r>
              <a:rPr lang="es-ES" sz="2800" dirty="0"/>
              <a:t>Si </a:t>
            </a:r>
            <a:r>
              <a:rPr lang="es-ES" sz="2800" dirty="0">
                <a:solidFill>
                  <a:srgbClr val="FF0000"/>
                </a:solidFill>
              </a:rPr>
              <a:t>sólo disponemos de una variable explicativa hablamos de regresión simple</a:t>
            </a:r>
            <a:r>
              <a:rPr lang="es-ES" sz="2800" dirty="0"/>
              <a:t>, mientras que </a:t>
            </a:r>
            <a:r>
              <a:rPr lang="es-ES" sz="2800" dirty="0">
                <a:solidFill>
                  <a:srgbClr val="FF0000"/>
                </a:solidFill>
              </a:rPr>
              <a:t>si disponemos de varias variables</a:t>
            </a:r>
            <a:r>
              <a:rPr lang="es-ES" sz="2800" dirty="0"/>
              <a:t> explicativas se trata de un problema </a:t>
            </a:r>
            <a:r>
              <a:rPr lang="es-ES" sz="2800" dirty="0">
                <a:solidFill>
                  <a:srgbClr val="FF0000"/>
                </a:solidFill>
              </a:rPr>
              <a:t>de regresión múltiple</a:t>
            </a:r>
            <a:r>
              <a:rPr lang="es-ES" sz="2800" dirty="0"/>
              <a:t>.</a:t>
            </a:r>
          </a:p>
          <a:p>
            <a:pPr algn="l"/>
            <a:endParaRPr lang="es-CL" sz="2800" dirty="0"/>
          </a:p>
        </p:txBody>
      </p:sp>
      <p:sp>
        <p:nvSpPr>
          <p:cNvPr id="5" name="CuadroTexto 4">
            <a:extLst>
              <a:ext uri="{FF2B5EF4-FFF2-40B4-BE49-F238E27FC236}">
                <a16:creationId xmlns:a16="http://schemas.microsoft.com/office/drawing/2014/main" id="{EA420310-9A07-5C8F-E4D0-7C74EA7B9B10}"/>
              </a:ext>
            </a:extLst>
          </p:cNvPr>
          <p:cNvSpPr txBox="1"/>
          <p:nvPr/>
        </p:nvSpPr>
        <p:spPr>
          <a:xfrm>
            <a:off x="3498850" y="10400007"/>
            <a:ext cx="7486345" cy="307777"/>
          </a:xfrm>
          <a:prstGeom prst="rect">
            <a:avLst/>
          </a:prstGeom>
          <a:noFill/>
        </p:spPr>
        <p:txBody>
          <a:bodyPr wrap="none" rtlCol="0">
            <a:spAutoFit/>
          </a:bodyPr>
          <a:lstStyle/>
          <a:p>
            <a:r>
              <a:rPr lang="es-CL" sz="1400" dirty="0"/>
              <a:t>Fuente: Introducción a la Minería de Datos. José Hernández y otros. Pearson / Prentice Hall</a:t>
            </a:r>
          </a:p>
        </p:txBody>
      </p:sp>
      <p:pic>
        <p:nvPicPr>
          <p:cNvPr id="6" name="Imagen 5">
            <a:extLst>
              <a:ext uri="{FF2B5EF4-FFF2-40B4-BE49-F238E27FC236}">
                <a16:creationId xmlns:a16="http://schemas.microsoft.com/office/drawing/2014/main" id="{12A17C0D-9C13-AA9B-D81C-3D4C7DE2B3C0}"/>
              </a:ext>
            </a:extLst>
          </p:cNvPr>
          <p:cNvPicPr>
            <a:picLocks noChangeAspect="1"/>
          </p:cNvPicPr>
          <p:nvPr/>
        </p:nvPicPr>
        <p:blipFill>
          <a:blip r:embed="rId2"/>
          <a:stretch>
            <a:fillRect/>
          </a:stretch>
        </p:blipFill>
        <p:spPr>
          <a:xfrm>
            <a:off x="11195050" y="1844675"/>
            <a:ext cx="6705600" cy="5029200"/>
          </a:xfrm>
          <a:prstGeom prst="rect">
            <a:avLst/>
          </a:prstGeom>
        </p:spPr>
      </p:pic>
    </p:spTree>
    <p:extLst>
      <p:ext uri="{BB962C8B-B14F-4D97-AF65-F5344CB8AC3E}">
        <p14:creationId xmlns:p14="http://schemas.microsoft.com/office/powerpoint/2010/main" val="7173999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CL" dirty="0"/>
              <a:t>MODELO DE REGRESIÓN LINEAL</a:t>
            </a:r>
          </a:p>
        </p:txBody>
      </p:sp>
      <p:sp>
        <p:nvSpPr>
          <p:cNvPr id="3" name="CuadroTexto 2">
            <a:extLst>
              <a:ext uri="{FF2B5EF4-FFF2-40B4-BE49-F238E27FC236}">
                <a16:creationId xmlns:a16="http://schemas.microsoft.com/office/drawing/2014/main" id="{374B26D9-6484-8A3D-D1C7-2F2BBF65A190}"/>
              </a:ext>
            </a:extLst>
          </p:cNvPr>
          <p:cNvSpPr txBox="1"/>
          <p:nvPr/>
        </p:nvSpPr>
        <p:spPr>
          <a:xfrm>
            <a:off x="1898650" y="2530475"/>
            <a:ext cx="7798705" cy="5262979"/>
          </a:xfrm>
          <a:prstGeom prst="rect">
            <a:avLst/>
          </a:prstGeom>
          <a:noFill/>
        </p:spPr>
        <p:txBody>
          <a:bodyPr wrap="square" rtlCol="0">
            <a:spAutoFit/>
          </a:bodyPr>
          <a:lstStyle/>
          <a:p>
            <a:pPr algn="just"/>
            <a:r>
              <a:rPr lang="es-ES" sz="2800" dirty="0"/>
              <a:t>La función de regresión más simple es la lineal, esto es, </a:t>
            </a:r>
            <a:r>
              <a:rPr lang="es-ES" sz="2800" dirty="0">
                <a:solidFill>
                  <a:srgbClr val="FF0000"/>
                </a:solidFill>
              </a:rPr>
              <a:t>cada variable explicativa participa de forma aditiva y constante para todo el dominio observado en la formación de la </a:t>
            </a:r>
            <a:r>
              <a:rPr lang="es-CL" sz="2800" dirty="0">
                <a:solidFill>
                  <a:srgbClr val="FF0000"/>
                </a:solidFill>
              </a:rPr>
              <a:t>respuesta</a:t>
            </a:r>
            <a:r>
              <a:rPr lang="es-CL" sz="2800" dirty="0"/>
              <a:t>.</a:t>
            </a:r>
          </a:p>
          <a:p>
            <a:pPr algn="just"/>
            <a:endParaRPr lang="es-CL" sz="2800" dirty="0"/>
          </a:p>
          <a:p>
            <a:pPr algn="just"/>
            <a:r>
              <a:rPr lang="es-ES" sz="2800" dirty="0"/>
              <a:t>El modelo de regresión lineal se escribe como muestra la fórmula.</a:t>
            </a:r>
          </a:p>
          <a:p>
            <a:pPr algn="just"/>
            <a:endParaRPr lang="es-ES" sz="2800" dirty="0"/>
          </a:p>
          <a:p>
            <a:pPr algn="just"/>
            <a:r>
              <a:rPr lang="es-ES" sz="2800" dirty="0"/>
              <a:t>De lo cual, en una </a:t>
            </a:r>
            <a:r>
              <a:rPr lang="es-ES" sz="2800" u="sng" dirty="0"/>
              <a:t>relación de dos variables</a:t>
            </a:r>
            <a:r>
              <a:rPr lang="es-ES" sz="2800" dirty="0"/>
              <a:t>, se obtiene la recta de la regresión.</a:t>
            </a:r>
          </a:p>
          <a:p>
            <a:pPr algn="just"/>
            <a:endParaRPr lang="es-ES" sz="2800" dirty="0"/>
          </a:p>
          <a:p>
            <a:pPr algn="just"/>
            <a:endParaRPr lang="es-CL" sz="2800" dirty="0"/>
          </a:p>
        </p:txBody>
      </p:sp>
      <p:sp>
        <p:nvSpPr>
          <p:cNvPr id="5" name="CuadroTexto 4">
            <a:extLst>
              <a:ext uri="{FF2B5EF4-FFF2-40B4-BE49-F238E27FC236}">
                <a16:creationId xmlns:a16="http://schemas.microsoft.com/office/drawing/2014/main" id="{EA420310-9A07-5C8F-E4D0-7C74EA7B9B10}"/>
              </a:ext>
            </a:extLst>
          </p:cNvPr>
          <p:cNvSpPr txBox="1"/>
          <p:nvPr/>
        </p:nvSpPr>
        <p:spPr>
          <a:xfrm>
            <a:off x="3498850" y="10400007"/>
            <a:ext cx="7486345" cy="307777"/>
          </a:xfrm>
          <a:prstGeom prst="rect">
            <a:avLst/>
          </a:prstGeom>
          <a:noFill/>
        </p:spPr>
        <p:txBody>
          <a:bodyPr wrap="none" rtlCol="0">
            <a:spAutoFit/>
          </a:bodyPr>
          <a:lstStyle/>
          <a:p>
            <a:r>
              <a:rPr lang="es-CL" sz="1400" dirty="0"/>
              <a:t>Fuente: Introducción a la Minería de Datos. José Hernández y otros. Pearson / Prentice Hall</a:t>
            </a:r>
          </a:p>
        </p:txBody>
      </p:sp>
      <p:pic>
        <p:nvPicPr>
          <p:cNvPr id="7" name="Imagen 6">
            <a:extLst>
              <a:ext uri="{FF2B5EF4-FFF2-40B4-BE49-F238E27FC236}">
                <a16:creationId xmlns:a16="http://schemas.microsoft.com/office/drawing/2014/main" id="{4B52E538-EF71-80F1-84A9-C262300370A4}"/>
              </a:ext>
            </a:extLst>
          </p:cNvPr>
          <p:cNvPicPr>
            <a:picLocks noChangeAspect="1"/>
          </p:cNvPicPr>
          <p:nvPr/>
        </p:nvPicPr>
        <p:blipFill>
          <a:blip r:embed="rId2"/>
          <a:stretch>
            <a:fillRect/>
          </a:stretch>
        </p:blipFill>
        <p:spPr>
          <a:xfrm>
            <a:off x="12795250" y="3323623"/>
            <a:ext cx="6200775" cy="809625"/>
          </a:xfrm>
          <a:prstGeom prst="rect">
            <a:avLst/>
          </a:prstGeom>
          <a:ln w="38100">
            <a:solidFill>
              <a:schemeClr val="accent1"/>
            </a:solidFill>
          </a:ln>
        </p:spPr>
      </p:pic>
      <p:pic>
        <p:nvPicPr>
          <p:cNvPr id="1026" name="Picture 2">
            <a:extLst>
              <a:ext uri="{FF2B5EF4-FFF2-40B4-BE49-F238E27FC236}">
                <a16:creationId xmlns:a16="http://schemas.microsoft.com/office/drawing/2014/main" id="{9325ECF4-4D5D-5CE7-697B-D752E4464D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50321" y="4848327"/>
            <a:ext cx="6212140" cy="46555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08532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CL" dirty="0"/>
              <a:t>MODELO DE REGRESIÓN LINEAL</a:t>
            </a:r>
          </a:p>
        </p:txBody>
      </p:sp>
      <p:sp>
        <p:nvSpPr>
          <p:cNvPr id="3" name="CuadroTexto 2">
            <a:extLst>
              <a:ext uri="{FF2B5EF4-FFF2-40B4-BE49-F238E27FC236}">
                <a16:creationId xmlns:a16="http://schemas.microsoft.com/office/drawing/2014/main" id="{374B26D9-6484-8A3D-D1C7-2F2BBF65A190}"/>
              </a:ext>
            </a:extLst>
          </p:cNvPr>
          <p:cNvSpPr txBox="1"/>
          <p:nvPr/>
        </p:nvSpPr>
        <p:spPr>
          <a:xfrm>
            <a:off x="1898650" y="2530475"/>
            <a:ext cx="7798705" cy="5301451"/>
          </a:xfrm>
          <a:prstGeom prst="rect">
            <a:avLst/>
          </a:prstGeom>
          <a:noFill/>
        </p:spPr>
        <p:txBody>
          <a:bodyPr wrap="square" rtlCol="0">
            <a:spAutoFit/>
          </a:bodyPr>
          <a:lstStyle/>
          <a:p>
            <a:pPr marL="46355" marR="5080" algn="just" rtl="0">
              <a:spcBef>
                <a:spcPts val="0"/>
              </a:spcBef>
              <a:spcAft>
                <a:spcPts val="0"/>
              </a:spcAft>
            </a:pPr>
            <a:r>
              <a:rPr lang="es-ES" sz="2800" dirty="0"/>
              <a:t>El </a:t>
            </a:r>
            <a:r>
              <a:rPr lang="es-ES" sz="2800" dirty="0">
                <a:solidFill>
                  <a:srgbClr val="FF0000"/>
                </a:solidFill>
              </a:rPr>
              <a:t>método de los mínimos cuadrados </a:t>
            </a:r>
            <a:r>
              <a:rPr lang="es-ES" sz="2800" dirty="0"/>
              <a:t>se usa para estimar los coeficientes de la ecuación (supongamos B</a:t>
            </a:r>
            <a:r>
              <a:rPr lang="es-ES" sz="2800" baseline="-25000" dirty="0"/>
              <a:t>0</a:t>
            </a:r>
            <a:r>
              <a:rPr lang="es-ES" sz="2800" dirty="0"/>
              <a:t> y B</a:t>
            </a:r>
            <a:r>
              <a:rPr lang="es-ES" sz="2800" baseline="-25000" dirty="0"/>
              <a:t>1</a:t>
            </a:r>
            <a:r>
              <a:rPr lang="es-ES" sz="2800" dirty="0"/>
              <a:t>), minimizando la suma de los errores cuadráticos de los datos observados.</a:t>
            </a:r>
          </a:p>
          <a:p>
            <a:pPr marL="46355" marR="5080" algn="just" rtl="0">
              <a:spcBef>
                <a:spcPts val="345"/>
              </a:spcBef>
              <a:spcAft>
                <a:spcPts val="0"/>
              </a:spcAft>
            </a:pPr>
            <a:br>
              <a:rPr lang="es-ES" sz="2800" dirty="0"/>
            </a:br>
            <a:r>
              <a:rPr lang="es-ES" sz="2800" dirty="0"/>
              <a:t>Supongamos que tenemos “m” observaciones de (x, y). El cálculo de la suma de los errores cuadráticos se expresa como :</a:t>
            </a:r>
          </a:p>
          <a:p>
            <a:br>
              <a:rPr lang="es-ES" sz="2800" dirty="0"/>
            </a:br>
            <a:endParaRPr lang="es-ES" sz="2800" dirty="0"/>
          </a:p>
          <a:p>
            <a:pPr algn="just"/>
            <a:endParaRPr lang="es-CL" sz="2800" dirty="0"/>
          </a:p>
        </p:txBody>
      </p:sp>
      <p:sp>
        <p:nvSpPr>
          <p:cNvPr id="5" name="CuadroTexto 4">
            <a:extLst>
              <a:ext uri="{FF2B5EF4-FFF2-40B4-BE49-F238E27FC236}">
                <a16:creationId xmlns:a16="http://schemas.microsoft.com/office/drawing/2014/main" id="{EA420310-9A07-5C8F-E4D0-7C74EA7B9B10}"/>
              </a:ext>
            </a:extLst>
          </p:cNvPr>
          <p:cNvSpPr txBox="1"/>
          <p:nvPr/>
        </p:nvSpPr>
        <p:spPr>
          <a:xfrm>
            <a:off x="3498850" y="10400007"/>
            <a:ext cx="7486345" cy="307777"/>
          </a:xfrm>
          <a:prstGeom prst="rect">
            <a:avLst/>
          </a:prstGeom>
          <a:noFill/>
        </p:spPr>
        <p:txBody>
          <a:bodyPr wrap="none" rtlCol="0">
            <a:spAutoFit/>
          </a:bodyPr>
          <a:lstStyle/>
          <a:p>
            <a:r>
              <a:rPr lang="es-CL" sz="1400" dirty="0"/>
              <a:t>Fuente: Introducción a la Minería de Datos. José Hernández y otros. Pearson / Prentice Hall</a:t>
            </a:r>
          </a:p>
        </p:txBody>
      </p:sp>
      <p:pic>
        <p:nvPicPr>
          <p:cNvPr id="2050" name="Picture 2">
            <a:extLst>
              <a:ext uri="{FF2B5EF4-FFF2-40B4-BE49-F238E27FC236}">
                <a16:creationId xmlns:a16="http://schemas.microsoft.com/office/drawing/2014/main" id="{A93EE703-B96E-DD45-B119-E68268301B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90154" y="4935537"/>
            <a:ext cx="8829675" cy="1438275"/>
          </a:xfrm>
          <a:prstGeom prst="rect">
            <a:avLst/>
          </a:prstGeom>
          <a:noFill/>
          <a:ln w="41275">
            <a:solidFill>
              <a:schemeClr val="accent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13936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CL" dirty="0"/>
              <a:t>MODELO DE REGRESIÓN LINEAL</a:t>
            </a:r>
          </a:p>
        </p:txBody>
      </p:sp>
      <p:sp>
        <p:nvSpPr>
          <p:cNvPr id="3" name="CuadroTexto 2">
            <a:extLst>
              <a:ext uri="{FF2B5EF4-FFF2-40B4-BE49-F238E27FC236}">
                <a16:creationId xmlns:a16="http://schemas.microsoft.com/office/drawing/2014/main" id="{374B26D9-6484-8A3D-D1C7-2F2BBF65A190}"/>
              </a:ext>
            </a:extLst>
          </p:cNvPr>
          <p:cNvSpPr txBox="1"/>
          <p:nvPr/>
        </p:nvSpPr>
        <p:spPr>
          <a:xfrm>
            <a:off x="1898650" y="2530475"/>
            <a:ext cx="7798705" cy="4870564"/>
          </a:xfrm>
          <a:prstGeom prst="rect">
            <a:avLst/>
          </a:prstGeom>
          <a:noFill/>
        </p:spPr>
        <p:txBody>
          <a:bodyPr wrap="square" rtlCol="0">
            <a:spAutoFit/>
          </a:bodyPr>
          <a:lstStyle/>
          <a:p>
            <a:pPr marL="46355" marR="5080" algn="just" rtl="0">
              <a:spcBef>
                <a:spcPts val="0"/>
              </a:spcBef>
              <a:spcAft>
                <a:spcPts val="0"/>
              </a:spcAft>
            </a:pPr>
            <a:r>
              <a:rPr lang="es-ES" sz="2800" dirty="0"/>
              <a:t>Para encontrar los parámetros que minimizan el error, se calculan las derivadas parciales de la suma de los errores cuadráticos respecto a B</a:t>
            </a:r>
            <a:r>
              <a:rPr lang="es-ES" sz="2800" baseline="-25000" dirty="0"/>
              <a:t>0</a:t>
            </a:r>
            <a:r>
              <a:rPr lang="es-ES" sz="2800" dirty="0"/>
              <a:t> y B</a:t>
            </a:r>
            <a:r>
              <a:rPr lang="es-ES" sz="2800" baseline="-25000" dirty="0"/>
              <a:t>1</a:t>
            </a:r>
            <a:r>
              <a:rPr lang="es-ES" sz="2800" dirty="0"/>
              <a:t>.</a:t>
            </a:r>
          </a:p>
          <a:p>
            <a:pPr marL="46355" marR="5080" algn="just" rtl="0">
              <a:spcBef>
                <a:spcPts val="345"/>
              </a:spcBef>
              <a:spcAft>
                <a:spcPts val="0"/>
              </a:spcAft>
            </a:pPr>
            <a:br>
              <a:rPr lang="es-ES" sz="2800" dirty="0"/>
            </a:br>
            <a:r>
              <a:rPr lang="es-ES" sz="2800" dirty="0"/>
              <a:t>Luego, se igualan las derivadas a cero y se resuelve la ecuación:</a:t>
            </a:r>
          </a:p>
          <a:p>
            <a:br>
              <a:rPr lang="es-ES" sz="2800" dirty="0"/>
            </a:br>
            <a:br>
              <a:rPr lang="es-ES" sz="2800" dirty="0"/>
            </a:br>
            <a:endParaRPr lang="es-ES" sz="2800" dirty="0"/>
          </a:p>
          <a:p>
            <a:pPr algn="just"/>
            <a:endParaRPr lang="es-CL" sz="2800" dirty="0"/>
          </a:p>
        </p:txBody>
      </p:sp>
      <p:sp>
        <p:nvSpPr>
          <p:cNvPr id="5" name="CuadroTexto 4">
            <a:extLst>
              <a:ext uri="{FF2B5EF4-FFF2-40B4-BE49-F238E27FC236}">
                <a16:creationId xmlns:a16="http://schemas.microsoft.com/office/drawing/2014/main" id="{EA420310-9A07-5C8F-E4D0-7C74EA7B9B10}"/>
              </a:ext>
            </a:extLst>
          </p:cNvPr>
          <p:cNvSpPr txBox="1"/>
          <p:nvPr/>
        </p:nvSpPr>
        <p:spPr>
          <a:xfrm>
            <a:off x="3498850" y="10400007"/>
            <a:ext cx="7486345" cy="307777"/>
          </a:xfrm>
          <a:prstGeom prst="rect">
            <a:avLst/>
          </a:prstGeom>
          <a:noFill/>
        </p:spPr>
        <p:txBody>
          <a:bodyPr wrap="none" rtlCol="0">
            <a:spAutoFit/>
          </a:bodyPr>
          <a:lstStyle/>
          <a:p>
            <a:r>
              <a:rPr lang="es-CL" sz="1400" dirty="0"/>
              <a:t>Fuente: Introducción a la Minería de Datos. José Hernández y otros. Pearson / Prentice Hall</a:t>
            </a:r>
          </a:p>
        </p:txBody>
      </p:sp>
      <p:pic>
        <p:nvPicPr>
          <p:cNvPr id="6" name="Imagen 5">
            <a:extLst>
              <a:ext uri="{FF2B5EF4-FFF2-40B4-BE49-F238E27FC236}">
                <a16:creationId xmlns:a16="http://schemas.microsoft.com/office/drawing/2014/main" id="{9B3043A7-BD5F-6CD9-3C3B-19C4C01F3B5B}"/>
              </a:ext>
            </a:extLst>
          </p:cNvPr>
          <p:cNvPicPr>
            <a:picLocks noChangeAspect="1"/>
          </p:cNvPicPr>
          <p:nvPr/>
        </p:nvPicPr>
        <p:blipFill>
          <a:blip r:embed="rId2"/>
          <a:stretch>
            <a:fillRect/>
          </a:stretch>
        </p:blipFill>
        <p:spPr>
          <a:xfrm>
            <a:off x="10951631" y="2911475"/>
            <a:ext cx="7829803" cy="3562289"/>
          </a:xfrm>
          <a:prstGeom prst="rect">
            <a:avLst/>
          </a:prstGeom>
          <a:ln w="28575">
            <a:solidFill>
              <a:schemeClr val="accent1"/>
            </a:solidFill>
          </a:ln>
        </p:spPr>
      </p:pic>
    </p:spTree>
    <p:extLst>
      <p:ext uri="{BB962C8B-B14F-4D97-AF65-F5344CB8AC3E}">
        <p14:creationId xmlns:p14="http://schemas.microsoft.com/office/powerpoint/2010/main" val="3923335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624723-9968-7E43-AF4C-4EA396BDB1BC}"/>
              </a:ext>
            </a:extLst>
          </p:cNvPr>
          <p:cNvSpPr>
            <a:spLocks noGrp="1"/>
          </p:cNvSpPr>
          <p:nvPr>
            <p:ph type="title"/>
          </p:nvPr>
        </p:nvSpPr>
        <p:spPr>
          <a:xfrm>
            <a:off x="222250" y="7407275"/>
            <a:ext cx="10393528" cy="2031325"/>
          </a:xfrm>
        </p:spPr>
        <p:txBody>
          <a:bodyPr/>
          <a:lstStyle/>
          <a:p>
            <a:r>
              <a:rPr lang="es-CL" sz="6600" dirty="0"/>
              <a:t>ERROR</a:t>
            </a:r>
            <a:br>
              <a:rPr lang="es-CL" sz="6600" dirty="0"/>
            </a:br>
            <a:r>
              <a:rPr lang="es-CL" sz="6600" dirty="0"/>
              <a:t>CUADRÁTICO MEDIO</a:t>
            </a:r>
          </a:p>
        </p:txBody>
      </p:sp>
      <p:sp>
        <p:nvSpPr>
          <p:cNvPr id="3" name="Título 1">
            <a:extLst>
              <a:ext uri="{FF2B5EF4-FFF2-40B4-BE49-F238E27FC236}">
                <a16:creationId xmlns:a16="http://schemas.microsoft.com/office/drawing/2014/main" id="{E4D7CDB3-E365-8648-9D80-6AFDB724300B}"/>
              </a:ext>
            </a:extLst>
          </p:cNvPr>
          <p:cNvSpPr txBox="1">
            <a:spLocks/>
          </p:cNvSpPr>
          <p:nvPr/>
        </p:nvSpPr>
        <p:spPr>
          <a:xfrm>
            <a:off x="9089872" y="6188075"/>
            <a:ext cx="1905000" cy="147732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9600" dirty="0">
                <a:latin typeface="Arial Black" panose="020B0604020202020204" pitchFamily="34" charset="0"/>
                <a:cs typeface="Arial Black" panose="020B0604020202020204" pitchFamily="34" charset="0"/>
              </a:rPr>
              <a:t>03</a:t>
            </a:r>
          </a:p>
        </p:txBody>
      </p:sp>
    </p:spTree>
    <p:extLst>
      <p:ext uri="{BB962C8B-B14F-4D97-AF65-F5344CB8AC3E}">
        <p14:creationId xmlns:p14="http://schemas.microsoft.com/office/powerpoint/2010/main" val="3735245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2B839-E8CF-BF4D-93B8-0EE81E2A4A95}"/>
              </a:ext>
            </a:extLst>
          </p:cNvPr>
          <p:cNvSpPr>
            <a:spLocks noGrp="1"/>
          </p:cNvSpPr>
          <p:nvPr>
            <p:ph type="title"/>
          </p:nvPr>
        </p:nvSpPr>
        <p:spPr/>
        <p:txBody>
          <a:bodyPr/>
          <a:lstStyle/>
          <a:p>
            <a:r>
              <a:rPr lang="es-CL" dirty="0"/>
              <a:t>ERROR CUADRÁTICO MEDIO</a:t>
            </a:r>
          </a:p>
        </p:txBody>
      </p:sp>
      <p:sp>
        <p:nvSpPr>
          <p:cNvPr id="5" name="CuadroTexto 4">
            <a:extLst>
              <a:ext uri="{FF2B5EF4-FFF2-40B4-BE49-F238E27FC236}">
                <a16:creationId xmlns:a16="http://schemas.microsoft.com/office/drawing/2014/main" id="{880AC1F8-F5E3-EED1-E241-DFBFD3CD9269}"/>
              </a:ext>
            </a:extLst>
          </p:cNvPr>
          <p:cNvSpPr txBox="1"/>
          <p:nvPr/>
        </p:nvSpPr>
        <p:spPr>
          <a:xfrm>
            <a:off x="2051050" y="2835275"/>
            <a:ext cx="8610600" cy="6163226"/>
          </a:xfrm>
          <a:prstGeom prst="rect">
            <a:avLst/>
          </a:prstGeom>
          <a:noFill/>
        </p:spPr>
        <p:txBody>
          <a:bodyPr wrap="square" rtlCol="0">
            <a:spAutoFit/>
          </a:bodyPr>
          <a:lstStyle/>
          <a:p>
            <a:pPr algn="just"/>
            <a:r>
              <a:rPr lang="es-ES" sz="2800" dirty="0"/>
              <a:t>Existen numerosos estadísticos para medir la calidad de ajuste de un modelo.</a:t>
            </a:r>
          </a:p>
          <a:p>
            <a:pPr algn="just"/>
            <a:endParaRPr lang="es-ES" sz="2800" dirty="0"/>
          </a:p>
          <a:p>
            <a:pPr algn="just"/>
            <a:r>
              <a:rPr lang="es-ES" sz="2800" dirty="0"/>
              <a:t>Una forma de medir la calidad del modelo de regresión es a partir de la descomposición de la suma de cuadrados de la variable de respuesta.</a:t>
            </a:r>
          </a:p>
          <a:p>
            <a:pPr algn="just"/>
            <a:endParaRPr lang="es-ES" sz="2800" dirty="0"/>
          </a:p>
          <a:p>
            <a:pPr marL="46355" marR="5080" algn="just" rtl="0">
              <a:spcBef>
                <a:spcPts val="345"/>
              </a:spcBef>
              <a:spcAft>
                <a:spcPts val="0"/>
              </a:spcAft>
            </a:pPr>
            <a:r>
              <a:rPr lang="es-ES" sz="2800" dirty="0"/>
              <a:t>Para hacerlo se mide el error con respecto a los puntos de entrada y el valor de “Y” de salida real.</a:t>
            </a:r>
          </a:p>
          <a:p>
            <a:br>
              <a:rPr lang="es-ES" sz="2800" dirty="0"/>
            </a:br>
            <a:r>
              <a:rPr lang="es-ES" sz="2800" dirty="0"/>
              <a:t>La diferencia entre el valor “Y” de un punto real y el valor predicho de “Y”, se denomina residuo (vertical-offset en el gráfico).</a:t>
            </a:r>
          </a:p>
          <a:p>
            <a:pPr algn="just"/>
            <a:endParaRPr lang="es-ES" sz="2800" dirty="0"/>
          </a:p>
        </p:txBody>
      </p:sp>
      <p:pic>
        <p:nvPicPr>
          <p:cNvPr id="4098" name="Picture 2">
            <a:extLst>
              <a:ext uri="{FF2B5EF4-FFF2-40B4-BE49-F238E27FC236}">
                <a16:creationId xmlns:a16="http://schemas.microsoft.com/office/drawing/2014/main" id="{C90CC955-3D3B-DD7D-0A33-1F54BC020F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52250" y="2982912"/>
            <a:ext cx="7137514" cy="5343525"/>
          </a:xfrm>
          <a:prstGeom prst="rect">
            <a:avLst/>
          </a:prstGeom>
          <a:noFill/>
          <a:extLst>
            <a:ext uri="{909E8E84-426E-40DD-AFC4-6F175D3DCCD1}">
              <a14:hiddenFill xmlns:a14="http://schemas.microsoft.com/office/drawing/2010/main">
                <a:solidFill>
                  <a:srgbClr val="FFFFFF"/>
                </a:solidFill>
              </a14:hiddenFill>
            </a:ext>
          </a:extLst>
        </p:spPr>
      </p:pic>
      <p:sp>
        <p:nvSpPr>
          <p:cNvPr id="3" name="Elipse 2">
            <a:extLst>
              <a:ext uri="{FF2B5EF4-FFF2-40B4-BE49-F238E27FC236}">
                <a16:creationId xmlns:a16="http://schemas.microsoft.com/office/drawing/2014/main" id="{CB3E087A-C28D-7D2F-5695-D2769FC27579}"/>
              </a:ext>
            </a:extLst>
          </p:cNvPr>
          <p:cNvSpPr/>
          <p:nvPr/>
        </p:nvSpPr>
        <p:spPr>
          <a:xfrm>
            <a:off x="13211686" y="3825875"/>
            <a:ext cx="1752600" cy="1524000"/>
          </a:xfrm>
          <a:prstGeom prst="ellipse">
            <a:avLst/>
          </a:prstGeom>
          <a:noFill/>
          <a:ln w="539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0678114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2B839-E8CF-BF4D-93B8-0EE81E2A4A95}"/>
              </a:ext>
            </a:extLst>
          </p:cNvPr>
          <p:cNvSpPr>
            <a:spLocks noGrp="1"/>
          </p:cNvSpPr>
          <p:nvPr>
            <p:ph type="title"/>
          </p:nvPr>
        </p:nvSpPr>
        <p:spPr/>
        <p:txBody>
          <a:bodyPr/>
          <a:lstStyle/>
          <a:p>
            <a:r>
              <a:rPr lang="es-CL" dirty="0"/>
              <a:t>ERROR CUADRÁTICO MEDIO</a:t>
            </a:r>
          </a:p>
        </p:txBody>
      </p:sp>
      <p:sp>
        <p:nvSpPr>
          <p:cNvPr id="5" name="CuadroTexto 4">
            <a:extLst>
              <a:ext uri="{FF2B5EF4-FFF2-40B4-BE49-F238E27FC236}">
                <a16:creationId xmlns:a16="http://schemas.microsoft.com/office/drawing/2014/main" id="{880AC1F8-F5E3-EED1-E241-DFBFD3CD9269}"/>
              </a:ext>
            </a:extLst>
          </p:cNvPr>
          <p:cNvSpPr txBox="1"/>
          <p:nvPr/>
        </p:nvSpPr>
        <p:spPr>
          <a:xfrm>
            <a:off x="2051050" y="2835275"/>
            <a:ext cx="8610600" cy="7417415"/>
          </a:xfrm>
          <a:prstGeom prst="rect">
            <a:avLst/>
          </a:prstGeom>
          <a:noFill/>
        </p:spPr>
        <p:txBody>
          <a:bodyPr wrap="square" rtlCol="0">
            <a:spAutoFit/>
          </a:bodyPr>
          <a:lstStyle/>
          <a:p>
            <a:pPr algn="just" fontAlgn="base"/>
            <a:r>
              <a:rPr lang="es-ES" sz="2800" dirty="0"/>
              <a:t>El error residual representa la diferencia entre cada punto de datos real observado y el valor predicho que se deriva de la regresión lineal. </a:t>
            </a:r>
          </a:p>
          <a:p>
            <a:pPr algn="just" fontAlgn="base"/>
            <a:endParaRPr lang="es-ES" sz="2800" dirty="0"/>
          </a:p>
          <a:p>
            <a:pPr algn="just" fontAlgn="base"/>
            <a:r>
              <a:rPr lang="es-ES" sz="2800" dirty="0">
                <a:solidFill>
                  <a:srgbClr val="FF0000"/>
                </a:solidFill>
              </a:rPr>
              <a:t>Algunos valores del error residual serán positivos y otros negativos</a:t>
            </a:r>
            <a:r>
              <a:rPr lang="es-ES" sz="2800" dirty="0"/>
              <a:t>, dependiendo de si están por encima o por debajo de la línea de predicción. De hecho, si sumamos estos errores residuales, deberíamos obtener un valor de cero.</a:t>
            </a:r>
          </a:p>
          <a:p>
            <a:pPr algn="just" fontAlgn="base"/>
            <a:endParaRPr lang="es-ES" sz="2800" dirty="0"/>
          </a:p>
          <a:p>
            <a:pPr algn="just" fontAlgn="base"/>
            <a:r>
              <a:rPr lang="es-ES" sz="2800" dirty="0"/>
              <a:t>Para hacer uso de estos términos de error residual para ayudar a evaluar la bondad del ajuste, primero </a:t>
            </a:r>
            <a:r>
              <a:rPr lang="es-ES" sz="2800" dirty="0">
                <a:solidFill>
                  <a:srgbClr val="FF0000"/>
                </a:solidFill>
              </a:rPr>
              <a:t>elevamos al cuadrado </a:t>
            </a:r>
            <a:r>
              <a:rPr lang="es-ES" sz="2800" dirty="0"/>
              <a:t>los términos de error individuales, lo que da como resultado un número positivo para todos los valores. Entonces podemos calcular el error cuadrático medio , o MSE, para todo el conjunto de datos. </a:t>
            </a:r>
          </a:p>
        </p:txBody>
      </p:sp>
      <p:pic>
        <p:nvPicPr>
          <p:cNvPr id="4098" name="Picture 2">
            <a:extLst>
              <a:ext uri="{FF2B5EF4-FFF2-40B4-BE49-F238E27FC236}">
                <a16:creationId xmlns:a16="http://schemas.microsoft.com/office/drawing/2014/main" id="{C90CC955-3D3B-DD7D-0A33-1F54BC020F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95529" y="1524695"/>
            <a:ext cx="7137514" cy="5343525"/>
          </a:xfrm>
          <a:prstGeom prst="rect">
            <a:avLst/>
          </a:prstGeom>
          <a:noFill/>
          <a:extLst>
            <a:ext uri="{909E8E84-426E-40DD-AFC4-6F175D3DCCD1}">
              <a14:hiddenFill xmlns:a14="http://schemas.microsoft.com/office/drawing/2010/main">
                <a:solidFill>
                  <a:srgbClr val="FFFFFF"/>
                </a:solidFill>
              </a14:hiddenFill>
            </a:ext>
          </a:extLst>
        </p:spPr>
      </p:pic>
      <p:sp>
        <p:nvSpPr>
          <p:cNvPr id="3" name="Elipse 2">
            <a:extLst>
              <a:ext uri="{FF2B5EF4-FFF2-40B4-BE49-F238E27FC236}">
                <a16:creationId xmlns:a16="http://schemas.microsoft.com/office/drawing/2014/main" id="{CB3E087A-C28D-7D2F-5695-D2769FC27579}"/>
              </a:ext>
            </a:extLst>
          </p:cNvPr>
          <p:cNvSpPr/>
          <p:nvPr/>
        </p:nvSpPr>
        <p:spPr>
          <a:xfrm>
            <a:off x="13023850" y="2454275"/>
            <a:ext cx="1752600" cy="1524000"/>
          </a:xfrm>
          <a:prstGeom prst="ellipse">
            <a:avLst/>
          </a:prstGeom>
          <a:noFill/>
          <a:ln w="539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6" name="Imagen 5">
            <a:extLst>
              <a:ext uri="{FF2B5EF4-FFF2-40B4-BE49-F238E27FC236}">
                <a16:creationId xmlns:a16="http://schemas.microsoft.com/office/drawing/2014/main" id="{09D6C7B5-FB08-45B9-9372-52F4D70C11F3}"/>
              </a:ext>
            </a:extLst>
          </p:cNvPr>
          <p:cNvPicPr>
            <a:picLocks noChangeAspect="1"/>
          </p:cNvPicPr>
          <p:nvPr/>
        </p:nvPicPr>
        <p:blipFill>
          <a:blip r:embed="rId3"/>
          <a:stretch>
            <a:fillRect/>
          </a:stretch>
        </p:blipFill>
        <p:spPr>
          <a:xfrm>
            <a:off x="11395528" y="6868220"/>
            <a:ext cx="6657521" cy="3391865"/>
          </a:xfrm>
          <a:prstGeom prst="rect">
            <a:avLst/>
          </a:prstGeom>
        </p:spPr>
      </p:pic>
    </p:spTree>
    <p:extLst>
      <p:ext uri="{BB962C8B-B14F-4D97-AF65-F5344CB8AC3E}">
        <p14:creationId xmlns:p14="http://schemas.microsoft.com/office/powerpoint/2010/main" val="16287655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2B839-E8CF-BF4D-93B8-0EE81E2A4A95}"/>
              </a:ext>
            </a:extLst>
          </p:cNvPr>
          <p:cNvSpPr>
            <a:spLocks noGrp="1"/>
          </p:cNvSpPr>
          <p:nvPr>
            <p:ph type="title"/>
          </p:nvPr>
        </p:nvSpPr>
        <p:spPr/>
        <p:txBody>
          <a:bodyPr/>
          <a:lstStyle/>
          <a:p>
            <a:r>
              <a:rPr lang="es-CL" dirty="0"/>
              <a:t>ERROR CUADRÁTICO MEDIO</a:t>
            </a:r>
          </a:p>
        </p:txBody>
      </p:sp>
      <p:sp>
        <p:nvSpPr>
          <p:cNvPr id="5" name="CuadroTexto 4">
            <a:extLst>
              <a:ext uri="{FF2B5EF4-FFF2-40B4-BE49-F238E27FC236}">
                <a16:creationId xmlns:a16="http://schemas.microsoft.com/office/drawing/2014/main" id="{880AC1F8-F5E3-EED1-E241-DFBFD3CD9269}"/>
              </a:ext>
            </a:extLst>
          </p:cNvPr>
          <p:cNvSpPr txBox="1"/>
          <p:nvPr/>
        </p:nvSpPr>
        <p:spPr>
          <a:xfrm>
            <a:off x="2051050" y="2835275"/>
            <a:ext cx="8610600" cy="7417415"/>
          </a:xfrm>
          <a:prstGeom prst="rect">
            <a:avLst/>
          </a:prstGeom>
          <a:noFill/>
        </p:spPr>
        <p:txBody>
          <a:bodyPr wrap="square" rtlCol="0">
            <a:spAutoFit/>
          </a:bodyPr>
          <a:lstStyle/>
          <a:p>
            <a:pPr algn="just"/>
            <a:r>
              <a:rPr lang="es-ES" sz="2800" dirty="0"/>
              <a:t>En minería de datos el </a:t>
            </a:r>
            <a:r>
              <a:rPr lang="es-ES" sz="2800" dirty="0">
                <a:solidFill>
                  <a:srgbClr val="FF0000"/>
                </a:solidFill>
              </a:rPr>
              <a:t>objetivo final de los modelos de regresión es realizar buenas predicciones de individuos anónimos</a:t>
            </a:r>
            <a:r>
              <a:rPr lang="es-ES" sz="2800" dirty="0"/>
              <a:t>, esto es, con valor de la variable de respuesta desconocido. Por tanto, interesan modelos con errores de predicción lo más pequeños posible.</a:t>
            </a:r>
          </a:p>
          <a:p>
            <a:pPr algn="just"/>
            <a:endParaRPr lang="es-ES" sz="2800" dirty="0"/>
          </a:p>
          <a:p>
            <a:pPr algn="just"/>
            <a:r>
              <a:rPr lang="es-ES" sz="2800" dirty="0"/>
              <a:t>Para estimar el error de predicción se debe disponer de suficientes datos, y dividirlos en dos grupos, uno que conformará la muestra de aprendizaje (</a:t>
            </a:r>
            <a:r>
              <a:rPr lang="es-ES" sz="2800" dirty="0">
                <a:solidFill>
                  <a:srgbClr val="FF0000"/>
                </a:solidFill>
              </a:rPr>
              <a:t>conjunto</a:t>
            </a:r>
          </a:p>
          <a:p>
            <a:pPr algn="just"/>
            <a:r>
              <a:rPr lang="es-ES" sz="2800" dirty="0">
                <a:solidFill>
                  <a:srgbClr val="FF0000"/>
                </a:solidFill>
              </a:rPr>
              <a:t>de entrenamiento</a:t>
            </a:r>
            <a:r>
              <a:rPr lang="es-ES" sz="2800" dirty="0"/>
              <a:t>), con la que estimaremos el modelo de regresión y otra muestra, independiente de la anterior, que formará la muestra de prueba (</a:t>
            </a:r>
            <a:r>
              <a:rPr lang="es-ES" sz="2800" dirty="0">
                <a:solidFill>
                  <a:srgbClr val="FF0000"/>
                </a:solidFill>
              </a:rPr>
              <a:t>test</a:t>
            </a:r>
            <a:r>
              <a:rPr lang="es-ES" sz="2800" dirty="0"/>
              <a:t>). Esta muestra servirá pues para estimar el error de predicción del modelo denominado R</a:t>
            </a:r>
          </a:p>
          <a:p>
            <a:pPr algn="just"/>
            <a:endParaRPr lang="es-ES" sz="2800" dirty="0"/>
          </a:p>
          <a:p>
            <a:pPr algn="just"/>
            <a:endParaRPr lang="es-ES" sz="2800" dirty="0"/>
          </a:p>
        </p:txBody>
      </p:sp>
      <p:pic>
        <p:nvPicPr>
          <p:cNvPr id="6" name="Imagen 5">
            <a:extLst>
              <a:ext uri="{FF2B5EF4-FFF2-40B4-BE49-F238E27FC236}">
                <a16:creationId xmlns:a16="http://schemas.microsoft.com/office/drawing/2014/main" id="{1835F96A-9B22-E893-27B2-2E15B0966D7D}"/>
              </a:ext>
            </a:extLst>
          </p:cNvPr>
          <p:cNvPicPr>
            <a:picLocks noChangeAspect="1"/>
          </p:cNvPicPr>
          <p:nvPr/>
        </p:nvPicPr>
        <p:blipFill>
          <a:blip r:embed="rId2"/>
          <a:stretch>
            <a:fillRect/>
          </a:stretch>
        </p:blipFill>
        <p:spPr>
          <a:xfrm>
            <a:off x="11852275" y="3368675"/>
            <a:ext cx="6200775" cy="1314450"/>
          </a:xfrm>
          <a:prstGeom prst="rect">
            <a:avLst/>
          </a:prstGeom>
          <a:ln w="34925">
            <a:solidFill>
              <a:schemeClr val="accent1"/>
            </a:solidFill>
          </a:ln>
        </p:spPr>
      </p:pic>
      <p:pic>
        <p:nvPicPr>
          <p:cNvPr id="8" name="Imagen 7">
            <a:extLst>
              <a:ext uri="{FF2B5EF4-FFF2-40B4-BE49-F238E27FC236}">
                <a16:creationId xmlns:a16="http://schemas.microsoft.com/office/drawing/2014/main" id="{5D5A1BD6-9FC7-878D-0F99-16CA5EE86771}"/>
              </a:ext>
            </a:extLst>
          </p:cNvPr>
          <p:cNvPicPr>
            <a:picLocks noChangeAspect="1"/>
          </p:cNvPicPr>
          <p:nvPr/>
        </p:nvPicPr>
        <p:blipFill>
          <a:blip r:embed="rId3"/>
          <a:stretch>
            <a:fillRect/>
          </a:stretch>
        </p:blipFill>
        <p:spPr>
          <a:xfrm>
            <a:off x="11880850" y="6416675"/>
            <a:ext cx="6172200" cy="1838325"/>
          </a:xfrm>
          <a:prstGeom prst="rect">
            <a:avLst/>
          </a:prstGeom>
          <a:ln w="28575">
            <a:solidFill>
              <a:schemeClr val="accent1"/>
            </a:solidFill>
          </a:ln>
        </p:spPr>
      </p:pic>
      <p:sp>
        <p:nvSpPr>
          <p:cNvPr id="9" name="Flecha: hacia abajo 8">
            <a:extLst>
              <a:ext uri="{FF2B5EF4-FFF2-40B4-BE49-F238E27FC236}">
                <a16:creationId xmlns:a16="http://schemas.microsoft.com/office/drawing/2014/main" id="{F270639E-4B20-2439-17E1-9518CE36DF18}"/>
              </a:ext>
            </a:extLst>
          </p:cNvPr>
          <p:cNvSpPr/>
          <p:nvPr/>
        </p:nvSpPr>
        <p:spPr>
          <a:xfrm>
            <a:off x="14014450" y="5235575"/>
            <a:ext cx="2362200" cy="5334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796188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7D15BE-E3B2-F743-9878-F149B7D92C0C}"/>
              </a:ext>
            </a:extLst>
          </p:cNvPr>
          <p:cNvSpPr>
            <a:spLocks noGrp="1"/>
          </p:cNvSpPr>
          <p:nvPr>
            <p:ph type="title"/>
          </p:nvPr>
        </p:nvSpPr>
        <p:spPr>
          <a:xfrm>
            <a:off x="6242050" y="9007475"/>
            <a:ext cx="9020022" cy="1015663"/>
          </a:xfrm>
        </p:spPr>
        <p:txBody>
          <a:bodyPr/>
          <a:lstStyle/>
          <a:p>
            <a:r>
              <a:rPr lang="es-CL" sz="6600" dirty="0"/>
              <a:t>RESUMEN</a:t>
            </a:r>
          </a:p>
        </p:txBody>
      </p:sp>
      <p:sp>
        <p:nvSpPr>
          <p:cNvPr id="3" name="Título 1">
            <a:extLst>
              <a:ext uri="{FF2B5EF4-FFF2-40B4-BE49-F238E27FC236}">
                <a16:creationId xmlns:a16="http://schemas.microsoft.com/office/drawing/2014/main" id="{9224DE7A-4464-F54B-B074-7663E7D43917}"/>
              </a:ext>
            </a:extLst>
          </p:cNvPr>
          <p:cNvSpPr txBox="1">
            <a:spLocks/>
          </p:cNvSpPr>
          <p:nvPr/>
        </p:nvSpPr>
        <p:spPr>
          <a:xfrm>
            <a:off x="6276975" y="7752358"/>
            <a:ext cx="1670957" cy="147732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9600" dirty="0">
                <a:solidFill>
                  <a:srgbClr val="257CE1"/>
                </a:solidFill>
                <a:latin typeface="Arial Black" panose="020B0604020202020204" pitchFamily="34" charset="0"/>
                <a:cs typeface="Arial Black" panose="020B0604020202020204" pitchFamily="34" charset="0"/>
              </a:rPr>
              <a:t>04</a:t>
            </a:r>
          </a:p>
        </p:txBody>
      </p:sp>
    </p:spTree>
    <p:extLst>
      <p:ext uri="{BB962C8B-B14F-4D97-AF65-F5344CB8AC3E}">
        <p14:creationId xmlns:p14="http://schemas.microsoft.com/office/powerpoint/2010/main" val="1520246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CBCD8BF0-1144-D34D-8793-D9BC0214A663}"/>
              </a:ext>
            </a:extLst>
          </p:cNvPr>
          <p:cNvSpPr>
            <a:spLocks noGrp="1"/>
          </p:cNvSpPr>
          <p:nvPr>
            <p:ph type="body" sz="quarter" idx="10"/>
          </p:nvPr>
        </p:nvSpPr>
        <p:spPr/>
        <p:txBody>
          <a:bodyPr/>
          <a:lstStyle/>
          <a:p>
            <a:r>
              <a:rPr lang="es-CL" dirty="0"/>
              <a:t>RESUMEN</a:t>
            </a:r>
          </a:p>
        </p:txBody>
      </p:sp>
      <p:sp>
        <p:nvSpPr>
          <p:cNvPr id="3" name="CuadroTexto 2">
            <a:extLst>
              <a:ext uri="{FF2B5EF4-FFF2-40B4-BE49-F238E27FC236}">
                <a16:creationId xmlns:a16="http://schemas.microsoft.com/office/drawing/2014/main" id="{D27F119F-996A-54C1-08D8-A05CBD0E1453}"/>
              </a:ext>
            </a:extLst>
          </p:cNvPr>
          <p:cNvSpPr txBox="1"/>
          <p:nvPr/>
        </p:nvSpPr>
        <p:spPr>
          <a:xfrm>
            <a:off x="2279650" y="2682875"/>
            <a:ext cx="12192000" cy="3416320"/>
          </a:xfrm>
          <a:prstGeom prst="rect">
            <a:avLst/>
          </a:prstGeom>
          <a:noFill/>
        </p:spPr>
        <p:txBody>
          <a:bodyPr wrap="square" rtlCol="0">
            <a:spAutoFit/>
          </a:bodyPr>
          <a:lstStyle/>
          <a:p>
            <a:r>
              <a:rPr lang="es-CL" sz="2800" b="1" dirty="0">
                <a:latin typeface="Arial" panose="020B0604020202020204" pitchFamily="34" charset="0"/>
                <a:cs typeface="Arial" panose="020B0604020202020204" pitchFamily="34" charset="0"/>
              </a:rPr>
              <a:t>En esta presentación, hemos visto:</a:t>
            </a:r>
          </a:p>
          <a:p>
            <a:endParaRPr lang="es-CL" sz="2800" b="1" dirty="0">
              <a:latin typeface="Arial" panose="020B0604020202020204" pitchFamily="34" charset="0"/>
              <a:cs typeface="Arial" panose="020B0604020202020204" pitchFamily="34" charset="0"/>
            </a:endParaRPr>
          </a:p>
          <a:p>
            <a:pPr marL="457200" indent="-457200">
              <a:buFont typeface="Wingdings" panose="05000000000000000000" pitchFamily="2" charset="2"/>
              <a:buChar char="q"/>
            </a:pPr>
            <a:r>
              <a:rPr lang="es-ES" sz="2800" dirty="0">
                <a:latin typeface="Arial" panose="020B0604020202020204" pitchFamily="34" charset="0"/>
                <a:cs typeface="Arial" panose="020B0604020202020204" pitchFamily="34" charset="0"/>
              </a:rPr>
              <a:t>Introducción a  métodos estadísticos para predicciones</a:t>
            </a:r>
          </a:p>
          <a:p>
            <a:pPr marL="457200" indent="-457200">
              <a:buFont typeface="Wingdings" panose="05000000000000000000" pitchFamily="2" charset="2"/>
              <a:buChar char="q"/>
            </a:pPr>
            <a:endParaRPr lang="es-ES" sz="2800" dirty="0">
              <a:latin typeface="Arial" panose="020B0604020202020204" pitchFamily="34" charset="0"/>
              <a:cs typeface="Arial" panose="020B0604020202020204" pitchFamily="34" charset="0"/>
            </a:endParaRPr>
          </a:p>
          <a:p>
            <a:pPr marL="457200" indent="-457200">
              <a:buFont typeface="Wingdings" panose="05000000000000000000" pitchFamily="2" charset="2"/>
              <a:buChar char="q"/>
            </a:pPr>
            <a:r>
              <a:rPr lang="es-ES" sz="2800" dirty="0">
                <a:latin typeface="Arial" panose="020B0604020202020204" pitchFamily="34" charset="0"/>
                <a:cs typeface="Arial" panose="020B0604020202020204" pitchFamily="34" charset="0"/>
              </a:rPr>
              <a:t>Modelo de regresión lineal</a:t>
            </a:r>
          </a:p>
          <a:p>
            <a:pPr marL="457200" indent="-457200">
              <a:buFont typeface="Wingdings" panose="05000000000000000000" pitchFamily="2" charset="2"/>
              <a:buChar char="q"/>
            </a:pPr>
            <a:endParaRPr lang="es-ES" sz="2800" dirty="0">
              <a:latin typeface="Arial" panose="020B0604020202020204" pitchFamily="34" charset="0"/>
              <a:cs typeface="Arial" panose="020B0604020202020204" pitchFamily="34" charset="0"/>
            </a:endParaRPr>
          </a:p>
          <a:p>
            <a:pPr marL="457200" indent="-457200">
              <a:buFont typeface="Wingdings" panose="05000000000000000000" pitchFamily="2" charset="2"/>
              <a:buChar char="q"/>
            </a:pPr>
            <a:r>
              <a:rPr lang="es-ES" sz="2800" dirty="0">
                <a:latin typeface="Arial" panose="020B0604020202020204" pitchFamily="34" charset="0"/>
                <a:cs typeface="Arial" panose="020B0604020202020204" pitchFamily="34" charset="0"/>
              </a:rPr>
              <a:t>Error cuadrático medio</a:t>
            </a:r>
          </a:p>
          <a:p>
            <a:pPr algn="just"/>
            <a:endParaRPr lang="es-CL" sz="2000" dirty="0"/>
          </a:p>
        </p:txBody>
      </p:sp>
    </p:spTree>
    <p:extLst>
      <p:ext uri="{BB962C8B-B14F-4D97-AF65-F5344CB8AC3E}">
        <p14:creationId xmlns:p14="http://schemas.microsoft.com/office/powerpoint/2010/main" val="30569588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4E9A3AE23414AD41A4F4D6368514CED2" ma:contentTypeVersion="13" ma:contentTypeDescription="Crear nuevo documento." ma:contentTypeScope="" ma:versionID="e5b9210409080ab1878d310b63a91de2">
  <xsd:schema xmlns:xsd="http://www.w3.org/2001/XMLSchema" xmlns:xs="http://www.w3.org/2001/XMLSchema" xmlns:p="http://schemas.microsoft.com/office/2006/metadata/properties" xmlns:ns2="dbb86751-ad4c-49ff-a33d-b7314027950b" xmlns:ns3="4215e297-5d6e-42b1-b795-55976a17412c" targetNamespace="http://schemas.microsoft.com/office/2006/metadata/properties" ma:root="true" ma:fieldsID="13f1ec48c0d2d83b68390b1e0be9568b" ns2:_="" ns3:_="">
    <xsd:import namespace="dbb86751-ad4c-49ff-a33d-b7314027950b"/>
    <xsd:import namespace="4215e297-5d6e-42b1-b795-55976a17412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bb86751-ad4c-49ff-a33d-b7314027950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Etiquetas de imagen" ma:readOnly="false" ma:fieldId="{5cf76f15-5ced-4ddc-b409-7134ff3c332f}" ma:taxonomyMulti="true" ma:sspId="e2f773bf-f00b-42a6-8b07-050935be226b"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4215e297-5d6e-42b1-b795-55976a17412c" elementFormDefault="qualified">
    <xsd:import namespace="http://schemas.microsoft.com/office/2006/documentManagement/types"/>
    <xsd:import namespace="http://schemas.microsoft.com/office/infopath/2007/PartnerControls"/>
    <xsd:element name="SharedWithUsers" ma:index="16"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Detalles de uso compartido" ma:internalName="SharedWithDetails" ma:readOnly="true">
      <xsd:simpleType>
        <xsd:restriction base="dms:Note">
          <xsd:maxLength value="255"/>
        </xsd:restriction>
      </xsd:simpleType>
    </xsd:element>
    <xsd:element name="TaxCatchAll" ma:index="20" nillable="true" ma:displayName="Taxonomy Catch All Column" ma:hidden="true" ma:list="{f8d5977e-d2ec-4115-827c-1393f5edec4a}" ma:internalName="TaxCatchAll" ma:showField="CatchAllData" ma:web="4215e297-5d6e-42b1-b795-55976a17412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bb86751-ad4c-49ff-a33d-b7314027950b">
      <Terms xmlns="http://schemas.microsoft.com/office/infopath/2007/PartnerControls"/>
    </lcf76f155ced4ddcb4097134ff3c332f>
    <TaxCatchAll xmlns="4215e297-5d6e-42b1-b795-55976a17412c" xsi:nil="true"/>
  </documentManagement>
</p:properties>
</file>

<file path=customXml/itemProps1.xml><?xml version="1.0" encoding="utf-8"?>
<ds:datastoreItem xmlns:ds="http://schemas.openxmlformats.org/officeDocument/2006/customXml" ds:itemID="{64C43652-73DC-4C77-8E79-F06010C18C35}">
  <ds:schemaRefs>
    <ds:schemaRef ds:uri="http://schemas.microsoft.com/sharepoint/v3/contenttype/forms"/>
  </ds:schemaRefs>
</ds:datastoreItem>
</file>

<file path=customXml/itemProps2.xml><?xml version="1.0" encoding="utf-8"?>
<ds:datastoreItem xmlns:ds="http://schemas.openxmlformats.org/officeDocument/2006/customXml" ds:itemID="{BBBF0A18-574F-4CFD-981D-5882D694459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bb86751-ad4c-49ff-a33d-b7314027950b"/>
    <ds:schemaRef ds:uri="4215e297-5d6e-42b1-b795-55976a17412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D821600-D61B-433B-B6F8-A294D9BC75DD}">
  <ds:schemaRefs>
    <ds:schemaRef ds:uri="http://schemas.microsoft.com/office/2006/metadata/properties"/>
    <ds:schemaRef ds:uri="http://schemas.microsoft.com/office/infopath/2007/PartnerControls"/>
    <ds:schemaRef ds:uri="dbb86751-ad4c-49ff-a33d-b7314027950b"/>
    <ds:schemaRef ds:uri="4215e297-5d6e-42b1-b795-55976a17412c"/>
  </ds:schemaRefs>
</ds:datastoreItem>
</file>

<file path=docProps/app.xml><?xml version="1.0" encoding="utf-8"?>
<Properties xmlns="http://schemas.openxmlformats.org/officeDocument/2006/extended-properties" xmlns:vt="http://schemas.openxmlformats.org/officeDocument/2006/docPropsVTypes">
  <Template/>
  <TotalTime>4565</TotalTime>
  <Words>1111</Words>
  <Application>Microsoft Office PowerPoint</Application>
  <PresentationFormat>Personalizado</PresentationFormat>
  <Paragraphs>87</Paragraphs>
  <Slides>17</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17</vt:i4>
      </vt:variant>
    </vt:vector>
  </HeadingPairs>
  <TitlesOfParts>
    <vt:vector size="22" baseType="lpstr">
      <vt:lpstr>Arial</vt:lpstr>
      <vt:lpstr>Arial Black</vt:lpstr>
      <vt:lpstr>Calibri</vt:lpstr>
      <vt:lpstr>Wingdings</vt:lpstr>
      <vt:lpstr>Office Theme</vt:lpstr>
      <vt:lpstr>MODELOS ESTADÍSTICOS PARAMÉTRICOS (REGRESIÓN)</vt:lpstr>
      <vt:lpstr>Presentación de PowerPoint</vt:lpstr>
      <vt:lpstr>INTRODUCCIÓN</vt:lpstr>
      <vt:lpstr>INTRODUCCIÓN</vt:lpstr>
      <vt:lpstr>INTRODUCCIÓN</vt:lpstr>
      <vt:lpstr>INTRODUCCIÓN</vt:lpstr>
      <vt:lpstr>TÍTULO</vt:lpstr>
      <vt:lpstr>Presentación de PowerPoint</vt:lpstr>
      <vt:lpstr>Presentación de PowerPoint</vt:lpstr>
      <vt:lpstr>Presentación de PowerPoint</vt:lpstr>
      <vt:lpstr>Presentación de PowerPoint</vt:lpstr>
      <vt:lpstr>ERROR CUADRÁTICO MEDIO</vt:lpstr>
      <vt:lpstr>ERROR CUADRÁTICO MEDIO</vt:lpstr>
      <vt:lpstr>ERROR CUADRÁTICO MEDIO</vt:lpstr>
      <vt:lpstr>ERROR CUADRÁTICO MEDIO</vt:lpstr>
      <vt:lpstr>RESUMEN</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dc:title>
  <dc:creator>Daniela Taito R.</dc:creator>
  <cp:lastModifiedBy>guillermo pinto</cp:lastModifiedBy>
  <cp:revision>246</cp:revision>
  <dcterms:created xsi:type="dcterms:W3CDTF">2022-07-20T19:15:37Z</dcterms:created>
  <dcterms:modified xsi:type="dcterms:W3CDTF">2023-11-26T21:53:44Z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2022-07-20T00:00:00Z</vt:filetime>
  </property>
  <property fmtid="{D5CDD505-2E9C-101B-9397-08002B2CF9AE}" pid="3" name="Creator">
    <vt:lpwstr>Adobe Illustrator 26.3 (Macintosh)</vt:lpwstr>
  </property>
  <property fmtid="{D5CDD505-2E9C-101B-9397-08002B2CF9AE}" pid="4" name="CreatorVersion">
    <vt:lpwstr>21.0.0</vt:lpwstr>
  </property>
  <property fmtid="{D5CDD505-2E9C-101B-9397-08002B2CF9AE}" pid="5" name="LastSaved">
    <vt:filetime>2022-07-20T00:00:00Z</vt:filetime>
  </property>
  <property fmtid="{D5CDD505-2E9C-101B-9397-08002B2CF9AE}" pid="6" name="Producer">
    <vt:lpwstr>Adobe PDF library 15.00</vt:lpwstr>
  </property>
  <property fmtid="{D5CDD505-2E9C-101B-9397-08002B2CF9AE}" pid="7" name="ContentTypeId">
    <vt:lpwstr>0x0101004E9A3AE23414AD41A4F4D6368514CED2</vt:lpwstr>
  </property>
</Properties>
</file>