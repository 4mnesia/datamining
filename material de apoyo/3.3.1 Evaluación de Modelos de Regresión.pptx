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1309350" cx="20104100"/>
  <p:notesSz cx="20104100" cy="11309350"/>
  <p:embeddedFontLst>
    <p:embeddedFont>
      <p:font typeface="Arial Black"/>
      <p:regular r:id="rId23"/>
    </p:embeddedFont>
    <p:embeddedFont>
      <p:font typeface="Cambria Math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EdqbGe0tl0Okz2a7el3kPZpU4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ambriaMath-regular.fntdata"/><Relationship Id="rId23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9"/>
          <p:cNvSpPr txBox="1"/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subTitle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/>
          <p:nvPr/>
        </p:nvSpPr>
        <p:spPr>
          <a:xfrm>
            <a:off x="2838209" y="9464675"/>
            <a:ext cx="8841105" cy="0"/>
          </a:xfrm>
          <a:custGeom>
            <a:rect b="b" l="l" r="r" t="t"/>
            <a:pathLst>
              <a:path extrusionOk="0" h="120000"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0"/>
          <p:cNvSpPr txBox="1"/>
          <p:nvPr>
            <p:ph type="title"/>
          </p:nvPr>
        </p:nvSpPr>
        <p:spPr>
          <a:xfrm>
            <a:off x="6851650" y="74834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1"/>
          <p:cNvSpPr txBox="1"/>
          <p:nvPr>
            <p:ph type="title"/>
          </p:nvPr>
        </p:nvSpPr>
        <p:spPr>
          <a:xfrm>
            <a:off x="4794250" y="69500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/>
          <p:nvPr/>
        </p:nvSpPr>
        <p:spPr>
          <a:xfrm>
            <a:off x="-6350" y="656116"/>
            <a:ext cx="2243455" cy="1060450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" name="Google Shape;29;p22"/>
          <p:cNvSpPr/>
          <p:nvPr/>
        </p:nvSpPr>
        <p:spPr>
          <a:xfrm>
            <a:off x="16938421" y="10202309"/>
            <a:ext cx="1576070" cy="511175"/>
          </a:xfrm>
          <a:custGeom>
            <a:rect b="b" l="l" r="r" t="t"/>
            <a:pathLst>
              <a:path extrusionOk="0" h="511175" w="1576069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69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69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69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22"/>
          <p:cNvSpPr/>
          <p:nvPr/>
        </p:nvSpPr>
        <p:spPr>
          <a:xfrm>
            <a:off x="18623540" y="10245307"/>
            <a:ext cx="378460" cy="469900"/>
          </a:xfrm>
          <a:custGeom>
            <a:rect b="b" l="l" r="r" t="t"/>
            <a:pathLst>
              <a:path extrusionOk="0" h="469900" w="378459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1" name="Google Shape;31;p22"/>
          <p:cNvGrpSpPr/>
          <p:nvPr/>
        </p:nvGrpSpPr>
        <p:grpSpPr>
          <a:xfrm>
            <a:off x="19053919" y="10117702"/>
            <a:ext cx="427015" cy="597582"/>
            <a:chOff x="19053919" y="10117702"/>
            <a:chExt cx="427015" cy="597582"/>
          </a:xfrm>
        </p:grpSpPr>
        <p:sp>
          <p:nvSpPr>
            <p:cNvPr id="32" name="Google Shape;32;p22"/>
            <p:cNvSpPr/>
            <p:nvPr/>
          </p:nvSpPr>
          <p:spPr>
            <a:xfrm>
              <a:off x="19053919" y="10237764"/>
              <a:ext cx="366395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3" name="Google Shape;33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40"/>
            <a:ext cx="20109342" cy="1130561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3"/>
          <p:cNvSpPr/>
          <p:nvPr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dk1">
              <a:alpha val="5882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8" name="Google Shape;38;p23"/>
          <p:cNvSpPr txBox="1"/>
          <p:nvPr>
            <p:ph type="title"/>
          </p:nvPr>
        </p:nvSpPr>
        <p:spPr>
          <a:xfrm>
            <a:off x="1184428" y="65914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/>
          <p:nvPr/>
        </p:nvSpPr>
        <p:spPr>
          <a:xfrm>
            <a:off x="727227" y="10202309"/>
            <a:ext cx="1576070" cy="511175"/>
          </a:xfrm>
          <a:custGeom>
            <a:rect b="b" l="l" r="r" t="t"/>
            <a:pathLst>
              <a:path extrusionOk="0" h="511175" w="157607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70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70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7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" name="Google Shape;41;p24"/>
          <p:cNvSpPr/>
          <p:nvPr/>
        </p:nvSpPr>
        <p:spPr>
          <a:xfrm>
            <a:off x="2412348" y="10245307"/>
            <a:ext cx="378460" cy="469900"/>
          </a:xfrm>
          <a:custGeom>
            <a:rect b="b" l="l" r="r" t="t"/>
            <a:pathLst>
              <a:path extrusionOk="0" h="469900" w="37846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2" name="Google Shape;42;p24"/>
          <p:cNvGrpSpPr/>
          <p:nvPr/>
        </p:nvGrpSpPr>
        <p:grpSpPr>
          <a:xfrm>
            <a:off x="2842727" y="10117702"/>
            <a:ext cx="427015" cy="597582"/>
            <a:chOff x="2842727" y="10117702"/>
            <a:chExt cx="427015" cy="597582"/>
          </a:xfrm>
        </p:grpSpPr>
        <p:sp>
          <p:nvSpPr>
            <p:cNvPr id="43" name="Google Shape;43;p24"/>
            <p:cNvSpPr/>
            <p:nvPr/>
          </p:nvSpPr>
          <p:spPr>
            <a:xfrm>
              <a:off x="2842727" y="10237764"/>
              <a:ext cx="366395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4" name="Google Shape;44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" name="Google Shape;45;p24"/>
          <p:cNvSpPr/>
          <p:nvPr/>
        </p:nvSpPr>
        <p:spPr>
          <a:xfrm>
            <a:off x="17840597" y="656116"/>
            <a:ext cx="2243455" cy="1060450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727227" y="755454"/>
            <a:ext cx="1679242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Diseño personalizado">
  <p:cSld name="5_Diseño personaliza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340"/>
            <a:ext cx="20110047" cy="1130601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5"/>
          <p:cNvSpPr txBox="1"/>
          <p:nvPr>
            <p:ph type="title"/>
          </p:nvPr>
        </p:nvSpPr>
        <p:spPr>
          <a:xfrm>
            <a:off x="831850" y="71786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Diseño personalizado">
  <p:cSld name="6_Diseño personalizad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6"/>
          <p:cNvSpPr/>
          <p:nvPr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dk1">
              <a:alpha val="5882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4" name="Google Shape;54;p26"/>
          <p:cNvSpPr txBox="1"/>
          <p:nvPr>
            <p:ph type="title"/>
          </p:nvPr>
        </p:nvSpPr>
        <p:spPr>
          <a:xfrm>
            <a:off x="7661428" y="8207476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seño personalizado">
  <p:cSld name="3_Diseño personalizado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7"/>
          <p:cNvSpPr txBox="1"/>
          <p:nvPr>
            <p:ph type="title"/>
          </p:nvPr>
        </p:nvSpPr>
        <p:spPr>
          <a:xfrm>
            <a:off x="6623050" y="70262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seño personalizado">
  <p:cSld name="4_Diseño personalizado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8"/>
          <p:cNvSpPr/>
          <p:nvPr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dk1">
              <a:alpha val="5882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2" name="Google Shape;62;p28"/>
          <p:cNvSpPr txBox="1"/>
          <p:nvPr>
            <p:ph type="title"/>
          </p:nvPr>
        </p:nvSpPr>
        <p:spPr>
          <a:xfrm>
            <a:off x="4842028" y="45340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9"/>
          <p:cNvSpPr/>
          <p:nvPr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dk1">
              <a:alpha val="5882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7" name="Google Shape;67;p29"/>
          <p:cNvSpPr txBox="1"/>
          <p:nvPr>
            <p:ph type="title"/>
          </p:nvPr>
        </p:nvSpPr>
        <p:spPr>
          <a:xfrm>
            <a:off x="7432828" y="76582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8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>
            <p:ph type="ctrTitle"/>
          </p:nvPr>
        </p:nvSpPr>
        <p:spPr>
          <a:xfrm>
            <a:off x="2889250" y="8169275"/>
            <a:ext cx="8749511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800"/>
              <a:t>EVALUACIÓN</a:t>
            </a:r>
            <a:br>
              <a:rPr lang="es-ES" sz="3800"/>
            </a:br>
            <a:r>
              <a:rPr lang="es-ES" sz="3800"/>
              <a:t>MODELOS DE REGRESIÓN</a:t>
            </a:r>
            <a:endParaRPr sz="3800"/>
          </a:p>
        </p:txBody>
      </p:sp>
      <p:sp>
        <p:nvSpPr>
          <p:cNvPr id="75" name="Google Shape;75;p1"/>
          <p:cNvSpPr txBox="1"/>
          <p:nvPr>
            <p:ph idx="1" type="subTitle"/>
          </p:nvPr>
        </p:nvSpPr>
        <p:spPr>
          <a:xfrm>
            <a:off x="2926080" y="9554269"/>
            <a:ext cx="87126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BIY7121 MINERÍA DE DATOS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6000">
                <a:latin typeface="Arial Black"/>
                <a:ea typeface="Arial Black"/>
                <a:cs typeface="Arial Black"/>
                <a:sym typeface="Arial Black"/>
              </a:rPr>
              <a:t>CONTENIDO</a:t>
            </a:r>
            <a:endParaRPr/>
          </a:p>
        </p:txBody>
      </p:sp>
      <p:sp>
        <p:nvSpPr>
          <p:cNvPr id="81" name="Google Shape;81;p2"/>
          <p:cNvSpPr txBox="1"/>
          <p:nvPr/>
        </p:nvSpPr>
        <p:spPr>
          <a:xfrm>
            <a:off x="9518650" y="4020489"/>
            <a:ext cx="1066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  <p:sp>
        <p:nvSpPr>
          <p:cNvPr id="82" name="Google Shape;82;p2"/>
          <p:cNvSpPr txBox="1"/>
          <p:nvPr/>
        </p:nvSpPr>
        <p:spPr>
          <a:xfrm>
            <a:off x="9617262" y="7026177"/>
            <a:ext cx="45790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CORRELACIÓN LINEAL</a:t>
            </a:r>
            <a:endParaRPr/>
          </a:p>
        </p:txBody>
      </p:sp>
      <p:sp>
        <p:nvSpPr>
          <p:cNvPr id="83" name="Google Shape;83;p2"/>
          <p:cNvSpPr txBox="1"/>
          <p:nvPr/>
        </p:nvSpPr>
        <p:spPr>
          <a:xfrm>
            <a:off x="9518650" y="6264177"/>
            <a:ext cx="1066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9617262" y="9194781"/>
            <a:ext cx="416597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MÉTRICAS DE AJUSTE DE MODELO</a:t>
            </a:r>
            <a:endParaRPr/>
          </a:p>
        </p:txBody>
      </p:sp>
      <p:sp>
        <p:nvSpPr>
          <p:cNvPr id="85" name="Google Shape;85;p2"/>
          <p:cNvSpPr txBox="1"/>
          <p:nvPr/>
        </p:nvSpPr>
        <p:spPr>
          <a:xfrm>
            <a:off x="9617262" y="8432781"/>
            <a:ext cx="1066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/>
          </a:p>
        </p:txBody>
      </p:sp>
      <p:sp>
        <p:nvSpPr>
          <p:cNvPr id="86" name="Google Shape;86;p2"/>
          <p:cNvSpPr txBox="1"/>
          <p:nvPr/>
        </p:nvSpPr>
        <p:spPr>
          <a:xfrm>
            <a:off x="9617262" y="4782488"/>
            <a:ext cx="45790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INTRODUCCION</a:t>
            </a:r>
            <a:endParaRPr/>
          </a:p>
        </p:txBody>
      </p:sp>
      <p:sp>
        <p:nvSpPr>
          <p:cNvPr id="87" name="Google Shape;87;p2"/>
          <p:cNvSpPr txBox="1"/>
          <p:nvPr/>
        </p:nvSpPr>
        <p:spPr>
          <a:xfrm>
            <a:off x="14876207" y="4859339"/>
            <a:ext cx="47288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RESUMEN</a:t>
            </a:r>
            <a:endParaRPr/>
          </a:p>
        </p:txBody>
      </p:sp>
      <p:sp>
        <p:nvSpPr>
          <p:cNvPr id="88" name="Google Shape;88;p2"/>
          <p:cNvSpPr txBox="1"/>
          <p:nvPr/>
        </p:nvSpPr>
        <p:spPr>
          <a:xfrm>
            <a:off x="14656174" y="4020489"/>
            <a:ext cx="1066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>
            <p:ph type="title"/>
          </p:nvPr>
        </p:nvSpPr>
        <p:spPr>
          <a:xfrm>
            <a:off x="4413250" y="7559675"/>
            <a:ext cx="101346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/>
              <a:t>INTRODUCCIÓN</a:t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INTRODUCCIÓN</a:t>
            </a:r>
            <a:endParaRPr/>
          </a:p>
        </p:txBody>
      </p:sp>
      <p:sp>
        <p:nvSpPr>
          <p:cNvPr id="100" name="Google Shape;100;p4"/>
          <p:cNvSpPr txBox="1"/>
          <p:nvPr/>
        </p:nvSpPr>
        <p:spPr>
          <a:xfrm>
            <a:off x="2279650" y="2682875"/>
            <a:ext cx="8915400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Cuando se desea evaluar la calidad de una hipótesis de regresión, obviamente, no se puede evaluar la precisión como el número de aciertos.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En estos casos, se suele estimar la calidad de un modelo </a:t>
            </a:r>
            <a:r>
              <a:rPr lang="es-ES" sz="2800">
                <a:solidFill>
                  <a:srgbClr val="FF0000"/>
                </a:solidFill>
              </a:rPr>
              <a:t>calculando la diferencia entre las predicciones del modelo y las de la función objetivo</a:t>
            </a:r>
            <a:r>
              <a:rPr lang="es-ES" sz="2800"/>
              <a:t>.</a:t>
            </a:r>
            <a:endParaRPr sz="2800"/>
          </a:p>
        </p:txBody>
      </p:sp>
      <p:sp>
        <p:nvSpPr>
          <p:cNvPr id="101" name="Google Shape;101;p4"/>
          <p:cNvSpPr txBox="1"/>
          <p:nvPr/>
        </p:nvSpPr>
        <p:spPr>
          <a:xfrm>
            <a:off x="2432050" y="9998075"/>
            <a:ext cx="63802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/>
              <a:t>Fuente: Introducción a la Minería de Datos – José Hernandez Orallo y otros. </a:t>
            </a:r>
            <a:endParaRPr/>
          </a:p>
        </p:txBody>
      </p:sp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7050" y="2682875"/>
            <a:ext cx="7139035" cy="534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147050" y="7712075"/>
            <a:ext cx="83058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800"/>
              <a:t>TÍTULO</a:t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600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1517650" y="7712075"/>
            <a:ext cx="83058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800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CORRELACIÓN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800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LINEAL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727227" y="755454"/>
            <a:ext cx="1679242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CORRELACIÓN LINEAL</a:t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1898650" y="2530475"/>
            <a:ext cx="7798705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Por norma general, </a:t>
            </a:r>
            <a:r>
              <a:rPr lang="es-ES" sz="2800">
                <a:solidFill>
                  <a:srgbClr val="FF0000"/>
                </a:solidFill>
              </a:rPr>
              <a:t>los estudios de correlación lineal preceden a la generación de modelos de regresión lineal</a:t>
            </a:r>
            <a:r>
              <a:rPr lang="es-ES" sz="2800"/>
              <a:t>.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Primero se analiza si ambas variables están correlacionadas y, en caso de estarlo, se procede a generar el modelo de regresión.</a:t>
            </a:r>
            <a:endParaRPr sz="2800"/>
          </a:p>
        </p:txBody>
      </p:sp>
      <p:sp>
        <p:nvSpPr>
          <p:cNvPr id="116" name="Google Shape;116;p6"/>
          <p:cNvSpPr txBox="1"/>
          <p:nvPr/>
        </p:nvSpPr>
        <p:spPr>
          <a:xfrm>
            <a:off x="3317082" y="10274284"/>
            <a:ext cx="73677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/>
              <a:t>Fuente: Correlación Lineal y Regresión Lineal Simple – Joaquín Amat Rodrigo, Junio 2016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727227" y="755454"/>
            <a:ext cx="1679242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CORRELACIÓN LINEAL</a:t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1898650" y="2530475"/>
            <a:ext cx="7798705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Para estudiar la relación lineal existente entre dos variables continuas es necesario disponer de parámetros que permitan cuantificar dicha relación. </a:t>
            </a:r>
            <a:r>
              <a:rPr lang="es-ES" sz="2800">
                <a:solidFill>
                  <a:srgbClr val="FF0000"/>
                </a:solidFill>
              </a:rPr>
              <a:t>Uno de estos parámetros es la covarianza</a:t>
            </a:r>
            <a:r>
              <a:rPr lang="es-ES" sz="2800"/>
              <a:t>, que indica el grado de variación conjunta de dos variables aleatorias…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….siendo 𝑥 e 𝑦 la media de cada variable y 𝑥𝑖 e 𝑦𝑖 el valor de las variables para la observación 𝑖. </a:t>
            </a:r>
            <a:endParaRPr/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450" y="4283075"/>
            <a:ext cx="861822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 txBox="1"/>
          <p:nvPr/>
        </p:nvSpPr>
        <p:spPr>
          <a:xfrm>
            <a:off x="3317082" y="10274284"/>
            <a:ext cx="73677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/>
              <a:t>Fuente: Correlación Lineal y Regresión Lineal Simple – Joaquín Amat Rodrigo, Junio 2016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727227" y="755454"/>
            <a:ext cx="1679242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CORRELACIÓN LINEAL</a:t>
            </a:r>
            <a:endParaRPr/>
          </a:p>
        </p:txBody>
      </p:sp>
      <p:sp>
        <p:nvSpPr>
          <p:cNvPr id="130" name="Google Shape;130;p8"/>
          <p:cNvSpPr txBox="1"/>
          <p:nvPr/>
        </p:nvSpPr>
        <p:spPr>
          <a:xfrm>
            <a:off x="1898650" y="2530475"/>
            <a:ext cx="7798705" cy="7417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La covarianza depende de las escalas en que se miden las variables estudiadas, por lo tanto, no es comparable entre distintos pares de variables.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Para </a:t>
            </a:r>
            <a:r>
              <a:rPr lang="es-ES" sz="2800">
                <a:solidFill>
                  <a:srgbClr val="FF0000"/>
                </a:solidFill>
              </a:rPr>
              <a:t>poder hacer comparaciones se estandariza la covarianza</a:t>
            </a:r>
            <a:r>
              <a:rPr lang="es-ES" sz="2800"/>
              <a:t>, generando lo que se conoce como coeficientes de correlación.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Existen diferentes tipos, de entre los que destacan el coeficiente de </a:t>
            </a:r>
            <a:r>
              <a:rPr i="1" lang="es-ES" sz="2800"/>
              <a:t>Pearson</a:t>
            </a:r>
            <a:r>
              <a:rPr lang="es-ES" sz="2800"/>
              <a:t>, Rho de </a:t>
            </a:r>
            <a:r>
              <a:rPr i="1" lang="es-ES" sz="2800"/>
              <a:t>Spearman</a:t>
            </a:r>
            <a:r>
              <a:rPr lang="es-ES" sz="2800"/>
              <a:t> y Tau de </a:t>
            </a:r>
            <a:r>
              <a:rPr i="1" lang="es-ES" sz="2800"/>
              <a:t>Kendall</a:t>
            </a:r>
            <a:r>
              <a:rPr lang="es-ES" sz="2800"/>
              <a:t>.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Todos ellos varían entre +1 y -1. Siendo +1 una correlación positiva perfecta y -1 una correlación negativa perfecta.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0250" y="3140075"/>
            <a:ext cx="8449167" cy="54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 txBox="1"/>
          <p:nvPr/>
        </p:nvSpPr>
        <p:spPr>
          <a:xfrm>
            <a:off x="3317082" y="10274284"/>
            <a:ext cx="73677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/>
              <a:t>Fuente: Correlación Lineal y Regresión Lineal Simple – Joaquín Amat Rodrigo, Junio 2016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idx="1" type="body"/>
          </p:nvPr>
        </p:nvSpPr>
        <p:spPr>
          <a:xfrm>
            <a:off x="727227" y="755454"/>
            <a:ext cx="1679242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CORRELACIÓN LINEAL</a:t>
            </a:r>
            <a:endParaRPr/>
          </a:p>
        </p:txBody>
      </p:sp>
      <p:sp>
        <p:nvSpPr>
          <p:cNvPr id="138" name="Google Shape;138;p9"/>
          <p:cNvSpPr txBox="1"/>
          <p:nvPr/>
        </p:nvSpPr>
        <p:spPr>
          <a:xfrm>
            <a:off x="1898650" y="2530475"/>
            <a:ext cx="7798705" cy="7355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Las principales diferencias entre estos tres coeficientes de asociación son: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 </a:t>
            </a:r>
            <a:endParaRPr sz="2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/>
              <a:t>• La correlación de Pearson funciona bien con variables cuantitativas que </a:t>
            </a:r>
            <a:r>
              <a:rPr lang="es-ES" sz="2400">
                <a:solidFill>
                  <a:srgbClr val="FF0000"/>
                </a:solidFill>
              </a:rPr>
              <a:t>tienen una distribución normal</a:t>
            </a:r>
            <a:r>
              <a:rPr lang="es-ES" sz="2400"/>
              <a:t>. Es </a:t>
            </a:r>
            <a:r>
              <a:rPr lang="es-ES" sz="2400">
                <a:solidFill>
                  <a:srgbClr val="FF0000"/>
                </a:solidFill>
              </a:rPr>
              <a:t>más sensible a los valores extremos </a:t>
            </a:r>
            <a:r>
              <a:rPr lang="es-ES" sz="2400"/>
              <a:t>que las otras dos alternativas.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/>
              <a:t>• La correlación de Spearman se emplea </a:t>
            </a:r>
            <a:r>
              <a:rPr lang="es-ES" sz="2400">
                <a:solidFill>
                  <a:srgbClr val="FF0000"/>
                </a:solidFill>
              </a:rPr>
              <a:t>cuando los datos son ordinales, de intervalo, o bien cuando no se satisface la condición de normalidad </a:t>
            </a:r>
            <a:r>
              <a:rPr lang="es-ES" sz="2400"/>
              <a:t>para variables continuas y los datos se pueden transformar a rangos.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/>
              <a:t>• La correlación de Kendall </a:t>
            </a:r>
            <a:r>
              <a:rPr lang="es-ES" sz="2400">
                <a:solidFill>
                  <a:srgbClr val="FF0000"/>
                </a:solidFill>
              </a:rPr>
              <a:t>es otra alternativa para el estudio de la correlación que trabaja con rangos</a:t>
            </a:r>
            <a:r>
              <a:rPr lang="es-ES" sz="2400"/>
              <a:t>. Se emplea cuando </a:t>
            </a:r>
            <a:r>
              <a:rPr lang="es-ES" sz="2400">
                <a:solidFill>
                  <a:srgbClr val="FF0000"/>
                </a:solidFill>
              </a:rPr>
              <a:t>se dispone de pocos datos</a:t>
            </a:r>
            <a:r>
              <a:rPr lang="es-ES" sz="2400"/>
              <a:t> y muchos de ellos ocupan la misma posición en el rango, es decir, cuando hay muchas ligaduras.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39" name="Google Shape;139;p9"/>
          <p:cNvSpPr txBox="1"/>
          <p:nvPr/>
        </p:nvSpPr>
        <p:spPr>
          <a:xfrm>
            <a:off x="3317082" y="10274284"/>
            <a:ext cx="73677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/>
              <a:t>Fuente: Correlación Lineal y Regresión Lineal Simple – Joaquín Amat Rodrigo, Junio 2016</a:t>
            </a:r>
            <a:endParaRPr/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0745" y="3216275"/>
            <a:ext cx="861568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 txBox="1"/>
          <p:nvPr/>
        </p:nvSpPr>
        <p:spPr>
          <a:xfrm>
            <a:off x="12719050" y="7884445"/>
            <a:ext cx="52578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El coeficiente de correlación de Pearson es la covarianza estandarizada, y su ecuación difiere dependiendo de si se aplica a una muestra, </a:t>
            </a:r>
            <a:r>
              <a:rPr b="0" i="1" lang="es-ES" sz="1800" u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Coeficiente de Pearson muestral (r)</a:t>
            </a:r>
            <a:r>
              <a:rPr b="0" i="0" lang="es-ES" sz="1800" u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, o si se aplica la población </a:t>
            </a:r>
            <a:r>
              <a:rPr b="0" i="1" lang="es-ES" sz="1800" u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Coeficiente de Pearson poblacional (</a:t>
            </a:r>
            <a:r>
              <a:rPr b="0" i="0" lang="es-ES" sz="1800" u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𝜌</a:t>
            </a:r>
            <a:r>
              <a:rPr b="0" i="1" lang="es-ES" sz="1800" u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r>
              <a:rPr b="0" i="0" lang="es-ES" sz="1800" u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 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222250" y="7407275"/>
            <a:ext cx="1039352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/>
              <a:t>MÉTRICAS DE AJUSTE DE MODELO</a:t>
            </a:r>
            <a:endParaRPr/>
          </a:p>
        </p:txBody>
      </p:sp>
      <p:sp>
        <p:nvSpPr>
          <p:cNvPr id="147" name="Google Shape;147;p10"/>
          <p:cNvSpPr txBox="1"/>
          <p:nvPr/>
        </p:nvSpPr>
        <p:spPr>
          <a:xfrm>
            <a:off x="9089872" y="6188075"/>
            <a:ext cx="1905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MÉTRICAS DE AJUSTE DE MODELO</a:t>
            </a:r>
            <a:endParaRPr/>
          </a:p>
        </p:txBody>
      </p:sp>
      <p:sp>
        <p:nvSpPr>
          <p:cNvPr id="153" name="Google Shape;153;p11"/>
          <p:cNvSpPr txBox="1"/>
          <p:nvPr/>
        </p:nvSpPr>
        <p:spPr>
          <a:xfrm>
            <a:off x="2127250" y="2225675"/>
            <a:ext cx="861060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Una vez que se ha encontrado un modelo de regresión </a:t>
            </a:r>
            <a:r>
              <a:rPr lang="es-ES" sz="2800">
                <a:solidFill>
                  <a:srgbClr val="FF0000"/>
                </a:solidFill>
              </a:rPr>
              <a:t>es necesario verificar su eficiencia</a:t>
            </a:r>
            <a:r>
              <a:rPr lang="es-ES" sz="2800"/>
              <a:t>, ya que aun siendo la línea que mejor se ajusta a las observaciones de entre todas las posibles, el modelo puede ser malo.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Las medidas más utilizadas para medir la calidad del ajuste son: </a:t>
            </a:r>
            <a:r>
              <a:rPr lang="es-ES" sz="2800">
                <a:solidFill>
                  <a:srgbClr val="FF0000"/>
                </a:solidFill>
              </a:rPr>
              <a:t>error estándar de los residuos, el test F y el coeficiente de determinación R2</a:t>
            </a:r>
            <a:r>
              <a:rPr lang="es-ES" sz="2800"/>
              <a:t>. </a:t>
            </a:r>
            <a:endParaRPr/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0" y="2225675"/>
            <a:ext cx="838051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1"/>
          <p:cNvSpPr txBox="1"/>
          <p:nvPr/>
        </p:nvSpPr>
        <p:spPr>
          <a:xfrm>
            <a:off x="3317082" y="10274284"/>
            <a:ext cx="73677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/>
              <a:t>Fuente: Correlación Lineal y Regresión Lineal Simple – Joaquín Amat Rodrigo, Junio 2016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MÉTRICAS DE AJUSTE DE MODELO</a:t>
            </a:r>
            <a:endParaRPr/>
          </a:p>
        </p:txBody>
      </p:sp>
      <p:sp>
        <p:nvSpPr>
          <p:cNvPr id="161" name="Google Shape;161;p12"/>
          <p:cNvSpPr txBox="1"/>
          <p:nvPr/>
        </p:nvSpPr>
        <p:spPr>
          <a:xfrm>
            <a:off x="2127250" y="2225675"/>
            <a:ext cx="8610600" cy="7417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/>
              <a:t>Error estándar de los residuos.</a:t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El error estándar de los residuos (también conocido como desviación estándar de los residuos o desviación típica de los residuos) en el contexto de la regresión lineal es </a:t>
            </a:r>
            <a:r>
              <a:rPr lang="es-ES" sz="2800">
                <a:solidFill>
                  <a:srgbClr val="FF0000"/>
                </a:solidFill>
              </a:rPr>
              <a:t>una medida que indica la dispersión o variabilidad de los residuos</a:t>
            </a:r>
            <a:r>
              <a:rPr lang="es-ES" sz="2800"/>
              <a:t>, que son las diferencias entre los valores observados y los valores predichos por el modelo de regresión.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Cuando ajustamos un modelo de regresión lineal, </a:t>
            </a:r>
            <a:r>
              <a:rPr lang="es-ES" sz="2800">
                <a:solidFill>
                  <a:srgbClr val="FF0000"/>
                </a:solidFill>
              </a:rPr>
              <a:t>el objetivo es minimizar la suma de los cuadrados de los residuos (SSR)</a:t>
            </a:r>
            <a:r>
              <a:rPr lang="es-ES" sz="2800"/>
              <a:t>, y el error estándar de los residuos es una medida relacionada que proporciona una estimación de la variabilidad de los residuos alrededor de la línea de regresión.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162" name="Google Shape;1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5049" y="3063875"/>
            <a:ext cx="8437921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2"/>
          <p:cNvSpPr txBox="1"/>
          <p:nvPr/>
        </p:nvSpPr>
        <p:spPr>
          <a:xfrm>
            <a:off x="3317082" y="10274284"/>
            <a:ext cx="73677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/>
              <a:t>Fuente: Correlación Lineal y Regresión Lineal Simple – Joaquín Amat Rodrigo, Junio 2016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MÉTRICAS DE AJUSTE DE MODELO</a:t>
            </a:r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2127250" y="2225675"/>
            <a:ext cx="8610600" cy="87100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/>
              <a:t>Error estándar de los residuos.</a:t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En términos más concretos: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2800"/>
              <a:t>Residuo</a:t>
            </a:r>
            <a:r>
              <a:rPr lang="es-ES" sz="2800"/>
              <a:t>: Es la diferencia entre el valor observado ​ y el valor predicho para cada observación.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2800"/>
              <a:t>Error Estándar de los Residuos</a:t>
            </a:r>
            <a:r>
              <a:rPr lang="es-ES" sz="2800"/>
              <a:t>: Es la desviación estándar de los residuos. Se calcula como la raíz cuadrada de la varianza de los residuos.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El error estándar de los residuos proporciona una medida de cuánto varían los residuos alrededor de la línea de regresión. </a:t>
            </a:r>
            <a:r>
              <a:rPr lang="es-ES" sz="2800">
                <a:solidFill>
                  <a:srgbClr val="FF0000"/>
                </a:solidFill>
              </a:rPr>
              <a:t>Un valor bajo indica que los residuos tienden a agruparse cerca de la línea de regresión, mientras que un valor alto indica que los residuos están más dispersos</a:t>
            </a:r>
            <a:r>
              <a:rPr lang="es-ES" sz="2800"/>
              <a:t>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170" name="Google Shape;1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050" y="4251962"/>
            <a:ext cx="6096000" cy="280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3"/>
          <p:cNvSpPr txBox="1"/>
          <p:nvPr/>
        </p:nvSpPr>
        <p:spPr>
          <a:xfrm>
            <a:off x="3317082" y="10274284"/>
            <a:ext cx="73677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/>
              <a:t>Fuente: Correlación Lineal y Regresión Lineal Simple – Joaquín Amat Rodrigo, Junio 2016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MÉTRICAS DE AJUSTE DE MODELO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2127250" y="2225675"/>
            <a:ext cx="8610600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/>
              <a:t>Coeficiente de Determinación R</a:t>
            </a:r>
            <a:r>
              <a:rPr b="1" baseline="30000" lang="es-ES" sz="2800"/>
              <a:t>2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Describe la proporción de variabilidad observada en la variable dependiente Y explicada por el modelo y relativa a la variabilidad total.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FF0000"/>
                </a:solidFill>
              </a:rPr>
              <a:t>Su valor está acotado entre 0 y 1.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Al ser adimensional presenta la ventaja frente al RSE de ser más fácil de interpretar.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En los modelos de </a:t>
            </a:r>
            <a:r>
              <a:rPr lang="es-ES" sz="2800">
                <a:solidFill>
                  <a:srgbClr val="FF0000"/>
                </a:solidFill>
              </a:rPr>
              <a:t>regresión lineal simple el valor de 𝑅2 se corresponde con el cuadrado del coeficiente de correlación de Pearson </a:t>
            </a:r>
            <a:r>
              <a:rPr lang="es-ES" sz="2800"/>
              <a:t>(r) entre X e Y, no siendo así en regresión múltiple. </a:t>
            </a:r>
            <a:endParaRPr/>
          </a:p>
        </p:txBody>
      </p:sp>
      <p:pic>
        <p:nvPicPr>
          <p:cNvPr id="178" name="Google Shape;17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7450" y="2759075"/>
            <a:ext cx="8587711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4"/>
          <p:cNvSpPr txBox="1"/>
          <p:nvPr/>
        </p:nvSpPr>
        <p:spPr>
          <a:xfrm>
            <a:off x="3317082" y="10274284"/>
            <a:ext cx="73677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/>
              <a:t>Fuente: Correlación Lineal y Regresión Lineal Simple – Joaquín Amat Rodrigo, Junio 2016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MÉTRICAS DE AJUSTE DE MODELO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2127250" y="2225675"/>
            <a:ext cx="8610600" cy="5693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/>
              <a:t>Test F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El test F es un test de hipótesis que considera como hipótesis nula que todos los coeficientes de correlación estimados son cero, frente a la hipótesis alternativa de que al menos uno de ellos no lo es.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Se </a:t>
            </a:r>
            <a:r>
              <a:rPr lang="es-ES" sz="2800">
                <a:solidFill>
                  <a:srgbClr val="FF0000"/>
                </a:solidFill>
              </a:rPr>
              <a:t>emplea en modelos de regresión múltiple </a:t>
            </a:r>
            <a:r>
              <a:rPr lang="es-ES" sz="2800"/>
              <a:t>para saber si al menos alguno de los predictores introducidos en el modelo contribuye de forma significativa.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86" name="Google Shape;186;p15"/>
          <p:cNvSpPr txBox="1"/>
          <p:nvPr/>
        </p:nvSpPr>
        <p:spPr>
          <a:xfrm>
            <a:off x="3317082" y="10274284"/>
            <a:ext cx="73677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/>
              <a:t>Fuente: Correlación Lineal y Regresión Lineal Simple – Joaquín Amat Rodrigo, Junio 2016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/>
          <p:nvPr>
            <p:ph type="title"/>
          </p:nvPr>
        </p:nvSpPr>
        <p:spPr>
          <a:xfrm>
            <a:off x="6242050" y="9007475"/>
            <a:ext cx="90200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/>
              <a:t>RESUMEN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6276975" y="7752358"/>
            <a:ext cx="167095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600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>
            <p:ph idx="1" type="body"/>
          </p:nvPr>
        </p:nvSpPr>
        <p:spPr>
          <a:xfrm>
            <a:off x="727227" y="755454"/>
            <a:ext cx="1679242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2279650" y="2682875"/>
            <a:ext cx="1219200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Arial"/>
                <a:ea typeface="Arial"/>
                <a:cs typeface="Arial"/>
                <a:sym typeface="Arial"/>
              </a:rPr>
              <a:t>En esta presentación, hemos visto: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❑"/>
            </a:pPr>
            <a:r>
              <a:rPr lang="es-ES" sz="2800">
                <a:latin typeface="Arial"/>
                <a:ea typeface="Arial"/>
                <a:cs typeface="Arial"/>
                <a:sym typeface="Arial"/>
              </a:rPr>
              <a:t>Introducción a  las métricas de modelos de regresión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❑"/>
            </a:pPr>
            <a:r>
              <a:rPr lang="es-ES" sz="2800">
                <a:latin typeface="Arial"/>
                <a:ea typeface="Arial"/>
                <a:cs typeface="Arial"/>
                <a:sym typeface="Arial"/>
              </a:rPr>
              <a:t>Correlación Lineal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❑"/>
            </a:pPr>
            <a:r>
              <a:rPr lang="es-ES" sz="2800">
                <a:latin typeface="Arial"/>
                <a:ea typeface="Arial"/>
                <a:cs typeface="Arial"/>
                <a:sym typeface="Arial"/>
              </a:rPr>
              <a:t>Métricas de ajuste de Modelo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2022-07-20T19:15:37Z</dcterms:created>
  <dc:creator>Daniela Taito R.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