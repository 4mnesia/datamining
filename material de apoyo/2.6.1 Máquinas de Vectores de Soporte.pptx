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0"/>
  </p:notesMasterIdLst>
  <p:sldIdLst>
    <p:sldId id="261" r:id="rId5"/>
    <p:sldId id="337" r:id="rId6"/>
    <p:sldId id="344" r:id="rId7"/>
    <p:sldId id="339" r:id="rId8"/>
    <p:sldId id="345" r:id="rId9"/>
    <p:sldId id="270" r:id="rId10"/>
    <p:sldId id="340" r:id="rId11"/>
    <p:sldId id="346" r:id="rId12"/>
    <p:sldId id="347" r:id="rId13"/>
    <p:sldId id="327" r:id="rId14"/>
    <p:sldId id="341" r:id="rId15"/>
    <p:sldId id="348" r:id="rId16"/>
    <p:sldId id="349" r:id="rId17"/>
    <p:sldId id="332" r:id="rId18"/>
    <p:sldId id="342" r:id="rId19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7CE1"/>
    <a:srgbClr val="C2D501"/>
    <a:srgbClr val="DB0532"/>
    <a:srgbClr val="B14EC4"/>
    <a:srgbClr val="FF595A"/>
    <a:srgbClr val="D39F17"/>
    <a:srgbClr val="58C0E9"/>
    <a:srgbClr val="DC0031"/>
    <a:srgbClr val="EF7821"/>
    <a:srgbClr val="C4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42" autoAdjust="0"/>
    <p:restoredTop sz="94558"/>
  </p:normalViewPr>
  <p:slideViewPr>
    <p:cSldViewPr>
      <p:cViewPr varScale="1">
        <p:scale>
          <a:sx n="65" d="100"/>
          <a:sy n="65" d="100"/>
        </p:scale>
        <p:origin x="432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35674-3C19-9844-8370-EE59E1CD260A}" type="datetimeFigureOut">
              <a:rPr lang="es-CL" smtClean="0"/>
              <a:t>26-11-2023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2C890-E6DE-1A45-98C6-E722FA6368D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139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9F4E23B3-D17D-BBDA-CF94-0F577C2DCC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60E109FA-AB96-844B-8998-73B547E74E45}"/>
              </a:ext>
            </a:extLst>
          </p:cNvPr>
          <p:cNvSpPr/>
          <p:nvPr userDrawn="1"/>
        </p:nvSpPr>
        <p:spPr>
          <a:xfrm>
            <a:off x="2838209" y="9464675"/>
            <a:ext cx="8841105" cy="0"/>
          </a:xfrm>
          <a:custGeom>
            <a:avLst/>
            <a:gdLst/>
            <a:ahLst/>
            <a:cxnLst/>
            <a:rect l="l" t="t" r="r" b="b"/>
            <a:pathLst>
              <a:path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1AAB55C-247D-ECE0-5655-F1E1F2AF1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40"/>
            <a:ext cx="20110047" cy="1130601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2F0E50CD-FEFD-B21C-4BE3-4F2AA373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1786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461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1D21F6-64EA-9F7E-F1FC-89374B3096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994F59E7-28C4-825A-1194-67522AF9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50" y="74834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7451F99-8CB8-50AA-1CC0-54512CBB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2C83ACDF-F359-C1DD-3AF9-368B761A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050" y="70262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4336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F738965-FD99-AFAE-3CAA-5CEAF9995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4AB59064-93F0-56FE-006F-C58F84A8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0" y="69500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3973E67C-611D-F88A-80C1-185A9B8D4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E466965-0C09-5FCB-13FD-111D1D2AD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id="{98C6A4D7-FDE0-20C5-1EB3-30217CE5E1DC}"/>
              </a:ext>
            </a:extLst>
          </p:cNvPr>
          <p:cNvSpPr/>
          <p:nvPr userDrawn="1"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EE9CC866-5882-3C12-E5D7-404765C1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028" y="45340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3858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FADFFD87-E732-F006-B065-62B946429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FB62982-E03B-E5B0-2921-4742F850F5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FA473640-6785-830B-E009-5E08A060B6B1}"/>
              </a:ext>
            </a:extLst>
          </p:cNvPr>
          <p:cNvSpPr/>
          <p:nvPr userDrawn="1"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B55FBF2B-6203-81C7-B7DD-070ABE20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428" y="8207476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1109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38F75-3EE0-1345-84D2-95B57EB1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14BF04F1-8F4E-3E46-A3B2-80F47EADF391}"/>
              </a:ext>
            </a:extLst>
          </p:cNvPr>
          <p:cNvSpPr/>
          <p:nvPr userDrawn="1"/>
        </p:nvSpPr>
        <p:spPr>
          <a:xfrm>
            <a:off x="-6350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7932DF43-D838-5B47-A92B-B88C568B4A19}"/>
              </a:ext>
            </a:extLst>
          </p:cNvPr>
          <p:cNvSpPr/>
          <p:nvPr userDrawn="1"/>
        </p:nvSpPr>
        <p:spPr>
          <a:xfrm>
            <a:off x="16938421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69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DEB8F4A-6C01-284B-B123-A27D152597CD}"/>
              </a:ext>
            </a:extLst>
          </p:cNvPr>
          <p:cNvSpPr/>
          <p:nvPr userDrawn="1"/>
        </p:nvSpPr>
        <p:spPr>
          <a:xfrm>
            <a:off x="18623540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59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id="{50440F77-9AF6-2142-A93F-4B5F6DDBD871}"/>
              </a:ext>
            </a:extLst>
          </p:cNvPr>
          <p:cNvGrpSpPr/>
          <p:nvPr userDrawn="1"/>
        </p:nvGrpSpPr>
        <p:grpSpPr>
          <a:xfrm>
            <a:off x="19053919" y="10117702"/>
            <a:ext cx="427355" cy="597535"/>
            <a:chOff x="19053919" y="10117702"/>
            <a:chExt cx="427355" cy="597535"/>
          </a:xfrm>
        </p:grpSpPr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B5FF8718-DC05-C046-A01E-6155D9ABE0D5}"/>
                </a:ext>
              </a:extLst>
            </p:cNvPr>
            <p:cNvSpPr/>
            <p:nvPr/>
          </p:nvSpPr>
          <p:spPr>
            <a:xfrm>
              <a:off x="19053919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id="{680319A8-C88C-E845-B967-74CD5DD4CA96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138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248CA032-B7CF-AC47-80C3-3DC0FECADE87}"/>
              </a:ext>
            </a:extLst>
          </p:cNvPr>
          <p:cNvSpPr/>
          <p:nvPr userDrawn="1"/>
        </p:nvSpPr>
        <p:spPr>
          <a:xfrm>
            <a:off x="727227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70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AB72D184-1BCC-8E4D-AB97-E7C9B55D20C7}"/>
              </a:ext>
            </a:extLst>
          </p:cNvPr>
          <p:cNvSpPr/>
          <p:nvPr userDrawn="1"/>
        </p:nvSpPr>
        <p:spPr>
          <a:xfrm>
            <a:off x="2412348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60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4">
            <a:extLst>
              <a:ext uri="{FF2B5EF4-FFF2-40B4-BE49-F238E27FC236}">
                <a16:creationId xmlns:a16="http://schemas.microsoft.com/office/drawing/2014/main" id="{A2800012-DA06-CF45-A47A-D4B30EA37B75}"/>
              </a:ext>
            </a:extLst>
          </p:cNvPr>
          <p:cNvGrpSpPr/>
          <p:nvPr userDrawn="1"/>
        </p:nvGrpSpPr>
        <p:grpSpPr>
          <a:xfrm>
            <a:off x="2842727" y="10117702"/>
            <a:ext cx="427355" cy="597535"/>
            <a:chOff x="2842727" y="10117702"/>
            <a:chExt cx="427355" cy="597535"/>
          </a:xfrm>
        </p:grpSpPr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039AC548-D805-B546-AF98-3B421C054969}"/>
                </a:ext>
              </a:extLst>
            </p:cNvPr>
            <p:cNvSpPr/>
            <p:nvPr/>
          </p:nvSpPr>
          <p:spPr>
            <a:xfrm>
              <a:off x="2842727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6">
              <a:extLst>
                <a:ext uri="{FF2B5EF4-FFF2-40B4-BE49-F238E27FC236}">
                  <a16:creationId xmlns:a16="http://schemas.microsoft.com/office/drawing/2014/main" id="{DAA5A1C9-3FFD-F741-93B2-F1CDA55129CC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</p:spPr>
        </p:pic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id="{2AF2BE2F-4D9A-CF4D-AF78-BAD6CC1B2837}"/>
              </a:ext>
            </a:extLst>
          </p:cNvPr>
          <p:cNvSpPr/>
          <p:nvPr userDrawn="1"/>
        </p:nvSpPr>
        <p:spPr>
          <a:xfrm>
            <a:off x="17840597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E6AC5AA0-C4FD-A742-898F-2F81DD6B4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738664"/>
          </a:xfrm>
        </p:spPr>
        <p:txBody>
          <a:bodyPr/>
          <a:lstStyle>
            <a:lvl1pPr algn="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Editar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293DC4AC-3CD1-B728-F1D4-9297A3D9EA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5BA927C-DF3C-76F9-F858-D08E957A4C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0"/>
            <a:ext cx="20109342" cy="11305614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B6946770-F426-2FD2-6657-14F29D5A8E25}"/>
              </a:ext>
            </a:extLst>
          </p:cNvPr>
          <p:cNvSpPr/>
          <p:nvPr userDrawn="1"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38E6F079-F9D6-8270-ADE8-DE597BD2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428" y="65914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C49A5DC-7F63-7053-BF30-9BEB915A8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7E369C9-9696-52E0-3D5A-4A3A83A9C2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EDE5CBD5-32E9-715D-214E-87F7F64407EA}"/>
              </a:ext>
            </a:extLst>
          </p:cNvPr>
          <p:cNvSpPr/>
          <p:nvPr userDrawn="1"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FA2B3E84-593C-1926-74EE-AA7B31F6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828" y="76582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5457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21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70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9" r:id="rId4"/>
    <p:sldLayoutId id="2147483664" r:id="rId5"/>
    <p:sldLayoutId id="2147483670" r:id="rId6"/>
    <p:sldLayoutId id="2147483677" r:id="rId7"/>
    <p:sldLayoutId id="2147483666" r:id="rId8"/>
    <p:sldLayoutId id="2147483665" r:id="rId9"/>
    <p:sldLayoutId id="2147483663" r:id="rId10"/>
    <p:sldLayoutId id="2147483673" r:id="rId11"/>
    <p:sldLayoutId id="2147483671" r:id="rId12"/>
    <p:sldLayoutId id="2147483678" r:id="rId1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0841C-0ACF-DE6F-43AC-3E3396A2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9250" y="8169275"/>
            <a:ext cx="8749511" cy="1169551"/>
          </a:xfrm>
        </p:spPr>
        <p:txBody>
          <a:bodyPr/>
          <a:lstStyle/>
          <a:p>
            <a:r>
              <a:rPr lang="es-CL" spc="-10" dirty="0"/>
              <a:t>MÁQUINAS DE</a:t>
            </a:r>
            <a:br>
              <a:rPr lang="es-CL" spc="-10" dirty="0"/>
            </a:br>
            <a:r>
              <a:rPr lang="es-CL" spc="-10" dirty="0"/>
              <a:t>VECTORES DE SOPORTE</a:t>
            </a:r>
            <a:endParaRPr lang="es-CL" sz="3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39BAB8-5980-04D6-9003-ABBE79FC69B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926080" y="9554269"/>
            <a:ext cx="8712681" cy="369332"/>
          </a:xfrm>
        </p:spPr>
        <p:txBody>
          <a:bodyPr/>
          <a:lstStyle/>
          <a:p>
            <a:r>
              <a:rPr lang="es-CL" dirty="0">
                <a:latin typeface="Arial"/>
                <a:cs typeface="Arial"/>
              </a:rPr>
              <a:t>BIY7121 MINERÍA DE DATOS</a:t>
            </a:r>
            <a:endParaRPr lang="es-CL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293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FB337F0-2FCC-924F-952C-07C673B763B0}"/>
              </a:ext>
            </a:extLst>
          </p:cNvPr>
          <p:cNvSpPr/>
          <p:nvPr/>
        </p:nvSpPr>
        <p:spPr>
          <a:xfrm>
            <a:off x="9518650" y="2378075"/>
            <a:ext cx="535755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6000" b="1" dirty="0">
                <a:latin typeface="Arial Black" panose="020B0604020202020204" pitchFamily="34" charset="0"/>
                <a:cs typeface="Arial Black" panose="020B0604020202020204" pitchFamily="34" charset="0"/>
              </a:rPr>
              <a:t>CONTENIDO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A3E674A-F038-D144-A91A-8FBF8FFE0F11}"/>
              </a:ext>
            </a:extLst>
          </p:cNvPr>
          <p:cNvSpPr txBox="1">
            <a:spLocks/>
          </p:cNvSpPr>
          <p:nvPr/>
        </p:nvSpPr>
        <p:spPr>
          <a:xfrm>
            <a:off x="9518650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B375BB0-38DE-5947-A049-E37CBB392147}"/>
              </a:ext>
            </a:extLst>
          </p:cNvPr>
          <p:cNvSpPr txBox="1">
            <a:spLocks/>
          </p:cNvSpPr>
          <p:nvPr/>
        </p:nvSpPr>
        <p:spPr>
          <a:xfrm>
            <a:off x="9617262" y="7026177"/>
            <a:ext cx="4579097" cy="138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MODELOS LINEALMENTE SEPARABLES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D2775DA9-AA36-2B46-A647-A78656981246}"/>
              </a:ext>
            </a:extLst>
          </p:cNvPr>
          <p:cNvSpPr txBox="1">
            <a:spLocks/>
          </p:cNvSpPr>
          <p:nvPr/>
        </p:nvSpPr>
        <p:spPr>
          <a:xfrm>
            <a:off x="9518650" y="6264177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5AD2299A-27D1-AA45-A043-C0D64B734853}"/>
              </a:ext>
            </a:extLst>
          </p:cNvPr>
          <p:cNvSpPr txBox="1">
            <a:spLocks/>
          </p:cNvSpPr>
          <p:nvPr/>
        </p:nvSpPr>
        <p:spPr>
          <a:xfrm>
            <a:off x="9617262" y="9194781"/>
            <a:ext cx="4165973" cy="138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MODELOS NO LINEALMENTE SEPARABLES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5FEE1E9F-D6A8-614C-BB95-3AFA463327D0}"/>
              </a:ext>
            </a:extLst>
          </p:cNvPr>
          <p:cNvSpPr txBox="1">
            <a:spLocks/>
          </p:cNvSpPr>
          <p:nvPr/>
        </p:nvSpPr>
        <p:spPr>
          <a:xfrm>
            <a:off x="9617262" y="8432781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325E44F9-8B81-FD43-8DCF-00283585DD6D}"/>
              </a:ext>
            </a:extLst>
          </p:cNvPr>
          <p:cNvSpPr txBox="1">
            <a:spLocks/>
          </p:cNvSpPr>
          <p:nvPr/>
        </p:nvSpPr>
        <p:spPr>
          <a:xfrm>
            <a:off x="9617262" y="4782488"/>
            <a:ext cx="457909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INTRODUCCION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FE992D-1CA3-14C0-F902-6542723FD1C3}"/>
              </a:ext>
            </a:extLst>
          </p:cNvPr>
          <p:cNvSpPr txBox="1">
            <a:spLocks/>
          </p:cNvSpPr>
          <p:nvPr/>
        </p:nvSpPr>
        <p:spPr>
          <a:xfrm>
            <a:off x="14876207" y="4859339"/>
            <a:ext cx="4728882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RESUMEN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7002DBB-23A6-9BA0-FF76-8B2A5E9F6159}"/>
              </a:ext>
            </a:extLst>
          </p:cNvPr>
          <p:cNvSpPr txBox="1">
            <a:spLocks/>
          </p:cNvSpPr>
          <p:nvPr/>
        </p:nvSpPr>
        <p:spPr>
          <a:xfrm>
            <a:off x="14656174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7944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87A9F761-F66D-564C-A85F-5D24B1E7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0" y="7559675"/>
            <a:ext cx="10134600" cy="1015663"/>
          </a:xfrm>
        </p:spPr>
        <p:txBody>
          <a:bodyPr/>
          <a:lstStyle/>
          <a:p>
            <a:pPr algn="r"/>
            <a:r>
              <a:rPr lang="es-CL" sz="6600" dirty="0"/>
              <a:t>INTRODUCCIÓN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C622BE7-4A49-A749-B2F2-EA3AD97A1AEF}"/>
              </a:ext>
            </a:extLst>
          </p:cNvPr>
          <p:cNvSpPr txBox="1">
            <a:spLocks/>
          </p:cNvSpPr>
          <p:nvPr/>
        </p:nvSpPr>
        <p:spPr>
          <a:xfrm>
            <a:off x="12677531" y="6082347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1757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2279650" y="2682875"/>
            <a:ext cx="89154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800" dirty="0"/>
              <a:t>Los fundamentos teóricos de las máquinas de vectores soporte (SVM, del inglés </a:t>
            </a:r>
            <a:r>
              <a:rPr lang="es-CL" sz="2800" dirty="0" err="1"/>
              <a:t>Support</a:t>
            </a:r>
            <a:r>
              <a:rPr lang="es-CL" sz="2800" dirty="0"/>
              <a:t> </a:t>
            </a:r>
            <a:r>
              <a:rPr lang="es-ES" sz="2800" dirty="0"/>
              <a:t>Vector Machines) se encuentran en los trabajos de </a:t>
            </a:r>
            <a:r>
              <a:rPr lang="es-ES" sz="2800" dirty="0" err="1"/>
              <a:t>Vapnik</a:t>
            </a:r>
            <a:r>
              <a:rPr lang="es-ES" sz="2800" dirty="0"/>
              <a:t> y otros autores sobre la teoría del aprendizaje estadístico, desarrollados a finales de los años 70 y durante los 80.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Las </a:t>
            </a:r>
            <a:r>
              <a:rPr lang="es-ES" sz="2800" dirty="0">
                <a:solidFill>
                  <a:srgbClr val="FF0000"/>
                </a:solidFill>
              </a:rPr>
              <a:t>máquinas de vectores soporte pertenecen a la familia de los clasificadores lineales</a:t>
            </a:r>
            <a:r>
              <a:rPr lang="es-ES" sz="2800" dirty="0"/>
              <a:t> puesto </a:t>
            </a:r>
            <a:r>
              <a:rPr lang="es-CL" sz="2800" dirty="0"/>
              <a:t>que inducen separadores lineales o hiperplanos en espacios de características de muy alta </a:t>
            </a:r>
            <a:r>
              <a:rPr lang="es-ES" sz="2800" dirty="0"/>
              <a:t>dimensionalidad (introducidos por funciones núcleo o </a:t>
            </a:r>
            <a:r>
              <a:rPr lang="es-ES" sz="2800" dirty="0" err="1"/>
              <a:t>kernel</a:t>
            </a:r>
            <a:r>
              <a:rPr lang="es-ES" sz="2800" dirty="0"/>
              <a:t>) con un sesgo inductivo muy </a:t>
            </a:r>
            <a:r>
              <a:rPr lang="es-CL" sz="2800" dirty="0"/>
              <a:t>particular (maximización del margen).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610392-ADFB-52B0-6FF3-C4C573143DA6}"/>
              </a:ext>
            </a:extLst>
          </p:cNvPr>
          <p:cNvSpPr txBox="1"/>
          <p:nvPr/>
        </p:nvSpPr>
        <p:spPr>
          <a:xfrm>
            <a:off x="2432050" y="9998075"/>
            <a:ext cx="74863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Introducción a la Minería de Datos. José Hernández y otros. Pearson / Prentice Hall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309BFC-477E-9133-D9D4-0BA3C3139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7635" y="2835275"/>
            <a:ext cx="7939277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96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2279650" y="2682875"/>
            <a:ext cx="89154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Suponiendo que el conjunto de ejemplos es linealmente separable, ¿cuál es el “mejor” hiperplano separador en términos de generalización?.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La idea que hay detrás de las SVM de margen máximo consiste en </a:t>
            </a:r>
            <a:r>
              <a:rPr lang="es-ES" sz="2800" dirty="0">
                <a:solidFill>
                  <a:srgbClr val="FF0000"/>
                </a:solidFill>
              </a:rPr>
              <a:t>seleccionar el hiperplano separador que está a la misma distancia de los ejemplos más cercanos de cada clase</a:t>
            </a:r>
            <a:r>
              <a:rPr lang="es-ES" sz="2800" dirty="0"/>
              <a:t>. De manera equivalente, es el hiperplano que maximiza la distancia mínima (o margen geométrico) entre los ejemplos del conjunto de datos y el hiperplano.</a:t>
            </a:r>
            <a:endParaRPr lang="es-CL" sz="2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610392-ADFB-52B0-6FF3-C4C573143DA6}"/>
              </a:ext>
            </a:extLst>
          </p:cNvPr>
          <p:cNvSpPr txBox="1"/>
          <p:nvPr/>
        </p:nvSpPr>
        <p:spPr>
          <a:xfrm>
            <a:off x="2432050" y="9998075"/>
            <a:ext cx="74863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Introducción a la Minería de Datos. José Hernández y otros. Pearson / Prentice Hall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E867ED4-888A-1D16-03ED-D25992953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7050" y="2447667"/>
            <a:ext cx="6715125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279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25BEF-C6CB-D142-BFA0-F95C5E30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7050" y="7712075"/>
            <a:ext cx="8305800" cy="738664"/>
          </a:xfrm>
        </p:spPr>
        <p:txBody>
          <a:bodyPr/>
          <a:lstStyle/>
          <a:p>
            <a:pPr algn="r"/>
            <a:r>
              <a:rPr lang="es-CL" sz="4800" dirty="0"/>
              <a:t>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4FE4634-98DF-A44A-92BF-86BBAE37A404}"/>
              </a:ext>
            </a:extLst>
          </p:cNvPr>
          <p:cNvSpPr txBox="1">
            <a:spLocks/>
          </p:cNvSpPr>
          <p:nvPr/>
        </p:nvSpPr>
        <p:spPr>
          <a:xfrm>
            <a:off x="8159750" y="6250622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B7ACE31-74A9-95B3-1599-372FB822D0E6}"/>
              </a:ext>
            </a:extLst>
          </p:cNvPr>
          <p:cNvSpPr txBox="1">
            <a:spLocks/>
          </p:cNvSpPr>
          <p:nvPr/>
        </p:nvSpPr>
        <p:spPr>
          <a:xfrm>
            <a:off x="1517650" y="7712075"/>
            <a:ext cx="83058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5000" b="1" i="0">
                <a:solidFill>
                  <a:srgbClr val="257CE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4800" dirty="0"/>
              <a:t>MODELOS LINEALMENTE </a:t>
            </a:r>
            <a:br>
              <a:rPr lang="es-CL" sz="4800" dirty="0"/>
            </a:br>
            <a:r>
              <a:rPr lang="es-CL" sz="4800" dirty="0"/>
              <a:t>SEPARABLES</a:t>
            </a:r>
          </a:p>
        </p:txBody>
      </p:sp>
    </p:spTree>
    <p:extLst>
      <p:ext uri="{BB962C8B-B14F-4D97-AF65-F5344CB8AC3E}">
        <p14:creationId xmlns:p14="http://schemas.microsoft.com/office/powerpoint/2010/main" val="225765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MODELOS LINEALMENTE SEPARABLES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898650" y="2530475"/>
            <a:ext cx="77987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A partir de un conjunto de ejemplos separables en dos clases, podemos encontrar varios hiperplanos de separación, de entre los infinitos posibles.</a:t>
            </a:r>
            <a:endParaRPr lang="es-CL" sz="28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ED49AB1-6B66-840B-DFA5-509333B37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396" y="4821823"/>
            <a:ext cx="4962525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97888EC-B452-A403-5F54-D55C331E5C3C}"/>
              </a:ext>
            </a:extLst>
          </p:cNvPr>
          <p:cNvSpPr txBox="1"/>
          <p:nvPr/>
        </p:nvSpPr>
        <p:spPr>
          <a:xfrm>
            <a:off x="5025513" y="5471340"/>
            <a:ext cx="10051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0" dirty="0">
                <a:effectLst/>
              </a:rPr>
              <a:t> </a:t>
            </a:r>
            <a:endParaRPr lang="es-CL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AF885C5-53EF-53ED-7D38-B3AB189D5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9064" y="4382468"/>
            <a:ext cx="5314950" cy="446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8583C983-6616-5259-E249-023577285E22}"/>
              </a:ext>
            </a:extLst>
          </p:cNvPr>
          <p:cNvSpPr/>
          <p:nvPr/>
        </p:nvSpPr>
        <p:spPr>
          <a:xfrm>
            <a:off x="10204450" y="6035675"/>
            <a:ext cx="1219200" cy="2057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86884BF-A6E9-AE77-5202-F62416774131}"/>
              </a:ext>
            </a:extLst>
          </p:cNvPr>
          <p:cNvSpPr txBox="1"/>
          <p:nvPr/>
        </p:nvSpPr>
        <p:spPr>
          <a:xfrm>
            <a:off x="3422650" y="10447576"/>
            <a:ext cx="100510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FUENTE : Tutorial sobre SVM, Enrique J. Carmona </a:t>
            </a:r>
            <a:r>
              <a:rPr lang="es-ES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Suaréz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UNED, España, 2016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17399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MODELOS LINEALMENTE SEPARABLES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898650" y="2530475"/>
            <a:ext cx="779870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Se define margen (letra Teta en el dibujo) de un hiperplano, como la mínima distancia entre dicho hiperplano y el ejemplo más cercano de cualquiera de las dos clases. 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Este hiperplano será óptimo si su margen es de tamaño máximo.</a:t>
            </a:r>
            <a:endParaRPr lang="es-CL" sz="2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97888EC-B452-A403-5F54-D55C331E5C3C}"/>
              </a:ext>
            </a:extLst>
          </p:cNvPr>
          <p:cNvSpPr txBox="1"/>
          <p:nvPr/>
        </p:nvSpPr>
        <p:spPr>
          <a:xfrm>
            <a:off x="5025513" y="5471340"/>
            <a:ext cx="10051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0" dirty="0">
                <a:effectLst/>
              </a:rPr>
              <a:t> 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C97E3F2-CDFF-F6CF-5192-16FB9E66935F}"/>
              </a:ext>
            </a:extLst>
          </p:cNvPr>
          <p:cNvSpPr txBox="1"/>
          <p:nvPr/>
        </p:nvSpPr>
        <p:spPr>
          <a:xfrm>
            <a:off x="3422650" y="10447576"/>
            <a:ext cx="100510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FUENTE : Tutorial sobre SVM, Enrique J. Carmona </a:t>
            </a:r>
            <a:r>
              <a:rPr lang="es-ES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Suaréz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UNED, España, 2016</a:t>
            </a:r>
            <a:endParaRPr lang="es-CL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C0C6016-C7D9-1F1F-131B-39B9F0983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1200" y="6113657"/>
            <a:ext cx="4733925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E5D51A15-6E73-753F-3C67-4A6419C5B507}"/>
              </a:ext>
            </a:extLst>
          </p:cNvPr>
          <p:cNvSpPr/>
          <p:nvPr/>
        </p:nvSpPr>
        <p:spPr>
          <a:xfrm>
            <a:off x="11499850" y="7014597"/>
            <a:ext cx="1219200" cy="2057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ADAAA8BD-B31F-B63A-32DA-962049E51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3817" y="6139111"/>
            <a:ext cx="4686300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0269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MODELOS LINEALMENTE SEPARABLES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898650" y="2530475"/>
            <a:ext cx="779870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dirty="0"/>
              <a:t>Es bastante frecuente que los datos tengan ruido, que no estén etiquetados perfectamente, o que el problema sea tan difícil que para unos pocos puntos, sea muy complicado clasificarlos correctamente. 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br>
              <a:rPr lang="es-ES" sz="2800" dirty="0"/>
            </a:br>
            <a:r>
              <a:rPr lang="es-ES" sz="2800" dirty="0"/>
              <a:t>Para estos casos, preferimos que SVM generalice bien para la mayoría de los casos, aunque algunos pocos casos del conjunto de entrenamiento no estén perfectamente clasificados. </a:t>
            </a:r>
          </a:p>
          <a:p>
            <a:br>
              <a:rPr lang="es-ES" sz="2800" dirty="0"/>
            </a:br>
            <a:r>
              <a:rPr lang="es-ES" sz="2800" dirty="0"/>
              <a:t>Para controlar la cantidad de regularización, podemos usar el </a:t>
            </a:r>
            <a:r>
              <a:rPr lang="es-ES" sz="2800" dirty="0" err="1"/>
              <a:t>hiper-parámetro</a:t>
            </a:r>
            <a:r>
              <a:rPr lang="es-ES" sz="2800" dirty="0"/>
              <a:t> C.</a:t>
            </a:r>
            <a:endParaRPr lang="es-CL" sz="2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97888EC-B452-A403-5F54-D55C331E5C3C}"/>
              </a:ext>
            </a:extLst>
          </p:cNvPr>
          <p:cNvSpPr txBox="1"/>
          <p:nvPr/>
        </p:nvSpPr>
        <p:spPr>
          <a:xfrm>
            <a:off x="5025513" y="5471340"/>
            <a:ext cx="10051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0" dirty="0">
                <a:effectLst/>
              </a:rPr>
              <a:t> 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C97E3F2-CDFF-F6CF-5192-16FB9E66935F}"/>
              </a:ext>
            </a:extLst>
          </p:cNvPr>
          <p:cNvSpPr txBox="1"/>
          <p:nvPr/>
        </p:nvSpPr>
        <p:spPr>
          <a:xfrm>
            <a:off x="3422650" y="10447576"/>
            <a:ext cx="100510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FUENTE : Tutorial sobre SVM, Enrique J. Carmona </a:t>
            </a:r>
            <a:r>
              <a:rPr lang="es-ES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Suaréz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UNED, España, 2016</a:t>
            </a:r>
            <a:endParaRPr lang="es-CL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ED08415-B73F-CF3D-0729-44FC567A6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277" y="2682875"/>
            <a:ext cx="7096125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0DBAC08-C75A-BF4F-0BD3-7A783911C2F3}"/>
              </a:ext>
            </a:extLst>
          </p:cNvPr>
          <p:cNvSpPr txBox="1"/>
          <p:nvPr/>
        </p:nvSpPr>
        <p:spPr>
          <a:xfrm>
            <a:off x="11423650" y="8070453"/>
            <a:ext cx="758502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El parámetro C controla el compromiso entre maximizar el margen y minimizar el error de entrenamiento. Un valor de C más alto enfatiza la importancia de clasificar correctamente cada ejemplo de entrenamiento, lo que puede conducir a un sobreajuste. Por el contrario, un valor C más bajo permite un margen más amplio, pero puede dar lugar a una clasificación errónea. Rango de valor C: 0,001 a 1000</a:t>
            </a:r>
            <a:endParaRPr lang="es-CL" sz="1400" dirty="0"/>
          </a:p>
        </p:txBody>
      </p:sp>
    </p:spTree>
    <p:extLst>
      <p:ext uri="{BB962C8B-B14F-4D97-AF65-F5344CB8AC3E}">
        <p14:creationId xmlns:p14="http://schemas.microsoft.com/office/powerpoint/2010/main" val="1650987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24723-9968-7E43-AF4C-4EA396BD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250" y="7407275"/>
            <a:ext cx="10393528" cy="3046988"/>
          </a:xfrm>
        </p:spPr>
        <p:txBody>
          <a:bodyPr/>
          <a:lstStyle/>
          <a:p>
            <a:r>
              <a:rPr lang="es-CL" sz="6600" dirty="0"/>
              <a:t>MODELOS NO SEPARABLES LINEALMENTE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D7CDB3-E365-8648-9D80-6AFDB724300B}"/>
              </a:ext>
            </a:extLst>
          </p:cNvPr>
          <p:cNvSpPr txBox="1">
            <a:spLocks/>
          </p:cNvSpPr>
          <p:nvPr/>
        </p:nvSpPr>
        <p:spPr>
          <a:xfrm>
            <a:off x="9089872" y="6188075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3524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MODELOS NO SEPARABLES LINEALMENTE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051050" y="2835275"/>
            <a:ext cx="8610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Hay veces en las que no hay forma de encontrar un hiperplano que permita separar dos clases. En estos casos decimos que </a:t>
            </a:r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</a:rPr>
              <a:t>las clases no son linealmente separables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. </a:t>
            </a:r>
          </a:p>
          <a:p>
            <a:pPr algn="just"/>
            <a:b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</a:b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Para resolver este problema podemos usar el truco del </a:t>
            </a:r>
            <a:r>
              <a:rPr lang="es-E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kernel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. Este consiste en  consiste en inventar una dimensión nueva en la que podamos encontrar un hiperplano para separar las clases. 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19EBDA8-8786-D8CF-C2B9-6B24B4EF5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6181" y="2833944"/>
            <a:ext cx="8502172" cy="411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C3F2C80-AC7B-8981-E1C0-CE5973EC95E6}"/>
              </a:ext>
            </a:extLst>
          </p:cNvPr>
          <p:cNvSpPr txBox="1"/>
          <p:nvPr/>
        </p:nvSpPr>
        <p:spPr>
          <a:xfrm>
            <a:off x="12033250" y="7483475"/>
            <a:ext cx="65532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16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 figura izquierda muestra los datos en su espacio original (dos dimensiones). Claramente no es posible separarlos con un hiperplano.</a:t>
            </a:r>
            <a:endParaRPr lang="es-ES" sz="1600" b="0" dirty="0">
              <a:effectLst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br>
              <a:rPr lang="es-ES" sz="1600" b="0" dirty="0">
                <a:effectLst/>
              </a:rPr>
            </a:br>
            <a:r>
              <a:rPr lang="es-ES" sz="16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 figura derecha muestra los datos en el espacio transformado (tres dimensiones). En este espacio si se pueden separar por un hiperplano.</a:t>
            </a:r>
            <a:endParaRPr lang="es-ES" sz="1600" b="0" dirty="0">
              <a:effectLst/>
            </a:endParaRPr>
          </a:p>
          <a:p>
            <a:br>
              <a:rPr lang="es-ES" dirty="0"/>
            </a:b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67811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MODELOS NO SEPARABLES LINEALMENTE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051050" y="2835275"/>
            <a:ext cx="8610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Un ejemplo del truco del </a:t>
            </a:r>
            <a:r>
              <a:rPr lang="es-E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kernel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. 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endParaRPr lang="es-ES" sz="2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(a) Entrenamiento de tuplas en el espacio de características 2D original y el espacio 3D transformado(sombreado).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82B15A6-5458-4874-30FE-DC55C9463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065" y="5463043"/>
            <a:ext cx="14167283" cy="423023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D0304F0-1C9A-2BB8-6F5E-373082813FE1}"/>
              </a:ext>
            </a:extLst>
          </p:cNvPr>
          <p:cNvSpPr txBox="1"/>
          <p:nvPr/>
        </p:nvSpPr>
        <p:spPr>
          <a:xfrm>
            <a:off x="3422650" y="10447576"/>
            <a:ext cx="100510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FUENTE : Data </a:t>
            </a:r>
            <a:r>
              <a:rPr lang="es-ES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Mining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s-ES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concepts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es-ES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techniques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s-ES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Jiawei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s-ES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Pei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s-ES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Tong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Ed. Morgan Kaufman </a:t>
            </a:r>
            <a:r>
              <a:rPr lang="es-ES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Publishers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74793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MODELOS NO SEPARABLES LINEALMENTE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051050" y="2835275"/>
            <a:ext cx="86106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Un ejemplo del truco del </a:t>
            </a:r>
            <a:r>
              <a:rPr lang="es-ES" sz="2800" dirty="0" err="1">
                <a:solidFill>
                  <a:srgbClr val="333333"/>
                </a:solidFill>
                <a:latin typeface="Arial" panose="020B0604020202020204" pitchFamily="34" charset="0"/>
              </a:rPr>
              <a:t>kernel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. 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endParaRPr lang="es-ES" sz="2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Los datos de entrenamiento en el espacio de características original son linealmente inseparables (b), pero se vuelven linealmente separables en el espacio de características transformado (c).  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endParaRPr lang="es-ES" sz="2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Un límite de decisión lineal (es decir, un hiperplano) en el espacio de características transformado es equivalente a un límite de decisión no lineal en el espacio de características original. </a:t>
            </a: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endParaRPr lang="es-ES" sz="28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El “</a:t>
            </a:r>
            <a:r>
              <a:rPr lang="es-ES" sz="2800" dirty="0">
                <a:solidFill>
                  <a:srgbClr val="FF0000"/>
                </a:solidFill>
                <a:latin typeface="Arial" panose="020B0604020202020204" pitchFamily="34" charset="0"/>
              </a:rPr>
              <a:t>producto punto</a:t>
            </a:r>
            <a:r>
              <a:rPr lang="es-ES" sz="2800" dirty="0">
                <a:solidFill>
                  <a:srgbClr val="333333"/>
                </a:solidFill>
                <a:latin typeface="Arial" panose="020B0604020202020204" pitchFamily="34" charset="0"/>
              </a:rPr>
              <a:t>” de dos tuplas en el espacio de características transformado se puede calcular directamente a partir del espacio de características original.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D0304F0-1C9A-2BB8-6F5E-373082813FE1}"/>
              </a:ext>
            </a:extLst>
          </p:cNvPr>
          <p:cNvSpPr txBox="1"/>
          <p:nvPr/>
        </p:nvSpPr>
        <p:spPr>
          <a:xfrm>
            <a:off x="3422650" y="10447576"/>
            <a:ext cx="100510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FUENTE : Data </a:t>
            </a:r>
            <a:r>
              <a:rPr lang="es-ES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Mining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s-ES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concepts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es-ES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techniques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s-ES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Jiawei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s-ES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Pei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s-ES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Tong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Ed. Morgan Kaufman </a:t>
            </a:r>
            <a:r>
              <a:rPr lang="es-ES" sz="1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Publishers</a:t>
            </a:r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7C4F1FD-9D42-F6D4-36FD-C8C7368DA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5340" y="3825875"/>
            <a:ext cx="8838409" cy="46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53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D15BE-E3B2-F743-9878-F149B7D92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0" y="9007475"/>
            <a:ext cx="9020022" cy="1015663"/>
          </a:xfrm>
        </p:spPr>
        <p:txBody>
          <a:bodyPr/>
          <a:lstStyle/>
          <a:p>
            <a:r>
              <a:rPr lang="es-CL" sz="6600" dirty="0"/>
              <a:t>RESUMEN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224DE7A-4464-F54B-B074-7663E7D43917}"/>
              </a:ext>
            </a:extLst>
          </p:cNvPr>
          <p:cNvSpPr txBox="1">
            <a:spLocks/>
          </p:cNvSpPr>
          <p:nvPr/>
        </p:nvSpPr>
        <p:spPr>
          <a:xfrm>
            <a:off x="6276975" y="7752358"/>
            <a:ext cx="1670957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0246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BCD8BF0-1144-D34D-8793-D9BC0214A6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RESUMEN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27F119F-996A-54C1-08D8-A05CBD0E1453}"/>
              </a:ext>
            </a:extLst>
          </p:cNvPr>
          <p:cNvSpPr txBox="1"/>
          <p:nvPr/>
        </p:nvSpPr>
        <p:spPr>
          <a:xfrm>
            <a:off x="2279650" y="2682875"/>
            <a:ext cx="12192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>
                <a:latin typeface="Arial" panose="020B0604020202020204" pitchFamily="34" charset="0"/>
                <a:cs typeface="Arial" panose="020B0604020202020204" pitchFamily="34" charset="0"/>
              </a:rPr>
              <a:t>En esta presentación, hemos visto:</a:t>
            </a:r>
          </a:p>
          <a:p>
            <a:endParaRPr lang="es-C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Introducción a  las Máquinas de Vectores de Soporte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Modelos linealmente separables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Modelos no separables linealmente</a:t>
            </a:r>
          </a:p>
          <a:p>
            <a:pPr algn="just"/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3056958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5b625c-c26a-47f6-b683-8d6b2db3615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ECEAD85B01C7F40A02717BA9EC5A5ED" ma:contentTypeVersion="7" ma:contentTypeDescription="Crear nuevo documento." ma:contentTypeScope="" ma:versionID="a68664926a6846fedb67b85086ae7753">
  <xsd:schema xmlns:xsd="http://www.w3.org/2001/XMLSchema" xmlns:xs="http://www.w3.org/2001/XMLSchema" xmlns:p="http://schemas.microsoft.com/office/2006/metadata/properties" xmlns:ns3="b45b625c-c26a-47f6-b683-8d6b2db36159" xmlns:ns4="e5b8f56d-7793-429f-909c-9567ca729807" targetNamespace="http://schemas.microsoft.com/office/2006/metadata/properties" ma:root="true" ma:fieldsID="a05628b75d71c75c525c57950d78beaf" ns3:_="" ns4:_="">
    <xsd:import namespace="b45b625c-c26a-47f6-b683-8d6b2db36159"/>
    <xsd:import namespace="e5b8f56d-7793-429f-909c-9567ca72980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5b625c-c26a-47f6-b683-8d6b2db361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b8f56d-7793-429f-909c-9567ca72980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D821600-D61B-433B-B6F8-A294D9BC75DD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e5b8f56d-7793-429f-909c-9567ca729807"/>
    <ds:schemaRef ds:uri="http://www.w3.org/XML/1998/namespace"/>
    <ds:schemaRef ds:uri="b45b625c-c26a-47f6-b683-8d6b2db36159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4C43652-73DC-4C77-8E79-F06010C18C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07244C-2A19-492C-973E-16C9A1F2AD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5b625c-c26a-47f6-b683-8d6b2db36159"/>
    <ds:schemaRef ds:uri="e5b8f56d-7793-429f-909c-9567ca7298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4749</TotalTime>
  <Words>853</Words>
  <Application>Microsoft Office PowerPoint</Application>
  <PresentationFormat>Personalizado</PresentationFormat>
  <Paragraphs>75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Wingdings</vt:lpstr>
      <vt:lpstr>Office Theme</vt:lpstr>
      <vt:lpstr>MÁQUINAS DE VECTORES DE SOPORTE</vt:lpstr>
      <vt:lpstr>Presentación de PowerPoint</vt:lpstr>
      <vt:lpstr>INTRODUCCIÓN</vt:lpstr>
      <vt:lpstr>INTRODUCCIÓN</vt:lpstr>
      <vt:lpstr>INTRODUCCIÓN</vt:lpstr>
      <vt:lpstr>LO</vt:lpstr>
      <vt:lpstr>Presentación de PowerPoint</vt:lpstr>
      <vt:lpstr>Presentación de PowerPoint</vt:lpstr>
      <vt:lpstr>Presentación de PowerPoint</vt:lpstr>
      <vt:lpstr>MODELOS NO SEPARABLES LINEALMENTE</vt:lpstr>
      <vt:lpstr>MODELOS NO SEPARABLES LINEALMENTE</vt:lpstr>
      <vt:lpstr>MODELOS NO SEPARABLES LINEALMENTE</vt:lpstr>
      <vt:lpstr>MODELOS NO SEPARABLES LINEALMENTE</vt:lpstr>
      <vt:lpstr>RESUMEN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</dc:title>
  <dc:creator>Daniela Taito R.</dc:creator>
  <cp:lastModifiedBy>guillermo pinto</cp:lastModifiedBy>
  <cp:revision>258</cp:revision>
  <dcterms:created xsi:type="dcterms:W3CDTF">2022-07-20T19:15:37Z</dcterms:created>
  <dcterms:modified xsi:type="dcterms:W3CDTF">2023-11-27T01:24:10Z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0x010100BECEAD85B01C7F40A02717BA9EC5A5ED</vt:lpwstr>
  </property>
</Properties>
</file>