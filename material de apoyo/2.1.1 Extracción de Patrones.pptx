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3"/>
  </p:notesMasterIdLst>
  <p:sldIdLst>
    <p:sldId id="261" r:id="rId5"/>
    <p:sldId id="337" r:id="rId6"/>
    <p:sldId id="344" r:id="rId7"/>
    <p:sldId id="339" r:id="rId8"/>
    <p:sldId id="345" r:id="rId9"/>
    <p:sldId id="270" r:id="rId10"/>
    <p:sldId id="340" r:id="rId11"/>
    <p:sldId id="346" r:id="rId12"/>
    <p:sldId id="347" r:id="rId13"/>
    <p:sldId id="348" r:id="rId14"/>
    <p:sldId id="349" r:id="rId15"/>
    <p:sldId id="351" r:id="rId16"/>
    <p:sldId id="350" r:id="rId17"/>
    <p:sldId id="327" r:id="rId18"/>
    <p:sldId id="341" r:id="rId19"/>
    <p:sldId id="352" r:id="rId20"/>
    <p:sldId id="332" r:id="rId21"/>
    <p:sldId id="342" r:id="rId22"/>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7CE1"/>
    <a:srgbClr val="C2D501"/>
    <a:srgbClr val="DB0532"/>
    <a:srgbClr val="B14EC4"/>
    <a:srgbClr val="FF595A"/>
    <a:srgbClr val="D39F17"/>
    <a:srgbClr val="58C0E9"/>
    <a:srgbClr val="DC0031"/>
    <a:srgbClr val="EF7821"/>
    <a:srgbClr val="C4D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42" autoAdjust="0"/>
    <p:restoredTop sz="94558"/>
  </p:normalViewPr>
  <p:slideViewPr>
    <p:cSldViewPr>
      <p:cViewPr varScale="1">
        <p:scale>
          <a:sx n="65" d="100"/>
          <a:sy n="65" d="100"/>
        </p:scale>
        <p:origin x="432"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54D35674-3C19-9844-8370-EE59E1CD260A}" type="datetimeFigureOut">
              <a:rPr lang="es-CL" smtClean="0"/>
              <a:t>22-11-2023</a:t>
            </a:fld>
            <a:endParaRPr lang="es-CL"/>
          </a:p>
        </p:txBody>
      </p:sp>
      <p:sp>
        <p:nvSpPr>
          <p:cNvPr id="4" name="Marcador de imagen de diapositiva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r>
              <a:rPr lang="es-ES"/>
              <a:t>Editar los estilos de texto del patrón
Segundo nivel
Tercer nivel
Cuarto nivel
Quinto nivel</a:t>
            </a:r>
            <a:endParaRPr lang="es-CL"/>
          </a:p>
        </p:txBody>
      </p:sp>
      <p:sp>
        <p:nvSpPr>
          <p:cNvPr id="6" name="Marcador de pie de página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35C2C890-E6DE-1A45-98C6-E722FA6368DA}" type="slidenum">
              <a:rPr lang="es-CL" smtClean="0"/>
              <a:t>‹Nº›</a:t>
            </a:fld>
            <a:endParaRPr lang="es-CL"/>
          </a:p>
        </p:txBody>
      </p:sp>
    </p:spTree>
    <p:extLst>
      <p:ext uri="{BB962C8B-B14F-4D97-AF65-F5344CB8AC3E}">
        <p14:creationId xmlns:p14="http://schemas.microsoft.com/office/powerpoint/2010/main" val="2341394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9F4E23B3-D17D-BBDA-CF94-0F577C2DCC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sp>
        <p:nvSpPr>
          <p:cNvPr id="2" name="Holder 2"/>
          <p:cNvSpPr>
            <a:spLocks noGrp="1"/>
          </p:cNvSpPr>
          <p:nvPr>
            <p:ph type="ctrTitle"/>
          </p:nvPr>
        </p:nvSpPr>
        <p:spPr>
          <a:xfrm>
            <a:off x="2838209" y="8700548"/>
            <a:ext cx="6781800" cy="584775"/>
          </a:xfrm>
          <a:prstGeom prst="rect">
            <a:avLst/>
          </a:prstGeom>
        </p:spPr>
        <p:txBody>
          <a:bodyPr wrap="square" lIns="0" tIns="0" rIns="0" bIns="0">
            <a:spAutoFit/>
          </a:bodyPr>
          <a:lstStyle>
            <a:lvl1pPr>
              <a:defRPr sz="3800">
                <a:solidFill>
                  <a:schemeClr val="bg1"/>
                </a:solidFill>
              </a:defRPr>
            </a:lvl1pPr>
          </a:lstStyle>
          <a:p>
            <a:endParaRPr dirty="0"/>
          </a:p>
        </p:txBody>
      </p:sp>
      <p:sp>
        <p:nvSpPr>
          <p:cNvPr id="3" name="Holder 3"/>
          <p:cNvSpPr>
            <a:spLocks noGrp="1"/>
          </p:cNvSpPr>
          <p:nvPr>
            <p:ph type="subTitle" idx="4"/>
          </p:nvPr>
        </p:nvSpPr>
        <p:spPr>
          <a:xfrm>
            <a:off x="2838209" y="9612314"/>
            <a:ext cx="8712681" cy="369332"/>
          </a:xfrm>
          <a:prstGeom prst="rect">
            <a:avLst/>
          </a:prstGeom>
        </p:spPr>
        <p:txBody>
          <a:bodyPr wrap="square" lIns="0" tIns="0" rIns="0" bIns="0">
            <a:spAutoFit/>
          </a:bodyPr>
          <a:lstStyle>
            <a:lvl1pPr>
              <a:defRPr sz="2400">
                <a:solidFill>
                  <a:schemeClr val="bg1"/>
                </a:solidFill>
                <a:latin typeface="Arial" panose="020B0604020202020204" pitchFamily="34" charset="0"/>
                <a:cs typeface="Arial" panose="020B0604020202020204" pitchFamily="34" charset="0"/>
              </a:defRPr>
            </a:lvl1pPr>
          </a:lstStyle>
          <a:p>
            <a:endParaRPr dirty="0"/>
          </a:p>
        </p:txBody>
      </p:sp>
      <p:sp>
        <p:nvSpPr>
          <p:cNvPr id="14" name="object 10">
            <a:extLst>
              <a:ext uri="{FF2B5EF4-FFF2-40B4-BE49-F238E27FC236}">
                <a16:creationId xmlns:a16="http://schemas.microsoft.com/office/drawing/2014/main" id="{60E109FA-AB96-844B-8998-73B547E74E45}"/>
              </a:ext>
            </a:extLst>
          </p:cNvPr>
          <p:cNvSpPr/>
          <p:nvPr userDrawn="1"/>
        </p:nvSpPr>
        <p:spPr>
          <a:xfrm>
            <a:off x="2838209" y="9464675"/>
            <a:ext cx="8841105" cy="0"/>
          </a:xfrm>
          <a:custGeom>
            <a:avLst/>
            <a:gdLst/>
            <a:ahLst/>
            <a:cxnLst/>
            <a:rect l="l" t="t" r="r" b="b"/>
            <a:pathLst>
              <a:path w="8841105">
                <a:moveTo>
                  <a:pt x="0" y="0"/>
                </a:moveTo>
                <a:lnTo>
                  <a:pt x="8840652" y="0"/>
                </a:lnTo>
              </a:path>
            </a:pathLst>
          </a:custGeom>
          <a:ln w="10470">
            <a:solidFill>
              <a:schemeClr val="bg1"/>
            </a:solidFill>
          </a:ln>
        </p:spPr>
        <p:txBody>
          <a:bodyPr wrap="square" lIns="0" tIns="0" rIns="0" bIns="0" rtlCol="0"/>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Diseño personalizado">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71AAB55C-247D-ECE0-5655-F1E1F2AF1A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3340"/>
            <a:ext cx="20110047" cy="11306010"/>
          </a:xfrm>
          <a:prstGeom prst="rect">
            <a:avLst/>
          </a:prstGeom>
        </p:spPr>
      </p:pic>
      <p:sp>
        <p:nvSpPr>
          <p:cNvPr id="10" name="Título 1">
            <a:extLst>
              <a:ext uri="{FF2B5EF4-FFF2-40B4-BE49-F238E27FC236}">
                <a16:creationId xmlns:a16="http://schemas.microsoft.com/office/drawing/2014/main" id="{2F0E50CD-FEFD-B21C-4BE3-4F2AA3739A6A}"/>
              </a:ext>
            </a:extLst>
          </p:cNvPr>
          <p:cNvSpPr>
            <a:spLocks noGrp="1"/>
          </p:cNvSpPr>
          <p:nvPr>
            <p:ph type="title"/>
          </p:nvPr>
        </p:nvSpPr>
        <p:spPr>
          <a:xfrm>
            <a:off x="831850" y="7178675"/>
            <a:ext cx="9782022" cy="1538883"/>
          </a:xfrm>
        </p:spPr>
        <p:txBody>
          <a:bodyPr/>
          <a:lstStyle>
            <a:lvl1pPr algn="r">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74612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121D21F6-64EA-9F7E-F1FC-89374B3096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0" name="Título 1">
            <a:extLst>
              <a:ext uri="{FF2B5EF4-FFF2-40B4-BE49-F238E27FC236}">
                <a16:creationId xmlns:a16="http://schemas.microsoft.com/office/drawing/2014/main" id="{994F59E7-28C4-825A-1194-67522AF99C22}"/>
              </a:ext>
            </a:extLst>
          </p:cNvPr>
          <p:cNvSpPr>
            <a:spLocks noGrp="1"/>
          </p:cNvSpPr>
          <p:nvPr>
            <p:ph type="title"/>
          </p:nvPr>
        </p:nvSpPr>
        <p:spPr>
          <a:xfrm>
            <a:off x="6851650" y="7483475"/>
            <a:ext cx="9782022" cy="1538883"/>
          </a:xfrm>
        </p:spPr>
        <p:txBody>
          <a:bodyPr/>
          <a:lstStyle>
            <a:lvl1pPr algn="l">
              <a:defRPr sz="5000"/>
            </a:lvl1pPr>
          </a:lstStyle>
          <a:p>
            <a:r>
              <a:rPr lang="es-ES" dirty="0"/>
              <a:t>Haga clic para modificar el estilo de título del patrón</a:t>
            </a:r>
            <a:endParaRPr lang="es-C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7451F99-8CB8-50AA-1CC0-54512CBB6F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9" name="Título 1">
            <a:extLst>
              <a:ext uri="{FF2B5EF4-FFF2-40B4-BE49-F238E27FC236}">
                <a16:creationId xmlns:a16="http://schemas.microsoft.com/office/drawing/2014/main" id="{2C83ACDF-F359-C1DD-3AF9-368B761AA8DB}"/>
              </a:ext>
            </a:extLst>
          </p:cNvPr>
          <p:cNvSpPr>
            <a:spLocks noGrp="1"/>
          </p:cNvSpPr>
          <p:nvPr>
            <p:ph type="title"/>
          </p:nvPr>
        </p:nvSpPr>
        <p:spPr>
          <a:xfrm>
            <a:off x="6623050" y="7026275"/>
            <a:ext cx="9782022" cy="1538883"/>
          </a:xfrm>
        </p:spPr>
        <p:txBody>
          <a:bodyPr/>
          <a:lstStyle>
            <a:lvl1pPr algn="l">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2343363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2F738965-FD99-AFAE-3CAA-5CEAF99952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1" name="Título 1">
            <a:extLst>
              <a:ext uri="{FF2B5EF4-FFF2-40B4-BE49-F238E27FC236}">
                <a16:creationId xmlns:a16="http://schemas.microsoft.com/office/drawing/2014/main" id="{4AB59064-93F0-56FE-006F-C58F84A825C5}"/>
              </a:ext>
            </a:extLst>
          </p:cNvPr>
          <p:cNvSpPr>
            <a:spLocks noGrp="1"/>
          </p:cNvSpPr>
          <p:nvPr>
            <p:ph type="title"/>
          </p:nvPr>
        </p:nvSpPr>
        <p:spPr>
          <a:xfrm>
            <a:off x="4794250" y="6950075"/>
            <a:ext cx="9782022" cy="1538883"/>
          </a:xfrm>
        </p:spPr>
        <p:txBody>
          <a:bodyPr/>
          <a:lstStyle>
            <a:lvl1pPr algn="r">
              <a:defRPr sz="5000"/>
            </a:lvl1pPr>
          </a:lstStyle>
          <a:p>
            <a:r>
              <a:rPr lang="es-ES" dirty="0"/>
              <a:t>Haga clic para modificar el estilo de título del patrón</a:t>
            </a:r>
            <a:endParaRPr lang="es-C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3973E67C-611D-F88A-80C1-185A9B8D41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8" name="Imagen 27">
            <a:extLst>
              <a:ext uri="{FF2B5EF4-FFF2-40B4-BE49-F238E27FC236}">
                <a16:creationId xmlns:a16="http://schemas.microsoft.com/office/drawing/2014/main" id="{3E466965-0C09-5FCB-13FD-111D1D2AD25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9" name="Rectángulo 28">
            <a:extLst>
              <a:ext uri="{FF2B5EF4-FFF2-40B4-BE49-F238E27FC236}">
                <a16:creationId xmlns:a16="http://schemas.microsoft.com/office/drawing/2014/main" id="{98C6A4D7-FDE0-20C5-1EB3-30217CE5E1DC}"/>
              </a:ext>
            </a:extLst>
          </p:cNvPr>
          <p:cNvSpPr/>
          <p:nvPr userDrawn="1"/>
        </p:nvSpPr>
        <p:spPr>
          <a:xfrm>
            <a:off x="4413250" y="42068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30" name="Título 1">
            <a:extLst>
              <a:ext uri="{FF2B5EF4-FFF2-40B4-BE49-F238E27FC236}">
                <a16:creationId xmlns:a16="http://schemas.microsoft.com/office/drawing/2014/main" id="{EE9CC866-5882-3C12-E5D7-404765C18C0C}"/>
              </a:ext>
            </a:extLst>
          </p:cNvPr>
          <p:cNvSpPr>
            <a:spLocks noGrp="1"/>
          </p:cNvSpPr>
          <p:nvPr>
            <p:ph type="title"/>
          </p:nvPr>
        </p:nvSpPr>
        <p:spPr>
          <a:xfrm>
            <a:off x="4842028" y="45340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038586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Diseño personalizado">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FADFFD87-E732-F006-B065-62B946429B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5FB62982-E03B-E5B0-2921-4742F850F5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FA473640-6785-830B-E009-5E08A060B6B1}"/>
              </a:ext>
            </a:extLst>
          </p:cNvPr>
          <p:cNvSpPr/>
          <p:nvPr userDrawn="1"/>
        </p:nvSpPr>
        <p:spPr>
          <a:xfrm>
            <a:off x="7232650" y="7880350"/>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B55FBF2B-6203-81C7-B7DD-070ABE20B4BB}"/>
              </a:ext>
            </a:extLst>
          </p:cNvPr>
          <p:cNvSpPr>
            <a:spLocks noGrp="1"/>
          </p:cNvSpPr>
          <p:nvPr>
            <p:ph type="title"/>
          </p:nvPr>
        </p:nvSpPr>
        <p:spPr>
          <a:xfrm>
            <a:off x="7661428" y="8207476"/>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11097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38F75-3EE0-1345-84D2-95B57EB1A45B}"/>
              </a:ext>
            </a:extLst>
          </p:cNvPr>
          <p:cNvSpPr>
            <a:spLocks noGrp="1"/>
          </p:cNvSpPr>
          <p:nvPr>
            <p:ph type="title"/>
          </p:nvPr>
        </p:nvSpPr>
        <p:spPr>
          <a:xfrm>
            <a:off x="2432050" y="714594"/>
            <a:ext cx="16988263" cy="738664"/>
          </a:xfrm>
        </p:spPr>
        <p:txBody>
          <a:bodyPr/>
          <a:lstStyle>
            <a:lvl1pPr>
              <a:defRPr sz="4800"/>
            </a:lvl1pPr>
          </a:lstStyle>
          <a:p>
            <a:r>
              <a:rPr lang="es-ES" dirty="0"/>
              <a:t>Haga clic para modificar el estilo de título del patrón</a:t>
            </a:r>
            <a:endParaRPr lang="es-CL" dirty="0"/>
          </a:p>
        </p:txBody>
      </p:sp>
      <p:sp>
        <p:nvSpPr>
          <p:cNvPr id="6" name="object 7">
            <a:extLst>
              <a:ext uri="{FF2B5EF4-FFF2-40B4-BE49-F238E27FC236}">
                <a16:creationId xmlns:a16="http://schemas.microsoft.com/office/drawing/2014/main" id="{14BF04F1-8F4E-3E46-A3B2-80F47EADF391}"/>
              </a:ext>
            </a:extLst>
          </p:cNvPr>
          <p:cNvSpPr/>
          <p:nvPr userDrawn="1"/>
        </p:nvSpPr>
        <p:spPr>
          <a:xfrm>
            <a:off x="-6350"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7" name="object 3">
            <a:extLst>
              <a:ext uri="{FF2B5EF4-FFF2-40B4-BE49-F238E27FC236}">
                <a16:creationId xmlns:a16="http://schemas.microsoft.com/office/drawing/2014/main" id="{7932DF43-D838-5B47-A92B-B88C568B4A19}"/>
              </a:ext>
            </a:extLst>
          </p:cNvPr>
          <p:cNvSpPr/>
          <p:nvPr userDrawn="1"/>
        </p:nvSpPr>
        <p:spPr>
          <a:xfrm>
            <a:off x="16938421" y="10202309"/>
            <a:ext cx="1576070" cy="511175"/>
          </a:xfrm>
          <a:custGeom>
            <a:avLst/>
            <a:gdLst/>
            <a:ahLst/>
            <a:cxnLst/>
            <a:rect l="l" t="t" r="r" b="b"/>
            <a:pathLst>
              <a:path w="1576069"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8" name="object 4">
            <a:extLst>
              <a:ext uri="{FF2B5EF4-FFF2-40B4-BE49-F238E27FC236}">
                <a16:creationId xmlns:a16="http://schemas.microsoft.com/office/drawing/2014/main" id="{9DEB8F4A-6C01-284B-B123-A27D152597CD}"/>
              </a:ext>
            </a:extLst>
          </p:cNvPr>
          <p:cNvSpPr/>
          <p:nvPr userDrawn="1"/>
        </p:nvSpPr>
        <p:spPr>
          <a:xfrm>
            <a:off x="18623540" y="10245307"/>
            <a:ext cx="378460" cy="469900"/>
          </a:xfrm>
          <a:custGeom>
            <a:avLst/>
            <a:gdLst/>
            <a:ahLst/>
            <a:cxnLst/>
            <a:rect l="l" t="t" r="r" b="b"/>
            <a:pathLst>
              <a:path w="378459"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9" name="object 5">
            <a:extLst>
              <a:ext uri="{FF2B5EF4-FFF2-40B4-BE49-F238E27FC236}">
                <a16:creationId xmlns:a16="http://schemas.microsoft.com/office/drawing/2014/main" id="{50440F77-9AF6-2142-A93F-4B5F6DDBD871}"/>
              </a:ext>
            </a:extLst>
          </p:cNvPr>
          <p:cNvGrpSpPr/>
          <p:nvPr userDrawn="1"/>
        </p:nvGrpSpPr>
        <p:grpSpPr>
          <a:xfrm>
            <a:off x="19053919" y="10117702"/>
            <a:ext cx="427355" cy="597535"/>
            <a:chOff x="19053919" y="10117702"/>
            <a:chExt cx="427355" cy="597535"/>
          </a:xfrm>
        </p:grpSpPr>
        <p:sp>
          <p:nvSpPr>
            <p:cNvPr id="10" name="object 6">
              <a:extLst>
                <a:ext uri="{FF2B5EF4-FFF2-40B4-BE49-F238E27FC236}">
                  <a16:creationId xmlns:a16="http://schemas.microsoft.com/office/drawing/2014/main" id="{B5FF8718-DC05-C046-A01E-6155D9ABE0D5}"/>
                </a:ext>
              </a:extLst>
            </p:cNvPr>
            <p:cNvSpPr/>
            <p:nvPr/>
          </p:nvSpPr>
          <p:spPr>
            <a:xfrm>
              <a:off x="19053919"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1" name="object 7">
              <a:extLst>
                <a:ext uri="{FF2B5EF4-FFF2-40B4-BE49-F238E27FC236}">
                  <a16:creationId xmlns:a16="http://schemas.microsoft.com/office/drawing/2014/main" id="{680319A8-C88C-E845-B967-74CD5DD4CA96}"/>
                </a:ext>
              </a:extLst>
            </p:cNvPr>
            <p:cNvPicPr/>
            <p:nvPr/>
          </p:nvPicPr>
          <p:blipFill>
            <a:blip r:embed="rId2" cstate="email">
              <a:extLst>
                <a:ext uri="{28A0092B-C50C-407E-A947-70E740481C1C}">
                  <a14:useLocalDpi xmlns:a14="http://schemas.microsoft.com/office/drawing/2010/main"/>
                </a:ext>
              </a:extLst>
            </a:blip>
            <a:stretch>
              <a:fillRect/>
            </a:stretch>
          </p:blipFill>
          <p:spPr>
            <a:xfrm>
              <a:off x="19368634" y="10117702"/>
              <a:ext cx="112300" cy="112268"/>
            </a:xfrm>
            <a:prstGeom prst="rect">
              <a:avLst/>
            </a:prstGeom>
          </p:spPr>
        </p:pic>
      </p:grpSp>
    </p:spTree>
    <p:extLst>
      <p:ext uri="{BB962C8B-B14F-4D97-AF65-F5344CB8AC3E}">
        <p14:creationId xmlns:p14="http://schemas.microsoft.com/office/powerpoint/2010/main" val="2391385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1" name="object 2">
            <a:extLst>
              <a:ext uri="{FF2B5EF4-FFF2-40B4-BE49-F238E27FC236}">
                <a16:creationId xmlns:a16="http://schemas.microsoft.com/office/drawing/2014/main" id="{248CA032-B7CF-AC47-80C3-3DC0FECADE87}"/>
              </a:ext>
            </a:extLst>
          </p:cNvPr>
          <p:cNvSpPr/>
          <p:nvPr userDrawn="1"/>
        </p:nvSpPr>
        <p:spPr>
          <a:xfrm>
            <a:off x="727227" y="10202309"/>
            <a:ext cx="1576070" cy="511175"/>
          </a:xfrm>
          <a:custGeom>
            <a:avLst/>
            <a:gdLst/>
            <a:ahLst/>
            <a:cxnLst/>
            <a:rect l="l" t="t" r="r" b="b"/>
            <a:pathLst>
              <a:path w="1576070"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47" y="299389"/>
                </a:lnTo>
                <a:lnTo>
                  <a:pt x="300736"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19" y="89408"/>
                </a:lnTo>
                <a:lnTo>
                  <a:pt x="132499" y="87985"/>
                </a:lnTo>
                <a:lnTo>
                  <a:pt x="146659" y="86982"/>
                </a:lnTo>
                <a:lnTo>
                  <a:pt x="163601" y="86601"/>
                </a:lnTo>
                <a:lnTo>
                  <a:pt x="209257" y="90881"/>
                </a:lnTo>
                <a:lnTo>
                  <a:pt x="248094" y="103809"/>
                </a:lnTo>
                <a:lnTo>
                  <a:pt x="279450"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71" y="484936"/>
                </a:lnTo>
                <a:lnTo>
                  <a:pt x="324205" y="466864"/>
                </a:lnTo>
                <a:lnTo>
                  <a:pt x="359029" y="443407"/>
                </a:lnTo>
                <a:lnTo>
                  <a:pt x="382054" y="419722"/>
                </a:lnTo>
                <a:lnTo>
                  <a:pt x="385749" y="415925"/>
                </a:lnTo>
                <a:lnTo>
                  <a:pt x="408393" y="382181"/>
                </a:lnTo>
                <a:lnTo>
                  <a:pt x="425894" y="341972"/>
                </a:lnTo>
                <a:lnTo>
                  <a:pt x="437172" y="295097"/>
                </a:lnTo>
                <a:lnTo>
                  <a:pt x="441172" y="241312"/>
                </a:lnTo>
                <a:close/>
              </a:path>
              <a:path w="1576070" h="511175">
                <a:moveTo>
                  <a:pt x="827582" y="502602"/>
                </a:moveTo>
                <a:lnTo>
                  <a:pt x="826503" y="478307"/>
                </a:lnTo>
                <a:lnTo>
                  <a:pt x="825550" y="450888"/>
                </a:lnTo>
                <a:lnTo>
                  <a:pt x="824865" y="420268"/>
                </a:lnTo>
                <a:lnTo>
                  <a:pt x="824611" y="386397"/>
                </a:lnTo>
                <a:lnTo>
                  <a:pt x="824611" y="140639"/>
                </a:lnTo>
                <a:lnTo>
                  <a:pt x="712089" y="140639"/>
                </a:lnTo>
                <a:lnTo>
                  <a:pt x="712089" y="365671"/>
                </a:lnTo>
                <a:lnTo>
                  <a:pt x="710641"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70" h="511175">
                <a:moveTo>
                  <a:pt x="1244155" y="318274"/>
                </a:moveTo>
                <a:lnTo>
                  <a:pt x="1238161" y="266484"/>
                </a:lnTo>
                <a:lnTo>
                  <a:pt x="1220889" y="221424"/>
                </a:lnTo>
                <a:lnTo>
                  <a:pt x="1193355" y="184315"/>
                </a:lnTo>
                <a:lnTo>
                  <a:pt x="1156652"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52" y="399072"/>
                </a:lnTo>
                <a:lnTo>
                  <a:pt x="986155" y="364807"/>
                </a:lnTo>
                <a:lnTo>
                  <a:pt x="981367" y="322008"/>
                </a:lnTo>
                <a:lnTo>
                  <a:pt x="985443" y="282206"/>
                </a:lnTo>
                <a:lnTo>
                  <a:pt x="998397" y="247332"/>
                </a:lnTo>
                <a:lnTo>
                  <a:pt x="1021359" y="222580"/>
                </a:lnTo>
                <a:lnTo>
                  <a:pt x="1055395" y="213169"/>
                </a:lnTo>
                <a:lnTo>
                  <a:pt x="1088174" y="222580"/>
                </a:lnTo>
                <a:lnTo>
                  <a:pt x="1110449"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408" y="199644"/>
                </a:lnTo>
                <a:lnTo>
                  <a:pt x="883894" y="235051"/>
                </a:lnTo>
                <a:lnTo>
                  <a:pt x="870508" y="276745"/>
                </a:lnTo>
                <a:lnTo>
                  <a:pt x="865911" y="324192"/>
                </a:lnTo>
                <a:lnTo>
                  <a:pt x="872426" y="378625"/>
                </a:lnTo>
                <a:lnTo>
                  <a:pt x="890930" y="424548"/>
                </a:lnTo>
                <a:lnTo>
                  <a:pt x="919848" y="461340"/>
                </a:lnTo>
                <a:lnTo>
                  <a:pt x="957580" y="488378"/>
                </a:lnTo>
                <a:lnTo>
                  <a:pt x="1002538" y="505066"/>
                </a:lnTo>
                <a:lnTo>
                  <a:pt x="1053160" y="510755"/>
                </a:lnTo>
                <a:lnTo>
                  <a:pt x="1053909" y="510755"/>
                </a:lnTo>
                <a:lnTo>
                  <a:pt x="1094740" y="507009"/>
                </a:lnTo>
                <a:lnTo>
                  <a:pt x="1133703" y="495655"/>
                </a:lnTo>
                <a:lnTo>
                  <a:pt x="1169187" y="476491"/>
                </a:lnTo>
                <a:lnTo>
                  <a:pt x="1199578" y="449364"/>
                </a:lnTo>
                <a:lnTo>
                  <a:pt x="1223276" y="414070"/>
                </a:lnTo>
                <a:lnTo>
                  <a:pt x="1238669" y="370433"/>
                </a:lnTo>
                <a:lnTo>
                  <a:pt x="1244155" y="318274"/>
                </a:lnTo>
                <a:close/>
              </a:path>
              <a:path w="1576070" h="511175">
                <a:moveTo>
                  <a:pt x="1575854" y="146558"/>
                </a:moveTo>
                <a:lnTo>
                  <a:pt x="1556600" y="140614"/>
                </a:lnTo>
                <a:lnTo>
                  <a:pt x="1535125" y="136194"/>
                </a:lnTo>
                <a:lnTo>
                  <a:pt x="1512557" y="133451"/>
                </a:lnTo>
                <a:lnTo>
                  <a:pt x="1489964" y="132499"/>
                </a:lnTo>
                <a:lnTo>
                  <a:pt x="1436077"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94"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12" name="object 3">
            <a:extLst>
              <a:ext uri="{FF2B5EF4-FFF2-40B4-BE49-F238E27FC236}">
                <a16:creationId xmlns:a16="http://schemas.microsoft.com/office/drawing/2014/main" id="{AB72D184-1BCC-8E4D-AB97-E7C9B55D20C7}"/>
              </a:ext>
            </a:extLst>
          </p:cNvPr>
          <p:cNvSpPr/>
          <p:nvPr userDrawn="1"/>
        </p:nvSpPr>
        <p:spPr>
          <a:xfrm>
            <a:off x="2412348" y="10245307"/>
            <a:ext cx="378460" cy="469900"/>
          </a:xfrm>
          <a:custGeom>
            <a:avLst/>
            <a:gdLst/>
            <a:ahLst/>
            <a:cxnLst/>
            <a:rect l="l" t="t" r="r" b="b"/>
            <a:pathLst>
              <a:path w="378460"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13" name="object 4">
            <a:extLst>
              <a:ext uri="{FF2B5EF4-FFF2-40B4-BE49-F238E27FC236}">
                <a16:creationId xmlns:a16="http://schemas.microsoft.com/office/drawing/2014/main" id="{A2800012-DA06-CF45-A47A-D4B30EA37B75}"/>
              </a:ext>
            </a:extLst>
          </p:cNvPr>
          <p:cNvGrpSpPr/>
          <p:nvPr userDrawn="1"/>
        </p:nvGrpSpPr>
        <p:grpSpPr>
          <a:xfrm>
            <a:off x="2842727" y="10117702"/>
            <a:ext cx="427355" cy="597535"/>
            <a:chOff x="2842727" y="10117702"/>
            <a:chExt cx="427355" cy="597535"/>
          </a:xfrm>
        </p:grpSpPr>
        <p:sp>
          <p:nvSpPr>
            <p:cNvPr id="14" name="object 5">
              <a:extLst>
                <a:ext uri="{FF2B5EF4-FFF2-40B4-BE49-F238E27FC236}">
                  <a16:creationId xmlns:a16="http://schemas.microsoft.com/office/drawing/2014/main" id="{039AC548-D805-B546-AF98-3B421C054969}"/>
                </a:ext>
              </a:extLst>
            </p:cNvPr>
            <p:cNvSpPr/>
            <p:nvPr/>
          </p:nvSpPr>
          <p:spPr>
            <a:xfrm>
              <a:off x="2842727"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5" name="object 6">
              <a:extLst>
                <a:ext uri="{FF2B5EF4-FFF2-40B4-BE49-F238E27FC236}">
                  <a16:creationId xmlns:a16="http://schemas.microsoft.com/office/drawing/2014/main" id="{DAA5A1C9-3FFD-F741-93B2-F1CDA55129CC}"/>
                </a:ext>
              </a:extLst>
            </p:cNvPr>
            <p:cNvPicPr/>
            <p:nvPr/>
          </p:nvPicPr>
          <p:blipFill>
            <a:blip r:embed="rId2" cstate="email">
              <a:extLst>
                <a:ext uri="{28A0092B-C50C-407E-A947-70E740481C1C}">
                  <a14:useLocalDpi xmlns:a14="http://schemas.microsoft.com/office/drawing/2010/main"/>
                </a:ext>
              </a:extLst>
            </a:blip>
            <a:stretch>
              <a:fillRect/>
            </a:stretch>
          </p:blipFill>
          <p:spPr>
            <a:xfrm>
              <a:off x="3157442" y="10117702"/>
              <a:ext cx="112300" cy="112268"/>
            </a:xfrm>
            <a:prstGeom prst="rect">
              <a:avLst/>
            </a:prstGeom>
          </p:spPr>
        </p:pic>
      </p:grpSp>
      <p:sp>
        <p:nvSpPr>
          <p:cNvPr id="16" name="object 7">
            <a:extLst>
              <a:ext uri="{FF2B5EF4-FFF2-40B4-BE49-F238E27FC236}">
                <a16:creationId xmlns:a16="http://schemas.microsoft.com/office/drawing/2014/main" id="{2AF2BE2F-4D9A-CF4D-AF78-BAD6CC1B2837}"/>
              </a:ext>
            </a:extLst>
          </p:cNvPr>
          <p:cNvSpPr/>
          <p:nvPr userDrawn="1"/>
        </p:nvSpPr>
        <p:spPr>
          <a:xfrm>
            <a:off x="17840597"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18" name="Marcador de texto 17">
            <a:extLst>
              <a:ext uri="{FF2B5EF4-FFF2-40B4-BE49-F238E27FC236}">
                <a16:creationId xmlns:a16="http://schemas.microsoft.com/office/drawing/2014/main" id="{E6AC5AA0-C4FD-A742-898F-2F81DD6B4DF8}"/>
              </a:ext>
            </a:extLst>
          </p:cNvPr>
          <p:cNvSpPr>
            <a:spLocks noGrp="1"/>
          </p:cNvSpPr>
          <p:nvPr>
            <p:ph type="body" sz="quarter" idx="10"/>
          </p:nvPr>
        </p:nvSpPr>
        <p:spPr>
          <a:xfrm>
            <a:off x="727227" y="755454"/>
            <a:ext cx="16792423" cy="738664"/>
          </a:xfrm>
        </p:spPr>
        <p:txBody>
          <a:bodyPr/>
          <a:lstStyle>
            <a:lvl1pPr algn="r">
              <a:defRPr sz="4800" b="1">
                <a:latin typeface="Arial" panose="020B0604020202020204" pitchFamily="34" charset="0"/>
                <a:cs typeface="Arial" panose="020B0604020202020204" pitchFamily="34" charset="0"/>
              </a:defRPr>
            </a:lvl1pPr>
          </a:lstStyle>
          <a:p>
            <a:r>
              <a:rPr lang="es-ES" dirty="0"/>
              <a:t>Editar los estilos de texto del patrón</a:t>
            </a:r>
            <a:endParaRPr lang="es-C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0" name="Imagen 19">
            <a:extLst>
              <a:ext uri="{FF2B5EF4-FFF2-40B4-BE49-F238E27FC236}">
                <a16:creationId xmlns:a16="http://schemas.microsoft.com/office/drawing/2014/main" id="{293DC4AC-3CD1-B728-F1D4-9297A3D9EA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2" name="Imagen 21">
            <a:extLst>
              <a:ext uri="{FF2B5EF4-FFF2-40B4-BE49-F238E27FC236}">
                <a16:creationId xmlns:a16="http://schemas.microsoft.com/office/drawing/2014/main" id="{75BA927C-DF3C-76F9-F858-D08E957A4C0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340"/>
            <a:ext cx="20109342" cy="11305614"/>
          </a:xfrm>
          <a:prstGeom prst="rect">
            <a:avLst/>
          </a:prstGeom>
        </p:spPr>
      </p:pic>
      <p:sp>
        <p:nvSpPr>
          <p:cNvPr id="23" name="Rectángulo 22">
            <a:extLst>
              <a:ext uri="{FF2B5EF4-FFF2-40B4-BE49-F238E27FC236}">
                <a16:creationId xmlns:a16="http://schemas.microsoft.com/office/drawing/2014/main" id="{B6946770-F426-2FD2-6657-14F29D5A8E25}"/>
              </a:ext>
            </a:extLst>
          </p:cNvPr>
          <p:cNvSpPr/>
          <p:nvPr userDrawn="1"/>
        </p:nvSpPr>
        <p:spPr>
          <a:xfrm>
            <a:off x="755650" y="62642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4" name="Título 1">
            <a:extLst>
              <a:ext uri="{FF2B5EF4-FFF2-40B4-BE49-F238E27FC236}">
                <a16:creationId xmlns:a16="http://schemas.microsoft.com/office/drawing/2014/main" id="{38E6F079-F9D6-8270-ADE8-DE597BD21FFF}"/>
              </a:ext>
            </a:extLst>
          </p:cNvPr>
          <p:cNvSpPr>
            <a:spLocks noGrp="1"/>
          </p:cNvSpPr>
          <p:nvPr>
            <p:ph type="title"/>
          </p:nvPr>
        </p:nvSpPr>
        <p:spPr>
          <a:xfrm>
            <a:off x="1184428" y="65914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CC49A5DC-7F63-7053-BF30-9BEB915A86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97E369C9-9696-52E0-3D5A-4A3A83A9C2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EDE5CBD5-32E9-715D-214E-87F7F64407EA}"/>
              </a:ext>
            </a:extLst>
          </p:cNvPr>
          <p:cNvSpPr/>
          <p:nvPr userDrawn="1"/>
        </p:nvSpPr>
        <p:spPr>
          <a:xfrm>
            <a:off x="7004050" y="73310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FA2B3E84-593C-1926-74EE-AA7B31F62D0D}"/>
              </a:ext>
            </a:extLst>
          </p:cNvPr>
          <p:cNvSpPr>
            <a:spLocks noGrp="1"/>
          </p:cNvSpPr>
          <p:nvPr>
            <p:ph type="title"/>
          </p:nvPr>
        </p:nvSpPr>
        <p:spPr>
          <a:xfrm>
            <a:off x="7432828" y="76582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6545789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221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2707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314421" y="714594"/>
            <a:ext cx="5259705" cy="915669"/>
          </a:xfrm>
          <a:prstGeom prst="rect">
            <a:avLst/>
          </a:prstGeom>
        </p:spPr>
        <p:txBody>
          <a:bodyPr wrap="square" lIns="0" tIns="0" rIns="0" bIns="0">
            <a:spAutoFit/>
          </a:bodyPr>
          <a:lstStyle>
            <a:lvl1pPr>
              <a:defRPr sz="5800" b="1" i="0">
                <a:solidFill>
                  <a:schemeClr val="tx1"/>
                </a:solidFill>
                <a:latin typeface="Arial"/>
                <a:cs typeface="Arial"/>
              </a:defRPr>
            </a:lvl1pPr>
          </a:lstStyle>
          <a:p>
            <a:endParaRPr/>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11/22/2023</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9" r:id="rId4"/>
    <p:sldLayoutId id="2147483664" r:id="rId5"/>
    <p:sldLayoutId id="2147483670" r:id="rId6"/>
    <p:sldLayoutId id="2147483677" r:id="rId7"/>
    <p:sldLayoutId id="2147483666" r:id="rId8"/>
    <p:sldLayoutId id="2147483665" r:id="rId9"/>
    <p:sldLayoutId id="2147483663" r:id="rId10"/>
    <p:sldLayoutId id="2147483673" r:id="rId11"/>
    <p:sldLayoutId id="2147483671" r:id="rId12"/>
    <p:sldLayoutId id="2147483678" r:id="rId13"/>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70841C-0ACF-DE6F-43AC-3E3396A2923B}"/>
              </a:ext>
            </a:extLst>
          </p:cNvPr>
          <p:cNvSpPr>
            <a:spLocks noGrp="1"/>
          </p:cNvSpPr>
          <p:nvPr>
            <p:ph type="ctrTitle"/>
          </p:nvPr>
        </p:nvSpPr>
        <p:spPr>
          <a:xfrm>
            <a:off x="2889250" y="8169275"/>
            <a:ext cx="8749511" cy="1169551"/>
          </a:xfrm>
        </p:spPr>
        <p:txBody>
          <a:bodyPr/>
          <a:lstStyle/>
          <a:p>
            <a:r>
              <a:rPr lang="es-CL" sz="3800" spc="-10" dirty="0"/>
              <a:t>EXTRACCIÓN</a:t>
            </a:r>
            <a:br>
              <a:rPr lang="es-CL" sz="3800" spc="-10" dirty="0"/>
            </a:br>
            <a:r>
              <a:rPr lang="es-CL" sz="3800" spc="-10" dirty="0"/>
              <a:t>DE PATRONES</a:t>
            </a:r>
            <a:endParaRPr lang="es-CL" sz="3800" dirty="0"/>
          </a:p>
        </p:txBody>
      </p:sp>
      <p:sp>
        <p:nvSpPr>
          <p:cNvPr id="3" name="Subtítulo 2">
            <a:extLst>
              <a:ext uri="{FF2B5EF4-FFF2-40B4-BE49-F238E27FC236}">
                <a16:creationId xmlns:a16="http://schemas.microsoft.com/office/drawing/2014/main" id="{B839BAB8-5980-04D6-9003-ABBE79FC69B7}"/>
              </a:ext>
            </a:extLst>
          </p:cNvPr>
          <p:cNvSpPr>
            <a:spLocks noGrp="1"/>
          </p:cNvSpPr>
          <p:nvPr>
            <p:ph type="subTitle" idx="4"/>
          </p:nvPr>
        </p:nvSpPr>
        <p:spPr>
          <a:xfrm>
            <a:off x="2926080" y="9554269"/>
            <a:ext cx="8712681" cy="369332"/>
          </a:xfrm>
        </p:spPr>
        <p:txBody>
          <a:bodyPr/>
          <a:lstStyle/>
          <a:p>
            <a:r>
              <a:rPr lang="es-CL" dirty="0">
                <a:latin typeface="Arial"/>
                <a:cs typeface="Arial"/>
              </a:rPr>
              <a:t>BIY7121 MINERÍA DE DATOS</a:t>
            </a:r>
            <a:endParaRPr lang="es-CL" sz="2400" dirty="0">
              <a:latin typeface="Arial"/>
              <a:cs typeface="Arial"/>
            </a:endParaRPr>
          </a:p>
        </p:txBody>
      </p:sp>
    </p:spTree>
    <p:extLst>
      <p:ext uri="{BB962C8B-B14F-4D97-AF65-F5344CB8AC3E}">
        <p14:creationId xmlns:p14="http://schemas.microsoft.com/office/powerpoint/2010/main" val="364293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FFB337F0-2FCC-924F-952C-07C673B763B0}"/>
              </a:ext>
            </a:extLst>
          </p:cNvPr>
          <p:cNvSpPr/>
          <p:nvPr/>
        </p:nvSpPr>
        <p:spPr>
          <a:xfrm>
            <a:off x="9518650" y="2378075"/>
            <a:ext cx="5357557" cy="1015663"/>
          </a:xfrm>
          <a:prstGeom prst="rect">
            <a:avLst/>
          </a:prstGeom>
        </p:spPr>
        <p:txBody>
          <a:bodyPr wrap="none">
            <a:spAutoFit/>
          </a:bodyPr>
          <a:lstStyle/>
          <a:p>
            <a:r>
              <a:rPr lang="es-CL" sz="6000" b="1" dirty="0">
                <a:latin typeface="Arial Black" panose="020B0604020202020204" pitchFamily="34" charset="0"/>
                <a:cs typeface="Arial Black" panose="020B0604020202020204" pitchFamily="34" charset="0"/>
              </a:rPr>
              <a:t>CONTENIDO</a:t>
            </a:r>
          </a:p>
        </p:txBody>
      </p:sp>
      <p:sp>
        <p:nvSpPr>
          <p:cNvPr id="9" name="Título 1">
            <a:extLst>
              <a:ext uri="{FF2B5EF4-FFF2-40B4-BE49-F238E27FC236}">
                <a16:creationId xmlns:a16="http://schemas.microsoft.com/office/drawing/2014/main" id="{8A3E674A-F038-D144-A91A-8FBF8FFE0F11}"/>
              </a:ext>
            </a:extLst>
          </p:cNvPr>
          <p:cNvSpPr txBox="1">
            <a:spLocks/>
          </p:cNvSpPr>
          <p:nvPr/>
        </p:nvSpPr>
        <p:spPr>
          <a:xfrm>
            <a:off x="9518650"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01</a:t>
            </a:r>
          </a:p>
        </p:txBody>
      </p:sp>
      <p:sp>
        <p:nvSpPr>
          <p:cNvPr id="12" name="Título 1">
            <a:extLst>
              <a:ext uri="{FF2B5EF4-FFF2-40B4-BE49-F238E27FC236}">
                <a16:creationId xmlns:a16="http://schemas.microsoft.com/office/drawing/2014/main" id="{BB375BB0-38DE-5947-A049-E37CBB392147}"/>
              </a:ext>
            </a:extLst>
          </p:cNvPr>
          <p:cNvSpPr txBox="1">
            <a:spLocks/>
          </p:cNvSpPr>
          <p:nvPr/>
        </p:nvSpPr>
        <p:spPr>
          <a:xfrm>
            <a:off x="9617262" y="7026177"/>
            <a:ext cx="4579097"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PATRONES</a:t>
            </a:r>
          </a:p>
        </p:txBody>
      </p:sp>
      <p:sp>
        <p:nvSpPr>
          <p:cNvPr id="14" name="Título 1">
            <a:extLst>
              <a:ext uri="{FF2B5EF4-FFF2-40B4-BE49-F238E27FC236}">
                <a16:creationId xmlns:a16="http://schemas.microsoft.com/office/drawing/2014/main" id="{D2775DA9-AA36-2B46-A647-A78656981246}"/>
              </a:ext>
            </a:extLst>
          </p:cNvPr>
          <p:cNvSpPr txBox="1">
            <a:spLocks/>
          </p:cNvSpPr>
          <p:nvPr/>
        </p:nvSpPr>
        <p:spPr>
          <a:xfrm>
            <a:off x="9518650" y="6264177"/>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02</a:t>
            </a:r>
          </a:p>
        </p:txBody>
      </p:sp>
      <p:sp>
        <p:nvSpPr>
          <p:cNvPr id="16" name="Título 1">
            <a:extLst>
              <a:ext uri="{FF2B5EF4-FFF2-40B4-BE49-F238E27FC236}">
                <a16:creationId xmlns:a16="http://schemas.microsoft.com/office/drawing/2014/main" id="{5AD2299A-27D1-AA45-A043-C0D64B734853}"/>
              </a:ext>
            </a:extLst>
          </p:cNvPr>
          <p:cNvSpPr txBox="1">
            <a:spLocks/>
          </p:cNvSpPr>
          <p:nvPr/>
        </p:nvSpPr>
        <p:spPr>
          <a:xfrm>
            <a:off x="9617262" y="9194781"/>
            <a:ext cx="4165973"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MÉTRICAS</a:t>
            </a:r>
          </a:p>
        </p:txBody>
      </p:sp>
      <p:sp>
        <p:nvSpPr>
          <p:cNvPr id="18" name="Título 1">
            <a:extLst>
              <a:ext uri="{FF2B5EF4-FFF2-40B4-BE49-F238E27FC236}">
                <a16:creationId xmlns:a16="http://schemas.microsoft.com/office/drawing/2014/main" id="{5FEE1E9F-D6A8-614C-BB95-3AFA463327D0}"/>
              </a:ext>
            </a:extLst>
          </p:cNvPr>
          <p:cNvSpPr txBox="1">
            <a:spLocks/>
          </p:cNvSpPr>
          <p:nvPr/>
        </p:nvSpPr>
        <p:spPr>
          <a:xfrm>
            <a:off x="9617262" y="8432781"/>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03</a:t>
            </a:r>
          </a:p>
        </p:txBody>
      </p:sp>
      <p:sp>
        <p:nvSpPr>
          <p:cNvPr id="21" name="Título 1">
            <a:extLst>
              <a:ext uri="{FF2B5EF4-FFF2-40B4-BE49-F238E27FC236}">
                <a16:creationId xmlns:a16="http://schemas.microsoft.com/office/drawing/2014/main" id="{325E44F9-8B81-FD43-8DCF-00283585DD6D}"/>
              </a:ext>
            </a:extLst>
          </p:cNvPr>
          <p:cNvSpPr txBox="1">
            <a:spLocks/>
          </p:cNvSpPr>
          <p:nvPr/>
        </p:nvSpPr>
        <p:spPr>
          <a:xfrm>
            <a:off x="9617262" y="4782488"/>
            <a:ext cx="4579097"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INTRODUCCION</a:t>
            </a:r>
          </a:p>
        </p:txBody>
      </p:sp>
      <p:sp>
        <p:nvSpPr>
          <p:cNvPr id="2" name="Título 1">
            <a:extLst>
              <a:ext uri="{FF2B5EF4-FFF2-40B4-BE49-F238E27FC236}">
                <a16:creationId xmlns:a16="http://schemas.microsoft.com/office/drawing/2014/main" id="{7EFE992D-1CA3-14C0-F902-6542723FD1C3}"/>
              </a:ext>
            </a:extLst>
          </p:cNvPr>
          <p:cNvSpPr txBox="1">
            <a:spLocks/>
          </p:cNvSpPr>
          <p:nvPr/>
        </p:nvSpPr>
        <p:spPr>
          <a:xfrm>
            <a:off x="14876207" y="4859339"/>
            <a:ext cx="4728882"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r>
              <a:rPr lang="es-CL" sz="3000" dirty="0"/>
              <a:t>RESUMEN</a:t>
            </a:r>
          </a:p>
        </p:txBody>
      </p:sp>
      <p:sp>
        <p:nvSpPr>
          <p:cNvPr id="4" name="Título 1">
            <a:extLst>
              <a:ext uri="{FF2B5EF4-FFF2-40B4-BE49-F238E27FC236}">
                <a16:creationId xmlns:a16="http://schemas.microsoft.com/office/drawing/2014/main" id="{47002DBB-23A6-9BA0-FF76-8B2A5E9F6159}"/>
              </a:ext>
            </a:extLst>
          </p:cNvPr>
          <p:cNvSpPr txBox="1">
            <a:spLocks/>
          </p:cNvSpPr>
          <p:nvPr/>
        </p:nvSpPr>
        <p:spPr>
          <a:xfrm>
            <a:off x="14656174"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397944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87A9F761-F66D-564C-A85F-5D24B1E7B998}"/>
              </a:ext>
            </a:extLst>
          </p:cNvPr>
          <p:cNvSpPr>
            <a:spLocks noGrp="1"/>
          </p:cNvSpPr>
          <p:nvPr>
            <p:ph type="title"/>
          </p:nvPr>
        </p:nvSpPr>
        <p:spPr>
          <a:xfrm>
            <a:off x="4413250" y="7559675"/>
            <a:ext cx="10134600" cy="1015663"/>
          </a:xfrm>
        </p:spPr>
        <p:txBody>
          <a:bodyPr/>
          <a:lstStyle/>
          <a:p>
            <a:pPr algn="r"/>
            <a:r>
              <a:rPr lang="es-CL" sz="6600" dirty="0"/>
              <a:t>INTRODUCCIÓN</a:t>
            </a:r>
          </a:p>
        </p:txBody>
      </p:sp>
      <p:sp>
        <p:nvSpPr>
          <p:cNvPr id="4" name="Título 1">
            <a:extLst>
              <a:ext uri="{FF2B5EF4-FFF2-40B4-BE49-F238E27FC236}">
                <a16:creationId xmlns:a16="http://schemas.microsoft.com/office/drawing/2014/main" id="{DC622BE7-4A49-A749-B2F2-EA3AD97A1AEF}"/>
              </a:ext>
            </a:extLst>
          </p:cNvPr>
          <p:cNvSpPr txBox="1">
            <a:spLocks/>
          </p:cNvSpPr>
          <p:nvPr/>
        </p:nvSpPr>
        <p:spPr>
          <a:xfrm>
            <a:off x="12677531" y="6082347"/>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r"/>
            <a:r>
              <a:rPr lang="es-CL" sz="9600" dirty="0">
                <a:latin typeface="Arial Black" panose="020B0604020202020204" pitchFamily="34" charset="0"/>
                <a:cs typeface="Arial Black" panose="020B0604020202020204" pitchFamily="34" charset="0"/>
              </a:rPr>
              <a:t>01</a:t>
            </a:r>
          </a:p>
        </p:txBody>
      </p:sp>
    </p:spTree>
    <p:extLst>
      <p:ext uri="{BB962C8B-B14F-4D97-AF65-F5344CB8AC3E}">
        <p14:creationId xmlns:p14="http://schemas.microsoft.com/office/powerpoint/2010/main" val="3117571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INTRODUCCIÓN</a:t>
            </a:r>
          </a:p>
        </p:txBody>
      </p:sp>
      <p:sp>
        <p:nvSpPr>
          <p:cNvPr id="3" name="CuadroTexto 2">
            <a:extLst>
              <a:ext uri="{FF2B5EF4-FFF2-40B4-BE49-F238E27FC236}">
                <a16:creationId xmlns:a16="http://schemas.microsoft.com/office/drawing/2014/main" id="{8F4D9069-61BC-606E-6D98-4D82B593F24F}"/>
              </a:ext>
            </a:extLst>
          </p:cNvPr>
          <p:cNvSpPr txBox="1"/>
          <p:nvPr/>
        </p:nvSpPr>
        <p:spPr>
          <a:xfrm>
            <a:off x="2279650" y="2682875"/>
            <a:ext cx="8915400" cy="6124754"/>
          </a:xfrm>
          <a:prstGeom prst="rect">
            <a:avLst/>
          </a:prstGeom>
          <a:noFill/>
        </p:spPr>
        <p:txBody>
          <a:bodyPr wrap="square" rtlCol="0">
            <a:spAutoFit/>
          </a:bodyPr>
          <a:lstStyle/>
          <a:p>
            <a:pPr algn="just"/>
            <a:r>
              <a:rPr lang="es-ES" sz="2800" dirty="0"/>
              <a:t>Se dice comúnmente que </a:t>
            </a:r>
            <a:r>
              <a:rPr lang="es-ES" sz="2800" dirty="0">
                <a:solidFill>
                  <a:srgbClr val="FF0000"/>
                </a:solidFill>
              </a:rPr>
              <a:t>el proceso de minería de datos convierte datos en conocimiento</a:t>
            </a:r>
            <a:r>
              <a:rPr lang="es-ES" sz="2800" dirty="0"/>
              <a:t>.</a:t>
            </a:r>
          </a:p>
          <a:p>
            <a:pPr algn="just"/>
            <a:endParaRPr lang="es-ES" sz="2800" dirty="0"/>
          </a:p>
          <a:p>
            <a:pPr algn="just"/>
            <a:r>
              <a:rPr lang="es-ES" sz="2800" dirty="0"/>
              <a:t>En general, los procesos que extraen patrones a partir de datos son computacionalmente costosos y, lo que es más importante, son más costosos cuanto más expresivos, novedosos, comprensibles e interesantes</a:t>
            </a:r>
          </a:p>
          <a:p>
            <a:pPr algn="just"/>
            <a:r>
              <a:rPr lang="es-ES" sz="2800" dirty="0"/>
              <a:t>queramos que sean los patrones extraídos.</a:t>
            </a:r>
          </a:p>
          <a:p>
            <a:pPr algn="just"/>
            <a:endParaRPr lang="es-ES" sz="2800" dirty="0"/>
          </a:p>
          <a:p>
            <a:pPr algn="just"/>
            <a:r>
              <a:rPr lang="es-ES" sz="2800" dirty="0"/>
              <a:t>De hecho, cuando algún algoritmo obtiene malos resultados, </a:t>
            </a:r>
            <a:r>
              <a:rPr lang="es-CL" sz="2800" dirty="0"/>
              <a:t>es</a:t>
            </a:r>
            <a:r>
              <a:rPr lang="es-ES" sz="2800" dirty="0"/>
              <a:t> más probable que se trate de que, o bien no existe patrón en los datos, o bien no estemos utilizando la herramienta adecuada para encontrarlos, o bien el patrón sea </a:t>
            </a:r>
            <a:r>
              <a:rPr lang="es-CL" sz="2800" dirty="0"/>
              <a:t>realmente difícil de encontrar.</a:t>
            </a:r>
          </a:p>
        </p:txBody>
      </p:sp>
      <p:sp>
        <p:nvSpPr>
          <p:cNvPr id="5" name="CuadroTexto 4">
            <a:extLst>
              <a:ext uri="{FF2B5EF4-FFF2-40B4-BE49-F238E27FC236}">
                <a16:creationId xmlns:a16="http://schemas.microsoft.com/office/drawing/2014/main" id="{F7610392-ADFB-52B0-6FF3-C4C573143DA6}"/>
              </a:ext>
            </a:extLst>
          </p:cNvPr>
          <p:cNvSpPr txBox="1"/>
          <p:nvPr/>
        </p:nvSpPr>
        <p:spPr>
          <a:xfrm>
            <a:off x="2432050" y="9998075"/>
            <a:ext cx="6380273" cy="307777"/>
          </a:xfrm>
          <a:prstGeom prst="rect">
            <a:avLst/>
          </a:prstGeom>
          <a:noFill/>
        </p:spPr>
        <p:txBody>
          <a:bodyPr wrap="none" rtlCol="0">
            <a:spAutoFit/>
          </a:bodyPr>
          <a:lstStyle/>
          <a:p>
            <a:r>
              <a:rPr lang="es-CL" sz="1400" dirty="0"/>
              <a:t>Fuente: Introducción a la Minería de Datos – José </a:t>
            </a:r>
            <a:r>
              <a:rPr lang="es-CL" sz="1400" dirty="0" err="1"/>
              <a:t>Hernandez</a:t>
            </a:r>
            <a:r>
              <a:rPr lang="es-CL" sz="1400" dirty="0"/>
              <a:t> </a:t>
            </a:r>
            <a:r>
              <a:rPr lang="es-CL" sz="1400" dirty="0" err="1"/>
              <a:t>Orallo</a:t>
            </a:r>
            <a:r>
              <a:rPr lang="es-CL" sz="1400" dirty="0"/>
              <a:t> y otros. </a:t>
            </a:r>
          </a:p>
        </p:txBody>
      </p:sp>
      <p:pic>
        <p:nvPicPr>
          <p:cNvPr id="4" name="Imagen 3">
            <a:extLst>
              <a:ext uri="{FF2B5EF4-FFF2-40B4-BE49-F238E27FC236}">
                <a16:creationId xmlns:a16="http://schemas.microsoft.com/office/drawing/2014/main" id="{0CAED19E-D56B-8BA0-5EB3-77A1A2B305F8}"/>
              </a:ext>
            </a:extLst>
          </p:cNvPr>
          <p:cNvPicPr>
            <a:picLocks noChangeAspect="1"/>
          </p:cNvPicPr>
          <p:nvPr/>
        </p:nvPicPr>
        <p:blipFill>
          <a:blip r:embed="rId2"/>
          <a:stretch>
            <a:fillRect/>
          </a:stretch>
        </p:blipFill>
        <p:spPr>
          <a:xfrm>
            <a:off x="12109450" y="3216275"/>
            <a:ext cx="6858000" cy="4572000"/>
          </a:xfrm>
          <a:prstGeom prst="rect">
            <a:avLst/>
          </a:prstGeom>
        </p:spPr>
      </p:pic>
    </p:spTree>
    <p:extLst>
      <p:ext uri="{BB962C8B-B14F-4D97-AF65-F5344CB8AC3E}">
        <p14:creationId xmlns:p14="http://schemas.microsoft.com/office/powerpoint/2010/main" val="214962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INTRODUCCIÓN</a:t>
            </a:r>
          </a:p>
        </p:txBody>
      </p:sp>
      <p:sp>
        <p:nvSpPr>
          <p:cNvPr id="3" name="CuadroTexto 2">
            <a:extLst>
              <a:ext uri="{FF2B5EF4-FFF2-40B4-BE49-F238E27FC236}">
                <a16:creationId xmlns:a16="http://schemas.microsoft.com/office/drawing/2014/main" id="{8F4D9069-61BC-606E-6D98-4D82B593F24F}"/>
              </a:ext>
            </a:extLst>
          </p:cNvPr>
          <p:cNvSpPr txBox="1"/>
          <p:nvPr/>
        </p:nvSpPr>
        <p:spPr>
          <a:xfrm>
            <a:off x="2279650" y="2682875"/>
            <a:ext cx="8915400" cy="6124754"/>
          </a:xfrm>
          <a:prstGeom prst="rect">
            <a:avLst/>
          </a:prstGeom>
          <a:noFill/>
        </p:spPr>
        <p:txBody>
          <a:bodyPr wrap="square" rtlCol="0">
            <a:spAutoFit/>
          </a:bodyPr>
          <a:lstStyle/>
          <a:p>
            <a:pPr algn="just"/>
            <a:r>
              <a:rPr lang="es-ES" sz="2800" dirty="0"/>
              <a:t>Existen tareas, presentaciones de tareas, instancias de tareas, que son más sencillas que  otras. Por ejemplo, la extracción de reglas de asociación es un problema más sencillo, computacionalmente hablando, que la clasificación.</a:t>
            </a:r>
          </a:p>
          <a:p>
            <a:pPr algn="l"/>
            <a:endParaRPr lang="es-ES" sz="2800" dirty="0"/>
          </a:p>
          <a:p>
            <a:pPr algn="just"/>
            <a:r>
              <a:rPr lang="es-CL" sz="2800" dirty="0"/>
              <a:t>Del mismo modo, dos </a:t>
            </a:r>
            <a:r>
              <a:rPr lang="es-ES" sz="2800" dirty="0"/>
              <a:t>problemas de clasificación, con el mismo número de ejemplos, tipos de atributos y números de clases pueden diferir en dificultad.</a:t>
            </a:r>
          </a:p>
          <a:p>
            <a:pPr algn="l"/>
            <a:endParaRPr lang="es-ES" sz="2800" dirty="0"/>
          </a:p>
          <a:p>
            <a:pPr algn="l"/>
            <a:endParaRPr lang="es-ES" sz="2800" dirty="0"/>
          </a:p>
          <a:p>
            <a:pPr algn="just"/>
            <a:r>
              <a:rPr lang="es-ES" sz="2800" dirty="0"/>
              <a:t>Dependerá de lo intricados que estén los patrones en los datos o si realmente existen patrones plausibles en ellos.</a:t>
            </a:r>
            <a:endParaRPr lang="es-CL" sz="2800" dirty="0"/>
          </a:p>
        </p:txBody>
      </p:sp>
      <p:sp>
        <p:nvSpPr>
          <p:cNvPr id="7" name="CuadroTexto 6">
            <a:extLst>
              <a:ext uri="{FF2B5EF4-FFF2-40B4-BE49-F238E27FC236}">
                <a16:creationId xmlns:a16="http://schemas.microsoft.com/office/drawing/2014/main" id="{A58CB852-F124-BB3D-2040-EC2E214BBBCA}"/>
              </a:ext>
            </a:extLst>
          </p:cNvPr>
          <p:cNvSpPr txBox="1"/>
          <p:nvPr/>
        </p:nvSpPr>
        <p:spPr>
          <a:xfrm>
            <a:off x="2432050" y="9998075"/>
            <a:ext cx="6380273" cy="307777"/>
          </a:xfrm>
          <a:prstGeom prst="rect">
            <a:avLst/>
          </a:prstGeom>
          <a:noFill/>
        </p:spPr>
        <p:txBody>
          <a:bodyPr wrap="none" rtlCol="0">
            <a:spAutoFit/>
          </a:bodyPr>
          <a:lstStyle/>
          <a:p>
            <a:r>
              <a:rPr lang="es-CL" sz="1400" dirty="0"/>
              <a:t>Fuente: Introducción a la Minería de Datos – José </a:t>
            </a:r>
            <a:r>
              <a:rPr lang="es-CL" sz="1400" dirty="0" err="1"/>
              <a:t>Hernandez</a:t>
            </a:r>
            <a:r>
              <a:rPr lang="es-CL" sz="1400" dirty="0"/>
              <a:t> </a:t>
            </a:r>
            <a:r>
              <a:rPr lang="es-CL" sz="1400" dirty="0" err="1"/>
              <a:t>Orallo</a:t>
            </a:r>
            <a:r>
              <a:rPr lang="es-CL" sz="1400" dirty="0"/>
              <a:t> y otros. </a:t>
            </a:r>
          </a:p>
        </p:txBody>
      </p:sp>
      <p:pic>
        <p:nvPicPr>
          <p:cNvPr id="9" name="Imagen 8">
            <a:extLst>
              <a:ext uri="{FF2B5EF4-FFF2-40B4-BE49-F238E27FC236}">
                <a16:creationId xmlns:a16="http://schemas.microsoft.com/office/drawing/2014/main" id="{4A738E94-81DB-B8F3-6904-8A0C0F63943C}"/>
              </a:ext>
            </a:extLst>
          </p:cNvPr>
          <p:cNvPicPr>
            <a:picLocks noChangeAspect="1"/>
          </p:cNvPicPr>
          <p:nvPr/>
        </p:nvPicPr>
        <p:blipFill>
          <a:blip r:embed="rId2"/>
          <a:stretch>
            <a:fillRect/>
          </a:stretch>
        </p:blipFill>
        <p:spPr>
          <a:xfrm>
            <a:off x="11873211" y="3161506"/>
            <a:ext cx="7580081" cy="4986338"/>
          </a:xfrm>
          <a:prstGeom prst="rect">
            <a:avLst/>
          </a:prstGeom>
        </p:spPr>
      </p:pic>
    </p:spTree>
    <p:extLst>
      <p:ext uri="{BB962C8B-B14F-4D97-AF65-F5344CB8AC3E}">
        <p14:creationId xmlns:p14="http://schemas.microsoft.com/office/powerpoint/2010/main" val="2675201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025BEF-C6CB-D142-BFA0-F95C5E30AC13}"/>
              </a:ext>
            </a:extLst>
          </p:cNvPr>
          <p:cNvSpPr>
            <a:spLocks noGrp="1"/>
          </p:cNvSpPr>
          <p:nvPr>
            <p:ph type="title"/>
          </p:nvPr>
        </p:nvSpPr>
        <p:spPr>
          <a:xfrm>
            <a:off x="8147050" y="7712075"/>
            <a:ext cx="8305800" cy="738664"/>
          </a:xfrm>
        </p:spPr>
        <p:txBody>
          <a:bodyPr/>
          <a:lstStyle/>
          <a:p>
            <a:pPr algn="r"/>
            <a:r>
              <a:rPr lang="es-CL" sz="4800" dirty="0"/>
              <a:t>TÍTULO</a:t>
            </a:r>
          </a:p>
        </p:txBody>
      </p:sp>
      <p:sp>
        <p:nvSpPr>
          <p:cNvPr id="3" name="Título 1">
            <a:extLst>
              <a:ext uri="{FF2B5EF4-FFF2-40B4-BE49-F238E27FC236}">
                <a16:creationId xmlns:a16="http://schemas.microsoft.com/office/drawing/2014/main" id="{94FE4634-98DF-A44A-92BF-86BBAE37A404}"/>
              </a:ext>
            </a:extLst>
          </p:cNvPr>
          <p:cNvSpPr txBox="1">
            <a:spLocks/>
          </p:cNvSpPr>
          <p:nvPr/>
        </p:nvSpPr>
        <p:spPr>
          <a:xfrm>
            <a:off x="8159750" y="6250622"/>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02</a:t>
            </a:r>
          </a:p>
        </p:txBody>
      </p:sp>
      <p:sp>
        <p:nvSpPr>
          <p:cNvPr id="4" name="Título 1">
            <a:extLst>
              <a:ext uri="{FF2B5EF4-FFF2-40B4-BE49-F238E27FC236}">
                <a16:creationId xmlns:a16="http://schemas.microsoft.com/office/drawing/2014/main" id="{8B7ACE31-74A9-95B3-1599-372FB822D0E6}"/>
              </a:ext>
            </a:extLst>
          </p:cNvPr>
          <p:cNvSpPr txBox="1">
            <a:spLocks/>
          </p:cNvSpPr>
          <p:nvPr/>
        </p:nvSpPr>
        <p:spPr>
          <a:xfrm>
            <a:off x="1517650" y="7712075"/>
            <a:ext cx="8305800" cy="738664"/>
          </a:xfrm>
          <a:prstGeom prst="rect">
            <a:avLst/>
          </a:prstGeom>
        </p:spPr>
        <p:txBody>
          <a:bodyPr wrap="square" lIns="0" tIns="0" rIns="0" bIns="0">
            <a:spAutoFit/>
          </a:bodyPr>
          <a:lstStyle>
            <a:lvl1pPr algn="l">
              <a:defRPr sz="5000" b="1" i="0">
                <a:solidFill>
                  <a:srgbClr val="257CE1"/>
                </a:solidFill>
                <a:latin typeface="Arial"/>
                <a:ea typeface="+mj-ea"/>
                <a:cs typeface="Arial"/>
              </a:defRPr>
            </a:lvl1pPr>
          </a:lstStyle>
          <a:p>
            <a:pPr algn="r"/>
            <a:r>
              <a:rPr lang="es-CL" sz="4800" dirty="0"/>
              <a:t>PATRONES</a:t>
            </a:r>
          </a:p>
        </p:txBody>
      </p:sp>
    </p:spTree>
    <p:extLst>
      <p:ext uri="{BB962C8B-B14F-4D97-AF65-F5344CB8AC3E}">
        <p14:creationId xmlns:p14="http://schemas.microsoft.com/office/powerpoint/2010/main" val="2257653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PATRONES</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6124754"/>
          </a:xfrm>
          <a:prstGeom prst="rect">
            <a:avLst/>
          </a:prstGeom>
          <a:noFill/>
        </p:spPr>
        <p:txBody>
          <a:bodyPr wrap="square" rtlCol="0">
            <a:spAutoFit/>
          </a:bodyPr>
          <a:lstStyle/>
          <a:p>
            <a:pPr algn="just"/>
            <a:r>
              <a:rPr lang="es-ES" sz="2800" dirty="0"/>
              <a:t>La Minería de Datos, intenta descubrir relaciones recurrentes en un conjunto de datos determinado.</a:t>
            </a:r>
          </a:p>
          <a:p>
            <a:pPr algn="just"/>
            <a:endParaRPr lang="es-ES" sz="2800" dirty="0"/>
          </a:p>
          <a:p>
            <a:pPr algn="just"/>
            <a:r>
              <a:rPr lang="es-ES" sz="2800" dirty="0"/>
              <a:t>La extracción frecuente de conjuntos de elementos conduce al descubrimiento de asociaciones y correlaciones entre elementos en grandes conjuntos de datos transaccionales o relacionales. </a:t>
            </a:r>
          </a:p>
          <a:p>
            <a:pPr algn="just"/>
            <a:endParaRPr lang="es-ES" sz="2800" dirty="0"/>
          </a:p>
          <a:p>
            <a:pPr algn="just"/>
            <a:r>
              <a:rPr lang="es-ES" sz="2800" dirty="0"/>
              <a:t>Con cantidades masivas de datos que se recopilan y almacenan continuamente, muchas industrias están interesadas en </a:t>
            </a:r>
            <a:r>
              <a:rPr lang="es-ES" sz="2800" dirty="0">
                <a:solidFill>
                  <a:srgbClr val="FF0000"/>
                </a:solidFill>
              </a:rPr>
              <a:t>extraer dichos patrones de sus bases de datos.</a:t>
            </a:r>
            <a:endParaRPr lang="es-CL" sz="2800" dirty="0">
              <a:solidFill>
                <a:srgbClr val="FF0000"/>
              </a:solidFill>
            </a:endParaRPr>
          </a:p>
        </p:txBody>
      </p:sp>
      <p:sp>
        <p:nvSpPr>
          <p:cNvPr id="5" name="CuadroTexto 4">
            <a:extLst>
              <a:ext uri="{FF2B5EF4-FFF2-40B4-BE49-F238E27FC236}">
                <a16:creationId xmlns:a16="http://schemas.microsoft.com/office/drawing/2014/main" id="{E20176C1-B225-0E3C-E33C-AB228F729F95}"/>
              </a:ext>
            </a:extLst>
          </p:cNvPr>
          <p:cNvSpPr txBox="1"/>
          <p:nvPr/>
        </p:nvSpPr>
        <p:spPr>
          <a:xfrm>
            <a:off x="3536652" y="10266005"/>
            <a:ext cx="5586786" cy="307777"/>
          </a:xfrm>
          <a:prstGeom prst="rect">
            <a:avLst/>
          </a:prstGeom>
          <a:noFill/>
        </p:spPr>
        <p:txBody>
          <a:bodyPr wrap="none" rtlCol="0">
            <a:spAutoFit/>
          </a:bodyPr>
          <a:lstStyle/>
          <a:p>
            <a:r>
              <a:rPr lang="es-CL" sz="1400" dirty="0"/>
              <a:t>Fuente: Data </a:t>
            </a:r>
            <a:r>
              <a:rPr lang="es-CL" sz="1400" dirty="0" err="1"/>
              <a:t>Mining</a:t>
            </a:r>
            <a:r>
              <a:rPr lang="es-CL" sz="1400" dirty="0"/>
              <a:t> </a:t>
            </a:r>
            <a:r>
              <a:rPr lang="es-CL" sz="1400" dirty="0" err="1"/>
              <a:t>Concepts</a:t>
            </a:r>
            <a:r>
              <a:rPr lang="es-CL" sz="1400" dirty="0"/>
              <a:t> and </a:t>
            </a:r>
            <a:r>
              <a:rPr lang="es-CL" sz="1400" dirty="0" err="1"/>
              <a:t>Techniques</a:t>
            </a:r>
            <a:r>
              <a:rPr lang="es-CL" sz="1400" dirty="0"/>
              <a:t>. </a:t>
            </a:r>
            <a:r>
              <a:rPr lang="es-CL" sz="1400" dirty="0" err="1"/>
              <a:t>Jiawei</a:t>
            </a:r>
            <a:r>
              <a:rPr lang="es-CL" sz="1400" dirty="0"/>
              <a:t> Han y otros. </a:t>
            </a:r>
          </a:p>
        </p:txBody>
      </p:sp>
      <p:pic>
        <p:nvPicPr>
          <p:cNvPr id="6" name="Imagen 5">
            <a:extLst>
              <a:ext uri="{FF2B5EF4-FFF2-40B4-BE49-F238E27FC236}">
                <a16:creationId xmlns:a16="http://schemas.microsoft.com/office/drawing/2014/main" id="{0D5728C2-0B91-CC41-91F9-24A01A7BB6ED}"/>
              </a:ext>
            </a:extLst>
          </p:cNvPr>
          <p:cNvPicPr>
            <a:picLocks noChangeAspect="1"/>
          </p:cNvPicPr>
          <p:nvPr/>
        </p:nvPicPr>
        <p:blipFill>
          <a:blip r:embed="rId2"/>
          <a:stretch>
            <a:fillRect/>
          </a:stretch>
        </p:blipFill>
        <p:spPr>
          <a:xfrm>
            <a:off x="10128250" y="4359275"/>
            <a:ext cx="9461500" cy="2743200"/>
          </a:xfrm>
          <a:prstGeom prst="rect">
            <a:avLst/>
          </a:prstGeom>
        </p:spPr>
      </p:pic>
    </p:spTree>
    <p:extLst>
      <p:ext uri="{BB962C8B-B14F-4D97-AF65-F5344CB8AC3E}">
        <p14:creationId xmlns:p14="http://schemas.microsoft.com/office/powerpoint/2010/main" val="717399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PATRONES</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6124754"/>
          </a:xfrm>
          <a:prstGeom prst="rect">
            <a:avLst/>
          </a:prstGeom>
          <a:noFill/>
        </p:spPr>
        <p:txBody>
          <a:bodyPr wrap="square" rtlCol="0">
            <a:spAutoFit/>
          </a:bodyPr>
          <a:lstStyle/>
          <a:p>
            <a:pPr algn="just"/>
            <a:r>
              <a:rPr lang="es-ES" sz="2800" b="1" dirty="0">
                <a:solidFill>
                  <a:srgbClr val="FF0000"/>
                </a:solidFill>
              </a:rPr>
              <a:t>Un ejemplo </a:t>
            </a:r>
            <a:r>
              <a:rPr lang="es-ES" sz="2800" dirty="0"/>
              <a:t>típico de extracción frecuente de conjuntos de elementos es el análisis de la cesta de la compra. </a:t>
            </a:r>
          </a:p>
          <a:p>
            <a:pPr algn="just"/>
            <a:endParaRPr lang="es-ES" sz="2800" dirty="0"/>
          </a:p>
          <a:p>
            <a:pPr algn="just"/>
            <a:r>
              <a:rPr lang="es-ES" sz="2800" dirty="0"/>
              <a:t>Este proceso analiza hábitos de compra de los clientes al encontrar asociaciones entre los diferentes artículos que los clientes colocan en sus “</a:t>
            </a:r>
            <a:r>
              <a:rPr lang="es-ES" sz="2800" b="1" dirty="0"/>
              <a:t>cestas de la compra</a:t>
            </a:r>
            <a:r>
              <a:rPr lang="es-ES" sz="2800" dirty="0"/>
              <a:t>”.</a:t>
            </a:r>
          </a:p>
          <a:p>
            <a:pPr algn="just"/>
            <a:endParaRPr lang="es-ES" sz="2800" dirty="0"/>
          </a:p>
          <a:p>
            <a:pPr algn="just"/>
            <a:r>
              <a:rPr lang="es-ES" sz="2800" dirty="0"/>
              <a:t>El descubrimiento de </a:t>
            </a:r>
            <a:r>
              <a:rPr lang="es-ES" sz="2800" dirty="0">
                <a:solidFill>
                  <a:srgbClr val="FF0000"/>
                </a:solidFill>
              </a:rPr>
              <a:t>estas asociaciones puede ayudar a los supermercados a desarrollar estrategias de marketing</a:t>
            </a:r>
            <a:r>
              <a:rPr lang="es-ES" sz="2800" dirty="0"/>
              <a:t>,  al obtener información sobre qué artículos los clientes compran juntos y con qué frecuencia.</a:t>
            </a:r>
            <a:endParaRPr lang="es-CL" sz="2800" dirty="0"/>
          </a:p>
        </p:txBody>
      </p:sp>
      <p:sp>
        <p:nvSpPr>
          <p:cNvPr id="5" name="CuadroTexto 4">
            <a:extLst>
              <a:ext uri="{FF2B5EF4-FFF2-40B4-BE49-F238E27FC236}">
                <a16:creationId xmlns:a16="http://schemas.microsoft.com/office/drawing/2014/main" id="{E20176C1-B225-0E3C-E33C-AB228F729F95}"/>
              </a:ext>
            </a:extLst>
          </p:cNvPr>
          <p:cNvSpPr txBox="1"/>
          <p:nvPr/>
        </p:nvSpPr>
        <p:spPr>
          <a:xfrm>
            <a:off x="3536652" y="10266005"/>
            <a:ext cx="5586786" cy="307777"/>
          </a:xfrm>
          <a:prstGeom prst="rect">
            <a:avLst/>
          </a:prstGeom>
          <a:noFill/>
        </p:spPr>
        <p:txBody>
          <a:bodyPr wrap="none" rtlCol="0">
            <a:spAutoFit/>
          </a:bodyPr>
          <a:lstStyle/>
          <a:p>
            <a:r>
              <a:rPr lang="es-CL" sz="1400" dirty="0"/>
              <a:t>Fuente: Data </a:t>
            </a:r>
            <a:r>
              <a:rPr lang="es-CL" sz="1400" dirty="0" err="1"/>
              <a:t>Mining</a:t>
            </a:r>
            <a:r>
              <a:rPr lang="es-CL" sz="1400" dirty="0"/>
              <a:t> </a:t>
            </a:r>
            <a:r>
              <a:rPr lang="es-CL" sz="1400" dirty="0" err="1"/>
              <a:t>Concepts</a:t>
            </a:r>
            <a:r>
              <a:rPr lang="es-CL" sz="1400" dirty="0"/>
              <a:t> and </a:t>
            </a:r>
            <a:r>
              <a:rPr lang="es-CL" sz="1400" dirty="0" err="1"/>
              <a:t>Techniques</a:t>
            </a:r>
            <a:r>
              <a:rPr lang="es-CL" sz="1400" dirty="0"/>
              <a:t>. </a:t>
            </a:r>
            <a:r>
              <a:rPr lang="es-CL" sz="1400" dirty="0" err="1"/>
              <a:t>Jiawei</a:t>
            </a:r>
            <a:r>
              <a:rPr lang="es-CL" sz="1400" dirty="0"/>
              <a:t> Han y otros. </a:t>
            </a:r>
          </a:p>
        </p:txBody>
      </p:sp>
      <p:pic>
        <p:nvPicPr>
          <p:cNvPr id="7" name="Imagen 6">
            <a:extLst>
              <a:ext uri="{FF2B5EF4-FFF2-40B4-BE49-F238E27FC236}">
                <a16:creationId xmlns:a16="http://schemas.microsoft.com/office/drawing/2014/main" id="{A9B53EBB-435A-86FE-05CB-C027667645A2}"/>
              </a:ext>
            </a:extLst>
          </p:cNvPr>
          <p:cNvPicPr>
            <a:picLocks noChangeAspect="1"/>
          </p:cNvPicPr>
          <p:nvPr/>
        </p:nvPicPr>
        <p:blipFill>
          <a:blip r:embed="rId2"/>
          <a:stretch>
            <a:fillRect/>
          </a:stretch>
        </p:blipFill>
        <p:spPr>
          <a:xfrm>
            <a:off x="11042649" y="2509479"/>
            <a:ext cx="8175513" cy="6040796"/>
          </a:xfrm>
          <a:prstGeom prst="rect">
            <a:avLst/>
          </a:prstGeom>
        </p:spPr>
      </p:pic>
    </p:spTree>
    <p:extLst>
      <p:ext uri="{BB962C8B-B14F-4D97-AF65-F5344CB8AC3E}">
        <p14:creationId xmlns:p14="http://schemas.microsoft.com/office/powerpoint/2010/main" val="1852861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PATRONES</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3970318"/>
          </a:xfrm>
          <a:prstGeom prst="rect">
            <a:avLst/>
          </a:prstGeom>
          <a:noFill/>
        </p:spPr>
        <p:txBody>
          <a:bodyPr wrap="square" rtlCol="0">
            <a:spAutoFit/>
          </a:bodyPr>
          <a:lstStyle/>
          <a:p>
            <a:pPr algn="just"/>
            <a:r>
              <a:rPr lang="es-ES" sz="2800" dirty="0"/>
              <a:t>Por ejemplo, si los clientes compran leche, ¿qué probabilidad hay de que también compren pan (y qué tipo de pan)? ¿en el mismo viaje al supermercado?.</a:t>
            </a:r>
          </a:p>
          <a:p>
            <a:pPr algn="just"/>
            <a:endParaRPr lang="es-ES" sz="2800" dirty="0"/>
          </a:p>
          <a:p>
            <a:pPr algn="just"/>
            <a:r>
              <a:rPr lang="es-ES" sz="2800" dirty="0"/>
              <a:t>Esta información puede generar mayores ventas, ingresos y clientes, ayudando a los supermercados a realizar un marketing selectivo y planificar el espacio en los estantes.</a:t>
            </a:r>
            <a:endParaRPr lang="es-CL" sz="2800" dirty="0"/>
          </a:p>
        </p:txBody>
      </p:sp>
      <p:sp>
        <p:nvSpPr>
          <p:cNvPr id="5" name="CuadroTexto 4">
            <a:extLst>
              <a:ext uri="{FF2B5EF4-FFF2-40B4-BE49-F238E27FC236}">
                <a16:creationId xmlns:a16="http://schemas.microsoft.com/office/drawing/2014/main" id="{E20176C1-B225-0E3C-E33C-AB228F729F95}"/>
              </a:ext>
            </a:extLst>
          </p:cNvPr>
          <p:cNvSpPr txBox="1"/>
          <p:nvPr/>
        </p:nvSpPr>
        <p:spPr>
          <a:xfrm>
            <a:off x="3536652" y="10266005"/>
            <a:ext cx="5586786" cy="307777"/>
          </a:xfrm>
          <a:prstGeom prst="rect">
            <a:avLst/>
          </a:prstGeom>
          <a:noFill/>
        </p:spPr>
        <p:txBody>
          <a:bodyPr wrap="none" rtlCol="0">
            <a:spAutoFit/>
          </a:bodyPr>
          <a:lstStyle/>
          <a:p>
            <a:r>
              <a:rPr lang="es-CL" sz="1400" dirty="0"/>
              <a:t>Fuente: Data </a:t>
            </a:r>
            <a:r>
              <a:rPr lang="es-CL" sz="1400" dirty="0" err="1"/>
              <a:t>Mining</a:t>
            </a:r>
            <a:r>
              <a:rPr lang="es-CL" sz="1400" dirty="0"/>
              <a:t> </a:t>
            </a:r>
            <a:r>
              <a:rPr lang="es-CL" sz="1400" dirty="0" err="1"/>
              <a:t>Concepts</a:t>
            </a:r>
            <a:r>
              <a:rPr lang="es-CL" sz="1400" dirty="0"/>
              <a:t> and </a:t>
            </a:r>
            <a:r>
              <a:rPr lang="es-CL" sz="1400" dirty="0" err="1"/>
              <a:t>Techniques</a:t>
            </a:r>
            <a:r>
              <a:rPr lang="es-CL" sz="1400" dirty="0"/>
              <a:t>. </a:t>
            </a:r>
            <a:r>
              <a:rPr lang="es-CL" sz="1400" dirty="0" err="1"/>
              <a:t>Jiawei</a:t>
            </a:r>
            <a:r>
              <a:rPr lang="es-CL" sz="1400" dirty="0"/>
              <a:t> Han y otros. </a:t>
            </a:r>
          </a:p>
        </p:txBody>
      </p:sp>
      <p:pic>
        <p:nvPicPr>
          <p:cNvPr id="4" name="Imagen 3">
            <a:extLst>
              <a:ext uri="{FF2B5EF4-FFF2-40B4-BE49-F238E27FC236}">
                <a16:creationId xmlns:a16="http://schemas.microsoft.com/office/drawing/2014/main" id="{D3657FD3-E134-9070-350B-BF0B138DD86E}"/>
              </a:ext>
            </a:extLst>
          </p:cNvPr>
          <p:cNvPicPr>
            <a:picLocks noChangeAspect="1"/>
          </p:cNvPicPr>
          <p:nvPr/>
        </p:nvPicPr>
        <p:blipFill>
          <a:blip r:embed="rId2"/>
          <a:stretch>
            <a:fillRect/>
          </a:stretch>
        </p:blipFill>
        <p:spPr>
          <a:xfrm>
            <a:off x="10052049" y="2682875"/>
            <a:ext cx="9618133" cy="5410200"/>
          </a:xfrm>
          <a:prstGeom prst="rect">
            <a:avLst/>
          </a:prstGeom>
        </p:spPr>
      </p:pic>
    </p:spTree>
    <p:extLst>
      <p:ext uri="{BB962C8B-B14F-4D97-AF65-F5344CB8AC3E}">
        <p14:creationId xmlns:p14="http://schemas.microsoft.com/office/powerpoint/2010/main" val="2992967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PATRONES</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6986528"/>
          </a:xfrm>
          <a:prstGeom prst="rect">
            <a:avLst/>
          </a:prstGeom>
          <a:noFill/>
        </p:spPr>
        <p:txBody>
          <a:bodyPr wrap="square" rtlCol="0">
            <a:spAutoFit/>
          </a:bodyPr>
          <a:lstStyle/>
          <a:p>
            <a:pPr algn="just"/>
            <a:r>
              <a:rPr lang="es-ES" sz="2800" dirty="0"/>
              <a:t>Los </a:t>
            </a:r>
            <a:r>
              <a:rPr lang="es-ES" sz="2800" dirty="0">
                <a:solidFill>
                  <a:srgbClr val="FF0000"/>
                </a:solidFill>
              </a:rPr>
              <a:t>patrones de compra reflejan artículos que frecuentemente se asocian o se compran juntos</a:t>
            </a:r>
            <a:r>
              <a:rPr lang="es-ES" sz="2800" dirty="0"/>
              <a:t>. Estos patrones  se pueden representar en forma de reglas de asociación.</a:t>
            </a:r>
          </a:p>
          <a:p>
            <a:pPr algn="just"/>
            <a:endParaRPr lang="es-ES" sz="2800" dirty="0"/>
          </a:p>
          <a:p>
            <a:pPr algn="just"/>
            <a:r>
              <a:rPr lang="es-ES" sz="2800" dirty="0"/>
              <a:t>Normalmente, las reglas de asociación se consideran interesantes si satisfacen un umbral mínimo de soporte y un umbral mínimo de confianza. </a:t>
            </a:r>
          </a:p>
          <a:p>
            <a:pPr algn="just"/>
            <a:endParaRPr lang="es-ES" sz="2800" dirty="0"/>
          </a:p>
          <a:p>
            <a:pPr algn="just"/>
            <a:r>
              <a:rPr lang="es-ES" sz="2800" dirty="0"/>
              <a:t>Estos umbrales pueden ser establecidos por usuarios o expertos en el dominio. </a:t>
            </a:r>
          </a:p>
          <a:p>
            <a:pPr algn="just"/>
            <a:endParaRPr lang="es-ES" sz="2800" dirty="0"/>
          </a:p>
          <a:p>
            <a:pPr algn="just"/>
            <a:r>
              <a:rPr lang="es-ES" sz="2800" dirty="0"/>
              <a:t>Adicional se puede realizar un análisis para descubrir correlaciones estadísticas interesantes entre los diversos artículos.</a:t>
            </a:r>
            <a:endParaRPr lang="es-CL" sz="2800" dirty="0"/>
          </a:p>
        </p:txBody>
      </p:sp>
      <p:sp>
        <p:nvSpPr>
          <p:cNvPr id="5" name="CuadroTexto 4">
            <a:extLst>
              <a:ext uri="{FF2B5EF4-FFF2-40B4-BE49-F238E27FC236}">
                <a16:creationId xmlns:a16="http://schemas.microsoft.com/office/drawing/2014/main" id="{E20176C1-B225-0E3C-E33C-AB228F729F95}"/>
              </a:ext>
            </a:extLst>
          </p:cNvPr>
          <p:cNvSpPr txBox="1"/>
          <p:nvPr/>
        </p:nvSpPr>
        <p:spPr>
          <a:xfrm>
            <a:off x="3536652" y="10266005"/>
            <a:ext cx="5586786" cy="307777"/>
          </a:xfrm>
          <a:prstGeom prst="rect">
            <a:avLst/>
          </a:prstGeom>
          <a:noFill/>
        </p:spPr>
        <p:txBody>
          <a:bodyPr wrap="none" rtlCol="0">
            <a:spAutoFit/>
          </a:bodyPr>
          <a:lstStyle/>
          <a:p>
            <a:r>
              <a:rPr lang="es-CL" sz="1400" dirty="0"/>
              <a:t>Fuente: Data </a:t>
            </a:r>
            <a:r>
              <a:rPr lang="es-CL" sz="1400" dirty="0" err="1"/>
              <a:t>Mining</a:t>
            </a:r>
            <a:r>
              <a:rPr lang="es-CL" sz="1400" dirty="0"/>
              <a:t> </a:t>
            </a:r>
            <a:r>
              <a:rPr lang="es-CL" sz="1400" dirty="0" err="1"/>
              <a:t>Concepts</a:t>
            </a:r>
            <a:r>
              <a:rPr lang="es-CL" sz="1400" dirty="0"/>
              <a:t> and </a:t>
            </a:r>
            <a:r>
              <a:rPr lang="es-CL" sz="1400" dirty="0" err="1"/>
              <a:t>Techniques</a:t>
            </a:r>
            <a:r>
              <a:rPr lang="es-CL" sz="1400" dirty="0"/>
              <a:t>. </a:t>
            </a:r>
            <a:r>
              <a:rPr lang="es-CL" sz="1400" dirty="0" err="1"/>
              <a:t>Jiawei</a:t>
            </a:r>
            <a:r>
              <a:rPr lang="es-CL" sz="1400" dirty="0"/>
              <a:t> Han y otros. </a:t>
            </a:r>
          </a:p>
        </p:txBody>
      </p:sp>
      <p:pic>
        <p:nvPicPr>
          <p:cNvPr id="7" name="Imagen 6">
            <a:extLst>
              <a:ext uri="{FF2B5EF4-FFF2-40B4-BE49-F238E27FC236}">
                <a16:creationId xmlns:a16="http://schemas.microsoft.com/office/drawing/2014/main" id="{47BB3855-88AC-CEED-72AA-2B4F11058818}"/>
              </a:ext>
            </a:extLst>
          </p:cNvPr>
          <p:cNvPicPr>
            <a:picLocks noChangeAspect="1"/>
          </p:cNvPicPr>
          <p:nvPr/>
        </p:nvPicPr>
        <p:blipFill>
          <a:blip r:embed="rId2"/>
          <a:stretch>
            <a:fillRect/>
          </a:stretch>
        </p:blipFill>
        <p:spPr>
          <a:xfrm>
            <a:off x="10052049" y="2530475"/>
            <a:ext cx="9861973" cy="5943600"/>
          </a:xfrm>
          <a:prstGeom prst="rect">
            <a:avLst/>
          </a:prstGeom>
        </p:spPr>
      </p:pic>
    </p:spTree>
    <p:extLst>
      <p:ext uri="{BB962C8B-B14F-4D97-AF65-F5344CB8AC3E}">
        <p14:creationId xmlns:p14="http://schemas.microsoft.com/office/powerpoint/2010/main" val="3318135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PATRONES</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7417415"/>
          </a:xfrm>
          <a:prstGeom prst="rect">
            <a:avLst/>
          </a:prstGeom>
          <a:noFill/>
        </p:spPr>
        <p:txBody>
          <a:bodyPr wrap="square" rtlCol="0">
            <a:spAutoFit/>
          </a:bodyPr>
          <a:lstStyle/>
          <a:p>
            <a:pPr algn="just"/>
            <a:r>
              <a:rPr lang="es-ES" sz="2800" dirty="0"/>
              <a:t>Si pensamos en el conjunto de artículos disponibles en la tienda, entonces </a:t>
            </a:r>
            <a:r>
              <a:rPr lang="es-ES" sz="2800" dirty="0">
                <a:solidFill>
                  <a:srgbClr val="FF0000"/>
                </a:solidFill>
              </a:rPr>
              <a:t>cada artículo tiene un valor booleano</a:t>
            </a:r>
            <a:r>
              <a:rPr lang="es-ES" sz="2800" dirty="0"/>
              <a:t>, es decir, una variable que representa la presencia o ausencia de ese elemento. </a:t>
            </a:r>
          </a:p>
          <a:p>
            <a:pPr algn="just"/>
            <a:endParaRPr lang="es-ES" sz="2800" dirty="0"/>
          </a:p>
          <a:p>
            <a:pPr algn="just"/>
            <a:r>
              <a:rPr lang="es-ES" sz="2800" dirty="0"/>
              <a:t>Luego, </a:t>
            </a:r>
            <a:r>
              <a:rPr lang="es-ES" sz="2800" dirty="0">
                <a:solidFill>
                  <a:srgbClr val="FF0000"/>
                </a:solidFill>
              </a:rPr>
              <a:t>cada canasta puede representarse mediante un vector booleano </a:t>
            </a:r>
            <a:r>
              <a:rPr lang="es-ES" sz="2800" dirty="0"/>
              <a:t>de valores asignados a estas variables. </a:t>
            </a:r>
          </a:p>
          <a:p>
            <a:pPr algn="just"/>
            <a:endParaRPr lang="es-ES" sz="2800" dirty="0"/>
          </a:p>
          <a:p>
            <a:pPr algn="just"/>
            <a:r>
              <a:rPr lang="es-ES" sz="2800" dirty="0"/>
              <a:t>Los vectores booleanos se pueden analizar para extraer patrones de compra que reflejan artículos que frecuentemente se asocian o se compran juntos. </a:t>
            </a:r>
          </a:p>
          <a:p>
            <a:pPr algn="just"/>
            <a:endParaRPr lang="es-ES" sz="2800" dirty="0"/>
          </a:p>
          <a:p>
            <a:pPr algn="just"/>
            <a:r>
              <a:rPr lang="es-ES" sz="2800" dirty="0">
                <a:solidFill>
                  <a:srgbClr val="FF0000"/>
                </a:solidFill>
              </a:rPr>
              <a:t>Estos patrones se pueden representar en forma de reglas de asociación</a:t>
            </a:r>
            <a:r>
              <a:rPr lang="es-ES" sz="2800" dirty="0"/>
              <a:t>.</a:t>
            </a:r>
            <a:endParaRPr lang="es-CL" sz="2800" dirty="0"/>
          </a:p>
        </p:txBody>
      </p:sp>
      <p:sp>
        <p:nvSpPr>
          <p:cNvPr id="5" name="CuadroTexto 4">
            <a:extLst>
              <a:ext uri="{FF2B5EF4-FFF2-40B4-BE49-F238E27FC236}">
                <a16:creationId xmlns:a16="http://schemas.microsoft.com/office/drawing/2014/main" id="{E20176C1-B225-0E3C-E33C-AB228F729F95}"/>
              </a:ext>
            </a:extLst>
          </p:cNvPr>
          <p:cNvSpPr txBox="1"/>
          <p:nvPr/>
        </p:nvSpPr>
        <p:spPr>
          <a:xfrm>
            <a:off x="3536652" y="10266005"/>
            <a:ext cx="5586786" cy="307777"/>
          </a:xfrm>
          <a:prstGeom prst="rect">
            <a:avLst/>
          </a:prstGeom>
          <a:noFill/>
        </p:spPr>
        <p:txBody>
          <a:bodyPr wrap="none" rtlCol="0">
            <a:spAutoFit/>
          </a:bodyPr>
          <a:lstStyle/>
          <a:p>
            <a:r>
              <a:rPr lang="es-CL" sz="1400" dirty="0"/>
              <a:t>Fuente: Data </a:t>
            </a:r>
            <a:r>
              <a:rPr lang="es-CL" sz="1400" dirty="0" err="1"/>
              <a:t>Mining</a:t>
            </a:r>
            <a:r>
              <a:rPr lang="es-CL" sz="1400" dirty="0"/>
              <a:t> </a:t>
            </a:r>
            <a:r>
              <a:rPr lang="es-CL" sz="1400" dirty="0" err="1"/>
              <a:t>Concepts</a:t>
            </a:r>
            <a:r>
              <a:rPr lang="es-CL" sz="1400" dirty="0"/>
              <a:t> and </a:t>
            </a:r>
            <a:r>
              <a:rPr lang="es-CL" sz="1400" dirty="0" err="1"/>
              <a:t>Techniques</a:t>
            </a:r>
            <a:r>
              <a:rPr lang="es-CL" sz="1400" dirty="0"/>
              <a:t>. </a:t>
            </a:r>
            <a:r>
              <a:rPr lang="es-CL" sz="1400" dirty="0" err="1"/>
              <a:t>Jiawei</a:t>
            </a:r>
            <a:r>
              <a:rPr lang="es-CL" sz="1400" dirty="0"/>
              <a:t> Han y otros. </a:t>
            </a:r>
          </a:p>
        </p:txBody>
      </p:sp>
      <p:pic>
        <p:nvPicPr>
          <p:cNvPr id="6" name="Imagen 5">
            <a:extLst>
              <a:ext uri="{FF2B5EF4-FFF2-40B4-BE49-F238E27FC236}">
                <a16:creationId xmlns:a16="http://schemas.microsoft.com/office/drawing/2014/main" id="{26D00F5B-BD44-67A4-2032-B6BD0439E9D2}"/>
              </a:ext>
            </a:extLst>
          </p:cNvPr>
          <p:cNvPicPr>
            <a:picLocks noChangeAspect="1"/>
          </p:cNvPicPr>
          <p:nvPr/>
        </p:nvPicPr>
        <p:blipFill>
          <a:blip r:embed="rId2"/>
          <a:stretch>
            <a:fillRect/>
          </a:stretch>
        </p:blipFill>
        <p:spPr>
          <a:xfrm>
            <a:off x="10406747" y="3063875"/>
            <a:ext cx="8584153" cy="5638800"/>
          </a:xfrm>
          <a:prstGeom prst="rect">
            <a:avLst/>
          </a:prstGeom>
        </p:spPr>
      </p:pic>
    </p:spTree>
    <p:extLst>
      <p:ext uri="{BB962C8B-B14F-4D97-AF65-F5344CB8AC3E}">
        <p14:creationId xmlns:p14="http://schemas.microsoft.com/office/powerpoint/2010/main" val="1440087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PATRONES</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6986528"/>
          </a:xfrm>
          <a:prstGeom prst="rect">
            <a:avLst/>
          </a:prstGeom>
          <a:noFill/>
        </p:spPr>
        <p:txBody>
          <a:bodyPr wrap="square" rtlCol="0">
            <a:spAutoFit/>
          </a:bodyPr>
          <a:lstStyle/>
          <a:p>
            <a:pPr algn="just"/>
            <a:r>
              <a:rPr lang="es-ES" sz="2800" dirty="0"/>
              <a:t>En términos generales, algunos de los diferentes tipos de patrones que se pueden ver en los datos son: </a:t>
            </a:r>
          </a:p>
          <a:p>
            <a:pPr algn="just"/>
            <a:endParaRPr lang="es-ES" sz="2800" dirty="0"/>
          </a:p>
          <a:p>
            <a:pPr algn="just"/>
            <a:r>
              <a:rPr lang="es-ES" sz="2800" b="1" dirty="0">
                <a:solidFill>
                  <a:schemeClr val="tx1"/>
                </a:solidFill>
              </a:rPr>
              <a:t>Patrones periódicos</a:t>
            </a:r>
            <a:r>
              <a:rPr lang="es-ES" sz="2800" dirty="0"/>
              <a:t>: son patrones que se </a:t>
            </a:r>
            <a:r>
              <a:rPr lang="es-ES" sz="2800" dirty="0">
                <a:solidFill>
                  <a:srgbClr val="FF0000"/>
                </a:solidFill>
              </a:rPr>
              <a:t>ven repitiéndose después de un cierto lapso de tiempo</a:t>
            </a:r>
            <a:r>
              <a:rPr lang="es-ES" sz="2800" dirty="0"/>
              <a:t>. Este tipo de patrón se encuentra frecuentemente en datos de series temporales, secuencias biológicas, datos espacio temporales (tiene dimensiones de tiempo y espacio), etc.</a:t>
            </a:r>
          </a:p>
          <a:p>
            <a:pPr algn="just"/>
            <a:endParaRPr lang="es-ES" sz="2800" dirty="0"/>
          </a:p>
          <a:p>
            <a:pPr algn="just"/>
            <a:r>
              <a:rPr lang="es-ES" sz="2800" b="1" dirty="0"/>
              <a:t>Patrones asociativos</a:t>
            </a:r>
            <a:r>
              <a:rPr lang="es-ES" sz="2800" dirty="0"/>
              <a:t>: como la canasta de compra, es decir, grupos concurrentes de cosas que tienen más sentido entre sí. Los miembros de este patrón son complementarios entre sí.</a:t>
            </a:r>
            <a:endParaRPr lang="es-CL" sz="2800" dirty="0"/>
          </a:p>
        </p:txBody>
      </p:sp>
      <p:sp>
        <p:nvSpPr>
          <p:cNvPr id="5" name="CuadroTexto 4">
            <a:extLst>
              <a:ext uri="{FF2B5EF4-FFF2-40B4-BE49-F238E27FC236}">
                <a16:creationId xmlns:a16="http://schemas.microsoft.com/office/drawing/2014/main" id="{E20176C1-B225-0E3C-E33C-AB228F729F95}"/>
              </a:ext>
            </a:extLst>
          </p:cNvPr>
          <p:cNvSpPr txBox="1"/>
          <p:nvPr/>
        </p:nvSpPr>
        <p:spPr>
          <a:xfrm>
            <a:off x="3536652" y="10266005"/>
            <a:ext cx="5586786" cy="307777"/>
          </a:xfrm>
          <a:prstGeom prst="rect">
            <a:avLst/>
          </a:prstGeom>
          <a:noFill/>
        </p:spPr>
        <p:txBody>
          <a:bodyPr wrap="none" rtlCol="0">
            <a:spAutoFit/>
          </a:bodyPr>
          <a:lstStyle/>
          <a:p>
            <a:r>
              <a:rPr lang="es-CL" sz="1400" dirty="0"/>
              <a:t>Fuente: Data </a:t>
            </a:r>
            <a:r>
              <a:rPr lang="es-CL" sz="1400" dirty="0" err="1"/>
              <a:t>Mining</a:t>
            </a:r>
            <a:r>
              <a:rPr lang="es-CL" sz="1400" dirty="0"/>
              <a:t> </a:t>
            </a:r>
            <a:r>
              <a:rPr lang="es-CL" sz="1400" dirty="0" err="1"/>
              <a:t>Concepts</a:t>
            </a:r>
            <a:r>
              <a:rPr lang="es-CL" sz="1400" dirty="0"/>
              <a:t> and </a:t>
            </a:r>
            <a:r>
              <a:rPr lang="es-CL" sz="1400" dirty="0" err="1"/>
              <a:t>Techniques</a:t>
            </a:r>
            <a:r>
              <a:rPr lang="es-CL" sz="1400" dirty="0"/>
              <a:t>. </a:t>
            </a:r>
            <a:r>
              <a:rPr lang="es-CL" sz="1400" dirty="0" err="1"/>
              <a:t>Jiawei</a:t>
            </a:r>
            <a:r>
              <a:rPr lang="es-CL" sz="1400" dirty="0"/>
              <a:t> Han y otros. </a:t>
            </a:r>
          </a:p>
        </p:txBody>
      </p:sp>
    </p:spTree>
    <p:extLst>
      <p:ext uri="{BB962C8B-B14F-4D97-AF65-F5344CB8AC3E}">
        <p14:creationId xmlns:p14="http://schemas.microsoft.com/office/powerpoint/2010/main" val="2709172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PATRONES</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5262979"/>
          </a:xfrm>
          <a:prstGeom prst="rect">
            <a:avLst/>
          </a:prstGeom>
          <a:noFill/>
        </p:spPr>
        <p:txBody>
          <a:bodyPr wrap="square" rtlCol="0">
            <a:spAutoFit/>
          </a:bodyPr>
          <a:lstStyle/>
          <a:p>
            <a:pPr algn="just"/>
            <a:r>
              <a:rPr lang="es-ES" sz="2800" b="1" dirty="0"/>
              <a:t>Patrones anormales</a:t>
            </a:r>
            <a:r>
              <a:rPr lang="es-ES" sz="2800" dirty="0"/>
              <a:t>: este tipo de patrón ocurre cuando los datos tienen una clara desviación del </a:t>
            </a:r>
            <a:r>
              <a:rPr lang="es-ES" sz="2800" dirty="0">
                <a:solidFill>
                  <a:srgbClr val="FF0000"/>
                </a:solidFill>
              </a:rPr>
              <a:t>comportamiento normal</a:t>
            </a:r>
            <a:r>
              <a:rPr lang="es-ES" sz="2800" dirty="0"/>
              <a:t>, aparece un patrón inesperado entre los patrones esperados y su aparición no es periódica.</a:t>
            </a:r>
          </a:p>
          <a:p>
            <a:pPr algn="just"/>
            <a:endParaRPr lang="es-ES" sz="2800" dirty="0"/>
          </a:p>
          <a:p>
            <a:pPr algn="just"/>
            <a:r>
              <a:rPr lang="es-ES" sz="2800" b="1" dirty="0"/>
              <a:t>Patrones estructurales</a:t>
            </a:r>
            <a:r>
              <a:rPr lang="es-ES" sz="2800" dirty="0"/>
              <a:t>: como la búsqueda de caminos en gráficos o la identificación de grupos. Un ejemplo sería que las residencias de bajo costo tienden a ocurrir en los suburbios, mientras que el centro tiene apartamentos de mayor costo.​</a:t>
            </a:r>
            <a:endParaRPr lang="es-CL" sz="2800" dirty="0"/>
          </a:p>
        </p:txBody>
      </p:sp>
      <p:sp>
        <p:nvSpPr>
          <p:cNvPr id="5" name="CuadroTexto 4">
            <a:extLst>
              <a:ext uri="{FF2B5EF4-FFF2-40B4-BE49-F238E27FC236}">
                <a16:creationId xmlns:a16="http://schemas.microsoft.com/office/drawing/2014/main" id="{E20176C1-B225-0E3C-E33C-AB228F729F95}"/>
              </a:ext>
            </a:extLst>
          </p:cNvPr>
          <p:cNvSpPr txBox="1"/>
          <p:nvPr/>
        </p:nvSpPr>
        <p:spPr>
          <a:xfrm>
            <a:off x="3536652" y="10266005"/>
            <a:ext cx="5586786" cy="307777"/>
          </a:xfrm>
          <a:prstGeom prst="rect">
            <a:avLst/>
          </a:prstGeom>
          <a:noFill/>
        </p:spPr>
        <p:txBody>
          <a:bodyPr wrap="none" rtlCol="0">
            <a:spAutoFit/>
          </a:bodyPr>
          <a:lstStyle/>
          <a:p>
            <a:r>
              <a:rPr lang="es-CL" sz="1400" dirty="0"/>
              <a:t>Fuente: Data </a:t>
            </a:r>
            <a:r>
              <a:rPr lang="es-CL" sz="1400" dirty="0" err="1"/>
              <a:t>Mining</a:t>
            </a:r>
            <a:r>
              <a:rPr lang="es-CL" sz="1400" dirty="0"/>
              <a:t> </a:t>
            </a:r>
            <a:r>
              <a:rPr lang="es-CL" sz="1400" dirty="0" err="1"/>
              <a:t>Concepts</a:t>
            </a:r>
            <a:r>
              <a:rPr lang="es-CL" sz="1400" dirty="0"/>
              <a:t> and </a:t>
            </a:r>
            <a:r>
              <a:rPr lang="es-CL" sz="1400" dirty="0" err="1"/>
              <a:t>Techniques</a:t>
            </a:r>
            <a:r>
              <a:rPr lang="es-CL" sz="1400" dirty="0"/>
              <a:t>. </a:t>
            </a:r>
            <a:r>
              <a:rPr lang="es-CL" sz="1400" dirty="0" err="1"/>
              <a:t>Jiawei</a:t>
            </a:r>
            <a:r>
              <a:rPr lang="es-CL" sz="1400" dirty="0"/>
              <a:t> Han y otros. </a:t>
            </a:r>
          </a:p>
        </p:txBody>
      </p:sp>
    </p:spTree>
    <p:extLst>
      <p:ext uri="{BB962C8B-B14F-4D97-AF65-F5344CB8AC3E}">
        <p14:creationId xmlns:p14="http://schemas.microsoft.com/office/powerpoint/2010/main" val="2031460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24723-9968-7E43-AF4C-4EA396BDB1BC}"/>
              </a:ext>
            </a:extLst>
          </p:cNvPr>
          <p:cNvSpPr>
            <a:spLocks noGrp="1"/>
          </p:cNvSpPr>
          <p:nvPr>
            <p:ph type="title"/>
          </p:nvPr>
        </p:nvSpPr>
        <p:spPr>
          <a:xfrm>
            <a:off x="222250" y="7407275"/>
            <a:ext cx="10393528" cy="1015663"/>
          </a:xfrm>
        </p:spPr>
        <p:txBody>
          <a:bodyPr/>
          <a:lstStyle/>
          <a:p>
            <a:r>
              <a:rPr lang="es-CL" sz="6600" dirty="0"/>
              <a:t>MÉTRICAS</a:t>
            </a:r>
          </a:p>
        </p:txBody>
      </p:sp>
      <p:sp>
        <p:nvSpPr>
          <p:cNvPr id="3" name="Título 1">
            <a:extLst>
              <a:ext uri="{FF2B5EF4-FFF2-40B4-BE49-F238E27FC236}">
                <a16:creationId xmlns:a16="http://schemas.microsoft.com/office/drawing/2014/main" id="{E4D7CDB3-E365-8648-9D80-6AFDB724300B}"/>
              </a:ext>
            </a:extLst>
          </p:cNvPr>
          <p:cNvSpPr txBox="1">
            <a:spLocks/>
          </p:cNvSpPr>
          <p:nvPr/>
        </p:nvSpPr>
        <p:spPr>
          <a:xfrm>
            <a:off x="9089872" y="6188075"/>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latin typeface="Arial Black" panose="020B0604020202020204" pitchFamily="34" charset="0"/>
                <a:cs typeface="Arial Black" panose="020B0604020202020204" pitchFamily="34" charset="0"/>
              </a:rPr>
              <a:t>03</a:t>
            </a:r>
          </a:p>
        </p:txBody>
      </p:sp>
    </p:spTree>
    <p:extLst>
      <p:ext uri="{BB962C8B-B14F-4D97-AF65-F5344CB8AC3E}">
        <p14:creationId xmlns:p14="http://schemas.microsoft.com/office/powerpoint/2010/main" val="3735245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a:t>MÉTRICAS</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051050" y="2864123"/>
            <a:ext cx="8610600" cy="7725192"/>
          </a:xfrm>
          <a:prstGeom prst="rect">
            <a:avLst/>
          </a:prstGeom>
          <a:noFill/>
        </p:spPr>
        <p:txBody>
          <a:bodyPr wrap="square" rtlCol="0">
            <a:spAutoFit/>
          </a:bodyPr>
          <a:lstStyle/>
          <a:p>
            <a:pPr algn="just"/>
            <a:r>
              <a:rPr lang="es-ES" sz="2800" dirty="0"/>
              <a:t>En minería de datos, se utilizan </a:t>
            </a:r>
            <a:r>
              <a:rPr lang="es-ES" sz="2800" dirty="0">
                <a:solidFill>
                  <a:srgbClr val="FF0000"/>
                </a:solidFill>
              </a:rPr>
              <a:t>diversas métricas para evaluar y medir los patrones descubiertos en los conjuntos de datos</a:t>
            </a:r>
            <a:r>
              <a:rPr lang="es-ES" sz="2800" dirty="0"/>
              <a:t>. </a:t>
            </a:r>
          </a:p>
          <a:p>
            <a:pPr algn="just"/>
            <a:endParaRPr lang="es-ES" sz="2800" dirty="0"/>
          </a:p>
          <a:p>
            <a:pPr algn="just"/>
            <a:r>
              <a:rPr lang="es-ES" sz="2800" dirty="0"/>
              <a:t>Estas métricas ayudan a comprender la calidad y relevancia de los patrones identificados.</a:t>
            </a:r>
          </a:p>
          <a:p>
            <a:pPr algn="just"/>
            <a:endParaRPr lang="es-ES" sz="2800" dirty="0"/>
          </a:p>
          <a:p>
            <a:pPr algn="just"/>
            <a:r>
              <a:rPr lang="es-ES" sz="2800" dirty="0"/>
              <a:t>Algunas de ellas son :</a:t>
            </a:r>
          </a:p>
          <a:p>
            <a:pPr algn="just"/>
            <a:endParaRPr lang="es-ES" sz="2800" dirty="0"/>
          </a:p>
          <a:p>
            <a:pPr algn="l">
              <a:buFont typeface="+mj-lt"/>
              <a:buAutoNum type="arabicPeriod"/>
            </a:pPr>
            <a:r>
              <a:rPr lang="es-ES" b="1" i="0" dirty="0">
                <a:effectLst/>
                <a:latin typeface="Söhne"/>
              </a:rPr>
              <a:t>Soporte (</a:t>
            </a:r>
            <a:r>
              <a:rPr lang="es-ES" b="1" i="0" dirty="0" err="1">
                <a:effectLst/>
                <a:latin typeface="Söhne"/>
              </a:rPr>
              <a:t>Support</a:t>
            </a:r>
            <a:r>
              <a:rPr lang="es-ES" b="1" i="0" dirty="0">
                <a:effectLst/>
                <a:latin typeface="Söhne"/>
              </a:rPr>
              <a:t>):</a:t>
            </a:r>
            <a:endParaRPr lang="es-ES" b="0" i="0" dirty="0">
              <a:effectLst/>
              <a:latin typeface="Söhne"/>
            </a:endParaRPr>
          </a:p>
          <a:p>
            <a:pPr marL="457200" lvl="1" algn="l"/>
            <a:r>
              <a:rPr lang="es-ES" b="0" i="0" dirty="0">
                <a:effectLst/>
                <a:latin typeface="Söhne"/>
              </a:rPr>
              <a:t>Mide la frecuencia con la que aparece un patrón en el conjunto de datos. Indica la proporción de transacciones que contienen el patrón. Un soporte alto sugiere que el patrón es común en el conjunto de datos.</a:t>
            </a:r>
          </a:p>
          <a:p>
            <a:pPr algn="l">
              <a:buFont typeface="+mj-lt"/>
              <a:buAutoNum type="arabicPeriod"/>
            </a:pPr>
            <a:r>
              <a:rPr lang="es-ES" b="1" i="0" dirty="0">
                <a:effectLst/>
                <a:latin typeface="Söhne"/>
              </a:rPr>
              <a:t>Confianza (</a:t>
            </a:r>
            <a:r>
              <a:rPr lang="es-ES" b="1" i="0" dirty="0" err="1">
                <a:effectLst/>
                <a:latin typeface="Söhne"/>
              </a:rPr>
              <a:t>Confidence</a:t>
            </a:r>
            <a:r>
              <a:rPr lang="es-ES" b="1" i="0" dirty="0">
                <a:effectLst/>
                <a:latin typeface="Söhne"/>
              </a:rPr>
              <a:t>):</a:t>
            </a:r>
            <a:endParaRPr lang="es-ES" b="0" i="0" dirty="0">
              <a:effectLst/>
              <a:latin typeface="Söhne"/>
            </a:endParaRPr>
          </a:p>
          <a:p>
            <a:pPr marL="457200" lvl="1" algn="l"/>
            <a:r>
              <a:rPr lang="es-ES" b="0" i="0" dirty="0">
                <a:effectLst/>
                <a:latin typeface="Söhne"/>
              </a:rPr>
              <a:t>Indica la probabilidad de que un patrón secundario ocurra dado que el patrón principal también ha ocurrido. Una confianza alta sugiere una fuerte asociación entre los patrones.</a:t>
            </a:r>
          </a:p>
          <a:p>
            <a:pPr algn="l">
              <a:buFont typeface="+mj-lt"/>
              <a:buAutoNum type="arabicPeriod"/>
            </a:pPr>
            <a:r>
              <a:rPr lang="es-ES" b="1" i="0" dirty="0" err="1">
                <a:effectLst/>
                <a:latin typeface="Söhne"/>
              </a:rPr>
              <a:t>Lift</a:t>
            </a:r>
            <a:r>
              <a:rPr lang="es-ES" b="1" i="0" dirty="0">
                <a:effectLst/>
                <a:latin typeface="Söhne"/>
              </a:rPr>
              <a:t>:</a:t>
            </a:r>
            <a:endParaRPr lang="es-ES" b="0" i="0" dirty="0">
              <a:effectLst/>
              <a:latin typeface="Söhne"/>
            </a:endParaRPr>
          </a:p>
          <a:p>
            <a:pPr marL="457200" lvl="1" algn="l"/>
            <a:r>
              <a:rPr lang="es-ES" b="0" i="0" dirty="0">
                <a:effectLst/>
                <a:latin typeface="Söhne"/>
              </a:rPr>
              <a:t>Mide la relación entre la ocurrencia conjunta de dos patrones en comparación con la ocurrencia esperada si fueran independientes. Un valor de </a:t>
            </a:r>
            <a:r>
              <a:rPr lang="es-ES" b="0" i="0" dirty="0" err="1">
                <a:effectLst/>
                <a:latin typeface="Söhne"/>
              </a:rPr>
              <a:t>lift</a:t>
            </a:r>
            <a:r>
              <a:rPr lang="es-ES" b="0" i="0" dirty="0">
                <a:effectLst/>
                <a:latin typeface="Söhne"/>
              </a:rPr>
              <a:t> mayor que 1 indica una asociación positiva, mientras que un valor menor que 1 indica una asociación negativa.</a:t>
            </a:r>
            <a:endParaRPr lang="es-ES" sz="2800" dirty="0"/>
          </a:p>
        </p:txBody>
      </p:sp>
      <p:sp>
        <p:nvSpPr>
          <p:cNvPr id="4" name="CuadroTexto 3">
            <a:extLst>
              <a:ext uri="{FF2B5EF4-FFF2-40B4-BE49-F238E27FC236}">
                <a16:creationId xmlns:a16="http://schemas.microsoft.com/office/drawing/2014/main" id="{25DC9969-4A3B-BFF7-5FEE-4C173B83E252}"/>
              </a:ext>
            </a:extLst>
          </p:cNvPr>
          <p:cNvSpPr txBox="1"/>
          <p:nvPr/>
        </p:nvSpPr>
        <p:spPr>
          <a:xfrm>
            <a:off x="11195050" y="4281551"/>
            <a:ext cx="8610600" cy="6340197"/>
          </a:xfrm>
          <a:prstGeom prst="rect">
            <a:avLst/>
          </a:prstGeom>
          <a:noFill/>
        </p:spPr>
        <p:txBody>
          <a:bodyPr wrap="square" rtlCol="0">
            <a:spAutoFit/>
          </a:bodyPr>
          <a:lstStyle/>
          <a:p>
            <a:pPr marL="342900" indent="-342900" algn="l">
              <a:buFont typeface="+mj-lt"/>
              <a:buAutoNum type="arabicPeriod" startAt="4"/>
            </a:pPr>
            <a:r>
              <a:rPr lang="es-ES" b="1" i="0" dirty="0">
                <a:effectLst/>
                <a:latin typeface="Söhne"/>
              </a:rPr>
              <a:t>Convicción (</a:t>
            </a:r>
            <a:r>
              <a:rPr lang="es-ES" b="1" i="0" dirty="0" err="1">
                <a:effectLst/>
                <a:latin typeface="Söhne"/>
              </a:rPr>
              <a:t>Conviction</a:t>
            </a:r>
            <a:r>
              <a:rPr lang="es-ES" b="1" i="0" dirty="0">
                <a:effectLst/>
                <a:latin typeface="Söhne"/>
              </a:rPr>
              <a:t>):</a:t>
            </a:r>
            <a:endParaRPr lang="es-ES" b="0" i="0" dirty="0">
              <a:effectLst/>
              <a:latin typeface="Söhne"/>
            </a:endParaRPr>
          </a:p>
          <a:p>
            <a:pPr marL="457200" lvl="1" algn="l"/>
            <a:r>
              <a:rPr lang="es-ES" b="0" i="0" dirty="0">
                <a:effectLst/>
                <a:latin typeface="Söhne"/>
              </a:rPr>
              <a:t>Evalúa la dependencia de un patrón secundario respecto a un patrón principal. Una convicción mayor que 1 indica una fuerte dependencia.</a:t>
            </a:r>
          </a:p>
          <a:p>
            <a:pPr marL="342900" indent="-342900" algn="l">
              <a:buFont typeface="+mj-lt"/>
              <a:buAutoNum type="arabicPeriod" startAt="4"/>
            </a:pPr>
            <a:r>
              <a:rPr lang="es-ES" b="1" i="0" dirty="0">
                <a:effectLst/>
                <a:latin typeface="Söhne"/>
              </a:rPr>
              <a:t>Jaccard </a:t>
            </a:r>
            <a:r>
              <a:rPr lang="es-ES" b="1" i="0" dirty="0" err="1">
                <a:effectLst/>
                <a:latin typeface="Söhne"/>
              </a:rPr>
              <a:t>Similarity</a:t>
            </a:r>
            <a:r>
              <a:rPr lang="es-ES" b="1" i="0" dirty="0">
                <a:effectLst/>
                <a:latin typeface="Söhne"/>
              </a:rPr>
              <a:t>:</a:t>
            </a:r>
            <a:endParaRPr lang="es-ES" b="0" i="0" dirty="0">
              <a:effectLst/>
              <a:latin typeface="Söhne"/>
            </a:endParaRPr>
          </a:p>
          <a:p>
            <a:pPr marL="457200" lvl="1" algn="l"/>
            <a:r>
              <a:rPr lang="es-ES" b="0" i="0" dirty="0">
                <a:effectLst/>
                <a:latin typeface="Söhne"/>
              </a:rPr>
              <a:t>Mide la similitud entre dos conjuntos de elementos. En el contexto de la minería de datos, se utiliza para evaluar la similitud entre dos conjuntos de elementos de un patrón.</a:t>
            </a:r>
          </a:p>
          <a:p>
            <a:pPr marL="342900" indent="-342900" algn="l">
              <a:buFont typeface="+mj-lt"/>
              <a:buAutoNum type="arabicPeriod" startAt="4"/>
            </a:pPr>
            <a:r>
              <a:rPr lang="es-ES" b="1" i="0" dirty="0" err="1">
                <a:effectLst/>
                <a:latin typeface="Söhne"/>
              </a:rPr>
              <a:t>Kulczynski</a:t>
            </a:r>
            <a:r>
              <a:rPr lang="es-ES" b="1" i="0" dirty="0">
                <a:effectLst/>
                <a:latin typeface="Söhne"/>
              </a:rPr>
              <a:t> </a:t>
            </a:r>
            <a:r>
              <a:rPr lang="es-ES" b="1" i="0" dirty="0" err="1">
                <a:effectLst/>
                <a:latin typeface="Söhne"/>
              </a:rPr>
              <a:t>Measure</a:t>
            </a:r>
            <a:r>
              <a:rPr lang="es-ES" b="1" i="0" dirty="0">
                <a:effectLst/>
                <a:latin typeface="Söhne"/>
              </a:rPr>
              <a:t>:</a:t>
            </a:r>
            <a:endParaRPr lang="es-ES" b="0" i="0" dirty="0">
              <a:effectLst/>
              <a:latin typeface="Söhne"/>
            </a:endParaRPr>
          </a:p>
          <a:p>
            <a:pPr marL="457200" lvl="1" algn="l"/>
            <a:r>
              <a:rPr lang="es-ES" b="0" i="0" dirty="0">
                <a:effectLst/>
                <a:latin typeface="Söhne"/>
              </a:rPr>
              <a:t>Es una métrica que combina la sensibilidad y la especificidad. Es especialmente útil en problemas de clasificación.</a:t>
            </a:r>
          </a:p>
          <a:p>
            <a:pPr marL="342900" indent="-342900" algn="l">
              <a:buFont typeface="+mj-lt"/>
              <a:buAutoNum type="arabicPeriod" startAt="4"/>
            </a:pPr>
            <a:r>
              <a:rPr lang="es-ES" b="1" i="0" dirty="0">
                <a:effectLst/>
                <a:latin typeface="Söhne"/>
              </a:rPr>
              <a:t>IR (</a:t>
            </a:r>
            <a:r>
              <a:rPr lang="es-ES" b="1" i="0" dirty="0" err="1">
                <a:effectLst/>
                <a:latin typeface="Söhne"/>
              </a:rPr>
              <a:t>Interest</a:t>
            </a:r>
            <a:r>
              <a:rPr lang="es-ES" b="1" i="0" dirty="0">
                <a:effectLst/>
                <a:latin typeface="Söhne"/>
              </a:rPr>
              <a:t> </a:t>
            </a:r>
            <a:r>
              <a:rPr lang="es-ES" b="1" i="0" dirty="0" err="1">
                <a:effectLst/>
                <a:latin typeface="Söhne"/>
              </a:rPr>
              <a:t>Rate</a:t>
            </a:r>
            <a:r>
              <a:rPr lang="es-ES" b="1" i="0" dirty="0">
                <a:effectLst/>
                <a:latin typeface="Söhne"/>
              </a:rPr>
              <a:t>):</a:t>
            </a:r>
            <a:endParaRPr lang="es-ES" b="0" i="0" dirty="0">
              <a:effectLst/>
              <a:latin typeface="Söhne"/>
            </a:endParaRPr>
          </a:p>
          <a:p>
            <a:pPr marL="457200" lvl="1" algn="l"/>
            <a:r>
              <a:rPr lang="es-ES" b="0" i="0" dirty="0">
                <a:effectLst/>
                <a:latin typeface="Söhne"/>
              </a:rPr>
              <a:t>Indica la proporción de instancias que contienen el patrón de interés en comparación con las instancias que no lo contienen.</a:t>
            </a:r>
          </a:p>
          <a:p>
            <a:pPr marL="342900" indent="-342900" algn="l">
              <a:buFont typeface="+mj-lt"/>
              <a:buAutoNum type="arabicPeriod" startAt="4"/>
            </a:pPr>
            <a:r>
              <a:rPr lang="es-ES" b="1" i="0" dirty="0">
                <a:effectLst/>
                <a:latin typeface="Söhne"/>
              </a:rPr>
              <a:t>Gini </a:t>
            </a:r>
            <a:r>
              <a:rPr lang="es-ES" b="1" i="0" dirty="0" err="1">
                <a:effectLst/>
                <a:latin typeface="Söhne"/>
              </a:rPr>
              <a:t>Index</a:t>
            </a:r>
            <a:r>
              <a:rPr lang="es-ES" b="1" i="0" dirty="0">
                <a:effectLst/>
                <a:latin typeface="Söhne"/>
              </a:rPr>
              <a:t>:</a:t>
            </a:r>
            <a:endParaRPr lang="es-ES" b="0" i="0" dirty="0">
              <a:effectLst/>
              <a:latin typeface="Söhne"/>
            </a:endParaRPr>
          </a:p>
          <a:p>
            <a:pPr marL="457200" lvl="1" algn="l"/>
            <a:r>
              <a:rPr lang="es-ES" b="0" i="0" dirty="0">
                <a:effectLst/>
                <a:latin typeface="Söhne"/>
              </a:rPr>
              <a:t>Utilizado en problemas de clasificación, mide la pureza de un conjunto de datos.</a:t>
            </a:r>
          </a:p>
          <a:p>
            <a:pPr marL="342900" indent="-342900" algn="l">
              <a:buFont typeface="+mj-lt"/>
              <a:buAutoNum type="arabicPeriod" startAt="4"/>
            </a:pPr>
            <a:r>
              <a:rPr lang="es-ES" b="1" i="0" dirty="0">
                <a:effectLst/>
                <a:latin typeface="Söhne"/>
              </a:rPr>
              <a:t>ROC-AUC (Receiver </a:t>
            </a:r>
            <a:r>
              <a:rPr lang="es-ES" b="1" i="0" dirty="0" err="1">
                <a:effectLst/>
                <a:latin typeface="Söhne"/>
              </a:rPr>
              <a:t>Operating</a:t>
            </a:r>
            <a:r>
              <a:rPr lang="es-ES" b="1" i="0" dirty="0">
                <a:effectLst/>
                <a:latin typeface="Söhne"/>
              </a:rPr>
              <a:t> </a:t>
            </a:r>
            <a:r>
              <a:rPr lang="es-ES" b="1" i="0" dirty="0" err="1">
                <a:effectLst/>
                <a:latin typeface="Söhne"/>
              </a:rPr>
              <a:t>Characteristic</a:t>
            </a:r>
            <a:r>
              <a:rPr lang="es-ES" b="1" i="0" dirty="0">
                <a:effectLst/>
                <a:latin typeface="Söhne"/>
              </a:rPr>
              <a:t> - </a:t>
            </a:r>
            <a:r>
              <a:rPr lang="es-ES" b="1" i="0" dirty="0" err="1">
                <a:effectLst/>
                <a:latin typeface="Söhne"/>
              </a:rPr>
              <a:t>Area</a:t>
            </a:r>
            <a:r>
              <a:rPr lang="es-ES" b="1" i="0" dirty="0">
                <a:effectLst/>
                <a:latin typeface="Söhne"/>
              </a:rPr>
              <a:t> </a:t>
            </a:r>
            <a:r>
              <a:rPr lang="es-ES" b="1" i="0" dirty="0" err="1">
                <a:effectLst/>
                <a:latin typeface="Söhne"/>
              </a:rPr>
              <a:t>Under</a:t>
            </a:r>
            <a:r>
              <a:rPr lang="es-ES" b="1" i="0" dirty="0">
                <a:effectLst/>
                <a:latin typeface="Söhne"/>
              </a:rPr>
              <a:t> </a:t>
            </a:r>
            <a:r>
              <a:rPr lang="es-ES" b="1" i="0" dirty="0" err="1">
                <a:effectLst/>
                <a:latin typeface="Söhne"/>
              </a:rPr>
              <a:t>the</a:t>
            </a:r>
            <a:r>
              <a:rPr lang="es-ES" b="1" i="0" dirty="0">
                <a:effectLst/>
                <a:latin typeface="Söhne"/>
              </a:rPr>
              <a:t> Curve):</a:t>
            </a:r>
            <a:endParaRPr lang="es-ES" b="0" i="0" dirty="0">
              <a:effectLst/>
              <a:latin typeface="Söhne"/>
            </a:endParaRPr>
          </a:p>
          <a:p>
            <a:pPr marL="457200" lvl="1" algn="l"/>
            <a:r>
              <a:rPr lang="es-ES" b="0" i="0" dirty="0">
                <a:effectLst/>
                <a:latin typeface="Söhne"/>
              </a:rPr>
              <a:t>Es una métrica comúnmente utilizada en problemas de clasificación binaria para evaluar el rendimiento del modelo.</a:t>
            </a:r>
          </a:p>
          <a:p>
            <a:pPr marL="342900" indent="-342900" algn="l">
              <a:buFont typeface="+mj-lt"/>
              <a:buAutoNum type="arabicPeriod" startAt="4"/>
            </a:pPr>
            <a:r>
              <a:rPr lang="es-ES" b="1" i="0" dirty="0">
                <a:effectLst/>
                <a:latin typeface="Söhne"/>
              </a:rPr>
              <a:t>F1-Score:</a:t>
            </a:r>
            <a:endParaRPr lang="es-ES" b="0" i="0" dirty="0">
              <a:effectLst/>
              <a:latin typeface="Söhne"/>
            </a:endParaRPr>
          </a:p>
          <a:p>
            <a:pPr marL="457200" lvl="1" algn="l"/>
            <a:r>
              <a:rPr lang="es-ES" b="0" i="0" dirty="0">
                <a:effectLst/>
                <a:latin typeface="Söhne"/>
              </a:rPr>
              <a:t>Es una métrica que combina la precisión y la exhaustividad (</a:t>
            </a:r>
            <a:r>
              <a:rPr lang="es-ES" b="0" i="0" dirty="0" err="1">
                <a:effectLst/>
                <a:latin typeface="Söhne"/>
              </a:rPr>
              <a:t>recall</a:t>
            </a:r>
            <a:r>
              <a:rPr lang="es-ES" b="0" i="0" dirty="0">
                <a:effectLst/>
                <a:latin typeface="Söhne"/>
              </a:rPr>
              <a:t>) en problemas de clasificación. Es especialmente útil cuando las clases están desbalanceadas.</a:t>
            </a:r>
          </a:p>
          <a:p>
            <a:pPr algn="just"/>
            <a:endParaRPr lang="es-ES" sz="2800" dirty="0"/>
          </a:p>
        </p:txBody>
      </p:sp>
    </p:spTree>
    <p:extLst>
      <p:ext uri="{BB962C8B-B14F-4D97-AF65-F5344CB8AC3E}">
        <p14:creationId xmlns:p14="http://schemas.microsoft.com/office/powerpoint/2010/main" val="1067811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a:t>MÉTRICAS</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051050" y="2864123"/>
            <a:ext cx="8610600" cy="7848302"/>
          </a:xfrm>
          <a:prstGeom prst="rect">
            <a:avLst/>
          </a:prstGeom>
          <a:noFill/>
        </p:spPr>
        <p:txBody>
          <a:bodyPr wrap="square" rtlCol="0">
            <a:spAutoFit/>
          </a:bodyPr>
          <a:lstStyle/>
          <a:p>
            <a:pPr algn="just"/>
            <a:r>
              <a:rPr lang="es-ES" sz="2800" dirty="0"/>
              <a:t>La elección de las métricas </a:t>
            </a:r>
            <a:r>
              <a:rPr lang="es-ES" sz="2800" dirty="0">
                <a:solidFill>
                  <a:srgbClr val="FF0000"/>
                </a:solidFill>
              </a:rPr>
              <a:t>dependerá del tipo de problema de minería de datos que se esté abordando y del objetivo específico que se esté tratando de lograr</a:t>
            </a:r>
            <a:r>
              <a:rPr lang="es-ES" sz="2800" dirty="0"/>
              <a:t>. Se debe preguntar:</a:t>
            </a:r>
          </a:p>
          <a:p>
            <a:pPr algn="just"/>
            <a:endParaRPr lang="es-ES" sz="2800" dirty="0"/>
          </a:p>
          <a:p>
            <a:pPr marL="457200" indent="-457200" algn="just">
              <a:buFont typeface="Arial" panose="020B0604020202020204" pitchFamily="34" charset="0"/>
              <a:buChar char="•"/>
            </a:pPr>
            <a:r>
              <a:rPr lang="es-ES" sz="2800" dirty="0"/>
              <a:t>¿qué está tratando de lograr u optimizar? </a:t>
            </a:r>
          </a:p>
          <a:p>
            <a:pPr marL="457200" indent="-457200" algn="just">
              <a:buFont typeface="Arial" panose="020B0604020202020204" pitchFamily="34" charset="0"/>
              <a:buChar char="•"/>
            </a:pPr>
            <a:endParaRPr lang="es-ES" sz="2800" dirty="0"/>
          </a:p>
          <a:p>
            <a:pPr marL="457200" indent="-457200" algn="just">
              <a:buFont typeface="Arial" panose="020B0604020202020204" pitchFamily="34" charset="0"/>
              <a:buChar char="•"/>
            </a:pPr>
            <a:r>
              <a:rPr lang="es-ES" sz="2800" dirty="0"/>
              <a:t>¿cuáles son las características, variables y distribuciones? ¿Cómo se asocian con su resultado o variable objetivo? </a:t>
            </a:r>
          </a:p>
          <a:p>
            <a:pPr marL="457200" indent="-457200" algn="just">
              <a:buFont typeface="Arial" panose="020B0604020202020204" pitchFamily="34" charset="0"/>
              <a:buChar char="•"/>
            </a:pPr>
            <a:endParaRPr lang="es-ES" sz="2800" dirty="0"/>
          </a:p>
          <a:p>
            <a:pPr marL="457200" indent="-457200" algn="just">
              <a:buFont typeface="Arial" panose="020B0604020202020204" pitchFamily="34" charset="0"/>
              <a:buChar char="•"/>
            </a:pPr>
            <a:r>
              <a:rPr lang="es-ES" sz="2800" dirty="0"/>
              <a:t>¿cómo comparar diferentes modelos o algoritmos? ¿cómo se prueba la solidez y generalización de los resultados del modelo? </a:t>
            </a:r>
          </a:p>
          <a:p>
            <a:pPr algn="just"/>
            <a:endParaRPr lang="es-ES" sz="2800" dirty="0"/>
          </a:p>
          <a:p>
            <a:pPr algn="just"/>
            <a:r>
              <a:rPr lang="es-ES" sz="2800" dirty="0">
                <a:solidFill>
                  <a:srgbClr val="FF0000"/>
                </a:solidFill>
              </a:rPr>
              <a:t>Es común utilizar varias métricas en conjunto</a:t>
            </a:r>
            <a:r>
              <a:rPr lang="es-ES" sz="2800" dirty="0"/>
              <a:t> para obtener una visión más completa del rendimiento de los modelos o de los patrones descubiertos</a:t>
            </a:r>
          </a:p>
        </p:txBody>
      </p:sp>
      <p:pic>
        <p:nvPicPr>
          <p:cNvPr id="7" name="Imagen 6">
            <a:extLst>
              <a:ext uri="{FF2B5EF4-FFF2-40B4-BE49-F238E27FC236}">
                <a16:creationId xmlns:a16="http://schemas.microsoft.com/office/drawing/2014/main" id="{BE47C94B-C2B2-575D-3D70-583F6EBF4D52}"/>
              </a:ext>
            </a:extLst>
          </p:cNvPr>
          <p:cNvPicPr>
            <a:picLocks noChangeAspect="1"/>
          </p:cNvPicPr>
          <p:nvPr/>
        </p:nvPicPr>
        <p:blipFill>
          <a:blip r:embed="rId2"/>
          <a:stretch>
            <a:fillRect/>
          </a:stretch>
        </p:blipFill>
        <p:spPr>
          <a:xfrm>
            <a:off x="12038540" y="2568873"/>
            <a:ext cx="7353300" cy="7353300"/>
          </a:xfrm>
          <a:prstGeom prst="rect">
            <a:avLst/>
          </a:prstGeom>
        </p:spPr>
      </p:pic>
    </p:spTree>
    <p:extLst>
      <p:ext uri="{BB962C8B-B14F-4D97-AF65-F5344CB8AC3E}">
        <p14:creationId xmlns:p14="http://schemas.microsoft.com/office/powerpoint/2010/main" val="2707596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D15BE-E3B2-F743-9878-F149B7D92C0C}"/>
              </a:ext>
            </a:extLst>
          </p:cNvPr>
          <p:cNvSpPr>
            <a:spLocks noGrp="1"/>
          </p:cNvSpPr>
          <p:nvPr>
            <p:ph type="title"/>
          </p:nvPr>
        </p:nvSpPr>
        <p:spPr>
          <a:xfrm>
            <a:off x="6242050" y="9007475"/>
            <a:ext cx="9020022" cy="1015663"/>
          </a:xfrm>
        </p:spPr>
        <p:txBody>
          <a:bodyPr/>
          <a:lstStyle/>
          <a:p>
            <a:r>
              <a:rPr lang="es-CL" sz="6600" dirty="0"/>
              <a:t>RESUMEN</a:t>
            </a:r>
          </a:p>
        </p:txBody>
      </p:sp>
      <p:sp>
        <p:nvSpPr>
          <p:cNvPr id="3" name="Título 1">
            <a:extLst>
              <a:ext uri="{FF2B5EF4-FFF2-40B4-BE49-F238E27FC236}">
                <a16:creationId xmlns:a16="http://schemas.microsoft.com/office/drawing/2014/main" id="{9224DE7A-4464-F54B-B074-7663E7D43917}"/>
              </a:ext>
            </a:extLst>
          </p:cNvPr>
          <p:cNvSpPr txBox="1">
            <a:spLocks/>
          </p:cNvSpPr>
          <p:nvPr/>
        </p:nvSpPr>
        <p:spPr>
          <a:xfrm>
            <a:off x="6276975" y="7752358"/>
            <a:ext cx="1670957"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1520246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CBCD8BF0-1144-D34D-8793-D9BC0214A663}"/>
              </a:ext>
            </a:extLst>
          </p:cNvPr>
          <p:cNvSpPr>
            <a:spLocks noGrp="1"/>
          </p:cNvSpPr>
          <p:nvPr>
            <p:ph type="body" sz="quarter" idx="10"/>
          </p:nvPr>
        </p:nvSpPr>
        <p:spPr/>
        <p:txBody>
          <a:bodyPr/>
          <a:lstStyle/>
          <a:p>
            <a:r>
              <a:rPr lang="es-CL" dirty="0"/>
              <a:t>RESUMEN</a:t>
            </a:r>
          </a:p>
        </p:txBody>
      </p:sp>
      <p:sp>
        <p:nvSpPr>
          <p:cNvPr id="3" name="CuadroTexto 2">
            <a:extLst>
              <a:ext uri="{FF2B5EF4-FFF2-40B4-BE49-F238E27FC236}">
                <a16:creationId xmlns:a16="http://schemas.microsoft.com/office/drawing/2014/main" id="{D27F119F-996A-54C1-08D8-A05CBD0E1453}"/>
              </a:ext>
            </a:extLst>
          </p:cNvPr>
          <p:cNvSpPr txBox="1"/>
          <p:nvPr/>
        </p:nvSpPr>
        <p:spPr>
          <a:xfrm>
            <a:off x="2279650" y="2682875"/>
            <a:ext cx="12192000" cy="3416320"/>
          </a:xfrm>
          <a:prstGeom prst="rect">
            <a:avLst/>
          </a:prstGeom>
          <a:noFill/>
        </p:spPr>
        <p:txBody>
          <a:bodyPr wrap="square" rtlCol="0">
            <a:spAutoFit/>
          </a:bodyPr>
          <a:lstStyle/>
          <a:p>
            <a:r>
              <a:rPr lang="es-CL" sz="2800" b="1" dirty="0">
                <a:latin typeface="Arial" panose="020B0604020202020204" pitchFamily="34" charset="0"/>
                <a:cs typeface="Arial" panose="020B0604020202020204" pitchFamily="34" charset="0"/>
              </a:rPr>
              <a:t>En esta presentación, hemos visto:</a:t>
            </a:r>
          </a:p>
          <a:p>
            <a:endParaRPr lang="es-CL" sz="2800" b="1"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Introducción a  la extracción de patrones en Minería de Datos</a:t>
            </a:r>
          </a:p>
          <a:p>
            <a:pPr marL="457200" indent="-457200">
              <a:buFont typeface="Wingdings" panose="05000000000000000000" pitchFamily="2" charset="2"/>
              <a:buChar char="q"/>
            </a:pPr>
            <a:endParaRPr lang="es-E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Ejemplo de un patrón</a:t>
            </a:r>
          </a:p>
          <a:p>
            <a:pPr marL="457200" indent="-457200">
              <a:buFont typeface="Wingdings" panose="05000000000000000000" pitchFamily="2" charset="2"/>
              <a:buChar char="q"/>
            </a:pPr>
            <a:endParaRPr lang="es-E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El concepto de métrica</a:t>
            </a:r>
          </a:p>
          <a:p>
            <a:pPr algn="just"/>
            <a:endParaRPr lang="es-CL" sz="2000" dirty="0"/>
          </a:p>
        </p:txBody>
      </p:sp>
    </p:spTree>
    <p:extLst>
      <p:ext uri="{BB962C8B-B14F-4D97-AF65-F5344CB8AC3E}">
        <p14:creationId xmlns:p14="http://schemas.microsoft.com/office/powerpoint/2010/main" val="30569588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bb86751-ad4c-49ff-a33d-b7314027950b">
      <Terms xmlns="http://schemas.microsoft.com/office/infopath/2007/PartnerControls"/>
    </lcf76f155ced4ddcb4097134ff3c332f>
    <TaxCatchAll xmlns="4215e297-5d6e-42b1-b795-55976a17412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4E9A3AE23414AD41A4F4D6368514CED2" ma:contentTypeVersion="13" ma:contentTypeDescription="Crear nuevo documento." ma:contentTypeScope="" ma:versionID="e5b9210409080ab1878d310b63a91de2">
  <xsd:schema xmlns:xsd="http://www.w3.org/2001/XMLSchema" xmlns:xs="http://www.w3.org/2001/XMLSchema" xmlns:p="http://schemas.microsoft.com/office/2006/metadata/properties" xmlns:ns2="dbb86751-ad4c-49ff-a33d-b7314027950b" xmlns:ns3="4215e297-5d6e-42b1-b795-55976a17412c" targetNamespace="http://schemas.microsoft.com/office/2006/metadata/properties" ma:root="true" ma:fieldsID="13f1ec48c0d2d83b68390b1e0be9568b" ns2:_="" ns3:_="">
    <xsd:import namespace="dbb86751-ad4c-49ff-a33d-b7314027950b"/>
    <xsd:import namespace="4215e297-5d6e-42b1-b795-55976a17412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b86751-ad4c-49ff-a33d-b731402795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Etiquetas de imagen" ma:readOnly="false" ma:fieldId="{5cf76f15-5ced-4ddc-b409-7134ff3c332f}" ma:taxonomyMulti="true" ma:sspId="e2f773bf-f00b-42a6-8b07-050935be226b"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215e297-5d6e-42b1-b795-55976a17412c"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element name="TaxCatchAll" ma:index="20" nillable="true" ma:displayName="Taxonomy Catch All Column" ma:hidden="true" ma:list="{f8d5977e-d2ec-4115-827c-1393f5edec4a}" ma:internalName="TaxCatchAll" ma:showField="CatchAllData" ma:web="4215e297-5d6e-42b1-b795-55976a1741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821600-D61B-433B-B6F8-A294D9BC75DD}">
  <ds:schemaRefs>
    <ds:schemaRef ds:uri="http://schemas.microsoft.com/office/2006/metadata/properties"/>
    <ds:schemaRef ds:uri="http://schemas.microsoft.com/office/infopath/2007/PartnerControls"/>
    <ds:schemaRef ds:uri="dbb86751-ad4c-49ff-a33d-b7314027950b"/>
    <ds:schemaRef ds:uri="4215e297-5d6e-42b1-b795-55976a17412c"/>
  </ds:schemaRefs>
</ds:datastoreItem>
</file>

<file path=customXml/itemProps2.xml><?xml version="1.0" encoding="utf-8"?>
<ds:datastoreItem xmlns:ds="http://schemas.openxmlformats.org/officeDocument/2006/customXml" ds:itemID="{BBBF0A18-574F-4CFD-981D-5882D69445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b86751-ad4c-49ff-a33d-b7314027950b"/>
    <ds:schemaRef ds:uri="4215e297-5d6e-42b1-b795-55976a1741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4C43652-73DC-4C77-8E79-F06010C18C3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4397</TotalTime>
  <Words>1385</Words>
  <Application>Microsoft Office PowerPoint</Application>
  <PresentationFormat>Personalizado</PresentationFormat>
  <Paragraphs>130</Paragraphs>
  <Slides>18</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18</vt:i4>
      </vt:variant>
    </vt:vector>
  </HeadingPairs>
  <TitlesOfParts>
    <vt:vector size="24" baseType="lpstr">
      <vt:lpstr>Arial</vt:lpstr>
      <vt:lpstr>Arial Black</vt:lpstr>
      <vt:lpstr>Calibri</vt:lpstr>
      <vt:lpstr>Söhne</vt:lpstr>
      <vt:lpstr>Wingdings</vt:lpstr>
      <vt:lpstr>Office Theme</vt:lpstr>
      <vt:lpstr>EXTRACCIÓN DE PATRONES</vt:lpstr>
      <vt:lpstr>Presentación de PowerPoint</vt:lpstr>
      <vt:lpstr>INTRODUCCIÓN</vt:lpstr>
      <vt:lpstr>INTRODUCCIÓN</vt:lpstr>
      <vt:lpstr>INTRODUCCIÓN</vt:lpstr>
      <vt:lpstr>TÍTULO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MÉTRICAS</vt:lpstr>
      <vt:lpstr>MÉTRICAS</vt:lpstr>
      <vt:lpstr>MÉTRICAS</vt:lpstr>
      <vt:lpstr>RESUMEN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dc:title>
  <dc:creator>Daniela Taito R.</dc:creator>
  <cp:lastModifiedBy>guillermo pinto</cp:lastModifiedBy>
  <cp:revision>239</cp:revision>
  <dcterms:created xsi:type="dcterms:W3CDTF">2022-07-20T19:15:37Z</dcterms:created>
  <dcterms:modified xsi:type="dcterms:W3CDTF">2023-11-23T01:00:17Z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2022-07-20T00:00:00Z</vt:filetime>
  </property>
  <property fmtid="{D5CDD505-2E9C-101B-9397-08002B2CF9AE}" pid="3" name="Creator">
    <vt:lpwstr>Adobe Illustrator 26.3 (Macintosh)</vt:lpwstr>
  </property>
  <property fmtid="{D5CDD505-2E9C-101B-9397-08002B2CF9AE}" pid="4" name="CreatorVersion">
    <vt:lpwstr>21.0.0</vt:lpwstr>
  </property>
  <property fmtid="{D5CDD505-2E9C-101B-9397-08002B2CF9AE}" pid="5" name="LastSaved">
    <vt:filetime>2022-07-20T00:00:00Z</vt:filetime>
  </property>
  <property fmtid="{D5CDD505-2E9C-101B-9397-08002B2CF9AE}" pid="6" name="Producer">
    <vt:lpwstr>Adobe PDF library 15.00</vt:lpwstr>
  </property>
  <property fmtid="{D5CDD505-2E9C-101B-9397-08002B2CF9AE}" pid="7" name="ContentTypeId">
    <vt:lpwstr>0x0101004E9A3AE23414AD41A4F4D6368514CED2</vt:lpwstr>
  </property>
</Properties>
</file>