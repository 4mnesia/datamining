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61" r:id="rId5"/>
    <p:sldId id="337" r:id="rId6"/>
    <p:sldId id="344" r:id="rId7"/>
    <p:sldId id="339" r:id="rId8"/>
    <p:sldId id="345" r:id="rId9"/>
    <p:sldId id="270" r:id="rId10"/>
    <p:sldId id="340" r:id="rId11"/>
    <p:sldId id="346" r:id="rId12"/>
    <p:sldId id="347" r:id="rId13"/>
    <p:sldId id="327" r:id="rId14"/>
    <p:sldId id="341" r:id="rId15"/>
    <p:sldId id="348" r:id="rId16"/>
    <p:sldId id="332" r:id="rId17"/>
    <p:sldId id="342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65" d="100"/>
          <a:sy n="65" d="100"/>
        </p:scale>
        <p:origin x="43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06-12-2023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INTEGRACIÓN CON</a:t>
            </a:r>
            <a:br>
              <a:rPr lang="es-CL" sz="3800" spc="-10" dirty="0"/>
            </a:br>
            <a:r>
              <a:rPr lang="es-CL" sz="3800" spc="-10" dirty="0"/>
              <a:t>LA TOMA DE DECISIONES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DISEÑO DE CAMPAÑAS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64545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SIMULACIÓN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149773"/>
            <a:ext cx="8161866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En el campo de la ayuda a </a:t>
            </a:r>
            <a:r>
              <a:rPr lang="es-ES" sz="2800" dirty="0">
                <a:solidFill>
                  <a:srgbClr val="FF0000"/>
                </a:solidFill>
              </a:rPr>
              <a:t>la toma de decisiones</a:t>
            </a:r>
            <a:r>
              <a:rPr lang="es-ES" sz="2800" dirty="0"/>
              <a:t>, la fase de toma de decisiones usualmente se refiere al proceso completo de realizar </a:t>
            </a:r>
            <a:r>
              <a:rPr lang="es-ES" sz="2800" dirty="0">
                <a:solidFill>
                  <a:srgbClr val="FF0000"/>
                </a:solidFill>
              </a:rPr>
              <a:t>la selección de la mejor decisión</a:t>
            </a:r>
            <a:r>
              <a:rPr lang="es-ES" sz="2800" dirty="0"/>
              <a:t>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Este proceso incluye: conocer el problema, recoger información sobre el problema, identificar alternativas, anticipar consecuencias de posibles decisiones, realizar la selección utilizando para ello juicios lógicos y coherentes basándose en la información disponible, etc.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Podemos, entonces, definir el área de la ayuda a la toma de decisiones como </a:t>
            </a:r>
            <a:r>
              <a:rPr lang="es-ES" sz="2800" dirty="0">
                <a:solidFill>
                  <a:srgbClr val="FF0000"/>
                </a:solidFill>
              </a:rPr>
              <a:t>el área que concierne a la toma de decisiones por parte de seres humanos, y especialmente, el estudio de técnicas que asistan a las personas a mejorar las decisiones tomadas</a:t>
            </a:r>
            <a:r>
              <a:rPr lang="es-ES" sz="2800" dirty="0"/>
              <a:t>. </a:t>
            </a:r>
            <a:endParaRPr lang="es-CL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C96B28-3781-6CB5-036E-846C9EC3EB86}"/>
              </a:ext>
            </a:extLst>
          </p:cNvPr>
          <p:cNvSpPr txBox="1"/>
          <p:nvPr/>
        </p:nvSpPr>
        <p:spPr>
          <a:xfrm>
            <a:off x="2432050" y="9998075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4012ED-1AE4-2CDA-6454-27486D659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446" y="3063875"/>
            <a:ext cx="8398934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149773"/>
            <a:ext cx="816186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 minería de datos tiene como propósito el descubrimiento de patrones novedosos y útiles desde un conjunto de datos, los llamados “</a:t>
            </a:r>
            <a:r>
              <a:rPr lang="es-ES" sz="2800" dirty="0" err="1"/>
              <a:t>insight</a:t>
            </a:r>
            <a:r>
              <a:rPr lang="es-ES" sz="2800" dirty="0"/>
              <a:t>”.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Un </a:t>
            </a:r>
            <a:r>
              <a:rPr lang="es-ES" sz="2800" dirty="0">
                <a:solidFill>
                  <a:srgbClr val="FF0000"/>
                </a:solidFill>
              </a:rPr>
              <a:t>"</a:t>
            </a:r>
            <a:r>
              <a:rPr lang="es-ES" sz="2800" dirty="0" err="1">
                <a:solidFill>
                  <a:srgbClr val="FF0000"/>
                </a:solidFill>
              </a:rPr>
              <a:t>insight</a:t>
            </a:r>
            <a:r>
              <a:rPr lang="es-ES" sz="2800" dirty="0">
                <a:solidFill>
                  <a:srgbClr val="FF0000"/>
                </a:solidFill>
              </a:rPr>
              <a:t>" (o "idea reveladora") se refiere a una observación o entendimiento significativo que se extrae de los datos y que aporta información valiosa o conocimiento sobre un fenómeno o problema específico</a:t>
            </a:r>
            <a:r>
              <a:rPr lang="es-ES" sz="2800" dirty="0"/>
              <a:t>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Los “</a:t>
            </a:r>
            <a:r>
              <a:rPr lang="es-ES" sz="2800" dirty="0" err="1"/>
              <a:t>insights</a:t>
            </a:r>
            <a:r>
              <a:rPr lang="es-ES" sz="2800" dirty="0"/>
              <a:t>” son descubrimientos que van más allá de lo obvio y proporcionan una comprensión más profunda de los patrones, relaciones o tendencias presentes en los datos.</a:t>
            </a:r>
            <a:endParaRPr lang="es-CL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C96B28-3781-6CB5-036E-846C9EC3EB86}"/>
              </a:ext>
            </a:extLst>
          </p:cNvPr>
          <p:cNvSpPr txBox="1"/>
          <p:nvPr/>
        </p:nvSpPr>
        <p:spPr>
          <a:xfrm>
            <a:off x="2432050" y="9998075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D8A7EA-5BA3-0E6F-36E6-8FAE81586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849" y="2301875"/>
            <a:ext cx="878056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2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DISEÑO DE </a:t>
            </a:r>
          </a:p>
          <a:p>
            <a:pPr algn="r"/>
            <a:r>
              <a:rPr lang="es-CL" sz="4800" dirty="0"/>
              <a:t>CAMPAÑAS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DISEÑO DE CAMPAÑAS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84926" y="2454275"/>
            <a:ext cx="77987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Una de las aplicaciones de la minería de datos más extendidas, y por lo tanto, más estudiadas, es el diseño de campañas para el envío de publicidad o de ofertas a clientes de empresas o instituciones.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En esta aplicación, </a:t>
            </a:r>
            <a:r>
              <a:rPr lang="es-ES" sz="2800" dirty="0">
                <a:solidFill>
                  <a:srgbClr val="FF0000"/>
                </a:solidFill>
              </a:rPr>
              <a:t>el uso de técnicas de minería de datos puede prever el  comportamiento de los clientes</a:t>
            </a:r>
            <a:r>
              <a:rPr lang="es-ES" sz="2800" dirty="0"/>
              <a:t>, es decir su</a:t>
            </a:r>
          </a:p>
          <a:p>
            <a:pPr algn="just"/>
            <a:r>
              <a:rPr lang="es-ES" sz="2800" dirty="0"/>
              <a:t>interés o no sobre el producto determinado.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7DCD5C-95F1-799D-F570-BA7FB0EC2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909" y="2606675"/>
            <a:ext cx="7030541" cy="51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DISEÑO DE CAMPAÑAS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84926" y="2454275"/>
            <a:ext cx="779870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Supongamos que una empresa de venta de productos informáticos por catálogo posee una base de datos de clientes, con datos sobre estos clientes.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Esta empresa ha incorporado un nuevo producto a su catálogo, un mando de piloto para ser utilizado en programas de </a:t>
            </a:r>
            <a:r>
              <a:rPr lang="es-CL" sz="2800" dirty="0"/>
              <a:t>simulación de vuelo.</a:t>
            </a:r>
          </a:p>
          <a:p>
            <a:pPr algn="just"/>
            <a:endParaRPr lang="es-CL" sz="2800" dirty="0"/>
          </a:p>
          <a:p>
            <a:pPr algn="just"/>
            <a:r>
              <a:rPr lang="es-CL" sz="2800" dirty="0"/>
              <a:t>Para estimular la venta, se pueden utilizar </a:t>
            </a:r>
            <a:r>
              <a:rPr lang="es-ES" sz="2800" dirty="0"/>
              <a:t>técnicas de minería de datos para poder predecir la respuesta de determinados cliente al envío de la propaganda y utilizar esta información para optimizar el diseño de la campaña.</a:t>
            </a: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95DE2A-B1CA-DACD-F806-719B5655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529" y="3140075"/>
            <a:ext cx="8263467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9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DISEÑO DE CAMPAÑAS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84926" y="2149475"/>
            <a:ext cx="779870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Supongamos que una empresa de venta de podemos utilizar alguna de las técnicas de aprendizaje para generar un modelo de respuesta a partir del cliente.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En esta aplicación nos interesa utilizar </a:t>
            </a:r>
            <a:r>
              <a:rPr lang="es-ES" sz="2800" dirty="0">
                <a:solidFill>
                  <a:srgbClr val="FF0000"/>
                </a:solidFill>
              </a:rPr>
              <a:t>técnicas de clasificación </a:t>
            </a:r>
            <a:r>
              <a:rPr lang="es-ES" sz="2800" dirty="0"/>
              <a:t>suave, es decir que asignen a cada ejemplo (cliente) no la clase predicha, sino una </a:t>
            </a:r>
            <a:r>
              <a:rPr lang="es-ES" sz="2800" dirty="0">
                <a:solidFill>
                  <a:srgbClr val="FF0000"/>
                </a:solidFill>
              </a:rPr>
              <a:t>estimación de la probabilidad de respuesta de ese cliente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información sobre las estimaciones de respuesta puede ser utilizada para la generación de gráfico de respuesta acumulada. Estos gráficos nos indican qué porcentaje de las posibles respuestas vamos a obtener dependiendo del porcentaje de envíos que realicemos sobre la población total.</a:t>
            </a: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B06D22-F929-253C-32DC-E7B35ADC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450" y="2987675"/>
            <a:ext cx="8562640" cy="56579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9F18593-F759-2FAE-5C59-08BF329EDF64}"/>
              </a:ext>
            </a:extLst>
          </p:cNvPr>
          <p:cNvSpPr txBox="1"/>
          <p:nvPr/>
        </p:nvSpPr>
        <p:spPr>
          <a:xfrm>
            <a:off x="13328650" y="9007475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Gráfico de respuesta acumulada</a:t>
            </a:r>
          </a:p>
        </p:txBody>
      </p:sp>
    </p:spTree>
    <p:extLst>
      <p:ext uri="{BB962C8B-B14F-4D97-AF65-F5344CB8AC3E}">
        <p14:creationId xmlns:p14="http://schemas.microsoft.com/office/powerpoint/2010/main" val="396233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650" y="7665403"/>
            <a:ext cx="5486400" cy="2031325"/>
          </a:xfrm>
        </p:spPr>
        <p:txBody>
          <a:bodyPr/>
          <a:lstStyle/>
          <a:p>
            <a:pPr algn="l"/>
            <a:r>
              <a:rPr lang="es-CL" sz="6600" dirty="0"/>
              <a:t>SIMULACIÓN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dirty="0"/>
              <a:t>SIMULACIÓN</a:t>
            </a:r>
            <a:endParaRPr lang="es-CL" sz="4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s-ES" sz="2800" dirty="0"/>
              <a:t>La simulación es un tipo de modelización por el que </a:t>
            </a:r>
            <a:r>
              <a:rPr lang="es-ES" sz="2800" dirty="0">
                <a:solidFill>
                  <a:srgbClr val="FF0000"/>
                </a:solidFill>
              </a:rPr>
              <a:t>se trata de representar la realidad de una manera simplificada</a:t>
            </a:r>
            <a:r>
              <a:rPr lang="es-ES" sz="2800" dirty="0"/>
              <a:t>. </a:t>
            </a:r>
          </a:p>
          <a:p>
            <a:pPr algn="just" rtl="0"/>
            <a:endParaRPr lang="es-ES" sz="2800" dirty="0"/>
          </a:p>
          <a:p>
            <a:pPr algn="just" rtl="0"/>
            <a:r>
              <a:rPr lang="es-ES" sz="2800" dirty="0"/>
              <a:t>En muchos casos, las simulaciones se llevan a cabo para conocer los efectos que supondría la introducción de ciertos cambios en el sistema.</a:t>
            </a:r>
          </a:p>
          <a:p>
            <a:pPr algn="just" rtl="0"/>
            <a:endParaRPr lang="es-ES" sz="2800" dirty="0"/>
          </a:p>
          <a:p>
            <a:pPr algn="just"/>
            <a:r>
              <a:rPr lang="es-ES" sz="2800" dirty="0"/>
              <a:t>Para que una </a:t>
            </a:r>
            <a:r>
              <a:rPr lang="es-ES" sz="2800" dirty="0">
                <a:solidFill>
                  <a:srgbClr val="FF0000"/>
                </a:solidFill>
              </a:rPr>
              <a:t>simulación obtenga resultados útiles debe representar con la máxima precisión </a:t>
            </a:r>
            <a:r>
              <a:rPr lang="es-ES" sz="2800" dirty="0"/>
              <a:t>posible el sistema a modelar.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696EEB-AAD7-BE84-0A0D-8EC98A9EE74A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dirty="0"/>
              <a:t>SIMULACIÓN</a:t>
            </a:r>
            <a:endParaRPr lang="es-CL" sz="4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Es en este aspecto donde las técnicas de minería de datos pueden ayudar, dado que existen muchos sistemas cuyo comportamiento es tan complejo y conlleva tal cantidad de información, que sin la ayuda de técnicas de aprendizaje automático, sería prácticamente imposible representar su comportamiento de </a:t>
            </a:r>
            <a:r>
              <a:rPr lang="es-CL" sz="2800" dirty="0"/>
              <a:t>manera mínimamente fiable.</a:t>
            </a:r>
          </a:p>
          <a:p>
            <a:pPr algn="just"/>
            <a:endParaRPr lang="es-CL" sz="2800" dirty="0"/>
          </a:p>
          <a:p>
            <a:pPr algn="l"/>
            <a:r>
              <a:rPr lang="es-ES" sz="2800" dirty="0"/>
              <a:t>La </a:t>
            </a:r>
            <a:r>
              <a:rPr lang="es-ES" sz="2800" dirty="0">
                <a:solidFill>
                  <a:srgbClr val="FF0000"/>
                </a:solidFill>
              </a:rPr>
              <a:t>clave del éxito para construir un modelo de simulación lo más ajustado a la realidad estriba en la correcta combinación de experiencia humana y técnicas de minería de datos</a:t>
            </a:r>
            <a:r>
              <a:rPr lang="es-ES" sz="2800" dirty="0"/>
              <a:t>.</a:t>
            </a:r>
            <a:endParaRPr lang="es-CL" sz="2800" dirty="0"/>
          </a:p>
          <a:p>
            <a:pPr algn="just"/>
            <a:endParaRPr lang="es-CL" sz="2800" dirty="0"/>
          </a:p>
          <a:p>
            <a:pPr algn="just"/>
            <a:endParaRPr lang="es-E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696EEB-AAD7-BE84-0A0D-8EC98A9EE74A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38E9BA-1250-3808-ADE9-0AAB7C2B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0" y="1082675"/>
            <a:ext cx="6559809" cy="849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20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la fase de visualización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Concepto de visualización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Tipos de Gráfico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5b625c-c26a-47f6-b683-8d6b2db361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CEAD85B01C7F40A02717BA9EC5A5ED" ma:contentTypeVersion="7" ma:contentTypeDescription="Crear nuevo documento." ma:contentTypeScope="" ma:versionID="a68664926a6846fedb67b85086ae7753">
  <xsd:schema xmlns:xsd="http://www.w3.org/2001/XMLSchema" xmlns:xs="http://www.w3.org/2001/XMLSchema" xmlns:p="http://schemas.microsoft.com/office/2006/metadata/properties" xmlns:ns3="b45b625c-c26a-47f6-b683-8d6b2db36159" xmlns:ns4="e5b8f56d-7793-429f-909c-9567ca729807" targetNamespace="http://schemas.microsoft.com/office/2006/metadata/properties" ma:root="true" ma:fieldsID="a05628b75d71c75c525c57950d78beaf" ns3:_="" ns4:_="">
    <xsd:import namespace="b45b625c-c26a-47f6-b683-8d6b2db36159"/>
    <xsd:import namespace="e5b8f56d-7793-429f-909c-9567ca7298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b625c-c26a-47f6-b683-8d6b2db361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8f56d-7793-429f-909c-9567ca729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b45b625c-c26a-47f6-b683-8d6b2db36159"/>
    <ds:schemaRef ds:uri="http://schemas.openxmlformats.org/package/2006/metadata/core-properties"/>
    <ds:schemaRef ds:uri="e5b8f56d-7793-429f-909c-9567ca72980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4D5716-27CF-4CA0-8416-F5BC8BD3D8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b625c-c26a-47f6-b683-8d6b2db36159"/>
    <ds:schemaRef ds:uri="e5b8f56d-7793-429f-909c-9567ca7298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5136</TotalTime>
  <Words>793</Words>
  <Application>Microsoft Office PowerPoint</Application>
  <PresentationFormat>Personalizado</PresentationFormat>
  <Paragraphs>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Wingdings</vt:lpstr>
      <vt:lpstr>Office Theme</vt:lpstr>
      <vt:lpstr>INTEGRACIÓN CON LA TOMA DE DECISIONES</vt:lpstr>
      <vt:lpstr>Presentación de PowerPoint</vt:lpstr>
      <vt:lpstr>INTRODUCCIÓN</vt:lpstr>
      <vt:lpstr>INTRODUCCIÓN</vt:lpstr>
      <vt:lpstr>INTRODUCCIÓN</vt:lpstr>
      <vt:lpstr>TÍTULO</vt:lpstr>
      <vt:lpstr>Presentación de PowerPoint</vt:lpstr>
      <vt:lpstr>Presentación de PowerPoint</vt:lpstr>
      <vt:lpstr>Presentación de PowerPoint</vt:lpstr>
      <vt:lpstr>SIMULACIÓN</vt:lpstr>
      <vt:lpstr>SIMULACIÓN</vt:lpstr>
      <vt:lpstr>SIMULACIÓN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269</cp:revision>
  <dcterms:created xsi:type="dcterms:W3CDTF">2022-07-20T19:15:37Z</dcterms:created>
  <dcterms:modified xsi:type="dcterms:W3CDTF">2023-12-06T22:53:22Z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0x010100BECEAD85B01C7F40A02717BA9EC5A5ED</vt:lpwstr>
  </property>
</Properties>
</file>