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sldIdLst>
    <p:sldId id="261" r:id="rId5"/>
    <p:sldId id="337" r:id="rId6"/>
    <p:sldId id="344" r:id="rId7"/>
    <p:sldId id="339" r:id="rId8"/>
    <p:sldId id="352" r:id="rId9"/>
    <p:sldId id="270" r:id="rId10"/>
    <p:sldId id="340" r:id="rId11"/>
    <p:sldId id="353" r:id="rId12"/>
    <p:sldId id="354" r:id="rId13"/>
    <p:sldId id="355" r:id="rId14"/>
    <p:sldId id="327" r:id="rId15"/>
    <p:sldId id="341" r:id="rId16"/>
    <p:sldId id="356" r:id="rId17"/>
    <p:sldId id="357" r:id="rId18"/>
    <p:sldId id="358" r:id="rId19"/>
    <p:sldId id="359" r:id="rId20"/>
    <p:sldId id="360" r:id="rId21"/>
    <p:sldId id="332" r:id="rId22"/>
    <p:sldId id="342" r:id="rId23"/>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2" autoAdjust="0"/>
    <p:restoredTop sz="94558"/>
  </p:normalViewPr>
  <p:slideViewPr>
    <p:cSldViewPr>
      <p:cViewPr varScale="1">
        <p:scale>
          <a:sx n="45" d="100"/>
          <a:sy n="45" d="100"/>
        </p:scale>
        <p:origin x="77" y="1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05-12-2023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12/5/2023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EVALUACIÓN</a:t>
            </a:r>
            <a:br>
              <a:rPr lang="es-CL" sz="3800" spc="-10" dirty="0"/>
            </a:br>
            <a:r>
              <a:rPr lang="es-CL" sz="3800" spc="-10" dirty="0"/>
              <a:t>MODELOS DE </a:t>
            </a:r>
            <a:r>
              <a:rPr lang="es-CL" spc="-10" dirty="0"/>
              <a:t>AGRUPAMIENTO</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TAREAS DE EVALUACIÓN</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6454588"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VALIDACIÓN</a:t>
            </a:r>
          </a:p>
          <a:p>
            <a:pPr algn="l"/>
            <a:r>
              <a:rPr lang="es-CL" sz="3000" dirty="0"/>
              <a:t>EXTRÍNSECA E INTRÍNSECA</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3970318"/>
          </a:xfrm>
          <a:prstGeom prst="rect">
            <a:avLst/>
          </a:prstGeom>
          <a:noFill/>
        </p:spPr>
        <p:txBody>
          <a:bodyPr wrap="square" rtlCol="0">
            <a:spAutoFit/>
          </a:bodyPr>
          <a:lstStyle/>
          <a:p>
            <a:pPr algn="just"/>
            <a:r>
              <a:rPr lang="es-CL" sz="2800" dirty="0"/>
              <a:t>Los </a:t>
            </a:r>
            <a:r>
              <a:rPr lang="es-CL" sz="2800" dirty="0">
                <a:solidFill>
                  <a:srgbClr val="FF0000"/>
                </a:solidFill>
              </a:rPr>
              <a:t>modelos </a:t>
            </a:r>
            <a:r>
              <a:rPr lang="es-ES" sz="2800" dirty="0">
                <a:solidFill>
                  <a:srgbClr val="FF0000"/>
                </a:solidFill>
              </a:rPr>
              <a:t>de agrupamiento son los más difíciles de evaluar</a:t>
            </a:r>
            <a:r>
              <a:rPr lang="es-ES" sz="2800" dirty="0"/>
              <a:t>, ya que no existe una clase o un valor numérico donde medir las veces que el modelo aprendido predice </a:t>
            </a:r>
            <a:r>
              <a:rPr lang="es-CL" sz="2800" dirty="0"/>
              <a:t>correctamente.</a:t>
            </a:r>
          </a:p>
          <a:p>
            <a:pPr algn="just"/>
            <a:endParaRPr lang="es-CL" sz="2800" dirty="0"/>
          </a:p>
          <a:p>
            <a:pPr algn="just"/>
            <a:r>
              <a:rPr lang="es-ES" sz="2800" dirty="0"/>
              <a:t>En general, aquí se evalúa la viabilidad del análisis de conglomerados en un conjunto de datos y la calidad de los resultados generados por un método de agrupamiento.</a:t>
            </a:r>
            <a:endParaRPr lang="es-CL" sz="2800" dirty="0"/>
          </a:p>
        </p:txBody>
      </p:sp>
      <p:sp>
        <p:nvSpPr>
          <p:cNvPr id="6" name="CuadroTexto 5">
            <a:extLst>
              <a:ext uri="{FF2B5EF4-FFF2-40B4-BE49-F238E27FC236}">
                <a16:creationId xmlns:a16="http://schemas.microsoft.com/office/drawing/2014/main" id="{66C96B28-3781-6CB5-036E-846C9EC3EB86}"/>
              </a:ext>
            </a:extLst>
          </p:cNvPr>
          <p:cNvSpPr txBox="1"/>
          <p:nvPr/>
        </p:nvSpPr>
        <p:spPr>
          <a:xfrm>
            <a:off x="2432050" y="9998075"/>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03450" y="2378075"/>
            <a:ext cx="8915400" cy="6124754"/>
          </a:xfrm>
          <a:prstGeom prst="rect">
            <a:avLst/>
          </a:prstGeom>
          <a:noFill/>
        </p:spPr>
        <p:txBody>
          <a:bodyPr wrap="square" rtlCol="0">
            <a:spAutoFit/>
          </a:bodyPr>
          <a:lstStyle/>
          <a:p>
            <a:pPr algn="just"/>
            <a:r>
              <a:rPr lang="es-ES" sz="2800" dirty="0"/>
              <a:t>Las principales tareas de la evaluación de </a:t>
            </a:r>
            <a:r>
              <a:rPr lang="es-ES" sz="2800" dirty="0" err="1"/>
              <a:t>clusters</a:t>
            </a:r>
            <a:r>
              <a:rPr lang="es-ES" sz="2800" dirty="0"/>
              <a:t> incluyen lo siguiente:</a:t>
            </a:r>
          </a:p>
          <a:p>
            <a:pPr algn="just"/>
            <a:endParaRPr lang="es-ES" sz="2800" dirty="0"/>
          </a:p>
          <a:p>
            <a:pPr algn="just"/>
            <a:r>
              <a:rPr lang="es-ES" sz="2800" dirty="0"/>
              <a:t>• Evaluación de la tendencia a la agrupación. En esta tarea, para un conjunto de datos dado, evaluamos si un existe una estructura no aleatoria en los datos. </a:t>
            </a:r>
          </a:p>
          <a:p>
            <a:pPr algn="just"/>
            <a:endParaRPr lang="es-ES" sz="2800" dirty="0"/>
          </a:p>
          <a:p>
            <a:pPr algn="just"/>
            <a:r>
              <a:rPr lang="es-ES" sz="2800" dirty="0"/>
              <a:t>• Determinar el número de </a:t>
            </a:r>
            <a:r>
              <a:rPr lang="es-ES" sz="2800" dirty="0" err="1"/>
              <a:t>clusters</a:t>
            </a:r>
            <a:r>
              <a:rPr lang="es-ES" sz="2800" dirty="0"/>
              <a:t> en un conjunto de datos. </a:t>
            </a:r>
          </a:p>
          <a:p>
            <a:pPr algn="just"/>
            <a:endParaRPr lang="es-ES" sz="2800" dirty="0"/>
          </a:p>
          <a:p>
            <a:pPr algn="just"/>
            <a:r>
              <a:rPr lang="es-ES" sz="2800" dirty="0"/>
              <a:t>• Medición de la calidad del </a:t>
            </a:r>
            <a:r>
              <a:rPr lang="es-ES" sz="2800" dirty="0" err="1"/>
              <a:t>clustering</a:t>
            </a:r>
            <a:r>
              <a:rPr lang="es-ES" sz="2800" dirty="0"/>
              <a:t>. Después de aplicar un método de agrupamiento en un conjunto de datos, queremos evaluar qué tan buenos son los grupos resultantes. </a:t>
            </a:r>
            <a:endParaRPr lang="es-CL" sz="2800" dirty="0"/>
          </a:p>
        </p:txBody>
      </p:sp>
      <p:sp>
        <p:nvSpPr>
          <p:cNvPr id="6" name="CuadroTexto 5">
            <a:extLst>
              <a:ext uri="{FF2B5EF4-FFF2-40B4-BE49-F238E27FC236}">
                <a16:creationId xmlns:a16="http://schemas.microsoft.com/office/drawing/2014/main" id="{66C96B28-3781-6CB5-036E-846C9EC3EB86}"/>
              </a:ext>
            </a:extLst>
          </p:cNvPr>
          <p:cNvSpPr txBox="1"/>
          <p:nvPr/>
        </p:nvSpPr>
        <p:spPr>
          <a:xfrm>
            <a:off x="2432050" y="9998075"/>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pic>
        <p:nvPicPr>
          <p:cNvPr id="5" name="Imagen 4">
            <a:extLst>
              <a:ext uri="{FF2B5EF4-FFF2-40B4-BE49-F238E27FC236}">
                <a16:creationId xmlns:a16="http://schemas.microsoft.com/office/drawing/2014/main" id="{F9C486EF-2270-4D26-0DF9-D628E94D8703}"/>
              </a:ext>
            </a:extLst>
          </p:cNvPr>
          <p:cNvPicPr>
            <a:picLocks noChangeAspect="1"/>
          </p:cNvPicPr>
          <p:nvPr/>
        </p:nvPicPr>
        <p:blipFill>
          <a:blip r:embed="rId2"/>
          <a:stretch>
            <a:fillRect/>
          </a:stretch>
        </p:blipFill>
        <p:spPr>
          <a:xfrm>
            <a:off x="12261850" y="2679085"/>
            <a:ext cx="7288577" cy="5032990"/>
          </a:xfrm>
          <a:prstGeom prst="rect">
            <a:avLst/>
          </a:prstGeom>
        </p:spPr>
      </p:pic>
    </p:spTree>
    <p:extLst>
      <p:ext uri="{BB962C8B-B14F-4D97-AF65-F5344CB8AC3E}">
        <p14:creationId xmlns:p14="http://schemas.microsoft.com/office/powerpoint/2010/main" val="339903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1477328"/>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TAREAS </a:t>
            </a:r>
          </a:p>
          <a:p>
            <a:pPr algn="r"/>
            <a:r>
              <a:rPr lang="es-CL" sz="4800" dirty="0"/>
              <a:t>DE EVALUACIÓN</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TAREAS DE EVALUACIÓN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148982"/>
            <a:ext cx="7798705" cy="8279190"/>
          </a:xfrm>
          <a:prstGeom prst="rect">
            <a:avLst/>
          </a:prstGeom>
          <a:noFill/>
        </p:spPr>
        <p:txBody>
          <a:bodyPr wrap="square" rtlCol="0">
            <a:spAutoFit/>
          </a:bodyPr>
          <a:lstStyle/>
          <a:p>
            <a:pPr algn="just" rtl="0">
              <a:spcBef>
                <a:spcPts val="0"/>
              </a:spcBef>
              <a:spcAft>
                <a:spcPts val="0"/>
              </a:spcAft>
            </a:pPr>
            <a:r>
              <a:rPr lang="es-ES" sz="2800" b="1" dirty="0"/>
              <a:t>Evaluación de la tendencia a la agrupación.</a:t>
            </a:r>
          </a:p>
          <a:p>
            <a:pPr algn="just" rtl="0">
              <a:spcBef>
                <a:spcPts val="0"/>
              </a:spcBef>
              <a:spcAft>
                <a:spcPts val="0"/>
              </a:spcAft>
            </a:pPr>
            <a:endParaRPr lang="es-ES" sz="2800" dirty="0"/>
          </a:p>
          <a:p>
            <a:pPr algn="just" rtl="0">
              <a:spcBef>
                <a:spcPts val="0"/>
              </a:spcBef>
              <a:spcAft>
                <a:spcPts val="0"/>
              </a:spcAft>
            </a:pPr>
            <a:r>
              <a:rPr lang="es-ES" sz="2800" dirty="0"/>
              <a:t>La evaluación de la tendencia de agrupamiento </a:t>
            </a:r>
            <a:r>
              <a:rPr lang="es-ES" sz="2800" dirty="0">
                <a:solidFill>
                  <a:srgbClr val="FF0000"/>
                </a:solidFill>
              </a:rPr>
              <a:t>determina si un conjunto de datos determinado tiene una estructura no aleatoria</a:t>
            </a:r>
            <a:r>
              <a:rPr lang="es-ES" sz="2800" dirty="0"/>
              <a:t>, lo que puede conducir a formar grupos significativos. </a:t>
            </a:r>
          </a:p>
          <a:p>
            <a:pPr algn="just" rtl="0">
              <a:spcBef>
                <a:spcPts val="0"/>
              </a:spcBef>
              <a:spcAft>
                <a:spcPts val="0"/>
              </a:spcAft>
            </a:pPr>
            <a:endParaRPr lang="es-ES" sz="2800" dirty="0"/>
          </a:p>
          <a:p>
            <a:pPr algn="just" rtl="0">
              <a:spcBef>
                <a:spcPts val="0"/>
              </a:spcBef>
              <a:spcAft>
                <a:spcPts val="0"/>
              </a:spcAft>
            </a:pPr>
            <a:r>
              <a:rPr lang="es-ES" sz="2800" dirty="0"/>
              <a:t>Intuitivamente podemos intentar medir la probabilidad de que el conjunto de datos se genere mediante una distribución de datos uniforme. Esto </a:t>
            </a:r>
            <a:r>
              <a:rPr lang="es-ES" sz="2800" dirty="0">
                <a:solidFill>
                  <a:srgbClr val="FF0000"/>
                </a:solidFill>
              </a:rPr>
              <a:t>se puede lograr usando pruebas estadísticas de aleatoriedad espacial</a:t>
            </a:r>
            <a:r>
              <a:rPr lang="es-ES" sz="2800" dirty="0"/>
              <a:t>, como la estadística de Hopkins.</a:t>
            </a:r>
          </a:p>
          <a:p>
            <a:pPr algn="just" rtl="0">
              <a:spcBef>
                <a:spcPts val="0"/>
              </a:spcBef>
              <a:spcAft>
                <a:spcPts val="0"/>
              </a:spcAft>
            </a:pPr>
            <a:endParaRPr lang="es-ES" sz="2800" dirty="0"/>
          </a:p>
          <a:p>
            <a:pPr algn="just" rtl="0">
              <a:spcBef>
                <a:spcPts val="0"/>
              </a:spcBef>
              <a:spcAft>
                <a:spcPts val="0"/>
              </a:spcAft>
            </a:pPr>
            <a:r>
              <a:rPr lang="es-ES" sz="2800" dirty="0"/>
              <a:t>Además de la estadística de Hopkins, existen otros métodos, como el histograma espacial y la distribución de distancia.</a:t>
            </a:r>
          </a:p>
          <a:p>
            <a:pPr algn="just" rtl="0">
              <a:spcBef>
                <a:spcPts val="0"/>
              </a:spcBef>
              <a:spcAft>
                <a:spcPts val="0"/>
              </a:spcAft>
            </a:pPr>
            <a:endParaRPr lang="es-ES" sz="2800" dirty="0"/>
          </a:p>
          <a:p>
            <a:pPr algn="just" rtl="0">
              <a:spcBef>
                <a:spcPts val="0"/>
              </a:spcBef>
              <a:spcAft>
                <a:spcPts val="0"/>
              </a:spcAft>
            </a:pPr>
            <a:endParaRPr lang="es-CL" sz="2800" dirty="0"/>
          </a:p>
        </p:txBody>
      </p:sp>
      <p:sp>
        <p:nvSpPr>
          <p:cNvPr id="5" name="CuadroTexto 4">
            <a:extLst>
              <a:ext uri="{FF2B5EF4-FFF2-40B4-BE49-F238E27FC236}">
                <a16:creationId xmlns:a16="http://schemas.microsoft.com/office/drawing/2014/main" id="{0AFB4E7A-BA78-27EB-E7E8-B4DA7AE5A779}"/>
              </a:ext>
            </a:extLst>
          </p:cNvPr>
          <p:cNvSpPr txBox="1"/>
          <p:nvPr/>
        </p:nvSpPr>
        <p:spPr>
          <a:xfrm>
            <a:off x="3377954" y="10274284"/>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pic>
        <p:nvPicPr>
          <p:cNvPr id="7" name="Imagen 6">
            <a:extLst>
              <a:ext uri="{FF2B5EF4-FFF2-40B4-BE49-F238E27FC236}">
                <a16:creationId xmlns:a16="http://schemas.microsoft.com/office/drawing/2014/main" id="{195C0FCD-0CCF-3E2F-FE11-7E01A548AA8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0686438" y="3239611"/>
            <a:ext cx="7519012" cy="2667000"/>
          </a:xfrm>
          <a:prstGeom prst="rect">
            <a:avLst/>
          </a:prstGeom>
        </p:spPr>
      </p:pic>
      <p:sp>
        <p:nvSpPr>
          <p:cNvPr id="8" name="CuadroTexto 7">
            <a:extLst>
              <a:ext uri="{FF2B5EF4-FFF2-40B4-BE49-F238E27FC236}">
                <a16:creationId xmlns:a16="http://schemas.microsoft.com/office/drawing/2014/main" id="{21DCE479-D4C5-E2C0-6857-45F6613B9114}"/>
              </a:ext>
            </a:extLst>
          </p:cNvPr>
          <p:cNvSpPr txBox="1"/>
          <p:nvPr/>
        </p:nvSpPr>
        <p:spPr>
          <a:xfrm>
            <a:off x="12719050" y="6721475"/>
            <a:ext cx="4172937" cy="646331"/>
          </a:xfrm>
          <a:prstGeom prst="rect">
            <a:avLst/>
          </a:prstGeom>
          <a:noFill/>
        </p:spPr>
        <p:txBody>
          <a:bodyPr wrap="none" rtlCol="0">
            <a:spAutoFit/>
          </a:bodyPr>
          <a:lstStyle/>
          <a:p>
            <a:r>
              <a:rPr lang="es-CL" dirty="0"/>
              <a:t>Estadística de Hopkins, donde d es la </a:t>
            </a:r>
          </a:p>
          <a:p>
            <a:r>
              <a:rPr lang="es-CL" dirty="0"/>
              <a:t>dimensionalidad del conjunto de datos.</a:t>
            </a:r>
          </a:p>
        </p:txBody>
      </p:sp>
    </p:spTree>
    <p:extLst>
      <p:ext uri="{BB962C8B-B14F-4D97-AF65-F5344CB8AC3E}">
        <p14:creationId xmlns:p14="http://schemas.microsoft.com/office/powerpoint/2010/main" val="7173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TAREAS DE EVALUACIÓN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148982"/>
            <a:ext cx="7798705" cy="7848302"/>
          </a:xfrm>
          <a:prstGeom prst="rect">
            <a:avLst/>
          </a:prstGeom>
          <a:noFill/>
        </p:spPr>
        <p:txBody>
          <a:bodyPr wrap="square" rtlCol="0">
            <a:spAutoFit/>
          </a:bodyPr>
          <a:lstStyle/>
          <a:p>
            <a:pPr algn="just" rtl="0">
              <a:spcBef>
                <a:spcPts val="0"/>
              </a:spcBef>
              <a:spcAft>
                <a:spcPts val="0"/>
              </a:spcAft>
            </a:pPr>
            <a:r>
              <a:rPr lang="es-ES" sz="2800" b="1" dirty="0"/>
              <a:t>Determinar el número de </a:t>
            </a:r>
            <a:r>
              <a:rPr lang="es-ES" sz="2800" b="1" dirty="0" err="1"/>
              <a:t>clusters</a:t>
            </a:r>
            <a:r>
              <a:rPr lang="es-ES" sz="2800" b="1" dirty="0"/>
              <a:t>.</a:t>
            </a:r>
          </a:p>
          <a:p>
            <a:pPr algn="just" rtl="0">
              <a:spcBef>
                <a:spcPts val="0"/>
              </a:spcBef>
              <a:spcAft>
                <a:spcPts val="0"/>
              </a:spcAft>
            </a:pPr>
            <a:endParaRPr lang="es-ES" sz="2800" dirty="0"/>
          </a:p>
          <a:p>
            <a:pPr algn="just" rtl="0">
              <a:spcBef>
                <a:spcPts val="0"/>
              </a:spcBef>
              <a:spcAft>
                <a:spcPts val="0"/>
              </a:spcAft>
            </a:pPr>
            <a:r>
              <a:rPr lang="es-ES" sz="2800" dirty="0"/>
              <a:t>Determinar el número “correcto” de </a:t>
            </a:r>
            <a:r>
              <a:rPr lang="es-ES" sz="2800" dirty="0" err="1"/>
              <a:t>clusters</a:t>
            </a:r>
            <a:r>
              <a:rPr lang="es-ES" sz="2800" dirty="0"/>
              <a:t> en un conjunto de datos es importante, no sólo porque algunos algoritmos como k-</a:t>
            </a:r>
            <a:r>
              <a:rPr lang="es-ES" sz="2800" dirty="0" err="1"/>
              <a:t>means</a:t>
            </a:r>
            <a:r>
              <a:rPr lang="es-ES" sz="2800" dirty="0"/>
              <a:t> requieren dicho parámetro, sino porque  también el </a:t>
            </a:r>
            <a:r>
              <a:rPr lang="es-ES" sz="2800" dirty="0">
                <a:solidFill>
                  <a:srgbClr val="FF0000"/>
                </a:solidFill>
              </a:rPr>
              <a:t>número apropiado de </a:t>
            </a:r>
            <a:r>
              <a:rPr lang="es-ES" sz="2800" dirty="0" err="1">
                <a:solidFill>
                  <a:srgbClr val="FF0000"/>
                </a:solidFill>
              </a:rPr>
              <a:t>clusters</a:t>
            </a:r>
            <a:r>
              <a:rPr lang="es-ES" sz="2800" dirty="0">
                <a:solidFill>
                  <a:srgbClr val="FF0000"/>
                </a:solidFill>
              </a:rPr>
              <a:t> controla la granularidad adecuada del análisis de </a:t>
            </a:r>
            <a:r>
              <a:rPr lang="es-ES" sz="2800" dirty="0" err="1">
                <a:solidFill>
                  <a:srgbClr val="FF0000"/>
                </a:solidFill>
              </a:rPr>
              <a:t>clusters</a:t>
            </a:r>
            <a:r>
              <a:rPr lang="es-ES" sz="2800" dirty="0"/>
              <a:t>.</a:t>
            </a:r>
          </a:p>
          <a:p>
            <a:pPr algn="just" rtl="0">
              <a:spcBef>
                <a:spcPts val="0"/>
              </a:spcBef>
              <a:spcAft>
                <a:spcPts val="0"/>
              </a:spcAft>
            </a:pPr>
            <a:endParaRPr lang="es-ES" sz="2800" dirty="0"/>
          </a:p>
          <a:p>
            <a:pPr algn="just" rtl="0">
              <a:spcBef>
                <a:spcPts val="0"/>
              </a:spcBef>
              <a:spcAft>
                <a:spcPts val="0"/>
              </a:spcAft>
            </a:pPr>
            <a:r>
              <a:rPr lang="es-ES" sz="2800" dirty="0"/>
              <a:t>El método de </a:t>
            </a:r>
            <a:r>
              <a:rPr lang="es-ES" sz="2800" dirty="0" err="1"/>
              <a:t>Elbow</a:t>
            </a:r>
            <a:r>
              <a:rPr lang="es-ES" sz="2800" dirty="0"/>
              <a:t> se basa en la observación de que </a:t>
            </a:r>
            <a:r>
              <a:rPr lang="es-ES" sz="2800" dirty="0">
                <a:solidFill>
                  <a:srgbClr val="FF0000"/>
                </a:solidFill>
              </a:rPr>
              <a:t>aumentar el número de grupos puede ayudar a reducir la suma de la varianza dentro del </a:t>
            </a:r>
            <a:r>
              <a:rPr lang="es-ES" sz="2800" dirty="0" err="1">
                <a:solidFill>
                  <a:srgbClr val="FF0000"/>
                </a:solidFill>
              </a:rPr>
              <a:t>cluster</a:t>
            </a:r>
            <a:r>
              <a:rPr lang="es-ES" sz="2800" dirty="0"/>
              <a:t>. Esto se debe a que teniendo más clústeres, se capturan datos que son más similares entre sí.</a:t>
            </a:r>
          </a:p>
          <a:p>
            <a:pPr algn="just" rtl="0">
              <a:spcBef>
                <a:spcPts val="0"/>
              </a:spcBef>
              <a:spcAft>
                <a:spcPts val="0"/>
              </a:spcAft>
            </a:pPr>
            <a:endParaRPr lang="es-ES" sz="2800" dirty="0"/>
          </a:p>
          <a:p>
            <a:pPr algn="just" rtl="0">
              <a:spcBef>
                <a:spcPts val="0"/>
              </a:spcBef>
              <a:spcAft>
                <a:spcPts val="0"/>
              </a:spcAft>
            </a:pPr>
            <a:endParaRPr lang="es-CL" sz="2800" dirty="0"/>
          </a:p>
        </p:txBody>
      </p:sp>
      <p:sp>
        <p:nvSpPr>
          <p:cNvPr id="5" name="CuadroTexto 4">
            <a:extLst>
              <a:ext uri="{FF2B5EF4-FFF2-40B4-BE49-F238E27FC236}">
                <a16:creationId xmlns:a16="http://schemas.microsoft.com/office/drawing/2014/main" id="{0AFB4E7A-BA78-27EB-E7E8-B4DA7AE5A779}"/>
              </a:ext>
            </a:extLst>
          </p:cNvPr>
          <p:cNvSpPr txBox="1"/>
          <p:nvPr/>
        </p:nvSpPr>
        <p:spPr>
          <a:xfrm>
            <a:off x="3377954" y="10274284"/>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pic>
        <p:nvPicPr>
          <p:cNvPr id="4" name="Imagen 3">
            <a:extLst>
              <a:ext uri="{FF2B5EF4-FFF2-40B4-BE49-F238E27FC236}">
                <a16:creationId xmlns:a16="http://schemas.microsoft.com/office/drawing/2014/main" id="{0FFA43F4-08ED-40E8-A301-21CE6264E9C7}"/>
              </a:ext>
            </a:extLst>
          </p:cNvPr>
          <p:cNvPicPr>
            <a:picLocks noChangeAspect="1"/>
          </p:cNvPicPr>
          <p:nvPr/>
        </p:nvPicPr>
        <p:blipFill>
          <a:blip r:embed="rId2"/>
          <a:stretch>
            <a:fillRect/>
          </a:stretch>
        </p:blipFill>
        <p:spPr>
          <a:xfrm>
            <a:off x="10585450" y="2530475"/>
            <a:ext cx="7798704" cy="7213178"/>
          </a:xfrm>
          <a:prstGeom prst="rect">
            <a:avLst/>
          </a:prstGeom>
        </p:spPr>
      </p:pic>
    </p:spTree>
    <p:extLst>
      <p:ext uri="{BB962C8B-B14F-4D97-AF65-F5344CB8AC3E}">
        <p14:creationId xmlns:p14="http://schemas.microsoft.com/office/powerpoint/2010/main" val="1927807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TAREAS DE EVALUACIÓN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148982"/>
            <a:ext cx="7798705" cy="5693866"/>
          </a:xfrm>
          <a:prstGeom prst="rect">
            <a:avLst/>
          </a:prstGeom>
          <a:noFill/>
        </p:spPr>
        <p:txBody>
          <a:bodyPr wrap="square" rtlCol="0">
            <a:spAutoFit/>
          </a:bodyPr>
          <a:lstStyle/>
          <a:p>
            <a:pPr algn="just" rtl="0">
              <a:spcBef>
                <a:spcPts val="0"/>
              </a:spcBef>
              <a:spcAft>
                <a:spcPts val="0"/>
              </a:spcAft>
            </a:pPr>
            <a:r>
              <a:rPr lang="es-ES" sz="2800" b="1" dirty="0"/>
              <a:t>Medición de Calidad del </a:t>
            </a:r>
            <a:r>
              <a:rPr lang="es-ES" sz="2800" b="1" dirty="0" err="1"/>
              <a:t>clusters</a:t>
            </a:r>
            <a:r>
              <a:rPr lang="es-ES" sz="2800" b="1" dirty="0"/>
              <a:t>.</a:t>
            </a:r>
          </a:p>
          <a:p>
            <a:pPr algn="just" rtl="0">
              <a:spcBef>
                <a:spcPts val="0"/>
              </a:spcBef>
              <a:spcAft>
                <a:spcPts val="0"/>
              </a:spcAft>
            </a:pPr>
            <a:endParaRPr lang="es-ES" sz="2800" dirty="0"/>
          </a:p>
          <a:p>
            <a:pPr algn="just" rtl="0">
              <a:spcBef>
                <a:spcPts val="0"/>
              </a:spcBef>
              <a:spcAft>
                <a:spcPts val="0"/>
              </a:spcAft>
            </a:pPr>
            <a:r>
              <a:rPr lang="es-ES" sz="2800" dirty="0"/>
              <a:t>En general, estos métodos se pueden clasificar en dos grupos según si el modelo </a:t>
            </a:r>
            <a:r>
              <a:rPr lang="es-ES" sz="2800" dirty="0">
                <a:solidFill>
                  <a:srgbClr val="FF0000"/>
                </a:solidFill>
              </a:rPr>
              <a:t>es consistente con la realidad observada (predice correctamente).</a:t>
            </a:r>
          </a:p>
          <a:p>
            <a:pPr algn="just" rtl="0">
              <a:spcBef>
                <a:spcPts val="0"/>
              </a:spcBef>
              <a:spcAft>
                <a:spcPts val="0"/>
              </a:spcAft>
            </a:pPr>
            <a:endParaRPr lang="es-ES" sz="2800" dirty="0"/>
          </a:p>
          <a:p>
            <a:pPr algn="just" rtl="0">
              <a:spcBef>
                <a:spcPts val="0"/>
              </a:spcBef>
              <a:spcAft>
                <a:spcPts val="0"/>
              </a:spcAft>
            </a:pPr>
            <a:r>
              <a:rPr lang="es-ES" sz="2800" dirty="0"/>
              <a:t>Aquí, la “consistencia sobre la realidad observada” </a:t>
            </a:r>
            <a:r>
              <a:rPr lang="es-ES" sz="2800" dirty="0">
                <a:solidFill>
                  <a:srgbClr val="FF0000"/>
                </a:solidFill>
              </a:rPr>
              <a:t>es la agrupación ideal </a:t>
            </a:r>
            <a:r>
              <a:rPr lang="es-ES" sz="2800" dirty="0"/>
              <a:t>que a menudo se construye utilizando expertos humanos.</a:t>
            </a:r>
          </a:p>
          <a:p>
            <a:pPr algn="just" rtl="0">
              <a:spcBef>
                <a:spcPts val="0"/>
              </a:spcBef>
              <a:spcAft>
                <a:spcPts val="0"/>
              </a:spcAft>
            </a:pPr>
            <a:endParaRPr lang="es-ES" sz="2800" dirty="0"/>
          </a:p>
          <a:p>
            <a:pPr algn="just" rtl="0">
              <a:spcBef>
                <a:spcPts val="0"/>
              </a:spcBef>
              <a:spcAft>
                <a:spcPts val="0"/>
              </a:spcAft>
            </a:pPr>
            <a:endParaRPr lang="es-CL" sz="2800" dirty="0"/>
          </a:p>
        </p:txBody>
      </p:sp>
      <p:sp>
        <p:nvSpPr>
          <p:cNvPr id="5" name="CuadroTexto 4">
            <a:extLst>
              <a:ext uri="{FF2B5EF4-FFF2-40B4-BE49-F238E27FC236}">
                <a16:creationId xmlns:a16="http://schemas.microsoft.com/office/drawing/2014/main" id="{0AFB4E7A-BA78-27EB-E7E8-B4DA7AE5A779}"/>
              </a:ext>
            </a:extLst>
          </p:cNvPr>
          <p:cNvSpPr txBox="1"/>
          <p:nvPr/>
        </p:nvSpPr>
        <p:spPr>
          <a:xfrm>
            <a:off x="3377954" y="10274284"/>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spTree>
    <p:extLst>
      <p:ext uri="{BB962C8B-B14F-4D97-AF65-F5344CB8AC3E}">
        <p14:creationId xmlns:p14="http://schemas.microsoft.com/office/powerpoint/2010/main" val="147356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TAREAS DE EVALUACIÓN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148982"/>
            <a:ext cx="7798705" cy="7417415"/>
          </a:xfrm>
          <a:prstGeom prst="rect">
            <a:avLst/>
          </a:prstGeom>
          <a:noFill/>
        </p:spPr>
        <p:txBody>
          <a:bodyPr wrap="square" rtlCol="0">
            <a:spAutoFit/>
          </a:bodyPr>
          <a:lstStyle/>
          <a:p>
            <a:pPr algn="just" rtl="0">
              <a:spcBef>
                <a:spcPts val="0"/>
              </a:spcBef>
              <a:spcAft>
                <a:spcPts val="0"/>
              </a:spcAft>
            </a:pPr>
            <a:r>
              <a:rPr lang="es-ES" sz="2800" b="1" dirty="0"/>
              <a:t>Medición de Calidad del </a:t>
            </a:r>
            <a:r>
              <a:rPr lang="es-ES" sz="2800" b="1" dirty="0" err="1"/>
              <a:t>clusters</a:t>
            </a:r>
            <a:r>
              <a:rPr lang="es-ES" sz="2800" b="1" dirty="0"/>
              <a:t>.</a:t>
            </a:r>
          </a:p>
          <a:p>
            <a:pPr algn="just" rtl="0">
              <a:spcBef>
                <a:spcPts val="0"/>
              </a:spcBef>
              <a:spcAft>
                <a:spcPts val="0"/>
              </a:spcAft>
            </a:pPr>
            <a:endParaRPr lang="es-ES" sz="2800" dirty="0"/>
          </a:p>
          <a:p>
            <a:pPr algn="just" rtl="0">
              <a:spcBef>
                <a:spcPts val="0"/>
              </a:spcBef>
              <a:spcAft>
                <a:spcPts val="0"/>
              </a:spcAft>
            </a:pPr>
            <a:r>
              <a:rPr lang="es-ES" sz="2800" dirty="0"/>
              <a:t>Si el contamos con la “opinión de los expertos”,  podemos realizar mediciones  usando  </a:t>
            </a:r>
            <a:r>
              <a:rPr lang="es-ES" sz="2800" dirty="0">
                <a:solidFill>
                  <a:srgbClr val="FF0000"/>
                </a:solidFill>
              </a:rPr>
              <a:t>métodos extrínsecos</a:t>
            </a:r>
            <a:r>
              <a:rPr lang="es-ES" sz="2800" dirty="0"/>
              <a:t>, que comparan el </a:t>
            </a:r>
            <a:r>
              <a:rPr lang="es-ES" sz="2800" dirty="0" err="1"/>
              <a:t>cluster</a:t>
            </a:r>
            <a:r>
              <a:rPr lang="es-ES" sz="2800" dirty="0"/>
              <a:t> del modelo con los datos “reales” (generados por los expertos). Es decir, es un método supervisado.</a:t>
            </a:r>
          </a:p>
          <a:p>
            <a:pPr algn="just" rtl="0">
              <a:spcBef>
                <a:spcPts val="0"/>
              </a:spcBef>
              <a:spcAft>
                <a:spcPts val="0"/>
              </a:spcAft>
            </a:pPr>
            <a:endParaRPr lang="es-ES" sz="2800" dirty="0"/>
          </a:p>
          <a:p>
            <a:pPr algn="just" rtl="0">
              <a:spcBef>
                <a:spcPts val="0"/>
              </a:spcBef>
              <a:spcAft>
                <a:spcPts val="0"/>
              </a:spcAft>
            </a:pPr>
            <a:r>
              <a:rPr lang="es-ES" sz="2800" dirty="0"/>
              <a:t>Si no contamos con la opinión de los expertos, o sea no contamos con los datos reales,  podemos utilizar los </a:t>
            </a:r>
            <a:r>
              <a:rPr lang="es-ES" sz="2800" dirty="0">
                <a:solidFill>
                  <a:srgbClr val="FF0000"/>
                </a:solidFill>
              </a:rPr>
              <a:t>métodos intrínsecos</a:t>
            </a:r>
            <a:r>
              <a:rPr lang="es-ES" sz="2800" dirty="0"/>
              <a:t>, que evalúan la bondad de un </a:t>
            </a:r>
            <a:r>
              <a:rPr lang="es-ES" sz="2800" dirty="0" err="1"/>
              <a:t>cluster</a:t>
            </a:r>
            <a:r>
              <a:rPr lang="es-ES" sz="2800" dirty="0"/>
              <a:t> considerando qué tan bien están separadas las agrupaciones.</a:t>
            </a:r>
          </a:p>
          <a:p>
            <a:pPr algn="just" rtl="0">
              <a:spcBef>
                <a:spcPts val="0"/>
              </a:spcBef>
              <a:spcAft>
                <a:spcPts val="0"/>
              </a:spcAft>
            </a:pPr>
            <a:r>
              <a:rPr lang="es-ES" sz="2800" dirty="0"/>
              <a:t>Lo cual, sería un método no supervisado.</a:t>
            </a:r>
          </a:p>
          <a:p>
            <a:pPr algn="just" rtl="0">
              <a:spcBef>
                <a:spcPts val="0"/>
              </a:spcBef>
              <a:spcAft>
                <a:spcPts val="0"/>
              </a:spcAft>
            </a:pPr>
            <a:endParaRPr lang="es-ES" sz="2800" dirty="0"/>
          </a:p>
          <a:p>
            <a:pPr algn="just" rtl="0">
              <a:spcBef>
                <a:spcPts val="0"/>
              </a:spcBef>
              <a:spcAft>
                <a:spcPts val="0"/>
              </a:spcAft>
            </a:pPr>
            <a:endParaRPr lang="es-CL" sz="2800" dirty="0"/>
          </a:p>
        </p:txBody>
      </p:sp>
      <p:sp>
        <p:nvSpPr>
          <p:cNvPr id="5" name="CuadroTexto 4">
            <a:extLst>
              <a:ext uri="{FF2B5EF4-FFF2-40B4-BE49-F238E27FC236}">
                <a16:creationId xmlns:a16="http://schemas.microsoft.com/office/drawing/2014/main" id="{0AFB4E7A-BA78-27EB-E7E8-B4DA7AE5A779}"/>
              </a:ext>
            </a:extLst>
          </p:cNvPr>
          <p:cNvSpPr txBox="1"/>
          <p:nvPr/>
        </p:nvSpPr>
        <p:spPr>
          <a:xfrm>
            <a:off x="3377954" y="10274284"/>
            <a:ext cx="5745484"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 </a:t>
            </a:r>
            <a:r>
              <a:rPr lang="es-CL" sz="1400" dirty="0" err="1"/>
              <a:t>Jiawei</a:t>
            </a:r>
            <a:r>
              <a:rPr lang="es-CL" sz="1400" dirty="0"/>
              <a:t> Han y otros </a:t>
            </a:r>
          </a:p>
        </p:txBody>
      </p:sp>
    </p:spTree>
    <p:extLst>
      <p:ext uri="{BB962C8B-B14F-4D97-AF65-F5344CB8AC3E}">
        <p14:creationId xmlns:p14="http://schemas.microsoft.com/office/powerpoint/2010/main" val="2668520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4325600" cy="2031325"/>
          </a:xfrm>
        </p:spPr>
        <p:txBody>
          <a:bodyPr/>
          <a:lstStyle/>
          <a:p>
            <a:pPr algn="l"/>
            <a:r>
              <a:rPr lang="es-CL" sz="6600" dirty="0"/>
              <a:t>VALIDACIÓN EXTRÍNSECA</a:t>
            </a:r>
            <a:br>
              <a:rPr lang="es-CL" sz="6600" dirty="0"/>
            </a:br>
            <a:r>
              <a:rPr lang="es-CL" sz="6600" dirty="0"/>
              <a:t>E INTRÍNSECA</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EXTRÍNSECA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7848302"/>
          </a:xfrm>
          <a:prstGeom prst="rect">
            <a:avLst/>
          </a:prstGeom>
          <a:noFill/>
        </p:spPr>
        <p:txBody>
          <a:bodyPr wrap="square" rtlCol="0">
            <a:spAutoFit/>
          </a:bodyPr>
          <a:lstStyle/>
          <a:p>
            <a:pPr algn="just" rtl="0">
              <a:spcBef>
                <a:spcPts val="0"/>
              </a:spcBef>
              <a:spcAft>
                <a:spcPts val="0"/>
              </a:spcAft>
            </a:pPr>
            <a:r>
              <a:rPr lang="es-ES" sz="2800" dirty="0"/>
              <a:t>Este tipo de validación se puede llevar a cabo</a:t>
            </a:r>
            <a:r>
              <a:rPr lang="es-ES" sz="2800" dirty="0">
                <a:solidFill>
                  <a:srgbClr val="FF0000"/>
                </a:solidFill>
              </a:rPr>
              <a:t> si se dispone de etiquetas de </a:t>
            </a:r>
            <a:r>
              <a:rPr lang="es-ES" sz="2800" dirty="0" err="1">
                <a:solidFill>
                  <a:srgbClr val="FF0000"/>
                </a:solidFill>
              </a:rPr>
              <a:t>cluster</a:t>
            </a:r>
            <a:r>
              <a:rPr lang="es-ES" sz="2800" dirty="0">
                <a:solidFill>
                  <a:srgbClr val="FF0000"/>
                </a:solidFill>
              </a:rPr>
              <a:t> verdaderas</a:t>
            </a:r>
            <a:r>
              <a:rPr lang="es-ES" sz="2800" dirty="0"/>
              <a:t>.</a:t>
            </a:r>
          </a:p>
          <a:p>
            <a:pPr algn="just" rtl="0">
              <a:spcBef>
                <a:spcPts val="0"/>
              </a:spcBef>
              <a:spcAft>
                <a:spcPts val="0"/>
              </a:spcAft>
            </a:pPr>
            <a:br>
              <a:rPr lang="es-ES" sz="2800" dirty="0"/>
            </a:br>
            <a:r>
              <a:rPr lang="es-ES" sz="2800" dirty="0"/>
              <a:t>En este enfoque tendremos un conjunto de </a:t>
            </a:r>
            <a:r>
              <a:rPr lang="es-ES" sz="2800" dirty="0" err="1"/>
              <a:t>clusters</a:t>
            </a:r>
            <a:r>
              <a:rPr lang="es-ES" sz="2800" dirty="0"/>
              <a:t> S = {C1, C2, C3,…, Cn } que han sido generados como resultado de algún algoritmo de </a:t>
            </a:r>
            <a:r>
              <a:rPr lang="es-ES" sz="2800" dirty="0" err="1"/>
              <a:t>clustering</a:t>
            </a:r>
            <a:r>
              <a:rPr lang="es-ES" sz="2800" dirty="0"/>
              <a:t>. </a:t>
            </a:r>
          </a:p>
          <a:p>
            <a:pPr algn="just" rtl="0">
              <a:spcBef>
                <a:spcPts val="0"/>
              </a:spcBef>
              <a:spcAft>
                <a:spcPts val="0"/>
              </a:spcAft>
            </a:pPr>
            <a:br>
              <a:rPr lang="es-ES" sz="2800" dirty="0"/>
            </a:br>
            <a:r>
              <a:rPr lang="es-ES" sz="2800" dirty="0"/>
              <a:t>Tendremos otro conjunto de </a:t>
            </a:r>
            <a:r>
              <a:rPr lang="es-ES" sz="2800" dirty="0" err="1"/>
              <a:t>clusters</a:t>
            </a:r>
            <a:r>
              <a:rPr lang="es-ES" sz="2800" dirty="0"/>
              <a:t> P = {D1, D2, D3,…, Dm} que representan las verdaderas etiquetas de los </a:t>
            </a:r>
            <a:r>
              <a:rPr lang="es-ES" sz="2800" dirty="0" err="1"/>
              <a:t>clusters</a:t>
            </a:r>
            <a:r>
              <a:rPr lang="es-ES" sz="2800" dirty="0"/>
              <a:t> sobre los mismos datos. </a:t>
            </a:r>
          </a:p>
          <a:p>
            <a:pPr algn="just" rtl="0">
              <a:spcBef>
                <a:spcPts val="0"/>
              </a:spcBef>
              <a:spcAft>
                <a:spcPts val="0"/>
              </a:spcAft>
            </a:pPr>
            <a:br>
              <a:rPr lang="es-ES" sz="2800" dirty="0"/>
            </a:br>
            <a:r>
              <a:rPr lang="es-ES" sz="2800" dirty="0"/>
              <a:t>La idea es medir la similitud estadística entre los dos conjuntos. </a:t>
            </a:r>
          </a:p>
          <a:p>
            <a:pPr algn="just" rtl="0">
              <a:spcBef>
                <a:spcPts val="0"/>
              </a:spcBef>
              <a:spcAft>
                <a:spcPts val="0"/>
              </a:spcAft>
            </a:pPr>
            <a:br>
              <a:rPr lang="es-ES" sz="2800" dirty="0"/>
            </a:br>
            <a:r>
              <a:rPr lang="es-ES" sz="2800" dirty="0"/>
              <a:t>Un conjunto de </a:t>
            </a:r>
            <a:r>
              <a:rPr lang="es-ES" sz="2800" dirty="0" err="1"/>
              <a:t>clusters</a:t>
            </a:r>
            <a:r>
              <a:rPr lang="es-ES" sz="2800" dirty="0"/>
              <a:t> se considera bueno si es muy similar al conjunto de </a:t>
            </a:r>
            <a:r>
              <a:rPr lang="es-ES" sz="2800" dirty="0" err="1"/>
              <a:t>clusters</a:t>
            </a:r>
            <a:r>
              <a:rPr lang="es-ES" sz="2800" dirty="0"/>
              <a:t> verdadero.</a:t>
            </a:r>
          </a:p>
          <a:p>
            <a:br>
              <a:rPr lang="es-ES" sz="2800" dirty="0"/>
            </a:br>
            <a:r>
              <a:rPr lang="es-ES" sz="2800" dirty="0"/>
              <a:t> </a:t>
            </a:r>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spTree>
    <p:extLst>
      <p:ext uri="{BB962C8B-B14F-4D97-AF65-F5344CB8AC3E}">
        <p14:creationId xmlns:p14="http://schemas.microsoft.com/office/powerpoint/2010/main" val="106781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EXTRÍNSECA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7848302"/>
          </a:xfrm>
          <a:prstGeom prst="rect">
            <a:avLst/>
          </a:prstGeom>
          <a:noFill/>
        </p:spPr>
        <p:txBody>
          <a:bodyPr wrap="square" rtlCol="0">
            <a:spAutoFit/>
          </a:bodyPr>
          <a:lstStyle/>
          <a:p>
            <a:pPr algn="just" rtl="0">
              <a:spcBef>
                <a:spcPts val="0"/>
              </a:spcBef>
              <a:spcAft>
                <a:spcPts val="0"/>
              </a:spcAft>
            </a:pPr>
            <a:r>
              <a:rPr lang="es-ES" sz="2800" b="1" dirty="0"/>
              <a:t>INDICE DE RAND AJUSTADO.</a:t>
            </a:r>
          </a:p>
          <a:p>
            <a:pPr algn="just" rtl="0">
              <a:spcBef>
                <a:spcPts val="0"/>
              </a:spcBef>
              <a:spcAft>
                <a:spcPts val="0"/>
              </a:spcAft>
            </a:pPr>
            <a:br>
              <a:rPr lang="es-ES" sz="2800" dirty="0"/>
            </a:br>
            <a:r>
              <a:rPr lang="es-ES" sz="2800" dirty="0"/>
              <a:t>Esta medida compara </a:t>
            </a:r>
            <a:r>
              <a:rPr lang="es-ES" sz="2800" dirty="0">
                <a:solidFill>
                  <a:srgbClr val="FF0000"/>
                </a:solidFill>
              </a:rPr>
              <a:t>cuán similares son dos agrupaciones de datos</a:t>
            </a:r>
            <a:r>
              <a:rPr lang="es-ES" sz="2800" dirty="0"/>
              <a:t>.</a:t>
            </a:r>
          </a:p>
          <a:p>
            <a:pPr algn="just" rtl="0">
              <a:spcBef>
                <a:spcPts val="0"/>
              </a:spcBef>
              <a:spcAft>
                <a:spcPts val="0"/>
              </a:spcAft>
            </a:pPr>
            <a:br>
              <a:rPr lang="es-ES" sz="2800" dirty="0"/>
            </a:br>
            <a:r>
              <a:rPr lang="es-ES" sz="2800" dirty="0"/>
              <a:t>El Índice de Rand ajustado intenta expresar qué proporción de las asignaciones de clúster son “correctas”. </a:t>
            </a:r>
          </a:p>
          <a:p>
            <a:pPr algn="just" rtl="0">
              <a:spcBef>
                <a:spcPts val="0"/>
              </a:spcBef>
              <a:spcAft>
                <a:spcPts val="0"/>
              </a:spcAft>
            </a:pPr>
            <a:br>
              <a:rPr lang="es-ES" sz="2800" dirty="0"/>
            </a:br>
            <a:r>
              <a:rPr lang="es-ES" sz="2800" dirty="0"/>
              <a:t>Calcula una medida de similitud entre dos métodos de </a:t>
            </a:r>
            <a:r>
              <a:rPr lang="es-ES" sz="2800" dirty="0" err="1"/>
              <a:t>clustering</a:t>
            </a:r>
            <a:r>
              <a:rPr lang="es-ES" sz="2800" dirty="0"/>
              <a:t> diferentes considerando todos los pares de muestras, y contando los pares que se asignan en los mismos o diferentes clúster predichos, contra las verdaderas etiquetas de los clúster, ajustando el azar.</a:t>
            </a:r>
          </a:p>
          <a:p>
            <a:br>
              <a:rPr lang="es-ES" sz="2800" dirty="0"/>
            </a:br>
            <a:br>
              <a:rPr lang="es-ES" sz="2800" dirty="0"/>
            </a:br>
            <a:r>
              <a:rPr lang="es-ES" sz="2800" dirty="0"/>
              <a:t> </a:t>
            </a:r>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pic>
        <p:nvPicPr>
          <p:cNvPr id="4" name="Imagen 3">
            <a:extLst>
              <a:ext uri="{FF2B5EF4-FFF2-40B4-BE49-F238E27FC236}">
                <a16:creationId xmlns:a16="http://schemas.microsoft.com/office/drawing/2014/main" id="{34C26B81-CE2C-A013-529E-15E87F0A61C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11467944" y="2606675"/>
            <a:ext cx="7946019" cy="6684205"/>
          </a:xfrm>
          <a:prstGeom prst="rect">
            <a:avLst/>
          </a:prstGeom>
        </p:spPr>
      </p:pic>
    </p:spTree>
    <p:extLst>
      <p:ext uri="{BB962C8B-B14F-4D97-AF65-F5344CB8AC3E}">
        <p14:creationId xmlns:p14="http://schemas.microsoft.com/office/powerpoint/2010/main" val="930093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EXTRÍNSECA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9140964"/>
          </a:xfrm>
          <a:prstGeom prst="rect">
            <a:avLst/>
          </a:prstGeom>
          <a:noFill/>
        </p:spPr>
        <p:txBody>
          <a:bodyPr wrap="square" rtlCol="0">
            <a:spAutoFit/>
          </a:bodyPr>
          <a:lstStyle/>
          <a:p>
            <a:pPr algn="just" rtl="0">
              <a:spcBef>
                <a:spcPts val="0"/>
              </a:spcBef>
              <a:spcAft>
                <a:spcPts val="0"/>
              </a:spcAft>
            </a:pPr>
            <a:r>
              <a:rPr lang="es-ES" sz="2800" b="1" dirty="0"/>
              <a:t>PUNTUACIÓN DE  FOWLKES MALLOWS</a:t>
            </a:r>
          </a:p>
          <a:p>
            <a:pPr algn="just" rtl="0">
              <a:spcBef>
                <a:spcPts val="0"/>
              </a:spcBef>
              <a:spcAft>
                <a:spcPts val="0"/>
              </a:spcAft>
            </a:pPr>
            <a:br>
              <a:rPr lang="es-ES" sz="2800" dirty="0"/>
            </a:br>
            <a:r>
              <a:rPr lang="es-ES" sz="2800" dirty="0"/>
              <a:t>La puntuación de </a:t>
            </a:r>
            <a:r>
              <a:rPr lang="es-ES" sz="2800" dirty="0" err="1"/>
              <a:t>Fowlkes</a:t>
            </a:r>
            <a:r>
              <a:rPr lang="es-ES" sz="2800" dirty="0"/>
              <a:t> </a:t>
            </a:r>
            <a:r>
              <a:rPr lang="es-ES" sz="2800" dirty="0" err="1"/>
              <a:t>Mallow</a:t>
            </a:r>
            <a:r>
              <a:rPr lang="es-ES" sz="2800" dirty="0"/>
              <a:t> es similar al índice de Rand ajustado, en la medida en que indica </a:t>
            </a:r>
            <a:r>
              <a:rPr lang="es-ES" sz="2800" dirty="0">
                <a:solidFill>
                  <a:srgbClr val="FF0000"/>
                </a:solidFill>
              </a:rPr>
              <a:t>el grado en que las asignaciones de clúster son “correctas”</a:t>
            </a:r>
            <a:r>
              <a:rPr lang="es-ES" sz="2800" dirty="0"/>
              <a:t>.</a:t>
            </a:r>
          </a:p>
          <a:p>
            <a:pPr algn="just" rtl="0">
              <a:spcBef>
                <a:spcPts val="0"/>
              </a:spcBef>
              <a:spcAft>
                <a:spcPts val="0"/>
              </a:spcAft>
            </a:pPr>
            <a:endParaRPr lang="es-ES" sz="2800" dirty="0"/>
          </a:p>
          <a:p>
            <a:pPr algn="just" rtl="0">
              <a:spcBef>
                <a:spcPts val="0"/>
              </a:spcBef>
              <a:spcAft>
                <a:spcPts val="0"/>
              </a:spcAft>
            </a:pPr>
            <a:r>
              <a:rPr lang="es-ES" sz="2800" dirty="0"/>
              <a:t>Está basado en la Matriz de Confusión, donde </a:t>
            </a:r>
          </a:p>
          <a:p>
            <a:pPr algn="just" rtl="0">
              <a:spcBef>
                <a:spcPts val="0"/>
              </a:spcBef>
              <a:spcAft>
                <a:spcPts val="0"/>
              </a:spcAft>
            </a:pPr>
            <a:endParaRPr lang="es-ES" sz="2800" dirty="0"/>
          </a:p>
          <a:p>
            <a:pPr algn="just" rtl="0">
              <a:spcBef>
                <a:spcPts val="0"/>
              </a:spcBef>
              <a:spcAft>
                <a:spcPts val="0"/>
              </a:spcAft>
            </a:pPr>
            <a:r>
              <a:rPr lang="es-ES" sz="2800" dirty="0"/>
              <a:t>TP es el número de verdaderos positivos,</a:t>
            </a:r>
          </a:p>
          <a:p>
            <a:pPr algn="just" rtl="0">
              <a:spcBef>
                <a:spcPts val="0"/>
              </a:spcBef>
              <a:spcAft>
                <a:spcPts val="0"/>
              </a:spcAft>
            </a:pPr>
            <a:r>
              <a:rPr lang="es-ES" sz="2800" dirty="0"/>
              <a:t>FP es el número de falsos positivos, y</a:t>
            </a:r>
          </a:p>
          <a:p>
            <a:pPr algn="just" rtl="0">
              <a:spcBef>
                <a:spcPts val="0"/>
              </a:spcBef>
              <a:spcAft>
                <a:spcPts val="0"/>
              </a:spcAft>
            </a:pPr>
            <a:r>
              <a:rPr lang="es-ES" sz="2800" dirty="0"/>
              <a:t>FN es el número de falsos negativos.</a:t>
            </a:r>
          </a:p>
          <a:p>
            <a:pPr algn="just" rtl="0">
              <a:spcBef>
                <a:spcPts val="0"/>
              </a:spcBef>
              <a:spcAft>
                <a:spcPts val="0"/>
              </a:spcAft>
            </a:pPr>
            <a:endParaRPr lang="es-ES" sz="2800" dirty="0"/>
          </a:p>
          <a:p>
            <a:pPr algn="just" rtl="0">
              <a:spcBef>
                <a:spcPts val="0"/>
              </a:spcBef>
              <a:spcAft>
                <a:spcPts val="0"/>
              </a:spcAft>
            </a:pPr>
            <a:r>
              <a:rPr lang="es-ES" sz="2800" dirty="0"/>
              <a:t>TPR es la tasa de verdaderos positivos, también llamada sensibilidad o “</a:t>
            </a:r>
            <a:r>
              <a:rPr lang="es-ES" sz="2800" dirty="0" err="1"/>
              <a:t>recall</a:t>
            </a:r>
            <a:r>
              <a:rPr lang="es-ES" sz="2800" dirty="0"/>
              <a:t>”, y</a:t>
            </a:r>
          </a:p>
          <a:p>
            <a:pPr algn="just" rtl="0">
              <a:spcBef>
                <a:spcPts val="0"/>
              </a:spcBef>
              <a:spcAft>
                <a:spcPts val="0"/>
              </a:spcAft>
            </a:pPr>
            <a:r>
              <a:rPr lang="es-ES" sz="2800" dirty="0"/>
              <a:t>PPV es la tasa de predicción positiva, también conocida como “precisión”.</a:t>
            </a:r>
          </a:p>
          <a:p>
            <a:br>
              <a:rPr lang="es-ES" sz="2800" dirty="0"/>
            </a:br>
            <a:br>
              <a:rPr lang="es-ES" sz="2800" dirty="0"/>
            </a:br>
            <a:br>
              <a:rPr lang="es-ES" sz="2800" dirty="0"/>
            </a:br>
            <a:r>
              <a:rPr lang="es-ES" sz="2800" dirty="0"/>
              <a:t> </a:t>
            </a:r>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pic>
        <p:nvPicPr>
          <p:cNvPr id="6" name="Imagen 5">
            <a:extLst>
              <a:ext uri="{FF2B5EF4-FFF2-40B4-BE49-F238E27FC236}">
                <a16:creationId xmlns:a16="http://schemas.microsoft.com/office/drawing/2014/main" id="{6155330E-1023-1B60-C0F3-B6FA656C7D7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0000"/>
                    </a14:imgEffect>
                  </a14:imgLayer>
                </a14:imgProps>
              </a:ext>
            </a:extLst>
          </a:blip>
          <a:stretch>
            <a:fillRect/>
          </a:stretch>
        </p:blipFill>
        <p:spPr>
          <a:xfrm>
            <a:off x="10845696" y="3950007"/>
            <a:ext cx="8610600" cy="1316408"/>
          </a:xfrm>
          <a:prstGeom prst="rect">
            <a:avLst/>
          </a:prstGeom>
        </p:spPr>
      </p:pic>
    </p:spTree>
    <p:extLst>
      <p:ext uri="{BB962C8B-B14F-4D97-AF65-F5344CB8AC3E}">
        <p14:creationId xmlns:p14="http://schemas.microsoft.com/office/powerpoint/2010/main" val="754212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INTRÍNSECA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610600" cy="6555641"/>
          </a:xfrm>
          <a:prstGeom prst="rect">
            <a:avLst/>
          </a:prstGeom>
          <a:noFill/>
        </p:spPr>
        <p:txBody>
          <a:bodyPr wrap="square" rtlCol="0">
            <a:spAutoFit/>
          </a:bodyPr>
          <a:lstStyle/>
          <a:p>
            <a:pPr algn="just" rtl="0">
              <a:spcBef>
                <a:spcPts val="0"/>
              </a:spcBef>
              <a:spcAft>
                <a:spcPts val="0"/>
              </a:spcAft>
            </a:pPr>
            <a:r>
              <a:rPr lang="es-ES" sz="2800" dirty="0"/>
              <a:t>Dado que tratar con datos no etiquetados es uno de los principales casos de uso del aprendizaje no supervisado, necesitamos algunas otras métricas que evalúen los resultados de la agrupación sin necesidad de referirse a las etiquetas “verdaderas”.</a:t>
            </a:r>
          </a:p>
          <a:p>
            <a:pPr algn="just" rtl="0">
              <a:spcBef>
                <a:spcPts val="0"/>
              </a:spcBef>
              <a:spcAft>
                <a:spcPts val="0"/>
              </a:spcAft>
            </a:pPr>
            <a:br>
              <a:rPr lang="es-ES" sz="2800" dirty="0"/>
            </a:br>
            <a:r>
              <a:rPr lang="es-ES" sz="2800" dirty="0"/>
              <a:t>La mayor parte de la literatura relacionada con la validación interna para el aprendizaje de clúster gira en torno a los siguientes dos tipos de métricas:</a:t>
            </a:r>
          </a:p>
          <a:p>
            <a:pPr marL="457200" indent="-457200" algn="just" rtl="0" fontAlgn="base">
              <a:spcBef>
                <a:spcPts val="0"/>
              </a:spcBef>
              <a:spcAft>
                <a:spcPts val="0"/>
              </a:spcAft>
              <a:buFont typeface="Wingdings" panose="05000000000000000000" pitchFamily="2" charset="2"/>
              <a:buChar char="q"/>
            </a:pPr>
            <a:endParaRPr lang="es-ES" sz="2800" dirty="0"/>
          </a:p>
          <a:p>
            <a:pPr marL="457200" indent="-457200" algn="just" rtl="0" fontAlgn="base">
              <a:spcBef>
                <a:spcPts val="0"/>
              </a:spcBef>
              <a:spcAft>
                <a:spcPts val="0"/>
              </a:spcAft>
              <a:buFont typeface="Wingdings" panose="05000000000000000000" pitchFamily="2" charset="2"/>
              <a:buChar char="§"/>
            </a:pPr>
            <a:r>
              <a:rPr lang="es-ES" sz="2800" dirty="0"/>
              <a:t>La cohesión dentro de cada clúster.</a:t>
            </a:r>
          </a:p>
          <a:p>
            <a:pPr marL="457200" indent="-457200">
              <a:buFont typeface="Wingdings" panose="05000000000000000000" pitchFamily="2" charset="2"/>
              <a:buChar char="§"/>
            </a:pPr>
            <a:r>
              <a:rPr lang="es-ES" sz="2800" dirty="0"/>
              <a:t>Separación entre los distintos clúster.</a:t>
            </a:r>
            <a:br>
              <a:rPr lang="es-ES" sz="2800" dirty="0"/>
            </a:br>
            <a:br>
              <a:rPr lang="es-ES" sz="2800" dirty="0"/>
            </a:br>
            <a:br>
              <a:rPr lang="es-ES" sz="2800" dirty="0"/>
            </a:br>
            <a:r>
              <a:rPr lang="es-ES" sz="2800" dirty="0"/>
              <a:t> </a:t>
            </a:r>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pic>
        <p:nvPicPr>
          <p:cNvPr id="4" name="Imagen 3">
            <a:extLst>
              <a:ext uri="{FF2B5EF4-FFF2-40B4-BE49-F238E27FC236}">
                <a16:creationId xmlns:a16="http://schemas.microsoft.com/office/drawing/2014/main" id="{6585ABAD-083D-8E2A-A760-B24265733F0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12204699" y="2530475"/>
            <a:ext cx="6096000" cy="5943600"/>
          </a:xfrm>
          <a:prstGeom prst="rect">
            <a:avLst/>
          </a:prstGeom>
        </p:spPr>
      </p:pic>
    </p:spTree>
    <p:extLst>
      <p:ext uri="{BB962C8B-B14F-4D97-AF65-F5344CB8AC3E}">
        <p14:creationId xmlns:p14="http://schemas.microsoft.com/office/powerpoint/2010/main" val="329382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INTRÍNSECA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9372600" cy="7848302"/>
          </a:xfrm>
          <a:prstGeom prst="rect">
            <a:avLst/>
          </a:prstGeom>
          <a:noFill/>
        </p:spPr>
        <p:txBody>
          <a:bodyPr wrap="square" rtlCol="0">
            <a:spAutoFit/>
          </a:bodyPr>
          <a:lstStyle/>
          <a:p>
            <a:pPr algn="just" rtl="0"/>
            <a:r>
              <a:rPr lang="es-ES" sz="2800" b="1" dirty="0"/>
              <a:t>INDICE DE SILHOUETTE.</a:t>
            </a:r>
          </a:p>
          <a:p>
            <a:pPr algn="just" rtl="0"/>
            <a:br>
              <a:rPr lang="es-ES" sz="2800" dirty="0"/>
            </a:br>
            <a:r>
              <a:rPr lang="es-ES" sz="2800" dirty="0"/>
              <a:t>La puntuación de silueta intenta </a:t>
            </a:r>
            <a:r>
              <a:rPr lang="es-ES" sz="2800" dirty="0">
                <a:solidFill>
                  <a:srgbClr val="FF0000"/>
                </a:solidFill>
              </a:rPr>
              <a:t>describir la similitud de un punto de datos con otros puntos de datos de su clúster, en relación con los puntos de datos que no están en su clúster </a:t>
            </a:r>
            <a:r>
              <a:rPr lang="es-ES" sz="2800" dirty="0"/>
              <a:t>(esto se agrega a todos los puntos de datos para obtener la puntuación de un clúster global). </a:t>
            </a:r>
          </a:p>
          <a:p>
            <a:pPr algn="just" rtl="0"/>
            <a:br>
              <a:rPr lang="es-ES" sz="2800" dirty="0"/>
            </a:br>
            <a:r>
              <a:rPr lang="es-ES" sz="2800" dirty="0"/>
              <a:t>En otras palabras, piensa en lo “distintos” que son los clúster en el espacio; de hecho, se podría utilizar cualquier medida de “distancia” para calcular la puntuación.</a:t>
            </a:r>
          </a:p>
          <a:p>
            <a:pPr algn="just" rtl="0"/>
            <a:br>
              <a:rPr lang="es-ES" sz="2800" dirty="0"/>
            </a:br>
            <a:r>
              <a:rPr lang="es-ES" sz="2800" dirty="0">
                <a:solidFill>
                  <a:srgbClr val="FF0000"/>
                </a:solidFill>
              </a:rPr>
              <a:t>Está limitada entre -1 y 1</a:t>
            </a:r>
            <a:r>
              <a:rPr lang="es-ES" sz="2800" dirty="0"/>
              <a:t>. </a:t>
            </a:r>
          </a:p>
          <a:p>
            <a:pPr algn="just" rtl="0"/>
            <a:br>
              <a:rPr lang="es-ES" sz="2800" dirty="0"/>
            </a:br>
            <a:r>
              <a:rPr lang="es-ES" sz="2800" dirty="0"/>
              <a:t>Más cerca de -1 sugiere una agrupación incorrecta, mientras que más cerca de +1 muestra que cada </a:t>
            </a:r>
            <a:r>
              <a:rPr lang="es-ES" sz="2800" dirty="0" err="1"/>
              <a:t>cluster</a:t>
            </a:r>
            <a:r>
              <a:rPr lang="es-ES" sz="2800" dirty="0"/>
              <a:t> es muy denso. </a:t>
            </a:r>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pic>
        <p:nvPicPr>
          <p:cNvPr id="6" name="Imagen 5">
            <a:extLst>
              <a:ext uri="{FF2B5EF4-FFF2-40B4-BE49-F238E27FC236}">
                <a16:creationId xmlns:a16="http://schemas.microsoft.com/office/drawing/2014/main" id="{2DEDFD1D-873D-5C74-4674-1A7BDB6C7E2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12414249" y="3054201"/>
            <a:ext cx="7283757" cy="5191274"/>
          </a:xfrm>
          <a:prstGeom prst="rect">
            <a:avLst/>
          </a:prstGeom>
        </p:spPr>
      </p:pic>
    </p:spTree>
    <p:extLst>
      <p:ext uri="{BB962C8B-B14F-4D97-AF65-F5344CB8AC3E}">
        <p14:creationId xmlns:p14="http://schemas.microsoft.com/office/powerpoint/2010/main" val="342047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pPr algn="l"/>
            <a:r>
              <a:rPr lang="es-CL" sz="4800" dirty="0"/>
              <a:t>VALIDACIÓN INTRÍNSECA</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127250" y="2225675"/>
            <a:ext cx="8458200" cy="5693866"/>
          </a:xfrm>
          <a:prstGeom prst="rect">
            <a:avLst/>
          </a:prstGeom>
          <a:noFill/>
        </p:spPr>
        <p:txBody>
          <a:bodyPr wrap="square" rtlCol="0">
            <a:spAutoFit/>
          </a:bodyPr>
          <a:lstStyle/>
          <a:p>
            <a:pPr algn="just" rtl="0"/>
            <a:r>
              <a:rPr lang="es-ES" sz="2800" b="1" dirty="0"/>
              <a:t>INDICE DE CALINSKI HARABAZ.</a:t>
            </a:r>
          </a:p>
          <a:p>
            <a:pPr algn="just" rtl="0"/>
            <a:endParaRPr lang="es-ES" sz="2800" dirty="0"/>
          </a:p>
          <a:p>
            <a:pPr algn="just"/>
            <a:r>
              <a:rPr lang="es-ES" sz="2800" dirty="0"/>
              <a:t>El índice de </a:t>
            </a:r>
            <a:r>
              <a:rPr lang="es-ES" sz="2800" dirty="0" err="1"/>
              <a:t>Calinski</a:t>
            </a:r>
            <a:r>
              <a:rPr lang="es-ES" sz="2800" dirty="0"/>
              <a:t> </a:t>
            </a:r>
            <a:r>
              <a:rPr lang="es-ES" sz="2800" dirty="0" err="1"/>
              <a:t>Harabaz</a:t>
            </a:r>
            <a:r>
              <a:rPr lang="es-ES" sz="2800" dirty="0"/>
              <a:t> es </a:t>
            </a:r>
            <a:r>
              <a:rPr lang="es-ES" sz="2800" dirty="0">
                <a:solidFill>
                  <a:srgbClr val="FF0000"/>
                </a:solidFill>
              </a:rPr>
              <a:t>la relación entre la varianza de un punto de datos comparado con los puntos de otros </a:t>
            </a:r>
            <a:r>
              <a:rPr lang="es-ES" sz="2800" dirty="0" err="1">
                <a:solidFill>
                  <a:srgbClr val="FF0000"/>
                </a:solidFill>
              </a:rPr>
              <a:t>clusters</a:t>
            </a:r>
            <a:r>
              <a:rPr lang="es-ES" sz="2800" dirty="0">
                <a:solidFill>
                  <a:srgbClr val="FF0000"/>
                </a:solidFill>
              </a:rPr>
              <a:t>, frente a la varianza comparada con los puntos de su </a:t>
            </a:r>
            <a:r>
              <a:rPr lang="es-ES" sz="2800" dirty="0" err="1">
                <a:solidFill>
                  <a:srgbClr val="FF0000"/>
                </a:solidFill>
              </a:rPr>
              <a:t>cluster</a:t>
            </a:r>
            <a:r>
              <a:rPr lang="es-ES" sz="2800" dirty="0"/>
              <a:t>.</a:t>
            </a:r>
          </a:p>
          <a:p>
            <a:pPr algn="just"/>
            <a:endParaRPr lang="es-ES" sz="2800" dirty="0"/>
          </a:p>
          <a:p>
            <a:pPr algn="just"/>
            <a:r>
              <a:rPr lang="es-ES" sz="2800" dirty="0"/>
              <a:t>Como queremos que esta primera parte sea alta y la segunda baja, es deseable un índice CH alto. </a:t>
            </a:r>
          </a:p>
          <a:p>
            <a:pPr algn="just"/>
            <a:endParaRPr lang="es-ES" sz="2800" dirty="0"/>
          </a:p>
          <a:p>
            <a:pPr algn="just"/>
            <a:r>
              <a:rPr lang="es-ES" sz="2800" dirty="0"/>
              <a:t>A diferencia de otras métricas que hemos visto, </a:t>
            </a:r>
            <a:r>
              <a:rPr lang="es-ES" sz="2800" dirty="0">
                <a:solidFill>
                  <a:srgbClr val="FF0000"/>
                </a:solidFill>
              </a:rPr>
              <a:t>esta puntuación no está acotada</a:t>
            </a:r>
            <a:r>
              <a:rPr lang="es-ES" sz="2800" dirty="0"/>
              <a:t>.</a:t>
            </a:r>
          </a:p>
          <a:p>
            <a:pPr algn="just" rtl="0"/>
            <a:endParaRPr lang="es-ES" sz="2800" dirty="0"/>
          </a:p>
        </p:txBody>
      </p:sp>
      <p:sp>
        <p:nvSpPr>
          <p:cNvPr id="7" name="CuadroTexto 6">
            <a:extLst>
              <a:ext uri="{FF2B5EF4-FFF2-40B4-BE49-F238E27FC236}">
                <a16:creationId xmlns:a16="http://schemas.microsoft.com/office/drawing/2014/main" id="{923CA01E-7B52-100B-A5AC-2E355B33C544}"/>
              </a:ext>
            </a:extLst>
          </p:cNvPr>
          <p:cNvSpPr txBox="1"/>
          <p:nvPr/>
        </p:nvSpPr>
        <p:spPr>
          <a:xfrm>
            <a:off x="2154767" y="10133091"/>
            <a:ext cx="10049932" cy="923330"/>
          </a:xfrm>
          <a:prstGeom prst="rect">
            <a:avLst/>
          </a:prstGeom>
          <a:noFill/>
        </p:spPr>
        <p:txBody>
          <a:bodyPr wrap="square">
            <a:spAutoFit/>
          </a:bodyPr>
          <a:lstStyle/>
          <a:p>
            <a:pPr rtl="0">
              <a:spcBef>
                <a:spcPts val="0"/>
              </a:spcBef>
              <a:spcAft>
                <a:spcPts val="0"/>
              </a:spcAft>
            </a:pPr>
            <a:r>
              <a:rPr lang="es-ES" sz="1800" b="0" i="0" u="none" strike="noStrike" dirty="0">
                <a:solidFill>
                  <a:srgbClr val="000000"/>
                </a:solidFill>
                <a:effectLst/>
                <a:latin typeface="Arial" panose="020B0604020202020204" pitchFamily="34" charset="0"/>
              </a:rPr>
              <a:t>FUENTE: https://www.juanbarrios.com/evaluacion-de-algoritmos-no-supervisados/</a:t>
            </a:r>
            <a:endParaRPr lang="es-ES" b="0" dirty="0">
              <a:effectLst/>
            </a:endParaRPr>
          </a:p>
          <a:p>
            <a:br>
              <a:rPr lang="es-ES" dirty="0"/>
            </a:br>
            <a:endParaRPr lang="es-CL" dirty="0"/>
          </a:p>
        </p:txBody>
      </p:sp>
      <p:pic>
        <p:nvPicPr>
          <p:cNvPr id="4" name="Imagen 3">
            <a:extLst>
              <a:ext uri="{FF2B5EF4-FFF2-40B4-BE49-F238E27FC236}">
                <a16:creationId xmlns:a16="http://schemas.microsoft.com/office/drawing/2014/main" id="{CF8AC52B-7CDA-19B6-184D-CA4B7417277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8000"/>
                    </a14:imgEffect>
                  </a14:imgLayer>
                </a14:imgProps>
              </a:ext>
            </a:extLst>
          </a:blip>
          <a:stretch>
            <a:fillRect/>
          </a:stretch>
        </p:blipFill>
        <p:spPr>
          <a:xfrm>
            <a:off x="11576050" y="3164274"/>
            <a:ext cx="7561621" cy="1752600"/>
          </a:xfrm>
          <a:prstGeom prst="rect">
            <a:avLst/>
          </a:prstGeom>
        </p:spPr>
      </p:pic>
      <p:sp>
        <p:nvSpPr>
          <p:cNvPr id="8" name="CuadroTexto 7">
            <a:extLst>
              <a:ext uri="{FF2B5EF4-FFF2-40B4-BE49-F238E27FC236}">
                <a16:creationId xmlns:a16="http://schemas.microsoft.com/office/drawing/2014/main" id="{F41F9900-F0BC-1DDC-F772-CFE51425FC46}"/>
              </a:ext>
            </a:extLst>
          </p:cNvPr>
          <p:cNvSpPr txBox="1"/>
          <p:nvPr/>
        </p:nvSpPr>
        <p:spPr>
          <a:xfrm>
            <a:off x="12189882" y="5426075"/>
            <a:ext cx="7180621" cy="3693319"/>
          </a:xfrm>
          <a:prstGeom prst="rect">
            <a:avLst/>
          </a:prstGeom>
          <a:noFill/>
        </p:spPr>
        <p:txBody>
          <a:bodyPr wrap="square" rtlCol="0">
            <a:spAutoFit/>
          </a:bodyPr>
          <a:lstStyle/>
          <a:p>
            <a:r>
              <a:rPr lang="es-CL" dirty="0"/>
              <a:t>Donde :</a:t>
            </a:r>
          </a:p>
          <a:p>
            <a:endParaRPr lang="es-CL" dirty="0"/>
          </a:p>
          <a:p>
            <a:r>
              <a:rPr lang="es-ES" dirty="0"/>
              <a:t>BGSS (suma de cuadrados entre conglomerados) es la suma ponderada de distancias euclidianas al cuadrado entre cada centroide de conglomerado (media) y el centroide de datos general (media):</a:t>
            </a:r>
          </a:p>
          <a:p>
            <a:endParaRPr lang="es-ES" dirty="0"/>
          </a:p>
          <a:p>
            <a:r>
              <a:rPr lang="es-ES" b="0" i="0" dirty="0">
                <a:solidFill>
                  <a:srgbClr val="202122"/>
                </a:solidFill>
                <a:effectLst/>
                <a:latin typeface="Arial" panose="020B0604020202020204" pitchFamily="34" charset="0"/>
              </a:rPr>
              <a:t>WGSS (suma de cuadrados dentro del grupo) es la suma de distancias euclidianas al cuadrado entre los puntos de datos y sus respectivos centroides del grupo.</a:t>
            </a:r>
          </a:p>
          <a:p>
            <a:endParaRPr lang="en-US" dirty="0">
              <a:solidFill>
                <a:srgbClr val="202122"/>
              </a:solidFill>
              <a:latin typeface="Arial" panose="020B0604020202020204" pitchFamily="34" charset="0"/>
            </a:endParaRPr>
          </a:p>
          <a:p>
            <a:r>
              <a:rPr lang="en-US" dirty="0">
                <a:solidFill>
                  <a:srgbClr val="202122"/>
                </a:solidFill>
                <a:latin typeface="Arial" panose="020B0604020202020204" pitchFamily="34" charset="0"/>
              </a:rPr>
              <a:t>K : </a:t>
            </a:r>
            <a:r>
              <a:rPr lang="en-US" dirty="0" err="1">
                <a:solidFill>
                  <a:srgbClr val="202122"/>
                </a:solidFill>
                <a:latin typeface="Arial" panose="020B0604020202020204" pitchFamily="34" charset="0"/>
              </a:rPr>
              <a:t>número</a:t>
            </a:r>
            <a:r>
              <a:rPr lang="en-US" dirty="0">
                <a:solidFill>
                  <a:srgbClr val="202122"/>
                </a:solidFill>
                <a:latin typeface="Arial" panose="020B0604020202020204" pitchFamily="34" charset="0"/>
              </a:rPr>
              <a:t> de cluster</a:t>
            </a:r>
          </a:p>
          <a:p>
            <a:r>
              <a:rPr lang="en-US" dirty="0">
                <a:solidFill>
                  <a:srgbClr val="202122"/>
                </a:solidFill>
                <a:latin typeface="Arial" panose="020B0604020202020204" pitchFamily="34" charset="0"/>
              </a:rPr>
              <a:t>N : </a:t>
            </a:r>
            <a:r>
              <a:rPr lang="en-US" dirty="0" err="1">
                <a:solidFill>
                  <a:srgbClr val="202122"/>
                </a:solidFill>
                <a:latin typeface="Arial" panose="020B0604020202020204" pitchFamily="34" charset="0"/>
              </a:rPr>
              <a:t>número</a:t>
            </a:r>
            <a:r>
              <a:rPr lang="en-US" dirty="0">
                <a:solidFill>
                  <a:srgbClr val="202122"/>
                </a:solidFill>
                <a:latin typeface="Arial" panose="020B0604020202020204" pitchFamily="34" charset="0"/>
              </a:rPr>
              <a:t> de puntos </a:t>
            </a:r>
            <a:endParaRPr lang="es-CL" dirty="0"/>
          </a:p>
        </p:txBody>
      </p:sp>
    </p:spTree>
    <p:extLst>
      <p:ext uri="{BB962C8B-B14F-4D97-AF65-F5344CB8AC3E}">
        <p14:creationId xmlns:p14="http://schemas.microsoft.com/office/powerpoint/2010/main" val="3251903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2554545"/>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las métricas de modelos de clúster</a:t>
            </a: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Técnicas para medir clúster</a:t>
            </a: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Métricas para validación extrínseca e intrínseca</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3.xml><?xml version="1.0" encoding="utf-8"?>
<ds:datastoreItem xmlns:ds="http://schemas.openxmlformats.org/officeDocument/2006/customXml" ds:itemID="{64C43652-73DC-4C77-8E79-F06010C18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4948</TotalTime>
  <Words>1420</Words>
  <Application>Microsoft Office PowerPoint</Application>
  <PresentationFormat>Personalizado</PresentationFormat>
  <Paragraphs>141</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Arial Black</vt:lpstr>
      <vt:lpstr>Calibri</vt:lpstr>
      <vt:lpstr>Wingdings</vt:lpstr>
      <vt:lpstr>Office Theme</vt:lpstr>
      <vt:lpstr>EVALUACIÓN MODELOS DE AGRUPAMIENTO</vt:lpstr>
      <vt:lpstr>Presentación de PowerPoint</vt:lpstr>
      <vt:lpstr>INTRODUCCIÓN</vt:lpstr>
      <vt:lpstr>INTRODUCCIÓN</vt:lpstr>
      <vt:lpstr>INTRODUCCIÓN</vt:lpstr>
      <vt:lpstr>TÍTULO</vt:lpstr>
      <vt:lpstr>Presentación de PowerPoint</vt:lpstr>
      <vt:lpstr>Presentación de PowerPoint</vt:lpstr>
      <vt:lpstr>Presentación de PowerPoint</vt:lpstr>
      <vt:lpstr>Presentación de PowerPoint</vt:lpstr>
      <vt:lpstr>VALIDACIÓN EXTRÍNSECA E INTRÍNSECA</vt:lpstr>
      <vt:lpstr>VALIDACIÓN EXTRÍNSECA</vt:lpstr>
      <vt:lpstr>VALIDACIÓN EXTRÍNSECA</vt:lpstr>
      <vt:lpstr>VALIDACIÓN EXTRÍNSECA</vt:lpstr>
      <vt:lpstr>VALIDACIÓN INTRÍNSECA</vt:lpstr>
      <vt:lpstr>VALIDACIÓN INTRÍNSECA</vt:lpstr>
      <vt:lpstr>VALIDACIÓN INTRÍNSECA</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guillermo pinto</cp:lastModifiedBy>
  <cp:revision>259</cp:revision>
  <dcterms:created xsi:type="dcterms:W3CDTF">2022-07-20T19:15:37Z</dcterms:created>
  <dcterms:modified xsi:type="dcterms:W3CDTF">2023-12-06T03:02:30Z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