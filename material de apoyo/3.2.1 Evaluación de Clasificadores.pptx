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61" r:id="rId5"/>
    <p:sldId id="337" r:id="rId6"/>
    <p:sldId id="344" r:id="rId7"/>
    <p:sldId id="339" r:id="rId8"/>
    <p:sldId id="345" r:id="rId9"/>
    <p:sldId id="270" r:id="rId10"/>
    <p:sldId id="340" r:id="rId11"/>
    <p:sldId id="346" r:id="rId12"/>
    <p:sldId id="347" r:id="rId13"/>
    <p:sldId id="327" r:id="rId14"/>
    <p:sldId id="341" r:id="rId15"/>
    <p:sldId id="348" r:id="rId16"/>
    <p:sldId id="349" r:id="rId17"/>
    <p:sldId id="350" r:id="rId18"/>
    <p:sldId id="332" r:id="rId19"/>
    <p:sldId id="342" r:id="rId20"/>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2" autoAdjust="0"/>
    <p:restoredTop sz="94558"/>
  </p:normalViewPr>
  <p:slideViewPr>
    <p:cSldViewPr>
      <p:cViewPr varScale="1">
        <p:scale>
          <a:sx n="62" d="100"/>
          <a:sy n="62" d="100"/>
        </p:scale>
        <p:origin x="5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 Nuñez" userId="ac8a58aecdf78c99" providerId="LiveId" clId="{0586ADB2-4E44-42E8-A24F-B1D29A2ECA4C}"/>
    <pc:docChg chg="modSld sldOrd">
      <pc:chgData name="Isabel Nuñez" userId="ac8a58aecdf78c99" providerId="LiveId" clId="{0586ADB2-4E44-42E8-A24F-B1D29A2ECA4C}" dt="2023-12-11T20:28:59.583" v="1"/>
      <pc:docMkLst>
        <pc:docMk/>
      </pc:docMkLst>
      <pc:sldChg chg="ord">
        <pc:chgData name="Isabel Nuñez" userId="ac8a58aecdf78c99" providerId="LiveId" clId="{0586ADB2-4E44-42E8-A24F-B1D29A2ECA4C}" dt="2023-12-11T20:28:59.583" v="1"/>
        <pc:sldMkLst>
          <pc:docMk/>
          <pc:sldMk cId="3642932644"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11-12-2023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12/11/2023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EVALUACIÓN</a:t>
            </a:r>
            <a:br>
              <a:rPr lang="es-CL" sz="3800" spc="-10" dirty="0"/>
            </a:br>
            <a:r>
              <a:rPr lang="es-CL" sz="3800" spc="-10" dirty="0"/>
              <a:t>DE CLASIFICADORES</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MATRIZ</a:t>
            </a:r>
          </a:p>
          <a:p>
            <a:pPr algn="l"/>
            <a:r>
              <a:rPr lang="es-CL" sz="3000" dirty="0"/>
              <a:t>DE CONFUSIÓN</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MÉTRICAS</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5693866"/>
          </a:xfrm>
          <a:prstGeom prst="rect">
            <a:avLst/>
          </a:prstGeom>
          <a:noFill/>
        </p:spPr>
        <p:txBody>
          <a:bodyPr wrap="square" rtlCol="0">
            <a:spAutoFit/>
          </a:bodyPr>
          <a:lstStyle/>
          <a:p>
            <a:pPr algn="just"/>
            <a:r>
              <a:rPr lang="es-ES" sz="2800" dirty="0"/>
              <a:t>Un modelo de clasificación (clasificador o diagnóstico) es una función que permite decidir </a:t>
            </a:r>
            <a:r>
              <a:rPr lang="es-ES" sz="2800" dirty="0">
                <a:solidFill>
                  <a:srgbClr val="FF0000"/>
                </a:solidFill>
              </a:rPr>
              <a:t>qué elementos de un conjunto de instancias están relacionados o no por pertenecer a un mismo tipo o clase</a:t>
            </a:r>
            <a:r>
              <a:rPr lang="es-ES" sz="2800" dirty="0"/>
              <a:t>. </a:t>
            </a:r>
          </a:p>
          <a:p>
            <a:pPr algn="just"/>
            <a:endParaRPr lang="es-ES" sz="2800" dirty="0"/>
          </a:p>
          <a:p>
            <a:pPr algn="just"/>
            <a:r>
              <a:rPr lang="es-ES" sz="2800" dirty="0"/>
              <a:t>El resultado del clasificador o del diagnóstico puede ser un número real (valor continuo), en cuyo caso el límite del clasificador entre cada clase debe determinarse por un valor umbral (por ejemplo, para determinar si una persona tiene hipertensión basándonos en una medida de presión arterial), o puede ser un resultado discreto que indica directamente una de las clases.</a:t>
            </a:r>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4136069" cy="307777"/>
          </a:xfrm>
          <a:prstGeom prst="rect">
            <a:avLst/>
          </a:prstGeom>
          <a:noFill/>
        </p:spPr>
        <p:txBody>
          <a:bodyPr wrap="none" rtlCol="0">
            <a:spAutoFit/>
          </a:bodyPr>
          <a:lstStyle/>
          <a:p>
            <a:r>
              <a:rPr lang="es-CL" sz="1400" dirty="0"/>
              <a:t>Fuente: https://es.wikipedia.org/wiki/Curva_ROC. </a:t>
            </a:r>
          </a:p>
        </p:txBody>
      </p:sp>
      <p:pic>
        <p:nvPicPr>
          <p:cNvPr id="4" name="Imagen 3">
            <a:extLst>
              <a:ext uri="{FF2B5EF4-FFF2-40B4-BE49-F238E27FC236}">
                <a16:creationId xmlns:a16="http://schemas.microsoft.com/office/drawing/2014/main" id="{789D60A8-4875-D129-3C60-BA7648C95D3E}"/>
              </a:ext>
            </a:extLst>
          </p:cNvPr>
          <p:cNvPicPr>
            <a:picLocks noChangeAspect="1"/>
          </p:cNvPicPr>
          <p:nvPr/>
        </p:nvPicPr>
        <p:blipFill>
          <a:blip r:embed="rId2"/>
          <a:stretch>
            <a:fillRect/>
          </a:stretch>
        </p:blipFill>
        <p:spPr>
          <a:xfrm>
            <a:off x="11743607" y="2835275"/>
            <a:ext cx="8260589" cy="4648200"/>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5693866"/>
          </a:xfrm>
          <a:prstGeom prst="rect">
            <a:avLst/>
          </a:prstGeom>
          <a:noFill/>
        </p:spPr>
        <p:txBody>
          <a:bodyPr wrap="square" rtlCol="0">
            <a:spAutoFit/>
          </a:bodyPr>
          <a:lstStyle/>
          <a:p>
            <a:pPr algn="just"/>
            <a:r>
              <a:rPr lang="es-CL" sz="2800" dirty="0"/>
              <a:t>La técnica denominada análisis ROC (Receiver </a:t>
            </a:r>
            <a:r>
              <a:rPr lang="es-ES" sz="2800" dirty="0" err="1"/>
              <a:t>Operating</a:t>
            </a:r>
            <a:r>
              <a:rPr lang="es-ES" sz="2800" dirty="0"/>
              <a:t> </a:t>
            </a:r>
            <a:r>
              <a:rPr lang="es-ES" sz="2800" dirty="0" err="1"/>
              <a:t>Characteristic</a:t>
            </a:r>
            <a:r>
              <a:rPr lang="es-ES" sz="2800" dirty="0"/>
              <a:t>) provee herramientas que permiten seleccionar el subconjunto de clasificadores que tienen un comportamiento óptimo en general. </a:t>
            </a:r>
          </a:p>
          <a:p>
            <a:pPr algn="l"/>
            <a:endParaRPr lang="es-ES" sz="2800" dirty="0"/>
          </a:p>
          <a:p>
            <a:pPr algn="just"/>
            <a:r>
              <a:rPr lang="es-ES" sz="2800" dirty="0"/>
              <a:t>Asimismo, el análisis ROC permite evaluar clasificadores de manera más independiente y completa que la clásica “</a:t>
            </a:r>
            <a:r>
              <a:rPr lang="es-CL" sz="2800" dirty="0"/>
              <a:t>precisión”.</a:t>
            </a:r>
          </a:p>
          <a:p>
            <a:pPr algn="l"/>
            <a:endParaRPr lang="es-CL" sz="2800" dirty="0"/>
          </a:p>
          <a:p>
            <a:pPr algn="just"/>
            <a:r>
              <a:rPr lang="es-CL" sz="2800" dirty="0"/>
              <a:t>El análisis ROC se utiliza normalmente para problemas de dos clases (se suelen </a:t>
            </a:r>
            <a:r>
              <a:rPr lang="es-ES" sz="2800" dirty="0"/>
              <a:t>denominar clase positiva y clase negativa), y para este tipo de problemas utiliza </a:t>
            </a:r>
            <a:r>
              <a:rPr lang="es-ES" sz="2800" dirty="0">
                <a:solidFill>
                  <a:srgbClr val="FF0000"/>
                </a:solidFill>
              </a:rPr>
              <a:t>la notación de la matriz de confusión</a:t>
            </a:r>
            <a:r>
              <a:rPr lang="es-ES" sz="2800" dirty="0"/>
              <a:t>.</a:t>
            </a:r>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6380273" cy="307777"/>
          </a:xfrm>
          <a:prstGeom prst="rect">
            <a:avLst/>
          </a:prstGeom>
          <a:noFill/>
        </p:spPr>
        <p:txBody>
          <a:bodyPr wrap="none" rtlCol="0">
            <a:spAutoFit/>
          </a:bodyPr>
          <a:lstStyle/>
          <a:p>
            <a:r>
              <a:rPr lang="es-CL" sz="1400" dirty="0"/>
              <a:t>Fuente: Introducción a la Minería de Datos – José </a:t>
            </a:r>
            <a:r>
              <a:rPr lang="es-CL" sz="1400" dirty="0" err="1"/>
              <a:t>Hernandez</a:t>
            </a:r>
            <a:r>
              <a:rPr lang="es-CL" sz="1400" dirty="0"/>
              <a:t> </a:t>
            </a:r>
            <a:r>
              <a:rPr lang="es-CL" sz="1400" dirty="0" err="1"/>
              <a:t>Orallo</a:t>
            </a:r>
            <a:r>
              <a:rPr lang="es-CL" sz="1400" dirty="0"/>
              <a:t> y otros. </a:t>
            </a:r>
          </a:p>
        </p:txBody>
      </p:sp>
      <p:pic>
        <p:nvPicPr>
          <p:cNvPr id="4" name="Imagen 3">
            <a:extLst>
              <a:ext uri="{FF2B5EF4-FFF2-40B4-BE49-F238E27FC236}">
                <a16:creationId xmlns:a16="http://schemas.microsoft.com/office/drawing/2014/main" id="{D892BCCA-6866-66EC-F16D-7B5C90B9B64B}"/>
              </a:ext>
            </a:extLst>
          </p:cNvPr>
          <p:cNvPicPr>
            <a:picLocks noChangeAspect="1"/>
          </p:cNvPicPr>
          <p:nvPr/>
        </p:nvPicPr>
        <p:blipFill>
          <a:blip r:embed="rId2"/>
          <a:stretch>
            <a:fillRect/>
          </a:stretch>
        </p:blipFill>
        <p:spPr>
          <a:xfrm>
            <a:off x="11728450" y="2911475"/>
            <a:ext cx="8134350" cy="4648200"/>
          </a:xfrm>
          <a:prstGeom prst="rect">
            <a:avLst/>
          </a:prstGeom>
        </p:spPr>
      </p:pic>
    </p:spTree>
    <p:extLst>
      <p:ext uri="{BB962C8B-B14F-4D97-AF65-F5344CB8AC3E}">
        <p14:creationId xmlns:p14="http://schemas.microsoft.com/office/powerpoint/2010/main" val="1418620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1477328"/>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MATRIZ </a:t>
            </a:r>
          </a:p>
          <a:p>
            <a:pPr algn="r"/>
            <a:r>
              <a:rPr lang="es-CL" sz="4800" dirty="0"/>
              <a:t>DE CONFUSIÓN</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MATRIZ DE CONFUSIÓN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4832092"/>
          </a:xfrm>
          <a:prstGeom prst="rect">
            <a:avLst/>
          </a:prstGeom>
          <a:noFill/>
        </p:spPr>
        <p:txBody>
          <a:bodyPr wrap="square" rtlCol="0">
            <a:spAutoFit/>
          </a:bodyPr>
          <a:lstStyle/>
          <a:p>
            <a:pPr algn="just" rtl="0">
              <a:spcBef>
                <a:spcPts val="0"/>
              </a:spcBef>
              <a:spcAft>
                <a:spcPts val="0"/>
              </a:spcAft>
            </a:pPr>
            <a:r>
              <a:rPr lang="es-ES" sz="2800" dirty="0"/>
              <a:t>Una vez construido un modelo de aprendizaje automático que nos permita clasificar nuestros datos en base a una “etiqueta” dada, debemos revisar cuan fiable es nuestro resultado.</a:t>
            </a:r>
          </a:p>
          <a:p>
            <a:pPr algn="just" rtl="0">
              <a:spcBef>
                <a:spcPts val="0"/>
              </a:spcBef>
              <a:spcAft>
                <a:spcPts val="0"/>
              </a:spcAft>
            </a:pPr>
            <a:br>
              <a:rPr lang="es-ES" sz="2800" dirty="0"/>
            </a:br>
            <a:r>
              <a:rPr lang="es-ES" sz="2800" dirty="0">
                <a:solidFill>
                  <a:srgbClr val="FF0000"/>
                </a:solidFill>
              </a:rPr>
              <a:t>Esta métrica, además, nos servirá como medida de comparación con otros algoritmos de clasificación</a:t>
            </a:r>
            <a:r>
              <a:rPr lang="es-ES" sz="2800" dirty="0"/>
              <a:t>, si es que no hemos quedado satisfecho con nuestros resultados.</a:t>
            </a:r>
          </a:p>
          <a:p>
            <a:br>
              <a:rPr lang="es-ES" sz="2800" dirty="0"/>
            </a:br>
            <a:endParaRPr lang="es-CL" sz="2800" dirty="0"/>
          </a:p>
        </p:txBody>
      </p:sp>
      <p:pic>
        <p:nvPicPr>
          <p:cNvPr id="1026" name="Picture 2">
            <a:extLst>
              <a:ext uri="{FF2B5EF4-FFF2-40B4-BE49-F238E27FC236}">
                <a16:creationId xmlns:a16="http://schemas.microsoft.com/office/drawing/2014/main" id="{3600818E-7658-7EAA-6E6C-6598DA243A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4450" y="2682875"/>
            <a:ext cx="9388173"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MATRIZ DE CONFUSIÓN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441450" y="1505982"/>
            <a:ext cx="5943600" cy="9140964"/>
          </a:xfrm>
          <a:prstGeom prst="rect">
            <a:avLst/>
          </a:prstGeom>
          <a:noFill/>
        </p:spPr>
        <p:txBody>
          <a:bodyPr wrap="square" rtlCol="0">
            <a:spAutoFit/>
          </a:bodyPr>
          <a:lstStyle/>
          <a:p>
            <a:pPr algn="just" rtl="0">
              <a:spcBef>
                <a:spcPts val="0"/>
              </a:spcBef>
              <a:spcAft>
                <a:spcPts val="0"/>
              </a:spcAft>
            </a:pPr>
            <a:r>
              <a:rPr lang="es-ES" sz="2800" dirty="0"/>
              <a:t>Supongamos que estamos construyendo un modelo de clasificación binaria para clasificar a los pacientes con cáncer y sin cáncer.</a:t>
            </a:r>
          </a:p>
          <a:p>
            <a:pPr algn="just" rtl="0">
              <a:spcBef>
                <a:spcPts val="0"/>
              </a:spcBef>
              <a:spcAft>
                <a:spcPts val="0"/>
              </a:spcAft>
            </a:pPr>
            <a:br>
              <a:rPr lang="es-ES" sz="2800" dirty="0"/>
            </a:br>
            <a:r>
              <a:rPr lang="es-ES" sz="2800" b="1" dirty="0"/>
              <a:t>Verdadero positivo:</a:t>
            </a:r>
          </a:p>
          <a:p>
            <a:pPr algn="just" rtl="0">
              <a:spcBef>
                <a:spcPts val="0"/>
              </a:spcBef>
              <a:spcAft>
                <a:spcPts val="0"/>
              </a:spcAft>
            </a:pPr>
            <a:r>
              <a:rPr lang="es-ES" sz="2800" dirty="0"/>
              <a:t>Esta es la celda que almacena el número de casos positivos debidamente clasificados como positivos. En nuestro ejemplo serían 2 casos (círculo rojo).</a:t>
            </a:r>
          </a:p>
          <a:p>
            <a:pPr algn="just" rtl="0">
              <a:spcBef>
                <a:spcPts val="0"/>
              </a:spcBef>
              <a:spcAft>
                <a:spcPts val="0"/>
              </a:spcAft>
            </a:pPr>
            <a:br>
              <a:rPr lang="es-ES" sz="2800" dirty="0"/>
            </a:br>
            <a:r>
              <a:rPr lang="es-ES" sz="2800" b="1" dirty="0"/>
              <a:t>Falso positivo :</a:t>
            </a:r>
          </a:p>
          <a:p>
            <a:pPr algn="just" rtl="0">
              <a:spcBef>
                <a:spcPts val="0"/>
              </a:spcBef>
              <a:spcAft>
                <a:spcPts val="0"/>
              </a:spcAft>
            </a:pPr>
            <a:r>
              <a:rPr lang="es-ES" sz="2800" dirty="0"/>
              <a:t>Esta es la celda que almacena el número de casos negativos incorrectamente clasificados como positivos. En nuestro ejemplo también serían 2 casos (círculo azul).</a:t>
            </a:r>
          </a:p>
          <a:p>
            <a:endParaRPr lang="es-CL" sz="2800" dirty="0"/>
          </a:p>
        </p:txBody>
      </p:sp>
      <p:pic>
        <p:nvPicPr>
          <p:cNvPr id="2050" name="Picture 2">
            <a:extLst>
              <a:ext uri="{FF2B5EF4-FFF2-40B4-BE49-F238E27FC236}">
                <a16:creationId xmlns:a16="http://schemas.microsoft.com/office/drawing/2014/main" id="{EAA7D730-D5DE-84E0-CD5B-215C55C6F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2250" y="3003182"/>
            <a:ext cx="11763375" cy="5610225"/>
          </a:xfrm>
          <a:prstGeom prst="rect">
            <a:avLst/>
          </a:prstGeom>
          <a:noFill/>
          <a:extLst>
            <a:ext uri="{909E8E84-426E-40DD-AFC4-6F175D3DCCD1}">
              <a14:hiddenFill xmlns:a14="http://schemas.microsoft.com/office/drawing/2010/main">
                <a:solidFill>
                  <a:srgbClr val="FFFFFF"/>
                </a:solidFill>
              </a14:hiddenFill>
            </a:ext>
          </a:extLst>
        </p:spPr>
      </p:pic>
      <p:sp>
        <p:nvSpPr>
          <p:cNvPr id="4" name="Elipse 3">
            <a:extLst>
              <a:ext uri="{FF2B5EF4-FFF2-40B4-BE49-F238E27FC236}">
                <a16:creationId xmlns:a16="http://schemas.microsoft.com/office/drawing/2014/main" id="{B8BDC8DD-174F-B58F-338D-B4B2238B09BD}"/>
              </a:ext>
            </a:extLst>
          </p:cNvPr>
          <p:cNvSpPr/>
          <p:nvPr/>
        </p:nvSpPr>
        <p:spPr>
          <a:xfrm>
            <a:off x="14852650" y="4511675"/>
            <a:ext cx="1447800" cy="1509064"/>
          </a:xfrm>
          <a:prstGeom prst="ellipse">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Elipse 4">
            <a:extLst>
              <a:ext uri="{FF2B5EF4-FFF2-40B4-BE49-F238E27FC236}">
                <a16:creationId xmlns:a16="http://schemas.microsoft.com/office/drawing/2014/main" id="{4B28F6C7-DEB4-14C1-5320-BAB3FCA59F65}"/>
              </a:ext>
            </a:extLst>
          </p:cNvPr>
          <p:cNvSpPr/>
          <p:nvPr/>
        </p:nvSpPr>
        <p:spPr>
          <a:xfrm>
            <a:off x="17519650" y="4511675"/>
            <a:ext cx="1447800" cy="150906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6117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MATRIZ DE CONFUSIÓN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441450" y="1505982"/>
            <a:ext cx="5943600" cy="9140964"/>
          </a:xfrm>
          <a:prstGeom prst="rect">
            <a:avLst/>
          </a:prstGeom>
          <a:noFill/>
        </p:spPr>
        <p:txBody>
          <a:bodyPr wrap="square" rtlCol="0">
            <a:spAutoFit/>
          </a:bodyPr>
          <a:lstStyle/>
          <a:p>
            <a:pPr algn="just" rtl="0">
              <a:spcBef>
                <a:spcPts val="0"/>
              </a:spcBef>
              <a:spcAft>
                <a:spcPts val="0"/>
              </a:spcAft>
            </a:pPr>
            <a:r>
              <a:rPr lang="es-ES" sz="2800" dirty="0"/>
              <a:t>Supongamos que estamos construyendo un modelo de clasificación binaria para clasificar a los pacientes con y sin cáncer.</a:t>
            </a:r>
          </a:p>
          <a:p>
            <a:pPr algn="just" rtl="0">
              <a:spcBef>
                <a:spcPts val="0"/>
              </a:spcBef>
              <a:spcAft>
                <a:spcPts val="0"/>
              </a:spcAft>
            </a:pPr>
            <a:br>
              <a:rPr lang="es-ES" sz="2800" dirty="0"/>
            </a:br>
            <a:r>
              <a:rPr lang="es-ES" sz="2800" b="1" dirty="0"/>
              <a:t>Verdadero Negativo:</a:t>
            </a:r>
          </a:p>
          <a:p>
            <a:pPr algn="just" rtl="0">
              <a:spcBef>
                <a:spcPts val="0"/>
              </a:spcBef>
              <a:spcAft>
                <a:spcPts val="0"/>
              </a:spcAft>
            </a:pPr>
            <a:r>
              <a:rPr lang="es-ES" sz="2800" dirty="0"/>
              <a:t>Esta es la celda que almacena el número de casos negativos debidamente clasificados como negativos. Así, en nuestro ejemplo serían 7 casos (círculo azul).</a:t>
            </a:r>
          </a:p>
          <a:p>
            <a:pPr algn="just" rtl="0">
              <a:spcBef>
                <a:spcPts val="0"/>
              </a:spcBef>
              <a:spcAft>
                <a:spcPts val="0"/>
              </a:spcAft>
            </a:pPr>
            <a:br>
              <a:rPr lang="es-ES" sz="2800" dirty="0"/>
            </a:br>
            <a:r>
              <a:rPr lang="es-ES" sz="2800" b="1" dirty="0"/>
              <a:t>Falso Negativo:</a:t>
            </a:r>
          </a:p>
          <a:p>
            <a:pPr algn="just" rtl="0">
              <a:spcBef>
                <a:spcPts val="0"/>
              </a:spcBef>
              <a:spcAft>
                <a:spcPts val="0"/>
              </a:spcAft>
            </a:pPr>
            <a:r>
              <a:rPr lang="es-ES" sz="2800" dirty="0"/>
              <a:t>Finalmente, esta es la celda que almacena el número de casos positivos clasificados incorrectamente como negativos. En nuestro ejemplo sería 1 caso (círculo rojo).</a:t>
            </a:r>
          </a:p>
          <a:p>
            <a:br>
              <a:rPr lang="es-ES" sz="2800" dirty="0"/>
            </a:br>
            <a:endParaRPr lang="es-CL" sz="2800" dirty="0"/>
          </a:p>
        </p:txBody>
      </p:sp>
      <p:pic>
        <p:nvPicPr>
          <p:cNvPr id="2050" name="Picture 2">
            <a:extLst>
              <a:ext uri="{FF2B5EF4-FFF2-40B4-BE49-F238E27FC236}">
                <a16:creationId xmlns:a16="http://schemas.microsoft.com/office/drawing/2014/main" id="{EAA7D730-D5DE-84E0-CD5B-215C55C6F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2250" y="3003182"/>
            <a:ext cx="11763375" cy="5610225"/>
          </a:xfrm>
          <a:prstGeom prst="rect">
            <a:avLst/>
          </a:prstGeom>
          <a:noFill/>
          <a:extLst>
            <a:ext uri="{909E8E84-426E-40DD-AFC4-6F175D3DCCD1}">
              <a14:hiddenFill xmlns:a14="http://schemas.microsoft.com/office/drawing/2010/main">
                <a:solidFill>
                  <a:srgbClr val="FFFFFF"/>
                </a:solidFill>
              </a14:hiddenFill>
            </a:ext>
          </a:extLst>
        </p:spPr>
      </p:pic>
      <p:sp>
        <p:nvSpPr>
          <p:cNvPr id="4" name="Elipse 3">
            <a:extLst>
              <a:ext uri="{FF2B5EF4-FFF2-40B4-BE49-F238E27FC236}">
                <a16:creationId xmlns:a16="http://schemas.microsoft.com/office/drawing/2014/main" id="{B28BC916-E87E-BC8B-DAC6-44B4C2983613}"/>
              </a:ext>
            </a:extLst>
          </p:cNvPr>
          <p:cNvSpPr/>
          <p:nvPr/>
        </p:nvSpPr>
        <p:spPr>
          <a:xfrm>
            <a:off x="17513300" y="5944628"/>
            <a:ext cx="1447800" cy="1509064"/>
          </a:xfrm>
          <a:prstGeom prst="ellipse">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Elipse 4">
            <a:extLst>
              <a:ext uri="{FF2B5EF4-FFF2-40B4-BE49-F238E27FC236}">
                <a16:creationId xmlns:a16="http://schemas.microsoft.com/office/drawing/2014/main" id="{52D95911-E1ED-C50E-FC92-535FBB045524}"/>
              </a:ext>
            </a:extLst>
          </p:cNvPr>
          <p:cNvSpPr/>
          <p:nvPr/>
        </p:nvSpPr>
        <p:spPr>
          <a:xfrm>
            <a:off x="14928850" y="5944628"/>
            <a:ext cx="1447800" cy="150906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68104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1015663"/>
          </a:xfrm>
        </p:spPr>
        <p:txBody>
          <a:bodyPr/>
          <a:lstStyle/>
          <a:p>
            <a:r>
              <a:rPr lang="es-CL" sz="6600" dirty="0"/>
              <a:t>MÉTRICAS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8279190"/>
          </a:xfrm>
          <a:prstGeom prst="rect">
            <a:avLst/>
          </a:prstGeom>
          <a:noFill/>
        </p:spPr>
        <p:txBody>
          <a:bodyPr wrap="square" rtlCol="0">
            <a:spAutoFit/>
          </a:bodyPr>
          <a:lstStyle/>
          <a:p>
            <a:pPr algn="l"/>
            <a:r>
              <a:rPr lang="es-ES" sz="2800" b="1" dirty="0"/>
              <a:t>ACCURACY</a:t>
            </a:r>
          </a:p>
          <a:p>
            <a:pPr algn="l"/>
            <a:endParaRPr lang="es-ES" sz="2800" dirty="0"/>
          </a:p>
          <a:p>
            <a:pPr algn="just" rtl="0">
              <a:spcBef>
                <a:spcPts val="0"/>
              </a:spcBef>
              <a:spcAft>
                <a:spcPts val="0"/>
              </a:spcAft>
            </a:pPr>
            <a:r>
              <a:rPr lang="es-ES" sz="2800" dirty="0"/>
              <a:t>El ACCURACY es simplemente </a:t>
            </a:r>
            <a:r>
              <a:rPr lang="es-ES" sz="2800" dirty="0">
                <a:solidFill>
                  <a:srgbClr val="FF0000"/>
                </a:solidFill>
              </a:rPr>
              <a:t>la fracción de casos clasificados correctamente</a:t>
            </a:r>
            <a:r>
              <a:rPr lang="es-ES" sz="2800" dirty="0"/>
              <a:t>. </a:t>
            </a:r>
          </a:p>
          <a:p>
            <a:pPr algn="just" rtl="0">
              <a:spcBef>
                <a:spcPts val="0"/>
              </a:spcBef>
              <a:spcAft>
                <a:spcPts val="0"/>
              </a:spcAft>
            </a:pPr>
            <a:br>
              <a:rPr lang="es-ES" sz="2800" dirty="0"/>
            </a:br>
            <a:r>
              <a:rPr lang="es-ES" sz="2800" dirty="0"/>
              <a:t>Por ejemplo, si nuestro modelo, clasifica correctamente 2 casos con cáncer y 7 casos sin cáncer:</a:t>
            </a:r>
          </a:p>
          <a:p>
            <a:pPr algn="just" rtl="0">
              <a:spcBef>
                <a:spcPts val="0"/>
              </a:spcBef>
              <a:spcAft>
                <a:spcPts val="0"/>
              </a:spcAft>
            </a:pPr>
            <a:br>
              <a:rPr lang="es-ES" sz="2800" dirty="0"/>
            </a:br>
            <a:r>
              <a:rPr lang="es-ES" sz="2800" dirty="0"/>
              <a:t>TP=2, FN=1, TN=7, FP=2.</a:t>
            </a:r>
          </a:p>
          <a:p>
            <a:pPr algn="just" rtl="0">
              <a:spcBef>
                <a:spcPts val="0"/>
              </a:spcBef>
              <a:spcAft>
                <a:spcPts val="0"/>
              </a:spcAft>
            </a:pPr>
            <a:br>
              <a:rPr lang="es-ES" sz="2800" dirty="0"/>
            </a:br>
            <a:r>
              <a:rPr lang="es-ES" sz="2800" dirty="0"/>
              <a:t>Esto significa que nuestro modelo tiene una precisión del 75%.</a:t>
            </a:r>
          </a:p>
          <a:p>
            <a:pPr algn="just" rtl="0">
              <a:spcBef>
                <a:spcPts val="0"/>
              </a:spcBef>
              <a:spcAft>
                <a:spcPts val="0"/>
              </a:spcAft>
            </a:pPr>
            <a:br>
              <a:rPr lang="es-ES" sz="2800" dirty="0"/>
            </a:br>
            <a:r>
              <a:rPr lang="es-ES" sz="2800" dirty="0" err="1"/>
              <a:t>Accuracy</a:t>
            </a:r>
            <a:r>
              <a:rPr lang="es-ES" sz="2800" dirty="0"/>
              <a:t> = (TP + TN) / (TP + TN + FP + FN)</a:t>
            </a:r>
          </a:p>
          <a:p>
            <a:pPr rtl="0">
              <a:spcBef>
                <a:spcPts val="0"/>
              </a:spcBef>
              <a:spcAft>
                <a:spcPts val="0"/>
              </a:spcAft>
            </a:pPr>
            <a:br>
              <a:rPr lang="es-ES" sz="2800" dirty="0"/>
            </a:br>
            <a:r>
              <a:rPr lang="es-ES" sz="2800" dirty="0" err="1"/>
              <a:t>Accuracy</a:t>
            </a:r>
            <a:r>
              <a:rPr lang="es-ES" sz="2800" dirty="0"/>
              <a:t> = (2+ 7) / (2 + 2 + 1 + 7) = 75%</a:t>
            </a:r>
          </a:p>
          <a:p>
            <a:br>
              <a:rPr lang="es-ES" sz="2800" dirty="0"/>
            </a:br>
            <a:endParaRPr lang="es-ES" sz="2800" dirty="0"/>
          </a:p>
        </p:txBody>
      </p:sp>
      <p:pic>
        <p:nvPicPr>
          <p:cNvPr id="3074" name="Picture 2">
            <a:extLst>
              <a:ext uri="{FF2B5EF4-FFF2-40B4-BE49-F238E27FC236}">
                <a16:creationId xmlns:a16="http://schemas.microsoft.com/office/drawing/2014/main" id="{33C41975-442B-2692-3C94-FB67C85EC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2249" y="2759075"/>
            <a:ext cx="7399403"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1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7848302"/>
          </a:xfrm>
          <a:prstGeom prst="rect">
            <a:avLst/>
          </a:prstGeom>
          <a:noFill/>
        </p:spPr>
        <p:txBody>
          <a:bodyPr wrap="square" rtlCol="0">
            <a:spAutoFit/>
          </a:bodyPr>
          <a:lstStyle/>
          <a:p>
            <a:pPr algn="l"/>
            <a:r>
              <a:rPr lang="es-ES" sz="2800" b="1" dirty="0"/>
              <a:t>RECALL o SENSIBILIDAD</a:t>
            </a:r>
          </a:p>
          <a:p>
            <a:pPr algn="just" rtl="0">
              <a:spcBef>
                <a:spcPts val="0"/>
              </a:spcBef>
              <a:spcAft>
                <a:spcPts val="0"/>
              </a:spcAft>
            </a:pPr>
            <a:endParaRPr lang="es-ES" sz="2800" dirty="0"/>
          </a:p>
          <a:p>
            <a:pPr algn="just" rtl="0">
              <a:spcBef>
                <a:spcPts val="0"/>
              </a:spcBef>
              <a:spcAft>
                <a:spcPts val="0"/>
              </a:spcAft>
            </a:pPr>
            <a:r>
              <a:rPr lang="es-ES" sz="2800" dirty="0"/>
              <a:t>El RECALL es simplemente </a:t>
            </a:r>
            <a:r>
              <a:rPr lang="es-ES" sz="2800" dirty="0">
                <a:solidFill>
                  <a:srgbClr val="FF0000"/>
                </a:solidFill>
              </a:rPr>
              <a:t>la fracción de casos positivos clasificados correctamente del número total de casos positivos reales en el conjunto de datos</a:t>
            </a:r>
            <a:r>
              <a:rPr lang="es-ES" sz="2800" dirty="0"/>
              <a:t>. </a:t>
            </a:r>
          </a:p>
          <a:p>
            <a:pPr algn="just" rtl="0">
              <a:spcBef>
                <a:spcPts val="0"/>
              </a:spcBef>
              <a:spcAft>
                <a:spcPts val="0"/>
              </a:spcAft>
            </a:pPr>
            <a:br>
              <a:rPr lang="es-ES" sz="2800" dirty="0"/>
            </a:br>
            <a:r>
              <a:rPr lang="es-ES" sz="2800" dirty="0"/>
              <a:t>Por ejemplo, si hay 3  casos de cáncer positivos reales o verdaderos y nuestro modelo clasifica correctamente 3 como con cáncer (TP), eso significa que 1 se clasifica incorrectamente como sin cáncer (FN). </a:t>
            </a:r>
          </a:p>
          <a:p>
            <a:pPr algn="just" rtl="0">
              <a:spcBef>
                <a:spcPts val="0"/>
              </a:spcBef>
              <a:spcAft>
                <a:spcPts val="0"/>
              </a:spcAft>
            </a:pPr>
            <a:br>
              <a:rPr lang="es-ES" sz="2800" dirty="0"/>
            </a:br>
            <a:r>
              <a:rPr lang="es-ES" sz="2800" dirty="0"/>
              <a:t>Si nuestro modelo también clasifica correctamente 7 de 9 sin cáncer (TN), esto significa que 2 sin cáncer están mal clasificados (FP).</a:t>
            </a:r>
          </a:p>
          <a:p>
            <a:endParaRPr lang="es-ES" sz="2800" dirty="0"/>
          </a:p>
          <a:p>
            <a:r>
              <a:rPr lang="en-US" sz="2800" dirty="0"/>
              <a:t>RECALL = TP / (TP + FN) = 2 / (2 + 1) = 66% </a:t>
            </a:r>
            <a:br>
              <a:rPr lang="es-ES" sz="2800" dirty="0"/>
            </a:br>
            <a:endParaRPr lang="es-ES" sz="2800" dirty="0"/>
          </a:p>
        </p:txBody>
      </p:sp>
      <p:pic>
        <p:nvPicPr>
          <p:cNvPr id="3074" name="Picture 2">
            <a:extLst>
              <a:ext uri="{FF2B5EF4-FFF2-40B4-BE49-F238E27FC236}">
                <a16:creationId xmlns:a16="http://schemas.microsoft.com/office/drawing/2014/main" id="{33C41975-442B-2692-3C94-FB67C85EC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2249" y="2759075"/>
            <a:ext cx="7399403"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519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7848302"/>
          </a:xfrm>
          <a:prstGeom prst="rect">
            <a:avLst/>
          </a:prstGeom>
          <a:noFill/>
        </p:spPr>
        <p:txBody>
          <a:bodyPr wrap="square" rtlCol="0">
            <a:spAutoFit/>
          </a:bodyPr>
          <a:lstStyle/>
          <a:p>
            <a:pPr algn="l"/>
            <a:r>
              <a:rPr lang="es-ES" sz="2800" b="1" dirty="0"/>
              <a:t>F1 SCORE</a:t>
            </a:r>
          </a:p>
          <a:p>
            <a:pPr algn="l"/>
            <a:endParaRPr lang="es-ES" sz="2800" b="1" dirty="0"/>
          </a:p>
          <a:p>
            <a:pPr algn="just"/>
            <a:r>
              <a:rPr lang="es-ES" sz="2800" dirty="0"/>
              <a:t>Por lo general, los puntajes de precisión y recuperación se combinan en una sola métrica que nos dice de inmediato qué tan bien está funcionando nuestro modelo. </a:t>
            </a:r>
          </a:p>
          <a:p>
            <a:pPr algn="just" rtl="0">
              <a:spcBef>
                <a:spcPts val="0"/>
              </a:spcBef>
              <a:spcAft>
                <a:spcPts val="0"/>
              </a:spcAft>
            </a:pPr>
            <a:br>
              <a:rPr lang="es-ES" sz="2800" dirty="0"/>
            </a:br>
            <a:r>
              <a:rPr lang="es-ES" sz="2800" dirty="0"/>
              <a:t>La puntuación F1 (</a:t>
            </a:r>
            <a:r>
              <a:rPr lang="es-ES" sz="2800" dirty="0">
                <a:solidFill>
                  <a:srgbClr val="FF0000"/>
                </a:solidFill>
              </a:rPr>
              <a:t>la media armónica ponderada de </a:t>
            </a:r>
            <a:r>
              <a:rPr lang="es-ES" sz="2800" dirty="0" err="1">
                <a:solidFill>
                  <a:srgbClr val="FF0000"/>
                </a:solidFill>
              </a:rPr>
              <a:t>precision</a:t>
            </a:r>
            <a:r>
              <a:rPr lang="es-ES" sz="2800" dirty="0">
                <a:solidFill>
                  <a:srgbClr val="FF0000"/>
                </a:solidFill>
              </a:rPr>
              <a:t> y </a:t>
            </a:r>
            <a:r>
              <a:rPr lang="es-ES" sz="2800" dirty="0" err="1">
                <a:solidFill>
                  <a:srgbClr val="FF0000"/>
                </a:solidFill>
              </a:rPr>
              <a:t>recall</a:t>
            </a:r>
            <a:r>
              <a:rPr lang="es-ES" sz="2800" dirty="0"/>
              <a:t>) es una de esas métricas.</a:t>
            </a:r>
          </a:p>
          <a:p>
            <a:pPr algn="just" rtl="0">
              <a:spcBef>
                <a:spcPts val="0"/>
              </a:spcBef>
              <a:spcAft>
                <a:spcPts val="0"/>
              </a:spcAft>
            </a:pPr>
            <a:br>
              <a:rPr lang="es-ES" sz="2800" dirty="0"/>
            </a:br>
            <a:r>
              <a:rPr lang="es-ES" sz="2800" dirty="0"/>
              <a:t>Un puntaje F1 perfecto es 1.0 o 100%. </a:t>
            </a:r>
          </a:p>
          <a:p>
            <a:pPr algn="just" rtl="0">
              <a:spcBef>
                <a:spcPts val="0"/>
              </a:spcBef>
              <a:spcAft>
                <a:spcPts val="0"/>
              </a:spcAft>
            </a:pPr>
            <a:br>
              <a:rPr lang="es-ES" sz="2800" dirty="0"/>
            </a:br>
            <a:r>
              <a:rPr lang="es-ES" sz="2800" dirty="0"/>
              <a:t>Cuanto más cerca esté de 1.0, mejor será el modelo.</a:t>
            </a:r>
          </a:p>
          <a:p>
            <a:pPr algn="just" rtl="0">
              <a:spcBef>
                <a:spcPts val="0"/>
              </a:spcBef>
              <a:spcAft>
                <a:spcPts val="0"/>
              </a:spcAft>
            </a:pPr>
            <a:br>
              <a:rPr lang="es-ES" sz="2800" dirty="0"/>
            </a:br>
            <a:r>
              <a:rPr lang="es-ES" sz="2800" dirty="0"/>
              <a:t>De los ejemplos anteriores, llegamos a una PRECISION de 0,5 y un RECALL de 0,66.</a:t>
            </a:r>
          </a:p>
          <a:p>
            <a:pPr algn="just" rtl="0">
              <a:spcBef>
                <a:spcPts val="0"/>
              </a:spcBef>
              <a:spcAft>
                <a:spcPts val="0"/>
              </a:spcAft>
            </a:pPr>
            <a:endParaRPr lang="es-ES" sz="2800" dirty="0"/>
          </a:p>
          <a:p>
            <a:pPr algn="just" rtl="0">
              <a:spcBef>
                <a:spcPts val="0"/>
              </a:spcBef>
              <a:spcAft>
                <a:spcPts val="0"/>
              </a:spcAft>
            </a:pPr>
            <a:r>
              <a:rPr lang="es-CL" sz="2800" dirty="0"/>
              <a:t>F1 SCORE = 2 *((0,5*0,66)/(0,5+0,66))  = 57% </a:t>
            </a:r>
            <a:endParaRPr lang="es-ES" sz="2800" dirty="0"/>
          </a:p>
        </p:txBody>
      </p:sp>
      <p:pic>
        <p:nvPicPr>
          <p:cNvPr id="5122" name="Picture 2">
            <a:extLst>
              <a:ext uri="{FF2B5EF4-FFF2-40B4-BE49-F238E27FC236}">
                <a16:creationId xmlns:a16="http://schemas.microsoft.com/office/drawing/2014/main" id="{453D7383-B12B-6F10-258A-8C8B1ECFD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3250" y="4221692"/>
            <a:ext cx="6257925"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796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8279190"/>
          </a:xfrm>
          <a:prstGeom prst="rect">
            <a:avLst/>
          </a:prstGeom>
          <a:noFill/>
        </p:spPr>
        <p:txBody>
          <a:bodyPr wrap="square" rtlCol="0">
            <a:spAutoFit/>
          </a:bodyPr>
          <a:lstStyle/>
          <a:p>
            <a:pPr algn="l"/>
            <a:r>
              <a:rPr lang="es-ES" sz="2800" b="1" dirty="0"/>
              <a:t>CURVA ROC </a:t>
            </a:r>
          </a:p>
          <a:p>
            <a:pPr algn="just"/>
            <a:endParaRPr lang="es-ES" sz="2800" b="1" dirty="0"/>
          </a:p>
          <a:p>
            <a:pPr algn="just"/>
            <a:r>
              <a:rPr lang="es-ES" sz="2800" dirty="0"/>
              <a:t>La curva ROC representa cómo </a:t>
            </a:r>
            <a:r>
              <a:rPr lang="es-ES" sz="2800" dirty="0">
                <a:solidFill>
                  <a:srgbClr val="FF0000"/>
                </a:solidFill>
              </a:rPr>
              <a:t>cambia la tasa de verdaderos positivos frente a la tasa de falsos positivos</a:t>
            </a:r>
            <a:r>
              <a:rPr lang="es-ES" sz="2800" dirty="0"/>
              <a:t> a medida que se ajusta el umbral de decisión del clasificador. </a:t>
            </a:r>
          </a:p>
          <a:p>
            <a:pPr algn="l"/>
            <a:endParaRPr lang="es-ES" sz="2800" dirty="0"/>
          </a:p>
          <a:p>
            <a:pPr algn="just"/>
            <a:r>
              <a:rPr lang="es-ES" sz="2800" dirty="0"/>
              <a:t>Cada punto en la curva ROC corresponde a un umbral de decisión diferente.</a:t>
            </a:r>
          </a:p>
          <a:p>
            <a:pPr algn="l"/>
            <a:endParaRPr lang="es-ES" sz="2800" dirty="0"/>
          </a:p>
          <a:p>
            <a:pPr algn="just"/>
            <a:r>
              <a:rPr lang="es-ES" sz="2800" dirty="0"/>
              <a:t>Una curva ROC ideal se acercaría al rincón superior izquierdo del gráfico, lo que indicaría una alta sensibilidad y una baja tasa de falsos positivos. </a:t>
            </a:r>
          </a:p>
          <a:p>
            <a:pPr algn="l"/>
            <a:endParaRPr lang="es-ES" sz="2800" dirty="0"/>
          </a:p>
          <a:p>
            <a:pPr algn="just"/>
            <a:r>
              <a:rPr lang="es-ES" sz="2800" dirty="0"/>
              <a:t>Un área bajo la curva ROC (AUC-ROC) </a:t>
            </a:r>
            <a:r>
              <a:rPr lang="es-ES" sz="2800" dirty="0">
                <a:solidFill>
                  <a:srgbClr val="FF0000"/>
                </a:solidFill>
              </a:rPr>
              <a:t>cercana a 1.0 indica un buen rendimiento del clasificador, mientras que un valor cercano a 0.5 sugiere un rendimiento similar al azar</a:t>
            </a:r>
            <a:r>
              <a:rPr lang="es-ES" sz="2800" dirty="0"/>
              <a:t>.</a:t>
            </a:r>
          </a:p>
          <a:p>
            <a:pPr algn="just"/>
            <a:endParaRPr lang="es-ES" sz="2800" dirty="0"/>
          </a:p>
        </p:txBody>
      </p:sp>
      <p:pic>
        <p:nvPicPr>
          <p:cNvPr id="3" name="Imagen 2">
            <a:extLst>
              <a:ext uri="{FF2B5EF4-FFF2-40B4-BE49-F238E27FC236}">
                <a16:creationId xmlns:a16="http://schemas.microsoft.com/office/drawing/2014/main" id="{BB127B9E-0418-8C28-0D55-37B4023771E6}"/>
              </a:ext>
            </a:extLst>
          </p:cNvPr>
          <p:cNvPicPr>
            <a:picLocks noChangeAspect="1"/>
          </p:cNvPicPr>
          <p:nvPr/>
        </p:nvPicPr>
        <p:blipFill>
          <a:blip r:embed="rId2"/>
          <a:stretch>
            <a:fillRect/>
          </a:stretch>
        </p:blipFill>
        <p:spPr>
          <a:xfrm>
            <a:off x="11279614" y="2225675"/>
            <a:ext cx="8159749" cy="6119812"/>
          </a:xfrm>
          <a:prstGeom prst="rect">
            <a:avLst/>
          </a:prstGeom>
        </p:spPr>
      </p:pic>
    </p:spTree>
    <p:extLst>
      <p:ext uri="{BB962C8B-B14F-4D97-AF65-F5344CB8AC3E}">
        <p14:creationId xmlns:p14="http://schemas.microsoft.com/office/powerpoint/2010/main" val="3404284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2554545"/>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las métricas de modelos de clasificación</a:t>
            </a: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La matriz de Confusión</a:t>
            </a: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Métricas aplicadas a modelos de clasificación</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2.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3.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4572</TotalTime>
  <Words>936</Words>
  <Application>Microsoft Office PowerPoint</Application>
  <PresentationFormat>Personalizado</PresentationFormat>
  <Paragraphs>95</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Arial Black</vt:lpstr>
      <vt:lpstr>Calibri</vt:lpstr>
      <vt:lpstr>Wingdings</vt:lpstr>
      <vt:lpstr>Office Theme</vt:lpstr>
      <vt:lpstr>EVALUACIÓN DE CLASIFICADORES</vt:lpstr>
      <vt:lpstr>Presentación de PowerPoint</vt:lpstr>
      <vt:lpstr>INTRODUCCIÓN</vt:lpstr>
      <vt:lpstr>INTRODUCCIÓN</vt:lpstr>
      <vt:lpstr>INTRODUCCIÓN</vt:lpstr>
      <vt:lpstr>TÍTULO</vt:lpstr>
      <vt:lpstr>Presentación de PowerPoint</vt:lpstr>
      <vt:lpstr>Presentación de PowerPoint</vt:lpstr>
      <vt:lpstr>Presentación de PowerPoint</vt:lpstr>
      <vt:lpstr>MÉTRICAS</vt:lpstr>
      <vt:lpstr>MÉTRICAS</vt:lpstr>
      <vt:lpstr>MÉTRICAS</vt:lpstr>
      <vt:lpstr>MÉTRICAS</vt:lpstr>
      <vt:lpstr>MÉTRICAS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Isabel Nuñez</cp:lastModifiedBy>
  <cp:revision>245</cp:revision>
  <dcterms:created xsi:type="dcterms:W3CDTF">2022-07-20T19:15:37Z</dcterms:created>
  <dcterms:modified xsi:type="dcterms:W3CDTF">2023-12-11T20:29:06Z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