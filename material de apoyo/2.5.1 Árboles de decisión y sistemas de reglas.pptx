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2"/>
  </p:notesMasterIdLst>
  <p:sldIdLst>
    <p:sldId id="261" r:id="rId5"/>
    <p:sldId id="337" r:id="rId6"/>
    <p:sldId id="344" r:id="rId7"/>
    <p:sldId id="339" r:id="rId8"/>
    <p:sldId id="345" r:id="rId9"/>
    <p:sldId id="270" r:id="rId10"/>
    <p:sldId id="340" r:id="rId11"/>
    <p:sldId id="346" r:id="rId12"/>
    <p:sldId id="347" r:id="rId13"/>
    <p:sldId id="348" r:id="rId14"/>
    <p:sldId id="349" r:id="rId15"/>
    <p:sldId id="327" r:id="rId16"/>
    <p:sldId id="341" r:id="rId17"/>
    <p:sldId id="350" r:id="rId18"/>
    <p:sldId id="351" r:id="rId19"/>
    <p:sldId id="332" r:id="rId20"/>
    <p:sldId id="342" r:id="rId21"/>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C2D501"/>
    <a:srgbClr val="DB0532"/>
    <a:srgbClr val="B14EC4"/>
    <a:srgbClr val="FF595A"/>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2" autoAdjust="0"/>
    <p:restoredTop sz="94558"/>
  </p:normalViewPr>
  <p:slideViewPr>
    <p:cSldViewPr>
      <p:cViewPr varScale="1">
        <p:scale>
          <a:sx n="65" d="100"/>
          <a:sy n="65" d="100"/>
        </p:scale>
        <p:origin x="432"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26-11-2023</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‹Nº›</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11/26/2023</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8749511" cy="1169551"/>
          </a:xfrm>
        </p:spPr>
        <p:txBody>
          <a:bodyPr/>
          <a:lstStyle/>
          <a:p>
            <a:r>
              <a:rPr lang="es-CL" spc="-10" dirty="0"/>
              <a:t>ÁRBOLES DE DECISIÓN</a:t>
            </a:r>
            <a:br>
              <a:rPr lang="es-CL" spc="-10" dirty="0"/>
            </a:br>
            <a:r>
              <a:rPr lang="es-CL" spc="-10" dirty="0"/>
              <a:t>Y SISTEMAS DE REGLAS</a:t>
            </a:r>
            <a:endParaRPr lang="es-CL" sz="3800" dirty="0"/>
          </a:p>
        </p:txBody>
      </p:sp>
      <p:sp>
        <p:nvSpPr>
          <p:cNvPr id="3" name="Subtítulo 2">
            <a:extLst>
              <a:ext uri="{FF2B5EF4-FFF2-40B4-BE49-F238E27FC236}">
                <a16:creationId xmlns:a16="http://schemas.microsoft.com/office/drawing/2014/main" id="{B839BAB8-5980-04D6-9003-ABBE79FC69B7}"/>
              </a:ext>
            </a:extLst>
          </p:cNvPr>
          <p:cNvSpPr>
            <a:spLocks noGrp="1"/>
          </p:cNvSpPr>
          <p:nvPr>
            <p:ph type="subTitle" idx="4"/>
          </p:nvPr>
        </p:nvSpPr>
        <p:spPr>
          <a:xfrm>
            <a:off x="2926080" y="9554269"/>
            <a:ext cx="8712681" cy="369332"/>
          </a:xfrm>
        </p:spPr>
        <p:txBody>
          <a:bodyPr/>
          <a:lstStyle/>
          <a:p>
            <a:r>
              <a:rPr lang="es-CL" dirty="0">
                <a:latin typeface="Arial"/>
                <a:cs typeface="Arial"/>
              </a:rPr>
              <a:t>BIY7121 MINERÍA DE DATOS</a:t>
            </a:r>
            <a:endParaRPr lang="es-CL" sz="2400" dirty="0">
              <a:latin typeface="Arial"/>
              <a:cs typeface="Arial"/>
            </a:endParaRPr>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9617262" y="7026177"/>
            <a:ext cx="4579097" cy="138499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SISTEMAS POR PARTICIÓN, ÁRBOLES DE CLASIFICACIÓN</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6" name="Título 1">
            <a:extLst>
              <a:ext uri="{FF2B5EF4-FFF2-40B4-BE49-F238E27FC236}">
                <a16:creationId xmlns:a16="http://schemas.microsoft.com/office/drawing/2014/main" id="{5AD2299A-27D1-AA45-A043-C0D64B734853}"/>
              </a:ext>
            </a:extLst>
          </p:cNvPr>
          <p:cNvSpPr txBox="1">
            <a:spLocks/>
          </p:cNvSpPr>
          <p:nvPr/>
        </p:nvSpPr>
        <p:spPr>
          <a:xfrm>
            <a:off x="9617262" y="9194781"/>
            <a:ext cx="4165973" cy="138499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ÁRBOLES DE DECISIÓN PARA REGRESIÓN</a:t>
            </a:r>
          </a:p>
        </p:txBody>
      </p:sp>
      <p:sp>
        <p:nvSpPr>
          <p:cNvPr id="18" name="Título 1">
            <a:extLst>
              <a:ext uri="{FF2B5EF4-FFF2-40B4-BE49-F238E27FC236}">
                <a16:creationId xmlns:a16="http://schemas.microsoft.com/office/drawing/2014/main" id="{5FEE1E9F-D6A8-614C-BB95-3AFA463327D0}"/>
              </a:ext>
            </a:extLst>
          </p:cNvPr>
          <p:cNvSpPr txBox="1">
            <a:spLocks/>
          </p:cNvSpPr>
          <p:nvPr/>
        </p:nvSpPr>
        <p:spPr>
          <a:xfrm>
            <a:off x="9617262" y="8432781"/>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INTRODUCCION</a:t>
            </a:r>
          </a:p>
        </p:txBody>
      </p:sp>
      <p:sp>
        <p:nvSpPr>
          <p:cNvPr id="2" name="Título 1">
            <a:extLst>
              <a:ext uri="{FF2B5EF4-FFF2-40B4-BE49-F238E27FC236}">
                <a16:creationId xmlns:a16="http://schemas.microsoft.com/office/drawing/2014/main" id="{7EFE992D-1CA3-14C0-F902-6542723FD1C3}"/>
              </a:ext>
            </a:extLst>
          </p:cNvPr>
          <p:cNvSpPr txBox="1">
            <a:spLocks/>
          </p:cNvSpPr>
          <p:nvPr/>
        </p:nvSpPr>
        <p:spPr>
          <a:xfrm>
            <a:off x="14876207" y="485933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RESUMEN</a:t>
            </a:r>
          </a:p>
        </p:txBody>
      </p:sp>
      <p:sp>
        <p:nvSpPr>
          <p:cNvPr id="4" name="Título 1">
            <a:extLst>
              <a:ext uri="{FF2B5EF4-FFF2-40B4-BE49-F238E27FC236}">
                <a16:creationId xmlns:a16="http://schemas.microsoft.com/office/drawing/2014/main" id="{47002DBB-23A6-9BA0-FF76-8B2A5E9F6159}"/>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4413250" y="7559675"/>
            <a:ext cx="10134600" cy="1015663"/>
          </a:xfrm>
        </p:spPr>
        <p:txBody>
          <a:bodyPr/>
          <a:lstStyle/>
          <a:p>
            <a:pPr algn="r"/>
            <a:r>
              <a:rPr lang="es-CL" sz="6600" dirty="0"/>
              <a:t>INTRODUCCIÓN</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01</a:t>
            </a:r>
          </a:p>
        </p:txBody>
      </p:sp>
    </p:spTree>
    <p:extLst>
      <p:ext uri="{BB962C8B-B14F-4D97-AF65-F5344CB8AC3E}">
        <p14:creationId xmlns:p14="http://schemas.microsoft.com/office/powerpoint/2010/main" val="311757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7848302"/>
          </a:xfrm>
          <a:prstGeom prst="rect">
            <a:avLst/>
          </a:prstGeom>
          <a:noFill/>
        </p:spPr>
        <p:txBody>
          <a:bodyPr wrap="square" rtlCol="0">
            <a:spAutoFit/>
          </a:bodyPr>
          <a:lstStyle/>
          <a:p>
            <a:pPr algn="just"/>
            <a:r>
              <a:rPr lang="es-ES" sz="2800" dirty="0"/>
              <a:t>De todos los métodos de aprendizaje, los sistemas de aprendizaje basados en árboles de decisión son quizás el método más fácil de utilizar y de entender.</a:t>
            </a:r>
          </a:p>
          <a:p>
            <a:pPr algn="l"/>
            <a:endParaRPr lang="es-ES" sz="2800" dirty="0"/>
          </a:p>
          <a:p>
            <a:pPr algn="l"/>
            <a:endParaRPr lang="es-ES" sz="2800" dirty="0"/>
          </a:p>
          <a:p>
            <a:pPr algn="just"/>
            <a:r>
              <a:rPr lang="es-ES" sz="2800" dirty="0"/>
              <a:t>Un árbol de decisión </a:t>
            </a:r>
            <a:r>
              <a:rPr lang="es-ES" sz="2800" dirty="0">
                <a:solidFill>
                  <a:srgbClr val="FF0000"/>
                </a:solidFill>
              </a:rPr>
              <a:t>es un conjunto de condiciones organizadas en una estructura jerárquica</a:t>
            </a:r>
            <a:r>
              <a:rPr lang="es-ES" sz="2800" dirty="0"/>
              <a:t>, de tal manera que la  decisión final a tomar se puede determinar siguiendo las condiciones que se cumplen</a:t>
            </a:r>
          </a:p>
          <a:p>
            <a:pPr algn="just"/>
            <a:r>
              <a:rPr lang="es-ES" sz="2800" dirty="0"/>
              <a:t>desde la raíz del árbol hasta alguna de sus hojas. </a:t>
            </a:r>
          </a:p>
          <a:p>
            <a:pPr algn="l"/>
            <a:endParaRPr lang="es-ES" sz="2800" dirty="0"/>
          </a:p>
          <a:p>
            <a:pPr algn="just"/>
            <a:r>
              <a:rPr lang="es-ES" sz="2800" dirty="0"/>
              <a:t>Los árboles de decisión se utilizan desde hace siglos, y son especialmente apropiados para expresar procedimientos médicos, legales, </a:t>
            </a:r>
            <a:r>
              <a:rPr lang="es-CL" sz="2800" dirty="0"/>
              <a:t>comerciales, estratégicos, matemáticos, lógicos, etc.</a:t>
            </a:r>
            <a:endParaRPr lang="es-ES" sz="2800" dirty="0"/>
          </a:p>
          <a:p>
            <a:pPr algn="just"/>
            <a:endParaRPr lang="es-ES" sz="2800" dirty="0"/>
          </a:p>
          <a:p>
            <a:pPr algn="l"/>
            <a:endParaRPr lang="es-ES" sz="2800" dirty="0"/>
          </a:p>
          <a:p>
            <a:pPr algn="l"/>
            <a:endParaRPr lang="es-CL" sz="2800" dirty="0"/>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4" name="Imagen 3">
            <a:extLst>
              <a:ext uri="{FF2B5EF4-FFF2-40B4-BE49-F238E27FC236}">
                <a16:creationId xmlns:a16="http://schemas.microsoft.com/office/drawing/2014/main" id="{F488E00B-2E13-19C6-233F-F18C2A5FA9A7}"/>
              </a:ext>
            </a:extLst>
          </p:cNvPr>
          <p:cNvPicPr>
            <a:picLocks noChangeAspect="1"/>
          </p:cNvPicPr>
          <p:nvPr/>
        </p:nvPicPr>
        <p:blipFill>
          <a:blip r:embed="rId2"/>
          <a:stretch>
            <a:fillRect/>
          </a:stretch>
        </p:blipFill>
        <p:spPr>
          <a:xfrm>
            <a:off x="11576050" y="3521075"/>
            <a:ext cx="8040034" cy="5426074"/>
          </a:xfrm>
          <a:prstGeom prst="rect">
            <a:avLst/>
          </a:prstGeom>
        </p:spPr>
      </p:pic>
    </p:spTree>
    <p:extLst>
      <p:ext uri="{BB962C8B-B14F-4D97-AF65-F5344CB8AC3E}">
        <p14:creationId xmlns:p14="http://schemas.microsoft.com/office/powerpoint/2010/main" val="21496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6124754"/>
          </a:xfrm>
          <a:prstGeom prst="rect">
            <a:avLst/>
          </a:prstGeom>
          <a:noFill/>
        </p:spPr>
        <p:txBody>
          <a:bodyPr wrap="square" rtlCol="0">
            <a:spAutoFit/>
          </a:bodyPr>
          <a:lstStyle/>
          <a:p>
            <a:pPr algn="just"/>
            <a:r>
              <a:rPr lang="es-ES" sz="2800" dirty="0"/>
              <a:t>Una de las grandes ventajas de los árboles de decisión es que, en su forma más general, las opciones posibles a partir de una determinada condición son excluyentes. </a:t>
            </a:r>
          </a:p>
          <a:p>
            <a:pPr algn="just"/>
            <a:endParaRPr lang="es-ES" sz="2800" dirty="0"/>
          </a:p>
          <a:p>
            <a:pPr algn="just"/>
            <a:r>
              <a:rPr lang="es-ES" sz="2800" dirty="0"/>
              <a:t>Esto permite analizar una situación y, siguiendo el árbol de decisión apropiadamente, </a:t>
            </a:r>
            <a:r>
              <a:rPr lang="es-ES" sz="2800" dirty="0">
                <a:solidFill>
                  <a:srgbClr val="FF0000"/>
                </a:solidFill>
              </a:rPr>
              <a:t>llegar a una sola acción o decisión a tomar</a:t>
            </a:r>
            <a:r>
              <a:rPr lang="es-ES" sz="2800" dirty="0"/>
              <a:t>.</a:t>
            </a:r>
          </a:p>
          <a:p>
            <a:pPr algn="just"/>
            <a:endParaRPr lang="es-ES" sz="2800" dirty="0"/>
          </a:p>
          <a:p>
            <a:pPr algn="just"/>
            <a:r>
              <a:rPr lang="es-ES" sz="2800" dirty="0"/>
              <a:t>Otra ventaja, es que los árboles de decisión sirven para tareas de clasificación, como para las de regresión.</a:t>
            </a:r>
          </a:p>
          <a:p>
            <a:pPr algn="l"/>
            <a:endParaRPr lang="es-ES" sz="2800" dirty="0"/>
          </a:p>
          <a:p>
            <a:pPr algn="l"/>
            <a:endParaRPr lang="es-CL" sz="2800" dirty="0"/>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spTree>
    <p:extLst>
      <p:ext uri="{BB962C8B-B14F-4D97-AF65-F5344CB8AC3E}">
        <p14:creationId xmlns:p14="http://schemas.microsoft.com/office/powerpoint/2010/main" val="3291323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25BEF-C6CB-D142-BFA0-F95C5E30AC13}"/>
              </a:ext>
            </a:extLst>
          </p:cNvPr>
          <p:cNvSpPr>
            <a:spLocks noGrp="1"/>
          </p:cNvSpPr>
          <p:nvPr>
            <p:ph type="title"/>
          </p:nvPr>
        </p:nvSpPr>
        <p:spPr>
          <a:xfrm>
            <a:off x="8147050" y="7712075"/>
            <a:ext cx="8305800" cy="738664"/>
          </a:xfrm>
        </p:spPr>
        <p:txBody>
          <a:bodyPr/>
          <a:lstStyle/>
          <a:p>
            <a:pPr algn="r"/>
            <a:r>
              <a:rPr lang="es-CL" sz="4800" dirty="0"/>
              <a:t>TÍTULO</a:t>
            </a:r>
          </a:p>
        </p:txBody>
      </p:sp>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02</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738664"/>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SISTEMAS POR PARTICIÓN</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ÁRBOLES PARA CLASIFICACIÓN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6124754"/>
          </a:xfrm>
          <a:prstGeom prst="rect">
            <a:avLst/>
          </a:prstGeom>
          <a:noFill/>
        </p:spPr>
        <p:txBody>
          <a:bodyPr wrap="square" rtlCol="0">
            <a:spAutoFit/>
          </a:bodyPr>
          <a:lstStyle/>
          <a:p>
            <a:pPr algn="just"/>
            <a:r>
              <a:rPr lang="es-ES" sz="2800" dirty="0"/>
              <a:t>La tarea de aprendizaje para la cual </a:t>
            </a:r>
            <a:r>
              <a:rPr lang="es-ES" sz="2800" dirty="0">
                <a:solidFill>
                  <a:srgbClr val="FF0000"/>
                </a:solidFill>
              </a:rPr>
              <a:t>los árboles de decisión se adecuan mejor es la clasificación</a:t>
            </a:r>
            <a:r>
              <a:rPr lang="es-ES" sz="2800" dirty="0"/>
              <a:t>. </a:t>
            </a:r>
          </a:p>
          <a:p>
            <a:pPr algn="l"/>
            <a:endParaRPr lang="es-ES" sz="2800" dirty="0"/>
          </a:p>
          <a:p>
            <a:pPr algn="just"/>
            <a:r>
              <a:rPr lang="es-ES" sz="2800" dirty="0"/>
              <a:t>De hecho, clasificar es determinar de entre varias clases a qué clase pertenece un objeto; la estructura de condición y ramificación de un árbol de decisión es idónea para este problema. </a:t>
            </a:r>
          </a:p>
          <a:p>
            <a:pPr algn="l"/>
            <a:endParaRPr lang="es-ES" sz="2800" dirty="0"/>
          </a:p>
          <a:p>
            <a:pPr algn="just"/>
            <a:r>
              <a:rPr lang="es-ES" sz="2800" dirty="0"/>
              <a:t>La característica más importante del problema de la clasificación es que </a:t>
            </a:r>
            <a:r>
              <a:rPr lang="es-ES" sz="2800" dirty="0">
                <a:solidFill>
                  <a:srgbClr val="FF0000"/>
                </a:solidFill>
              </a:rPr>
              <a:t>se asume que las clases son disjuntas</a:t>
            </a:r>
            <a:r>
              <a:rPr lang="es-ES" sz="2800" dirty="0"/>
              <a:t>, es decir, una instancia es de la clase a o de la clase b, pero no puede ser al mismo tiempo de las clases a y b.</a:t>
            </a:r>
            <a:endParaRPr lang="es-CL" sz="2800" dirty="0"/>
          </a:p>
        </p:txBody>
      </p:sp>
      <p:sp>
        <p:nvSpPr>
          <p:cNvPr id="5" name="CuadroTexto 4">
            <a:extLst>
              <a:ext uri="{FF2B5EF4-FFF2-40B4-BE49-F238E27FC236}">
                <a16:creationId xmlns:a16="http://schemas.microsoft.com/office/drawing/2014/main" id="{EA420310-9A07-5C8F-E4D0-7C74EA7B9B10}"/>
              </a:ext>
            </a:extLst>
          </p:cNvPr>
          <p:cNvSpPr txBox="1"/>
          <p:nvPr/>
        </p:nvSpPr>
        <p:spPr>
          <a:xfrm>
            <a:off x="3498850" y="1040000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6" name="Imagen 5">
            <a:extLst>
              <a:ext uri="{FF2B5EF4-FFF2-40B4-BE49-F238E27FC236}">
                <a16:creationId xmlns:a16="http://schemas.microsoft.com/office/drawing/2014/main" id="{05A07A98-6139-5BC2-FAD8-BD49BA60AD39}"/>
              </a:ext>
            </a:extLst>
          </p:cNvPr>
          <p:cNvPicPr>
            <a:picLocks noChangeAspect="1"/>
          </p:cNvPicPr>
          <p:nvPr/>
        </p:nvPicPr>
        <p:blipFill>
          <a:blip r:embed="rId2"/>
          <a:stretch>
            <a:fillRect/>
          </a:stretch>
        </p:blipFill>
        <p:spPr>
          <a:xfrm>
            <a:off x="11576050" y="3225800"/>
            <a:ext cx="6477000" cy="4857750"/>
          </a:xfrm>
          <a:prstGeom prst="rect">
            <a:avLst/>
          </a:prstGeom>
        </p:spPr>
      </p:pic>
    </p:spTree>
    <p:extLst>
      <p:ext uri="{BB962C8B-B14F-4D97-AF65-F5344CB8AC3E}">
        <p14:creationId xmlns:p14="http://schemas.microsoft.com/office/powerpoint/2010/main" val="717399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ÁRBOLES PARA CLASIFICACIÓN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3970318"/>
          </a:xfrm>
          <a:prstGeom prst="rect">
            <a:avLst/>
          </a:prstGeom>
          <a:noFill/>
        </p:spPr>
        <p:txBody>
          <a:bodyPr wrap="square" rtlCol="0">
            <a:spAutoFit/>
          </a:bodyPr>
          <a:lstStyle/>
          <a:p>
            <a:pPr algn="just"/>
            <a:r>
              <a:rPr lang="es-ES" sz="2800" dirty="0"/>
              <a:t>Debido al hecho de que la clasificación trata con clases o etiquetas disjuntas, un árbol de decisión conducirá un ejemplo hasta una y sólo una hoja, asignando, por tanto, una única clase al ejemplo. </a:t>
            </a:r>
          </a:p>
          <a:p>
            <a:pPr algn="l"/>
            <a:endParaRPr lang="es-ES" sz="2800" dirty="0"/>
          </a:p>
          <a:p>
            <a:pPr algn="just"/>
            <a:r>
              <a:rPr lang="es-ES" sz="2800" dirty="0"/>
              <a:t>Para ello, las particiones existentes en el árbol deben ser también disjuntas. Es decir, </a:t>
            </a:r>
            <a:r>
              <a:rPr lang="es-ES" sz="2800" dirty="0">
                <a:solidFill>
                  <a:srgbClr val="FF0000"/>
                </a:solidFill>
              </a:rPr>
              <a:t>cada instancia cumple o no cumple una condición</a:t>
            </a:r>
            <a:r>
              <a:rPr lang="es-ES" sz="2800" dirty="0"/>
              <a:t>.</a:t>
            </a:r>
            <a:endParaRPr lang="es-CL" sz="2800" dirty="0"/>
          </a:p>
        </p:txBody>
      </p:sp>
      <p:sp>
        <p:nvSpPr>
          <p:cNvPr id="5" name="CuadroTexto 4">
            <a:extLst>
              <a:ext uri="{FF2B5EF4-FFF2-40B4-BE49-F238E27FC236}">
                <a16:creationId xmlns:a16="http://schemas.microsoft.com/office/drawing/2014/main" id="{EA420310-9A07-5C8F-E4D0-7C74EA7B9B10}"/>
              </a:ext>
            </a:extLst>
          </p:cNvPr>
          <p:cNvSpPr txBox="1"/>
          <p:nvPr/>
        </p:nvSpPr>
        <p:spPr>
          <a:xfrm>
            <a:off x="3498850" y="1040000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1026" name="Picture 2">
            <a:extLst>
              <a:ext uri="{FF2B5EF4-FFF2-40B4-BE49-F238E27FC236}">
                <a16:creationId xmlns:a16="http://schemas.microsoft.com/office/drawing/2014/main" id="{5021DD58-A859-6491-8143-658C2340D0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0650" y="3306852"/>
            <a:ext cx="8908835" cy="5377804"/>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54E5472C-4046-F745-F322-270304AD8137}"/>
              </a:ext>
            </a:extLst>
          </p:cNvPr>
          <p:cNvSpPr txBox="1"/>
          <p:nvPr/>
        </p:nvSpPr>
        <p:spPr>
          <a:xfrm>
            <a:off x="12261850" y="9007475"/>
            <a:ext cx="6241026" cy="646331"/>
          </a:xfrm>
          <a:prstGeom prst="rect">
            <a:avLst/>
          </a:prstGeom>
          <a:noFill/>
        </p:spPr>
        <p:txBody>
          <a:bodyPr wrap="square">
            <a:spAutoFit/>
          </a:bodyPr>
          <a:lstStyle/>
          <a:p>
            <a:r>
              <a:rPr lang="es-ES" dirty="0"/>
              <a:t>Ejemplo de árbol de decisión de clasificación para tareas de elegibilidad de otorgamiento de crédito:</a:t>
            </a:r>
          </a:p>
        </p:txBody>
      </p:sp>
    </p:spTree>
    <p:extLst>
      <p:ext uri="{BB962C8B-B14F-4D97-AF65-F5344CB8AC3E}">
        <p14:creationId xmlns:p14="http://schemas.microsoft.com/office/powerpoint/2010/main" val="1814789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ÁRBOLES PARA CLASIFICACIÓN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3539430"/>
          </a:xfrm>
          <a:prstGeom prst="rect">
            <a:avLst/>
          </a:prstGeom>
          <a:noFill/>
        </p:spPr>
        <p:txBody>
          <a:bodyPr wrap="square" rtlCol="0">
            <a:spAutoFit/>
          </a:bodyPr>
          <a:lstStyle/>
          <a:p>
            <a:pPr algn="just"/>
            <a:r>
              <a:rPr lang="es-ES" sz="2800" dirty="0"/>
              <a:t>Cuando </a:t>
            </a:r>
            <a:r>
              <a:rPr lang="es-ES" sz="2800" dirty="0">
                <a:solidFill>
                  <a:srgbClr val="FF0000"/>
                </a:solidFill>
              </a:rPr>
              <a:t>la variable a predecir es categórica </a:t>
            </a:r>
            <a:r>
              <a:rPr lang="es-ES" sz="2800" dirty="0"/>
              <a:t>(dos clases para clasificación binaria o más de dos para multiclase),  el algoritmo genera recursivamente particiones en el espacio de variables explicativas, con el </a:t>
            </a:r>
            <a:r>
              <a:rPr lang="es-ES" sz="2800" dirty="0">
                <a:solidFill>
                  <a:srgbClr val="FF0000"/>
                </a:solidFill>
              </a:rPr>
              <a:t>objetivo de obtener los nodos más puros posibles</a:t>
            </a:r>
            <a:r>
              <a:rPr lang="es-ES" sz="2800" dirty="0"/>
              <a:t>, es decir, que el nodo quede lo más concentrado posible en una sola clase.</a:t>
            </a:r>
            <a:endParaRPr lang="es-CL" sz="2800" dirty="0"/>
          </a:p>
        </p:txBody>
      </p:sp>
      <p:pic>
        <p:nvPicPr>
          <p:cNvPr id="2050" name="Picture 2">
            <a:extLst>
              <a:ext uri="{FF2B5EF4-FFF2-40B4-BE49-F238E27FC236}">
                <a16:creationId xmlns:a16="http://schemas.microsoft.com/office/drawing/2014/main" id="{FCCE6FC0-F275-89CF-4619-ED6FBC7350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0650" y="2938145"/>
            <a:ext cx="9276973" cy="4164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4042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ÁRBOLES PARA CLASIFICACIÓN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4947508"/>
          </a:xfrm>
          <a:prstGeom prst="rect">
            <a:avLst/>
          </a:prstGeom>
          <a:noFill/>
        </p:spPr>
        <p:txBody>
          <a:bodyPr wrap="square" rtlCol="0">
            <a:spAutoFit/>
          </a:bodyPr>
          <a:lstStyle/>
          <a:p>
            <a:pPr marL="46355" marR="5080" algn="just" rtl="0">
              <a:spcBef>
                <a:spcPts val="0"/>
              </a:spcBef>
              <a:spcAft>
                <a:spcPts val="0"/>
              </a:spcAft>
            </a:pPr>
            <a:r>
              <a:rPr lang="es-ES" sz="2800" dirty="0"/>
              <a:t>INDICE DE GINI : El atributo Gini de un nodo mide su impureza: </a:t>
            </a:r>
            <a:r>
              <a:rPr lang="es-ES" sz="2800" dirty="0">
                <a:solidFill>
                  <a:srgbClr val="FF0000"/>
                </a:solidFill>
              </a:rPr>
              <a:t>un nodo es puro si su índice de Gini es igual a cero</a:t>
            </a:r>
            <a:r>
              <a:rPr lang="es-ES" sz="2800" dirty="0"/>
              <a:t>.</a:t>
            </a:r>
          </a:p>
          <a:p>
            <a:pPr marL="46355" marR="5080" algn="just" rtl="0">
              <a:spcBef>
                <a:spcPts val="345"/>
              </a:spcBef>
              <a:spcAft>
                <a:spcPts val="0"/>
              </a:spcAft>
            </a:pPr>
            <a:br>
              <a:rPr lang="es-ES" sz="2800" dirty="0"/>
            </a:br>
            <a:r>
              <a:rPr lang="es-ES" sz="2800" dirty="0"/>
              <a:t>Para calcular este índice se usa la siguiente ecuación:</a:t>
            </a:r>
          </a:p>
          <a:p>
            <a:pPr marL="46355" marR="5080" algn="just" rtl="0">
              <a:spcBef>
                <a:spcPts val="345"/>
              </a:spcBef>
              <a:spcAft>
                <a:spcPts val="0"/>
              </a:spcAft>
            </a:pPr>
            <a:endParaRPr lang="es-ES" sz="2800" dirty="0"/>
          </a:p>
          <a:p>
            <a:pPr marL="46355" marR="5080" algn="just" rtl="0">
              <a:spcBef>
                <a:spcPts val="345"/>
              </a:spcBef>
              <a:spcAft>
                <a:spcPts val="0"/>
              </a:spcAft>
            </a:pPr>
            <a:r>
              <a:rPr lang="es-ES" sz="2800" dirty="0"/>
              <a:t>(</a:t>
            </a:r>
            <a:r>
              <a:rPr lang="es-ES" sz="1800" b="0" i="0" u="none" strike="noStrike" dirty="0">
                <a:solidFill>
                  <a:srgbClr val="000000"/>
                </a:solidFill>
                <a:effectLst/>
                <a:latin typeface="Source Sans Pro" panose="020B0503030403020204" pitchFamily="34" charset="0"/>
              </a:rPr>
              <a:t>Donde </a:t>
            </a:r>
            <a:r>
              <a:rPr lang="es-ES" sz="1800" b="0" i="0" u="none" strike="noStrike" dirty="0" err="1">
                <a:solidFill>
                  <a:srgbClr val="000000"/>
                </a:solidFill>
                <a:effectLst/>
                <a:latin typeface="Source Sans Pro" panose="020B0503030403020204" pitchFamily="34" charset="0"/>
              </a:rPr>
              <a:t>Pmk</a:t>
            </a:r>
            <a:r>
              <a:rPr lang="es-ES" sz="1800" b="0" i="0" u="none" strike="noStrike" dirty="0">
                <a:solidFill>
                  <a:srgbClr val="000000"/>
                </a:solidFill>
                <a:effectLst/>
                <a:latin typeface="Source Sans Pro" panose="020B0503030403020204" pitchFamily="34" charset="0"/>
              </a:rPr>
              <a:t> es la proporción de observaciones de entrenamiento en la m-</a:t>
            </a:r>
            <a:r>
              <a:rPr lang="es-ES" sz="1800" b="0" i="0" u="none" strike="noStrike" dirty="0" err="1">
                <a:solidFill>
                  <a:srgbClr val="000000"/>
                </a:solidFill>
                <a:effectLst/>
                <a:latin typeface="Source Sans Pro" panose="020B0503030403020204" pitchFamily="34" charset="0"/>
              </a:rPr>
              <a:t>ésima</a:t>
            </a:r>
            <a:r>
              <a:rPr lang="es-ES" sz="1800" b="0" i="0" u="none" strike="noStrike" dirty="0">
                <a:solidFill>
                  <a:srgbClr val="000000"/>
                </a:solidFill>
                <a:effectLst/>
                <a:latin typeface="Source Sans Pro" panose="020B0503030403020204" pitchFamily="34" charset="0"/>
              </a:rPr>
              <a:t> región de la k-clase.</a:t>
            </a:r>
            <a:r>
              <a:rPr lang="es-ES" sz="2800" b="0" i="0" u="none" strike="noStrike" dirty="0">
                <a:solidFill>
                  <a:srgbClr val="000000"/>
                </a:solidFill>
                <a:effectLst/>
                <a:latin typeface="Source Sans Pro" panose="020B0503030403020204" pitchFamily="34" charset="0"/>
              </a:rPr>
              <a:t>)</a:t>
            </a:r>
            <a:endParaRPr lang="es-ES" sz="2800" dirty="0"/>
          </a:p>
          <a:p>
            <a:br>
              <a:rPr lang="es-ES" sz="2800" dirty="0"/>
            </a:br>
            <a:endParaRPr lang="es-CL" sz="2800" dirty="0"/>
          </a:p>
        </p:txBody>
      </p:sp>
      <p:pic>
        <p:nvPicPr>
          <p:cNvPr id="3074" name="Picture 2">
            <a:extLst>
              <a:ext uri="{FF2B5EF4-FFF2-40B4-BE49-F238E27FC236}">
                <a16:creationId xmlns:a16="http://schemas.microsoft.com/office/drawing/2014/main" id="{64233DE4-1C5E-C550-29EB-BEA67B94B7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09250" y="2551266"/>
            <a:ext cx="7386918"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02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ÁRBOLES PARA CLASIFICACIÓN</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6240170"/>
          </a:xfrm>
          <a:prstGeom prst="rect">
            <a:avLst/>
          </a:prstGeom>
          <a:noFill/>
        </p:spPr>
        <p:txBody>
          <a:bodyPr wrap="square" rtlCol="0">
            <a:spAutoFit/>
          </a:bodyPr>
          <a:lstStyle/>
          <a:p>
            <a:pPr marL="46355" marR="5080" algn="just" rtl="0">
              <a:spcBef>
                <a:spcPts val="0"/>
              </a:spcBef>
              <a:spcAft>
                <a:spcPts val="0"/>
              </a:spcAft>
            </a:pPr>
            <a:r>
              <a:rPr lang="es-ES" sz="2800" dirty="0"/>
              <a:t>ENTROPÍA DE SHANON: Otra forma de medir impureza es ocupar el nivel de entropía. </a:t>
            </a:r>
            <a:r>
              <a:rPr lang="es-ES" sz="2800" dirty="0">
                <a:solidFill>
                  <a:srgbClr val="FF0000"/>
                </a:solidFill>
              </a:rPr>
              <a:t>La entropía de un conjunto es cero cuando contiene instancias de una clase</a:t>
            </a:r>
            <a:r>
              <a:rPr lang="es-ES" sz="2800" dirty="0"/>
              <a:t>.</a:t>
            </a:r>
          </a:p>
          <a:p>
            <a:pPr marL="46355" marR="5080" algn="just" rtl="0">
              <a:spcBef>
                <a:spcPts val="345"/>
              </a:spcBef>
              <a:spcAft>
                <a:spcPts val="0"/>
              </a:spcAft>
            </a:pPr>
            <a:br>
              <a:rPr lang="es-ES" sz="2800" dirty="0"/>
            </a:br>
            <a:r>
              <a:rPr lang="es-ES" sz="2800" dirty="0"/>
              <a:t>La impureza de Gini es ligeramente más rápida de procesar. Mientras que la entropía produce árboles más equilibrados.</a:t>
            </a:r>
          </a:p>
          <a:p>
            <a:pPr marL="46355" marR="5080" algn="just" rtl="0">
              <a:spcBef>
                <a:spcPts val="345"/>
              </a:spcBef>
              <a:spcAft>
                <a:spcPts val="0"/>
              </a:spcAft>
            </a:pPr>
            <a:endParaRPr lang="es-ES" sz="2800" dirty="0"/>
          </a:p>
          <a:p>
            <a:pPr marL="46355" marR="5080" algn="just" rtl="0">
              <a:spcBef>
                <a:spcPts val="345"/>
              </a:spcBef>
              <a:spcAft>
                <a:spcPts val="0"/>
              </a:spcAft>
            </a:pPr>
            <a:r>
              <a:rPr lang="es-ES" sz="2800" dirty="0"/>
              <a:t>(</a:t>
            </a:r>
            <a:r>
              <a:rPr lang="es-ES" sz="1800" b="0" i="0" u="none" strike="noStrike" dirty="0">
                <a:solidFill>
                  <a:srgbClr val="000000"/>
                </a:solidFill>
                <a:effectLst/>
                <a:latin typeface="Source Sans Pro" panose="020B0503030403020204" pitchFamily="34" charset="0"/>
              </a:rPr>
              <a:t>Donde </a:t>
            </a:r>
            <a:r>
              <a:rPr lang="es-ES" sz="1800" b="0" i="0" u="none" strike="noStrike" dirty="0" err="1">
                <a:solidFill>
                  <a:srgbClr val="000000"/>
                </a:solidFill>
                <a:effectLst/>
                <a:latin typeface="Source Sans Pro" panose="020B0503030403020204" pitchFamily="34" charset="0"/>
              </a:rPr>
              <a:t>Pmk</a:t>
            </a:r>
            <a:r>
              <a:rPr lang="es-ES" sz="1800" b="0" i="0" u="none" strike="noStrike" dirty="0">
                <a:solidFill>
                  <a:srgbClr val="000000"/>
                </a:solidFill>
                <a:effectLst/>
                <a:latin typeface="Source Sans Pro" panose="020B0503030403020204" pitchFamily="34" charset="0"/>
              </a:rPr>
              <a:t> es la proporción de observaciones de entrenamiento en la m-</a:t>
            </a:r>
            <a:r>
              <a:rPr lang="es-ES" sz="1800" b="0" i="0" u="none" strike="noStrike" dirty="0" err="1">
                <a:solidFill>
                  <a:srgbClr val="000000"/>
                </a:solidFill>
                <a:effectLst/>
                <a:latin typeface="Source Sans Pro" panose="020B0503030403020204" pitchFamily="34" charset="0"/>
              </a:rPr>
              <a:t>ésima</a:t>
            </a:r>
            <a:r>
              <a:rPr lang="es-ES" sz="1800" b="0" i="0" u="none" strike="noStrike" dirty="0">
                <a:solidFill>
                  <a:srgbClr val="000000"/>
                </a:solidFill>
                <a:effectLst/>
                <a:latin typeface="Source Sans Pro" panose="020B0503030403020204" pitchFamily="34" charset="0"/>
              </a:rPr>
              <a:t> región de la k-clase.</a:t>
            </a:r>
            <a:r>
              <a:rPr lang="es-ES" sz="2800" i="0" u="none" strike="noStrike" dirty="0">
                <a:solidFill>
                  <a:srgbClr val="000000"/>
                </a:solidFill>
                <a:latin typeface="Source Sans Pro" panose="020B0503030403020204" pitchFamily="34" charset="0"/>
              </a:rPr>
              <a:t>)</a:t>
            </a:r>
            <a:endParaRPr lang="es-ES" sz="2800" dirty="0"/>
          </a:p>
          <a:p>
            <a:br>
              <a:rPr lang="es-ES" sz="2800" dirty="0"/>
            </a:br>
            <a:br>
              <a:rPr lang="es-ES" sz="2800" dirty="0"/>
            </a:br>
            <a:endParaRPr lang="es-CL" sz="2800" dirty="0"/>
          </a:p>
        </p:txBody>
      </p:sp>
      <p:pic>
        <p:nvPicPr>
          <p:cNvPr id="4098" name="Picture 2">
            <a:extLst>
              <a:ext uri="{FF2B5EF4-FFF2-40B4-BE49-F238E27FC236}">
                <a16:creationId xmlns:a16="http://schemas.microsoft.com/office/drawing/2014/main" id="{281377DE-6749-2637-7338-602C8F5048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9849" y="3216275"/>
            <a:ext cx="7196889"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235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222250" y="7407275"/>
            <a:ext cx="10393528" cy="2031325"/>
          </a:xfrm>
        </p:spPr>
        <p:txBody>
          <a:bodyPr/>
          <a:lstStyle/>
          <a:p>
            <a:r>
              <a:rPr lang="es-CL" sz="6600" dirty="0"/>
              <a:t>ÁRBOLES PARA REGRESIÓN</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9089872" y="6188075"/>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latin typeface="Arial Black" panose="020B0604020202020204" pitchFamily="34" charset="0"/>
                <a:cs typeface="Arial Black" panose="020B0604020202020204" pitchFamily="34" charset="0"/>
              </a:rPr>
              <a:t>03</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ÁRBOLES PARA REGRESIÓN</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3970318"/>
          </a:xfrm>
          <a:prstGeom prst="rect">
            <a:avLst/>
          </a:prstGeom>
          <a:noFill/>
        </p:spPr>
        <p:txBody>
          <a:bodyPr wrap="square" rtlCol="0">
            <a:spAutoFit/>
          </a:bodyPr>
          <a:lstStyle/>
          <a:p>
            <a:pPr algn="just" rtl="0" fontAlgn="base"/>
            <a:r>
              <a:rPr lang="es-ES" sz="2800" dirty="0">
                <a:solidFill>
                  <a:srgbClr val="333333"/>
                </a:solidFill>
                <a:latin typeface="Arial" panose="020B0604020202020204" pitchFamily="34" charset="0"/>
              </a:rPr>
              <a:t>Aunque los árboles de decisión parecen idóneos para clasificación, </a:t>
            </a:r>
            <a:r>
              <a:rPr lang="es-ES" sz="2800" dirty="0">
                <a:solidFill>
                  <a:srgbClr val="FF0000"/>
                </a:solidFill>
                <a:latin typeface="Arial" panose="020B0604020202020204" pitchFamily="34" charset="0"/>
              </a:rPr>
              <a:t>se han adaptado para otras tareas, como son la regresión</a:t>
            </a:r>
            <a:r>
              <a:rPr lang="es-ES" sz="2800" dirty="0">
                <a:solidFill>
                  <a:srgbClr val="333333"/>
                </a:solidFill>
                <a:latin typeface="Arial" panose="020B0604020202020204" pitchFamily="34" charset="0"/>
              </a:rPr>
              <a:t>, el agrupamiento o la estimación de probabilidades. </a:t>
            </a:r>
          </a:p>
          <a:p>
            <a:pPr algn="just" rtl="0" fontAlgn="base"/>
            <a:endParaRPr lang="es-ES" sz="2800" dirty="0">
              <a:solidFill>
                <a:srgbClr val="333333"/>
              </a:solidFill>
              <a:latin typeface="Arial" panose="020B0604020202020204" pitchFamily="34" charset="0"/>
            </a:endParaRPr>
          </a:p>
          <a:p>
            <a:pPr algn="just" rtl="0" fontAlgn="base"/>
            <a:r>
              <a:rPr lang="es-ES" sz="2800" dirty="0">
                <a:solidFill>
                  <a:srgbClr val="333333"/>
                </a:solidFill>
                <a:latin typeface="Arial" panose="020B0604020202020204" pitchFamily="34" charset="0"/>
              </a:rPr>
              <a:t>De hecho, uno de los primeros algoritmos de aprendizaje de árboles de decisión, el CART</a:t>
            </a:r>
          </a:p>
          <a:p>
            <a:pPr algn="just" rtl="0" fontAlgn="base"/>
            <a:r>
              <a:rPr lang="es-ES" sz="2800" dirty="0">
                <a:solidFill>
                  <a:srgbClr val="333333"/>
                </a:solidFill>
                <a:latin typeface="Arial" panose="020B0604020202020204" pitchFamily="34" charset="0"/>
              </a:rPr>
              <a:t>[</a:t>
            </a:r>
            <a:r>
              <a:rPr lang="es-ES" sz="2800" dirty="0" err="1">
                <a:solidFill>
                  <a:srgbClr val="333333"/>
                </a:solidFill>
                <a:latin typeface="Arial" panose="020B0604020202020204" pitchFamily="34" charset="0"/>
              </a:rPr>
              <a:t>Breiman</a:t>
            </a:r>
            <a:r>
              <a:rPr lang="es-ES" sz="2800" dirty="0">
                <a:solidFill>
                  <a:srgbClr val="333333"/>
                </a:solidFill>
                <a:latin typeface="Arial" panose="020B0604020202020204" pitchFamily="34" charset="0"/>
              </a:rPr>
              <a:t> et al. 1984], es tanto un clasificador como un árbol de regresión.</a:t>
            </a:r>
          </a:p>
        </p:txBody>
      </p:sp>
      <p:sp>
        <p:nvSpPr>
          <p:cNvPr id="3" name="CuadroTexto 2">
            <a:extLst>
              <a:ext uri="{FF2B5EF4-FFF2-40B4-BE49-F238E27FC236}">
                <a16:creationId xmlns:a16="http://schemas.microsoft.com/office/drawing/2014/main" id="{A6DCA28B-980F-338E-AB55-252909DF1130}"/>
              </a:ext>
            </a:extLst>
          </p:cNvPr>
          <p:cNvSpPr txBox="1"/>
          <p:nvPr/>
        </p:nvSpPr>
        <p:spPr>
          <a:xfrm>
            <a:off x="2051050" y="1044086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7" name="Imagen 6">
            <a:extLst>
              <a:ext uri="{FF2B5EF4-FFF2-40B4-BE49-F238E27FC236}">
                <a16:creationId xmlns:a16="http://schemas.microsoft.com/office/drawing/2014/main" id="{FDC5774E-1539-6C3D-29CD-ECA63168B3A5}"/>
              </a:ext>
            </a:extLst>
          </p:cNvPr>
          <p:cNvPicPr>
            <a:picLocks noChangeAspect="1"/>
          </p:cNvPicPr>
          <p:nvPr/>
        </p:nvPicPr>
        <p:blipFill>
          <a:blip r:embed="rId2"/>
          <a:stretch>
            <a:fillRect/>
          </a:stretch>
        </p:blipFill>
        <p:spPr>
          <a:xfrm>
            <a:off x="11347450" y="2408237"/>
            <a:ext cx="8306907" cy="6492875"/>
          </a:xfrm>
          <a:prstGeom prst="rect">
            <a:avLst/>
          </a:prstGeom>
        </p:spPr>
      </p:pic>
    </p:spTree>
    <p:extLst>
      <p:ext uri="{BB962C8B-B14F-4D97-AF65-F5344CB8AC3E}">
        <p14:creationId xmlns:p14="http://schemas.microsoft.com/office/powerpoint/2010/main" val="1067811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ÁRBOLES PARA REGRESIÓN</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5262979"/>
          </a:xfrm>
          <a:prstGeom prst="rect">
            <a:avLst/>
          </a:prstGeom>
          <a:noFill/>
        </p:spPr>
        <p:txBody>
          <a:bodyPr wrap="square" rtlCol="0">
            <a:spAutoFit/>
          </a:bodyPr>
          <a:lstStyle/>
          <a:p>
            <a:pPr algn="just" rtl="0" fontAlgn="base"/>
            <a:r>
              <a:rPr lang="es-ES" sz="2800" dirty="0">
                <a:solidFill>
                  <a:srgbClr val="333333"/>
                </a:solidFill>
                <a:latin typeface="Arial" panose="020B0604020202020204" pitchFamily="34" charset="0"/>
              </a:rPr>
              <a:t>En realidad, </a:t>
            </a:r>
            <a:r>
              <a:rPr lang="es-ES" sz="2800" dirty="0">
                <a:solidFill>
                  <a:srgbClr val="FF0000"/>
                </a:solidFill>
                <a:latin typeface="Arial" panose="020B0604020202020204" pitchFamily="34" charset="0"/>
              </a:rPr>
              <a:t>un árbol de regresión se construye de manera similar a un árbol de decisión para clasificación</a:t>
            </a:r>
            <a:r>
              <a:rPr lang="es-ES" sz="2800" dirty="0">
                <a:solidFill>
                  <a:srgbClr val="333333"/>
                </a:solidFill>
                <a:latin typeface="Arial" panose="020B0604020202020204" pitchFamily="34" charset="0"/>
              </a:rPr>
              <a:t>, pero con las siguientes diferencias:</a:t>
            </a:r>
          </a:p>
          <a:p>
            <a:pPr algn="just" rtl="0" fontAlgn="base"/>
            <a:endParaRPr lang="es-ES" sz="2800" dirty="0">
              <a:solidFill>
                <a:srgbClr val="333333"/>
              </a:solidFill>
              <a:latin typeface="Arial" panose="020B0604020202020204" pitchFamily="34" charset="0"/>
            </a:endParaRPr>
          </a:p>
          <a:p>
            <a:pPr algn="just" rtl="0" fontAlgn="base"/>
            <a:r>
              <a:rPr lang="es-ES" sz="2800" dirty="0">
                <a:solidFill>
                  <a:srgbClr val="333333"/>
                </a:solidFill>
                <a:latin typeface="Arial" panose="020B0604020202020204" pitchFamily="34" charset="0"/>
              </a:rPr>
              <a:t>• La función aprendida tiene dominio real y no discreto, como en los clasificadores.</a:t>
            </a:r>
          </a:p>
          <a:p>
            <a:pPr algn="just" rtl="0" fontAlgn="base"/>
            <a:endParaRPr lang="es-ES" sz="2800" dirty="0">
              <a:solidFill>
                <a:srgbClr val="333333"/>
              </a:solidFill>
              <a:latin typeface="Arial" panose="020B0604020202020204" pitchFamily="34" charset="0"/>
            </a:endParaRPr>
          </a:p>
          <a:p>
            <a:pPr algn="just" rtl="0" fontAlgn="base"/>
            <a:r>
              <a:rPr lang="es-ES" sz="2800" dirty="0">
                <a:solidFill>
                  <a:srgbClr val="333333"/>
                </a:solidFill>
                <a:latin typeface="Arial" panose="020B0604020202020204" pitchFamily="34" charset="0"/>
              </a:rPr>
              <a:t>• Los nodos hoja del árbol se etiquetan con valores reales, de tal manera que una cierta medida de calidad se maximice, por ejemplo, la varianza de los ejemplos que caen en ese nodo respecto al valor asignado.</a:t>
            </a:r>
          </a:p>
        </p:txBody>
      </p:sp>
      <p:sp>
        <p:nvSpPr>
          <p:cNvPr id="3" name="CuadroTexto 2">
            <a:extLst>
              <a:ext uri="{FF2B5EF4-FFF2-40B4-BE49-F238E27FC236}">
                <a16:creationId xmlns:a16="http://schemas.microsoft.com/office/drawing/2014/main" id="{A6DCA28B-980F-338E-AB55-252909DF1130}"/>
              </a:ext>
            </a:extLst>
          </p:cNvPr>
          <p:cNvSpPr txBox="1"/>
          <p:nvPr/>
        </p:nvSpPr>
        <p:spPr>
          <a:xfrm>
            <a:off x="2051050" y="1044086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4" name="Imagen 3">
            <a:extLst>
              <a:ext uri="{FF2B5EF4-FFF2-40B4-BE49-F238E27FC236}">
                <a16:creationId xmlns:a16="http://schemas.microsoft.com/office/drawing/2014/main" id="{2E6D3E3A-15D2-42E9-C51F-74EEF081F44B}"/>
              </a:ext>
            </a:extLst>
          </p:cNvPr>
          <p:cNvPicPr>
            <a:picLocks noChangeAspect="1"/>
          </p:cNvPicPr>
          <p:nvPr/>
        </p:nvPicPr>
        <p:blipFill>
          <a:blip r:embed="rId2"/>
          <a:stretch>
            <a:fillRect/>
          </a:stretch>
        </p:blipFill>
        <p:spPr>
          <a:xfrm>
            <a:off x="11095565" y="3123614"/>
            <a:ext cx="8296275" cy="4686300"/>
          </a:xfrm>
          <a:prstGeom prst="rect">
            <a:avLst/>
          </a:prstGeom>
        </p:spPr>
      </p:pic>
    </p:spTree>
    <p:extLst>
      <p:ext uri="{BB962C8B-B14F-4D97-AF65-F5344CB8AC3E}">
        <p14:creationId xmlns:p14="http://schemas.microsoft.com/office/powerpoint/2010/main" val="2531250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ÁRBOLES PARA REGRESIÓN</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5262979"/>
          </a:xfrm>
          <a:prstGeom prst="rect">
            <a:avLst/>
          </a:prstGeom>
          <a:noFill/>
        </p:spPr>
        <p:txBody>
          <a:bodyPr wrap="square" rtlCol="0">
            <a:spAutoFit/>
          </a:bodyPr>
          <a:lstStyle/>
          <a:p>
            <a:pPr algn="just" rtl="0" fontAlgn="base"/>
            <a:r>
              <a:rPr lang="es-ES" sz="2800" dirty="0">
                <a:solidFill>
                  <a:srgbClr val="333333"/>
                </a:solidFill>
                <a:latin typeface="Arial" panose="020B0604020202020204" pitchFamily="34" charset="0"/>
              </a:rPr>
              <a:t>La implementación más sencilla de esta idea es el propio </a:t>
            </a:r>
            <a:r>
              <a:rPr lang="es-ES" sz="2800" dirty="0">
                <a:solidFill>
                  <a:srgbClr val="FF0000"/>
                </a:solidFill>
                <a:latin typeface="Arial" panose="020B0604020202020204" pitchFamily="34" charset="0"/>
              </a:rPr>
              <a:t>algoritmo CART</a:t>
            </a:r>
            <a:r>
              <a:rPr lang="es-ES" sz="2800" dirty="0">
                <a:solidFill>
                  <a:srgbClr val="333333"/>
                </a:solidFill>
                <a:latin typeface="Arial" panose="020B0604020202020204" pitchFamily="34" charset="0"/>
              </a:rPr>
              <a:t>, que hace particiones binarias sobre los atributos de igual manera que lo visto para los árboles de decisión diseñados para clasificación, pero que va asignando una media y una varianza a cada nodo, intentando seleccionar las particiones que reduzcan las varianzas de los nodos</a:t>
            </a:r>
          </a:p>
          <a:p>
            <a:pPr algn="just" rtl="0" fontAlgn="base"/>
            <a:r>
              <a:rPr lang="es-CL" sz="2800" dirty="0">
                <a:solidFill>
                  <a:srgbClr val="333333"/>
                </a:solidFill>
                <a:latin typeface="Arial" panose="020B0604020202020204" pitchFamily="34" charset="0"/>
              </a:rPr>
              <a:t>hijos.</a:t>
            </a:r>
          </a:p>
          <a:p>
            <a:pPr algn="just" rtl="0" fontAlgn="base"/>
            <a:endParaRPr lang="es-CL" sz="2800" dirty="0">
              <a:solidFill>
                <a:srgbClr val="333333"/>
              </a:solidFill>
              <a:latin typeface="Arial" panose="020B0604020202020204" pitchFamily="34" charset="0"/>
            </a:endParaRPr>
          </a:p>
          <a:p>
            <a:pPr algn="just" rtl="0" fontAlgn="base"/>
            <a:endParaRPr lang="es-CL" sz="2800" dirty="0">
              <a:solidFill>
                <a:srgbClr val="333333"/>
              </a:solidFill>
              <a:latin typeface="Arial" panose="020B0604020202020204" pitchFamily="34" charset="0"/>
            </a:endParaRPr>
          </a:p>
          <a:p>
            <a:pPr algn="just" rtl="0" fontAlgn="base"/>
            <a:r>
              <a:rPr lang="es-CL" sz="2800" dirty="0">
                <a:solidFill>
                  <a:srgbClr val="333333"/>
                </a:solidFill>
                <a:latin typeface="Arial" panose="020B0604020202020204" pitchFamily="34" charset="0"/>
              </a:rPr>
              <a:t>(</a:t>
            </a:r>
            <a:r>
              <a:rPr lang="es-CL" sz="2800" dirty="0">
                <a:solidFill>
                  <a:srgbClr val="FF0000"/>
                </a:solidFill>
                <a:latin typeface="Arial" panose="020B0604020202020204" pitchFamily="34" charset="0"/>
              </a:rPr>
              <a:t>Puedes ver este video para entender el algoritmo CART</a:t>
            </a:r>
            <a:r>
              <a:rPr lang="es-CL" sz="2800" dirty="0">
                <a:solidFill>
                  <a:srgbClr val="333333"/>
                </a:solidFill>
                <a:latin typeface="Arial" panose="020B0604020202020204" pitchFamily="34" charset="0"/>
              </a:rPr>
              <a:t>.)</a:t>
            </a:r>
            <a:endParaRPr lang="es-ES" sz="2800" dirty="0">
              <a:solidFill>
                <a:srgbClr val="333333"/>
              </a:solidFill>
              <a:latin typeface="Arial" panose="020B0604020202020204" pitchFamily="34" charset="0"/>
            </a:endParaRPr>
          </a:p>
        </p:txBody>
      </p:sp>
      <p:sp>
        <p:nvSpPr>
          <p:cNvPr id="3" name="CuadroTexto 2">
            <a:extLst>
              <a:ext uri="{FF2B5EF4-FFF2-40B4-BE49-F238E27FC236}">
                <a16:creationId xmlns:a16="http://schemas.microsoft.com/office/drawing/2014/main" id="{A6DCA28B-980F-338E-AB55-252909DF1130}"/>
              </a:ext>
            </a:extLst>
          </p:cNvPr>
          <p:cNvSpPr txBox="1"/>
          <p:nvPr/>
        </p:nvSpPr>
        <p:spPr>
          <a:xfrm>
            <a:off x="2051050" y="1044086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sp>
        <p:nvSpPr>
          <p:cNvPr id="6" name="CuadroTexto 5">
            <a:extLst>
              <a:ext uri="{FF2B5EF4-FFF2-40B4-BE49-F238E27FC236}">
                <a16:creationId xmlns:a16="http://schemas.microsoft.com/office/drawing/2014/main" id="{17DFA30E-40F8-3E86-6E16-49783187F051}"/>
              </a:ext>
            </a:extLst>
          </p:cNvPr>
          <p:cNvSpPr txBox="1"/>
          <p:nvPr/>
        </p:nvSpPr>
        <p:spPr>
          <a:xfrm>
            <a:off x="12637426" y="7913588"/>
            <a:ext cx="5192447" cy="369332"/>
          </a:xfrm>
          <a:prstGeom prst="rect">
            <a:avLst/>
          </a:prstGeom>
          <a:noFill/>
        </p:spPr>
        <p:txBody>
          <a:bodyPr wrap="none" rtlCol="0">
            <a:spAutoFit/>
          </a:bodyPr>
          <a:lstStyle/>
          <a:p>
            <a:r>
              <a:rPr lang="es-CL" dirty="0"/>
              <a:t>https://www.youtube.com/watch?v=2Miw4bjzSF0</a:t>
            </a:r>
          </a:p>
        </p:txBody>
      </p:sp>
      <p:pic>
        <p:nvPicPr>
          <p:cNvPr id="8" name="Imagen 7">
            <a:extLst>
              <a:ext uri="{FF2B5EF4-FFF2-40B4-BE49-F238E27FC236}">
                <a16:creationId xmlns:a16="http://schemas.microsoft.com/office/drawing/2014/main" id="{CB63A35D-18E3-D69F-5D8A-8C2BF4CF0827}"/>
              </a:ext>
            </a:extLst>
          </p:cNvPr>
          <p:cNvPicPr>
            <a:picLocks noChangeAspect="1"/>
          </p:cNvPicPr>
          <p:nvPr/>
        </p:nvPicPr>
        <p:blipFill>
          <a:blip r:embed="rId2"/>
          <a:stretch>
            <a:fillRect/>
          </a:stretch>
        </p:blipFill>
        <p:spPr>
          <a:xfrm>
            <a:off x="11499850" y="2835275"/>
            <a:ext cx="8077200" cy="4620768"/>
          </a:xfrm>
          <a:prstGeom prst="rect">
            <a:avLst/>
          </a:prstGeom>
        </p:spPr>
      </p:pic>
    </p:spTree>
    <p:extLst>
      <p:ext uri="{BB962C8B-B14F-4D97-AF65-F5344CB8AC3E}">
        <p14:creationId xmlns:p14="http://schemas.microsoft.com/office/powerpoint/2010/main" val="1911572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6242050" y="9007475"/>
            <a:ext cx="9020022" cy="1015663"/>
          </a:xfrm>
        </p:spPr>
        <p:txBody>
          <a:bodyPr/>
          <a:lstStyle/>
          <a:p>
            <a:r>
              <a:rPr lang="es-CL" sz="6600" dirty="0"/>
              <a:t>RESUMEN</a:t>
            </a:r>
          </a:p>
        </p:txBody>
      </p:sp>
      <p:sp>
        <p:nvSpPr>
          <p:cNvPr id="3" name="Título 1">
            <a:extLst>
              <a:ext uri="{FF2B5EF4-FFF2-40B4-BE49-F238E27FC236}">
                <a16:creationId xmlns:a16="http://schemas.microsoft.com/office/drawing/2014/main" id="{9224DE7A-4464-F54B-B074-7663E7D43917}"/>
              </a:ext>
            </a:extLst>
          </p:cNvPr>
          <p:cNvSpPr txBox="1">
            <a:spLocks/>
          </p:cNvSpPr>
          <p:nvPr/>
        </p:nvSpPr>
        <p:spPr>
          <a:xfrm>
            <a:off x="6276975" y="7752358"/>
            <a:ext cx="1670957"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5202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BCD8BF0-1144-D34D-8793-D9BC0214A663}"/>
              </a:ext>
            </a:extLst>
          </p:cNvPr>
          <p:cNvSpPr>
            <a:spLocks noGrp="1"/>
          </p:cNvSpPr>
          <p:nvPr>
            <p:ph type="body" sz="quarter" idx="10"/>
          </p:nvPr>
        </p:nvSpPr>
        <p:spPr/>
        <p:txBody>
          <a:bodyPr/>
          <a:lstStyle/>
          <a:p>
            <a:r>
              <a:rPr lang="es-CL" dirty="0"/>
              <a:t>RESUMEN</a:t>
            </a:r>
          </a:p>
        </p:txBody>
      </p:sp>
      <p:sp>
        <p:nvSpPr>
          <p:cNvPr id="3" name="CuadroTexto 2">
            <a:extLst>
              <a:ext uri="{FF2B5EF4-FFF2-40B4-BE49-F238E27FC236}">
                <a16:creationId xmlns:a16="http://schemas.microsoft.com/office/drawing/2014/main" id="{D27F119F-996A-54C1-08D8-A05CBD0E1453}"/>
              </a:ext>
            </a:extLst>
          </p:cNvPr>
          <p:cNvSpPr txBox="1"/>
          <p:nvPr/>
        </p:nvSpPr>
        <p:spPr>
          <a:xfrm>
            <a:off x="2279650" y="2682875"/>
            <a:ext cx="12192000" cy="3416320"/>
          </a:xfrm>
          <a:prstGeom prst="rect">
            <a:avLst/>
          </a:prstGeom>
          <a:noFill/>
        </p:spPr>
        <p:txBody>
          <a:bodyPr wrap="square" rtlCol="0">
            <a:spAutoFit/>
          </a:bodyPr>
          <a:lstStyle/>
          <a:p>
            <a:r>
              <a:rPr lang="es-CL" sz="2800" b="1" dirty="0">
                <a:latin typeface="Arial" panose="020B0604020202020204" pitchFamily="34" charset="0"/>
                <a:cs typeface="Arial" panose="020B0604020202020204" pitchFamily="34" charset="0"/>
              </a:rPr>
              <a:t>En esta presentación, hemos visto:</a:t>
            </a:r>
          </a:p>
          <a:p>
            <a:endParaRPr lang="es-CL" sz="2800" b="1"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Introducción a  los árboles de decisión</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Árboles de decisión para clasificación</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Árboles de decisión para regresión</a:t>
            </a:r>
          </a:p>
          <a:p>
            <a:pPr algn="just"/>
            <a:endParaRPr lang="es-CL" sz="2000" dirty="0"/>
          </a:p>
        </p:txBody>
      </p:sp>
    </p:spTree>
    <p:extLst>
      <p:ext uri="{BB962C8B-B14F-4D97-AF65-F5344CB8AC3E}">
        <p14:creationId xmlns:p14="http://schemas.microsoft.com/office/powerpoint/2010/main" val="3056958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45b625c-c26a-47f6-b683-8d6b2db3615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BECEAD85B01C7F40A02717BA9EC5A5ED" ma:contentTypeVersion="7" ma:contentTypeDescription="Crear nuevo documento." ma:contentTypeScope="" ma:versionID="a68664926a6846fedb67b85086ae7753">
  <xsd:schema xmlns:xsd="http://www.w3.org/2001/XMLSchema" xmlns:xs="http://www.w3.org/2001/XMLSchema" xmlns:p="http://schemas.microsoft.com/office/2006/metadata/properties" xmlns:ns3="b45b625c-c26a-47f6-b683-8d6b2db36159" xmlns:ns4="e5b8f56d-7793-429f-909c-9567ca729807" targetNamespace="http://schemas.microsoft.com/office/2006/metadata/properties" ma:root="true" ma:fieldsID="a05628b75d71c75c525c57950d78beaf" ns3:_="" ns4:_="">
    <xsd:import namespace="b45b625c-c26a-47f6-b683-8d6b2db36159"/>
    <xsd:import namespace="e5b8f56d-7793-429f-909c-9567ca729807"/>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5b625c-c26a-47f6-b683-8d6b2db361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5b8f56d-7793-429f-909c-9567ca729807"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SharingHintHash" ma:index="12"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821600-D61B-433B-B6F8-A294D9BC75DD}">
  <ds:schemaRefs>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e5b8f56d-7793-429f-909c-9567ca729807"/>
    <ds:schemaRef ds:uri="http://www.w3.org/XML/1998/namespace"/>
    <ds:schemaRef ds:uri="b45b625c-c26a-47f6-b683-8d6b2db36159"/>
    <ds:schemaRef ds:uri="http://purl.org/dc/dcmitype/"/>
    <ds:schemaRef ds:uri="http://purl.org/dc/terms/"/>
  </ds:schemaRefs>
</ds:datastoreItem>
</file>

<file path=customXml/itemProps2.xml><?xml version="1.0" encoding="utf-8"?>
<ds:datastoreItem xmlns:ds="http://schemas.openxmlformats.org/officeDocument/2006/customXml" ds:itemID="{64C43652-73DC-4C77-8E79-F06010C18C35}">
  <ds:schemaRefs>
    <ds:schemaRef ds:uri="http://schemas.microsoft.com/sharepoint/v3/contenttype/forms"/>
  </ds:schemaRefs>
</ds:datastoreItem>
</file>

<file path=customXml/itemProps3.xml><?xml version="1.0" encoding="utf-8"?>
<ds:datastoreItem xmlns:ds="http://schemas.openxmlformats.org/officeDocument/2006/customXml" ds:itemID="{E807244C-2A19-492C-973E-16C9A1F2AD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5b625c-c26a-47f6-b683-8d6b2db36159"/>
    <ds:schemaRef ds:uri="e5b8f56d-7793-429f-909c-9567ca7298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4688</TotalTime>
  <Words>1002</Words>
  <Application>Microsoft Office PowerPoint</Application>
  <PresentationFormat>Personalizado</PresentationFormat>
  <Paragraphs>93</Paragraphs>
  <Slides>17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Arial</vt:lpstr>
      <vt:lpstr>Arial Black</vt:lpstr>
      <vt:lpstr>Calibri</vt:lpstr>
      <vt:lpstr>Source Sans Pro</vt:lpstr>
      <vt:lpstr>Wingdings</vt:lpstr>
      <vt:lpstr>Office Theme</vt:lpstr>
      <vt:lpstr>ÁRBOLES DE DECISIÓN Y SISTEMAS DE REGLAS</vt:lpstr>
      <vt:lpstr>Presentación de PowerPoint</vt:lpstr>
      <vt:lpstr>INTRODUCCIÓN</vt:lpstr>
      <vt:lpstr>INTRODUCCIÓN</vt:lpstr>
      <vt:lpstr>INTRODUCCIÓN</vt:lpstr>
      <vt:lpstr>TÍTULO</vt:lpstr>
      <vt:lpstr>Presentación de PowerPoint</vt:lpstr>
      <vt:lpstr>Presentación de PowerPoint</vt:lpstr>
      <vt:lpstr>Presentación de PowerPoint</vt:lpstr>
      <vt:lpstr>Presentación de PowerPoint</vt:lpstr>
      <vt:lpstr>Presentación de PowerPoint</vt:lpstr>
      <vt:lpstr>ÁRBOLES PARA REGRESIÓN</vt:lpstr>
      <vt:lpstr>ÁRBOLES PARA REGRESIÓN</vt:lpstr>
      <vt:lpstr>ÁRBOLES PARA REGRESIÓN</vt:lpstr>
      <vt:lpstr>ÁRBOLES PARA REGRESIÓN</vt:lpstr>
      <vt:lpstr>RESUMEN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guillermo pinto</cp:lastModifiedBy>
  <cp:revision>253</cp:revision>
  <dcterms:created xsi:type="dcterms:W3CDTF">2022-07-20T19:15:37Z</dcterms:created>
  <dcterms:modified xsi:type="dcterms:W3CDTF">2023-11-27T00:04:58Z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0x010100BECEAD85B01C7F40A02717BA9EC5A5ED</vt:lpwstr>
  </property>
</Properties>
</file>