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26"/>
  </p:notesMasterIdLst>
  <p:sldIdLst>
    <p:sldId id="261" r:id="rId5"/>
    <p:sldId id="337" r:id="rId6"/>
    <p:sldId id="344" r:id="rId7"/>
    <p:sldId id="339" r:id="rId8"/>
    <p:sldId id="345" r:id="rId9"/>
    <p:sldId id="346" r:id="rId10"/>
    <p:sldId id="347" r:id="rId11"/>
    <p:sldId id="270" r:id="rId12"/>
    <p:sldId id="340" r:id="rId13"/>
    <p:sldId id="348" r:id="rId14"/>
    <p:sldId id="349" r:id="rId15"/>
    <p:sldId id="327" r:id="rId16"/>
    <p:sldId id="341" r:id="rId17"/>
    <p:sldId id="350" r:id="rId18"/>
    <p:sldId id="351" r:id="rId19"/>
    <p:sldId id="352" r:id="rId20"/>
    <p:sldId id="353" r:id="rId21"/>
    <p:sldId id="354" r:id="rId22"/>
    <p:sldId id="355" r:id="rId23"/>
    <p:sldId id="332" r:id="rId24"/>
    <p:sldId id="342" r:id="rId25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7CE1"/>
    <a:srgbClr val="C2D501"/>
    <a:srgbClr val="DB0532"/>
    <a:srgbClr val="B14EC4"/>
    <a:srgbClr val="FF595A"/>
    <a:srgbClr val="D39F17"/>
    <a:srgbClr val="58C0E9"/>
    <a:srgbClr val="DC0031"/>
    <a:srgbClr val="EF7821"/>
    <a:srgbClr val="C4D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442" autoAdjust="0"/>
    <p:restoredTop sz="94558"/>
  </p:normalViewPr>
  <p:slideViewPr>
    <p:cSldViewPr>
      <p:cViewPr varScale="1">
        <p:scale>
          <a:sx n="65" d="100"/>
          <a:sy n="65" d="100"/>
        </p:scale>
        <p:origin x="432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D35674-3C19-9844-8370-EE59E1CD260A}" type="datetimeFigureOut">
              <a:rPr lang="es-CL" smtClean="0"/>
              <a:t>04-12-2023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s-ES"/>
              <a:t>Editar los estilos de texto del patrón
Segundo nivel
Tercer nivel
Cuarto nivel
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C2C890-E6DE-1A45-98C6-E722FA6368DA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413941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9F4E23B3-D17D-BBDA-CF94-0F577C2DCC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38209" y="8700548"/>
            <a:ext cx="6781800" cy="5847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800">
                <a:solidFill>
                  <a:schemeClr val="bg1"/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38209" y="9612314"/>
            <a:ext cx="87126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dirty="0"/>
          </a:p>
        </p:txBody>
      </p:sp>
      <p:sp>
        <p:nvSpPr>
          <p:cNvPr id="14" name="object 10">
            <a:extLst>
              <a:ext uri="{FF2B5EF4-FFF2-40B4-BE49-F238E27FC236}">
                <a16:creationId xmlns:a16="http://schemas.microsoft.com/office/drawing/2014/main" id="{60E109FA-AB96-844B-8998-73B547E74E45}"/>
              </a:ext>
            </a:extLst>
          </p:cNvPr>
          <p:cNvSpPr/>
          <p:nvPr userDrawn="1"/>
        </p:nvSpPr>
        <p:spPr>
          <a:xfrm>
            <a:off x="2838209" y="9464675"/>
            <a:ext cx="8841105" cy="0"/>
          </a:xfrm>
          <a:custGeom>
            <a:avLst/>
            <a:gdLst/>
            <a:ahLst/>
            <a:cxnLst/>
            <a:rect l="l" t="t" r="r" b="b"/>
            <a:pathLst>
              <a:path w="8841105">
                <a:moveTo>
                  <a:pt x="0" y="0"/>
                </a:moveTo>
                <a:lnTo>
                  <a:pt x="8840652" y="0"/>
                </a:lnTo>
              </a:path>
            </a:pathLst>
          </a:custGeom>
          <a:ln w="10470">
            <a:solidFill>
              <a:schemeClr val="bg1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71AAB55C-247D-ECE0-5655-F1E1F2AF1A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340"/>
            <a:ext cx="20110047" cy="1130601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2F0E50CD-FEFD-B21C-4BE3-4F2AA3739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71786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74612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n 8">
            <a:extLst>
              <a:ext uri="{FF2B5EF4-FFF2-40B4-BE49-F238E27FC236}">
                <a16:creationId xmlns:a16="http://schemas.microsoft.com/office/drawing/2014/main" id="{121D21F6-64EA-9F7E-F1FC-89374B30965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994F59E7-28C4-825A-1194-67522AF99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1650" y="74834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87451F99-8CB8-50AA-1CC0-54512CBB6F1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9" name="Título 1">
            <a:extLst>
              <a:ext uri="{FF2B5EF4-FFF2-40B4-BE49-F238E27FC236}">
                <a16:creationId xmlns:a16="http://schemas.microsoft.com/office/drawing/2014/main" id="{2C83ACDF-F359-C1DD-3AF9-368B761AA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3050" y="7026275"/>
            <a:ext cx="9782022" cy="1538883"/>
          </a:xfrm>
        </p:spPr>
        <p:txBody>
          <a:bodyPr/>
          <a:lstStyle>
            <a:lvl1pPr algn="l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343363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>
            <a:extLst>
              <a:ext uri="{FF2B5EF4-FFF2-40B4-BE49-F238E27FC236}">
                <a16:creationId xmlns:a16="http://schemas.microsoft.com/office/drawing/2014/main" id="{2F738965-FD99-AFAE-3CAA-5CEAF99952B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11" name="Título 1">
            <a:extLst>
              <a:ext uri="{FF2B5EF4-FFF2-40B4-BE49-F238E27FC236}">
                <a16:creationId xmlns:a16="http://schemas.microsoft.com/office/drawing/2014/main" id="{4AB59064-93F0-56FE-006F-C58F84A8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4250" y="6950075"/>
            <a:ext cx="9782022" cy="1538883"/>
          </a:xfrm>
        </p:spPr>
        <p:txBody>
          <a:bodyPr/>
          <a:lstStyle>
            <a:lvl1pPr algn="r">
              <a:defRPr sz="50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n 21">
            <a:extLst>
              <a:ext uri="{FF2B5EF4-FFF2-40B4-BE49-F238E27FC236}">
                <a16:creationId xmlns:a16="http://schemas.microsoft.com/office/drawing/2014/main" id="{3973E67C-611D-F88A-80C1-185A9B8D41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8" name="Imagen 27">
            <a:extLst>
              <a:ext uri="{FF2B5EF4-FFF2-40B4-BE49-F238E27FC236}">
                <a16:creationId xmlns:a16="http://schemas.microsoft.com/office/drawing/2014/main" id="{3E466965-0C09-5FCB-13FD-111D1D2AD25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9" name="Rectángulo 28">
            <a:extLst>
              <a:ext uri="{FF2B5EF4-FFF2-40B4-BE49-F238E27FC236}">
                <a16:creationId xmlns:a16="http://schemas.microsoft.com/office/drawing/2014/main" id="{98C6A4D7-FDE0-20C5-1EB3-30217CE5E1DC}"/>
              </a:ext>
            </a:extLst>
          </p:cNvPr>
          <p:cNvSpPr/>
          <p:nvPr userDrawn="1"/>
        </p:nvSpPr>
        <p:spPr>
          <a:xfrm>
            <a:off x="4413250" y="42068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30" name="Título 1">
            <a:extLst>
              <a:ext uri="{FF2B5EF4-FFF2-40B4-BE49-F238E27FC236}">
                <a16:creationId xmlns:a16="http://schemas.microsoft.com/office/drawing/2014/main" id="{EE9CC866-5882-3C12-E5D7-404765C18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2028" y="45340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38586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n 20">
            <a:extLst>
              <a:ext uri="{FF2B5EF4-FFF2-40B4-BE49-F238E27FC236}">
                <a16:creationId xmlns:a16="http://schemas.microsoft.com/office/drawing/2014/main" id="{FADFFD87-E732-F006-B065-62B946429BC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5FB62982-E03B-E5B0-2921-4742F850F5A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FA473640-6785-830B-E009-5E08A060B6B1}"/>
              </a:ext>
            </a:extLst>
          </p:cNvPr>
          <p:cNvSpPr/>
          <p:nvPr userDrawn="1"/>
        </p:nvSpPr>
        <p:spPr>
          <a:xfrm>
            <a:off x="7232650" y="7880350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B55FBF2B-6203-81C7-B7DD-070ABE20B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1428" y="8207476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7110974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438F75-3EE0-1345-84D2-95B57EB1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32050" y="714594"/>
            <a:ext cx="16988263" cy="738664"/>
          </a:xfrm>
        </p:spPr>
        <p:txBody>
          <a:bodyPr/>
          <a:lstStyle>
            <a:lvl1pPr>
              <a:defRPr sz="4800"/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  <p:sp>
        <p:nvSpPr>
          <p:cNvPr id="6" name="object 7">
            <a:extLst>
              <a:ext uri="{FF2B5EF4-FFF2-40B4-BE49-F238E27FC236}">
                <a16:creationId xmlns:a16="http://schemas.microsoft.com/office/drawing/2014/main" id="{14BF04F1-8F4E-3E46-A3B2-80F47EADF391}"/>
              </a:ext>
            </a:extLst>
          </p:cNvPr>
          <p:cNvSpPr/>
          <p:nvPr userDrawn="1"/>
        </p:nvSpPr>
        <p:spPr>
          <a:xfrm>
            <a:off x="-6350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3">
            <a:extLst>
              <a:ext uri="{FF2B5EF4-FFF2-40B4-BE49-F238E27FC236}">
                <a16:creationId xmlns:a16="http://schemas.microsoft.com/office/drawing/2014/main" id="{7932DF43-D838-5B47-A92B-B88C568B4A19}"/>
              </a:ext>
            </a:extLst>
          </p:cNvPr>
          <p:cNvSpPr/>
          <p:nvPr userDrawn="1"/>
        </p:nvSpPr>
        <p:spPr>
          <a:xfrm>
            <a:off x="16938421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69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34" y="299389"/>
                </a:lnTo>
                <a:lnTo>
                  <a:pt x="300723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07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588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38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59" y="484936"/>
                </a:lnTo>
                <a:lnTo>
                  <a:pt x="324205" y="466864"/>
                </a:lnTo>
                <a:lnTo>
                  <a:pt x="359016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69" h="511175">
                <a:moveTo>
                  <a:pt x="827582" y="502602"/>
                </a:moveTo>
                <a:lnTo>
                  <a:pt x="826490" y="478307"/>
                </a:lnTo>
                <a:lnTo>
                  <a:pt x="825538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28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69" h="511175">
                <a:moveTo>
                  <a:pt x="1244155" y="318274"/>
                </a:moveTo>
                <a:lnTo>
                  <a:pt x="1238161" y="266484"/>
                </a:lnTo>
                <a:lnTo>
                  <a:pt x="1220876" y="221424"/>
                </a:lnTo>
                <a:lnTo>
                  <a:pt x="1193355" y="184315"/>
                </a:lnTo>
                <a:lnTo>
                  <a:pt x="1156639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39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46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37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395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35" y="461340"/>
                </a:lnTo>
                <a:lnTo>
                  <a:pt x="957567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896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69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44" y="133451"/>
                </a:lnTo>
                <a:lnTo>
                  <a:pt x="1489964" y="132499"/>
                </a:lnTo>
                <a:lnTo>
                  <a:pt x="1436065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82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4">
            <a:extLst>
              <a:ext uri="{FF2B5EF4-FFF2-40B4-BE49-F238E27FC236}">
                <a16:creationId xmlns:a16="http://schemas.microsoft.com/office/drawing/2014/main" id="{9DEB8F4A-6C01-284B-B123-A27D152597CD}"/>
              </a:ext>
            </a:extLst>
          </p:cNvPr>
          <p:cNvSpPr/>
          <p:nvPr userDrawn="1"/>
        </p:nvSpPr>
        <p:spPr>
          <a:xfrm>
            <a:off x="18623540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59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5">
            <a:extLst>
              <a:ext uri="{FF2B5EF4-FFF2-40B4-BE49-F238E27FC236}">
                <a16:creationId xmlns:a16="http://schemas.microsoft.com/office/drawing/2014/main" id="{50440F77-9AF6-2142-A93F-4B5F6DDBD871}"/>
              </a:ext>
            </a:extLst>
          </p:cNvPr>
          <p:cNvGrpSpPr/>
          <p:nvPr userDrawn="1"/>
        </p:nvGrpSpPr>
        <p:grpSpPr>
          <a:xfrm>
            <a:off x="19053919" y="10117702"/>
            <a:ext cx="427355" cy="597535"/>
            <a:chOff x="19053919" y="10117702"/>
            <a:chExt cx="427355" cy="597535"/>
          </a:xfrm>
        </p:grpSpPr>
        <p:sp>
          <p:nvSpPr>
            <p:cNvPr id="10" name="object 6">
              <a:extLst>
                <a:ext uri="{FF2B5EF4-FFF2-40B4-BE49-F238E27FC236}">
                  <a16:creationId xmlns:a16="http://schemas.microsoft.com/office/drawing/2014/main" id="{B5FF8718-DC05-C046-A01E-6155D9ABE0D5}"/>
                </a:ext>
              </a:extLst>
            </p:cNvPr>
            <p:cNvSpPr/>
            <p:nvPr/>
          </p:nvSpPr>
          <p:spPr>
            <a:xfrm>
              <a:off x="19053919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7">
              <a:extLst>
                <a:ext uri="{FF2B5EF4-FFF2-40B4-BE49-F238E27FC236}">
                  <a16:creationId xmlns:a16="http://schemas.microsoft.com/office/drawing/2014/main" id="{680319A8-C88C-E845-B967-74CD5DD4CA96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9368634" y="10117702"/>
              <a:ext cx="112300" cy="1122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913852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bject 2">
            <a:extLst>
              <a:ext uri="{FF2B5EF4-FFF2-40B4-BE49-F238E27FC236}">
                <a16:creationId xmlns:a16="http://schemas.microsoft.com/office/drawing/2014/main" id="{248CA032-B7CF-AC47-80C3-3DC0FECADE87}"/>
              </a:ext>
            </a:extLst>
          </p:cNvPr>
          <p:cNvSpPr/>
          <p:nvPr userDrawn="1"/>
        </p:nvSpPr>
        <p:spPr>
          <a:xfrm>
            <a:off x="727227" y="10202309"/>
            <a:ext cx="1576070" cy="511175"/>
          </a:xfrm>
          <a:custGeom>
            <a:avLst/>
            <a:gdLst/>
            <a:ahLst/>
            <a:cxnLst/>
            <a:rect l="l" t="t" r="r" b="b"/>
            <a:pathLst>
              <a:path w="1576070" h="511175">
                <a:moveTo>
                  <a:pt x="441172" y="241312"/>
                </a:moveTo>
                <a:lnTo>
                  <a:pt x="435267" y="179641"/>
                </a:lnTo>
                <a:lnTo>
                  <a:pt x="418414" y="127673"/>
                </a:lnTo>
                <a:lnTo>
                  <a:pt x="392747" y="86601"/>
                </a:lnTo>
                <a:lnTo>
                  <a:pt x="391845" y="85153"/>
                </a:lnTo>
                <a:lnTo>
                  <a:pt x="356819" y="51803"/>
                </a:lnTo>
                <a:lnTo>
                  <a:pt x="322008" y="30734"/>
                </a:lnTo>
                <a:lnTo>
                  <a:pt x="322008" y="245008"/>
                </a:lnTo>
                <a:lnTo>
                  <a:pt x="316547" y="299389"/>
                </a:lnTo>
                <a:lnTo>
                  <a:pt x="300736" y="343433"/>
                </a:lnTo>
                <a:lnTo>
                  <a:pt x="275463" y="377329"/>
                </a:lnTo>
                <a:lnTo>
                  <a:pt x="241617" y="401231"/>
                </a:lnTo>
                <a:lnTo>
                  <a:pt x="200088" y="415315"/>
                </a:lnTo>
                <a:lnTo>
                  <a:pt x="151752" y="419722"/>
                </a:lnTo>
                <a:lnTo>
                  <a:pt x="141351" y="419684"/>
                </a:lnTo>
                <a:lnTo>
                  <a:pt x="130746" y="419442"/>
                </a:lnTo>
                <a:lnTo>
                  <a:pt x="120827" y="418769"/>
                </a:lnTo>
                <a:lnTo>
                  <a:pt x="112496" y="417474"/>
                </a:lnTo>
                <a:lnTo>
                  <a:pt x="112496" y="91033"/>
                </a:lnTo>
                <a:lnTo>
                  <a:pt x="121119" y="89408"/>
                </a:lnTo>
                <a:lnTo>
                  <a:pt x="132499" y="87985"/>
                </a:lnTo>
                <a:lnTo>
                  <a:pt x="146659" y="86982"/>
                </a:lnTo>
                <a:lnTo>
                  <a:pt x="163601" y="86601"/>
                </a:lnTo>
                <a:lnTo>
                  <a:pt x="209257" y="90881"/>
                </a:lnTo>
                <a:lnTo>
                  <a:pt x="248094" y="103809"/>
                </a:lnTo>
                <a:lnTo>
                  <a:pt x="279450" y="125552"/>
                </a:lnTo>
                <a:lnTo>
                  <a:pt x="302653" y="156235"/>
                </a:lnTo>
                <a:lnTo>
                  <a:pt x="317055" y="196011"/>
                </a:lnTo>
                <a:lnTo>
                  <a:pt x="322008" y="245008"/>
                </a:lnTo>
                <a:lnTo>
                  <a:pt x="322008" y="30734"/>
                </a:lnTo>
                <a:lnTo>
                  <a:pt x="318211" y="28422"/>
                </a:lnTo>
                <a:lnTo>
                  <a:pt x="272313" y="12306"/>
                </a:lnTo>
                <a:lnTo>
                  <a:pt x="217411" y="2997"/>
                </a:lnTo>
                <a:lnTo>
                  <a:pt x="151752" y="0"/>
                </a:lnTo>
                <a:lnTo>
                  <a:pt x="110134" y="685"/>
                </a:lnTo>
                <a:lnTo>
                  <a:pt x="70319" y="2768"/>
                </a:lnTo>
                <a:lnTo>
                  <a:pt x="33286" y="6235"/>
                </a:lnTo>
                <a:lnTo>
                  <a:pt x="0" y="11099"/>
                </a:lnTo>
                <a:lnTo>
                  <a:pt x="0" y="500392"/>
                </a:lnTo>
                <a:lnTo>
                  <a:pt x="23342" y="503123"/>
                </a:lnTo>
                <a:lnTo>
                  <a:pt x="52374" y="505485"/>
                </a:lnTo>
                <a:lnTo>
                  <a:pt x="87236" y="507161"/>
                </a:lnTo>
                <a:lnTo>
                  <a:pt x="128054" y="507796"/>
                </a:lnTo>
                <a:lnTo>
                  <a:pt x="184556" y="505294"/>
                </a:lnTo>
                <a:lnTo>
                  <a:pt x="236435" y="497713"/>
                </a:lnTo>
                <a:lnTo>
                  <a:pt x="283171" y="484936"/>
                </a:lnTo>
                <a:lnTo>
                  <a:pt x="324205" y="466864"/>
                </a:lnTo>
                <a:lnTo>
                  <a:pt x="359029" y="443407"/>
                </a:lnTo>
                <a:lnTo>
                  <a:pt x="382054" y="419722"/>
                </a:lnTo>
                <a:lnTo>
                  <a:pt x="385749" y="415925"/>
                </a:lnTo>
                <a:lnTo>
                  <a:pt x="408393" y="382181"/>
                </a:lnTo>
                <a:lnTo>
                  <a:pt x="425894" y="341972"/>
                </a:lnTo>
                <a:lnTo>
                  <a:pt x="437172" y="295097"/>
                </a:lnTo>
                <a:lnTo>
                  <a:pt x="441172" y="241312"/>
                </a:lnTo>
                <a:close/>
              </a:path>
              <a:path w="1576070" h="511175">
                <a:moveTo>
                  <a:pt x="827582" y="502602"/>
                </a:moveTo>
                <a:lnTo>
                  <a:pt x="826503" y="478307"/>
                </a:lnTo>
                <a:lnTo>
                  <a:pt x="825550" y="450888"/>
                </a:lnTo>
                <a:lnTo>
                  <a:pt x="824865" y="420268"/>
                </a:lnTo>
                <a:lnTo>
                  <a:pt x="824611" y="386397"/>
                </a:lnTo>
                <a:lnTo>
                  <a:pt x="824611" y="140639"/>
                </a:lnTo>
                <a:lnTo>
                  <a:pt x="712089" y="140639"/>
                </a:lnTo>
                <a:lnTo>
                  <a:pt x="712089" y="365671"/>
                </a:lnTo>
                <a:lnTo>
                  <a:pt x="710641" y="373811"/>
                </a:lnTo>
                <a:lnTo>
                  <a:pt x="688695" y="406768"/>
                </a:lnTo>
                <a:lnTo>
                  <a:pt x="651395" y="419722"/>
                </a:lnTo>
                <a:lnTo>
                  <a:pt x="625627" y="413918"/>
                </a:lnTo>
                <a:lnTo>
                  <a:pt x="607910" y="397230"/>
                </a:lnTo>
                <a:lnTo>
                  <a:pt x="597687" y="370674"/>
                </a:lnTo>
                <a:lnTo>
                  <a:pt x="594398" y="335330"/>
                </a:lnTo>
                <a:lnTo>
                  <a:pt x="594398" y="140639"/>
                </a:lnTo>
                <a:lnTo>
                  <a:pt x="481888" y="140639"/>
                </a:lnTo>
                <a:lnTo>
                  <a:pt x="481888" y="353072"/>
                </a:lnTo>
                <a:lnTo>
                  <a:pt x="488022" y="412394"/>
                </a:lnTo>
                <a:lnTo>
                  <a:pt x="505383" y="456869"/>
                </a:lnTo>
                <a:lnTo>
                  <a:pt x="532409" y="487451"/>
                </a:lnTo>
                <a:lnTo>
                  <a:pt x="567537" y="505091"/>
                </a:lnTo>
                <a:lnTo>
                  <a:pt x="609206" y="510768"/>
                </a:lnTo>
                <a:lnTo>
                  <a:pt x="652399" y="504634"/>
                </a:lnTo>
                <a:lnTo>
                  <a:pt x="684987" y="489483"/>
                </a:lnTo>
                <a:lnTo>
                  <a:pt x="707986" y="470154"/>
                </a:lnTo>
                <a:lnTo>
                  <a:pt x="722452" y="451535"/>
                </a:lnTo>
                <a:lnTo>
                  <a:pt x="724674" y="451535"/>
                </a:lnTo>
                <a:lnTo>
                  <a:pt x="729869" y="502602"/>
                </a:lnTo>
                <a:lnTo>
                  <a:pt x="827582" y="502602"/>
                </a:lnTo>
                <a:close/>
              </a:path>
              <a:path w="1576070" h="511175">
                <a:moveTo>
                  <a:pt x="1244155" y="318274"/>
                </a:moveTo>
                <a:lnTo>
                  <a:pt x="1238161" y="266484"/>
                </a:lnTo>
                <a:lnTo>
                  <a:pt x="1220889" y="221424"/>
                </a:lnTo>
                <a:lnTo>
                  <a:pt x="1193355" y="184315"/>
                </a:lnTo>
                <a:lnTo>
                  <a:pt x="1156652" y="156324"/>
                </a:lnTo>
                <a:lnTo>
                  <a:pt x="1127175" y="144729"/>
                </a:lnTo>
                <a:lnTo>
                  <a:pt x="1127175" y="321259"/>
                </a:lnTo>
                <a:lnTo>
                  <a:pt x="1122210" y="365747"/>
                </a:lnTo>
                <a:lnTo>
                  <a:pt x="1107948" y="400088"/>
                </a:lnTo>
                <a:lnTo>
                  <a:pt x="1085354" y="422224"/>
                </a:lnTo>
                <a:lnTo>
                  <a:pt x="1055395" y="430072"/>
                </a:lnTo>
                <a:lnTo>
                  <a:pt x="1054658" y="430072"/>
                </a:lnTo>
                <a:lnTo>
                  <a:pt x="1023213" y="421817"/>
                </a:lnTo>
                <a:lnTo>
                  <a:pt x="1000252" y="399072"/>
                </a:lnTo>
                <a:lnTo>
                  <a:pt x="986155" y="364807"/>
                </a:lnTo>
                <a:lnTo>
                  <a:pt x="981367" y="322008"/>
                </a:lnTo>
                <a:lnTo>
                  <a:pt x="985443" y="282206"/>
                </a:lnTo>
                <a:lnTo>
                  <a:pt x="998397" y="247332"/>
                </a:lnTo>
                <a:lnTo>
                  <a:pt x="1021359" y="222580"/>
                </a:lnTo>
                <a:lnTo>
                  <a:pt x="1055395" y="213169"/>
                </a:lnTo>
                <a:lnTo>
                  <a:pt x="1088174" y="222580"/>
                </a:lnTo>
                <a:lnTo>
                  <a:pt x="1110449" y="247230"/>
                </a:lnTo>
                <a:lnTo>
                  <a:pt x="1123149" y="281889"/>
                </a:lnTo>
                <a:lnTo>
                  <a:pt x="1127175" y="321259"/>
                </a:lnTo>
                <a:lnTo>
                  <a:pt x="1127175" y="144729"/>
                </a:lnTo>
                <a:lnTo>
                  <a:pt x="1111783" y="138658"/>
                </a:lnTo>
                <a:lnTo>
                  <a:pt x="1059827" y="132511"/>
                </a:lnTo>
                <a:lnTo>
                  <a:pt x="1012253" y="136982"/>
                </a:lnTo>
                <a:lnTo>
                  <a:pt x="970229" y="150050"/>
                </a:lnTo>
                <a:lnTo>
                  <a:pt x="934402" y="171119"/>
                </a:lnTo>
                <a:lnTo>
                  <a:pt x="905408" y="199644"/>
                </a:lnTo>
                <a:lnTo>
                  <a:pt x="883894" y="235051"/>
                </a:lnTo>
                <a:lnTo>
                  <a:pt x="870508" y="276745"/>
                </a:lnTo>
                <a:lnTo>
                  <a:pt x="865911" y="324192"/>
                </a:lnTo>
                <a:lnTo>
                  <a:pt x="872426" y="378625"/>
                </a:lnTo>
                <a:lnTo>
                  <a:pt x="890930" y="424548"/>
                </a:lnTo>
                <a:lnTo>
                  <a:pt x="919848" y="461340"/>
                </a:lnTo>
                <a:lnTo>
                  <a:pt x="957580" y="488378"/>
                </a:lnTo>
                <a:lnTo>
                  <a:pt x="1002538" y="505066"/>
                </a:lnTo>
                <a:lnTo>
                  <a:pt x="1053160" y="510755"/>
                </a:lnTo>
                <a:lnTo>
                  <a:pt x="1053909" y="510755"/>
                </a:lnTo>
                <a:lnTo>
                  <a:pt x="1094740" y="507009"/>
                </a:lnTo>
                <a:lnTo>
                  <a:pt x="1133703" y="495655"/>
                </a:lnTo>
                <a:lnTo>
                  <a:pt x="1169187" y="476491"/>
                </a:lnTo>
                <a:lnTo>
                  <a:pt x="1199578" y="449364"/>
                </a:lnTo>
                <a:lnTo>
                  <a:pt x="1223276" y="414070"/>
                </a:lnTo>
                <a:lnTo>
                  <a:pt x="1238669" y="370433"/>
                </a:lnTo>
                <a:lnTo>
                  <a:pt x="1244155" y="318274"/>
                </a:lnTo>
                <a:close/>
              </a:path>
              <a:path w="1576070" h="511175">
                <a:moveTo>
                  <a:pt x="1575854" y="146558"/>
                </a:moveTo>
                <a:lnTo>
                  <a:pt x="1556600" y="140614"/>
                </a:lnTo>
                <a:lnTo>
                  <a:pt x="1535125" y="136194"/>
                </a:lnTo>
                <a:lnTo>
                  <a:pt x="1512557" y="133451"/>
                </a:lnTo>
                <a:lnTo>
                  <a:pt x="1489964" y="132499"/>
                </a:lnTo>
                <a:lnTo>
                  <a:pt x="1436077" y="137604"/>
                </a:lnTo>
                <a:lnTo>
                  <a:pt x="1389964" y="152133"/>
                </a:lnTo>
                <a:lnTo>
                  <a:pt x="1351838" y="174917"/>
                </a:lnTo>
                <a:lnTo>
                  <a:pt x="1321866" y="204762"/>
                </a:lnTo>
                <a:lnTo>
                  <a:pt x="1300238" y="240499"/>
                </a:lnTo>
                <a:lnTo>
                  <a:pt x="1287132" y="280949"/>
                </a:lnTo>
                <a:lnTo>
                  <a:pt x="1282712" y="324942"/>
                </a:lnTo>
                <a:lnTo>
                  <a:pt x="1287195" y="371144"/>
                </a:lnTo>
                <a:lnTo>
                  <a:pt x="1300264" y="411645"/>
                </a:lnTo>
                <a:lnTo>
                  <a:pt x="1321346" y="445947"/>
                </a:lnTo>
                <a:lnTo>
                  <a:pt x="1349870" y="473532"/>
                </a:lnTo>
                <a:lnTo>
                  <a:pt x="1385277" y="493864"/>
                </a:lnTo>
                <a:lnTo>
                  <a:pt x="1426984" y="506450"/>
                </a:lnTo>
                <a:lnTo>
                  <a:pt x="1474431" y="510755"/>
                </a:lnTo>
                <a:lnTo>
                  <a:pt x="1505470" y="509460"/>
                </a:lnTo>
                <a:lnTo>
                  <a:pt x="1556994" y="500468"/>
                </a:lnTo>
                <a:lnTo>
                  <a:pt x="1561782" y="410832"/>
                </a:lnTo>
                <a:lnTo>
                  <a:pt x="1548282" y="415810"/>
                </a:lnTo>
                <a:lnTo>
                  <a:pt x="1533194" y="419531"/>
                </a:lnTo>
                <a:lnTo>
                  <a:pt x="1516278" y="421868"/>
                </a:lnTo>
                <a:lnTo>
                  <a:pt x="1497355" y="422681"/>
                </a:lnTo>
                <a:lnTo>
                  <a:pt x="1458760" y="416090"/>
                </a:lnTo>
                <a:lnTo>
                  <a:pt x="1427226" y="396582"/>
                </a:lnTo>
                <a:lnTo>
                  <a:pt x="1405966" y="364591"/>
                </a:lnTo>
                <a:lnTo>
                  <a:pt x="1398155" y="320522"/>
                </a:lnTo>
                <a:lnTo>
                  <a:pt x="1404683" y="279692"/>
                </a:lnTo>
                <a:lnTo>
                  <a:pt x="1424178" y="247599"/>
                </a:lnTo>
                <a:lnTo>
                  <a:pt x="1454924" y="226606"/>
                </a:lnTo>
                <a:lnTo>
                  <a:pt x="1495171" y="219087"/>
                </a:lnTo>
                <a:lnTo>
                  <a:pt x="1515630" y="219989"/>
                </a:lnTo>
                <a:lnTo>
                  <a:pt x="1532737" y="222427"/>
                </a:lnTo>
                <a:lnTo>
                  <a:pt x="1546796" y="225971"/>
                </a:lnTo>
                <a:lnTo>
                  <a:pt x="1558086" y="230212"/>
                </a:lnTo>
                <a:lnTo>
                  <a:pt x="1575854" y="1465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AB72D184-1BCC-8E4D-AB97-E7C9B55D20C7}"/>
              </a:ext>
            </a:extLst>
          </p:cNvPr>
          <p:cNvSpPr/>
          <p:nvPr userDrawn="1"/>
        </p:nvSpPr>
        <p:spPr>
          <a:xfrm>
            <a:off x="2412348" y="10245307"/>
            <a:ext cx="378460" cy="469900"/>
          </a:xfrm>
          <a:custGeom>
            <a:avLst/>
            <a:gdLst/>
            <a:ahLst/>
            <a:cxnLst/>
            <a:rect l="l" t="t" r="r" b="b"/>
            <a:pathLst>
              <a:path w="378460" h="469900">
                <a:moveTo>
                  <a:pt x="377967" y="0"/>
                </a:moveTo>
                <a:lnTo>
                  <a:pt x="273688" y="0"/>
                </a:lnTo>
                <a:lnTo>
                  <a:pt x="273688" y="266117"/>
                </a:lnTo>
                <a:lnTo>
                  <a:pt x="268116" y="319317"/>
                </a:lnTo>
                <a:lnTo>
                  <a:pt x="251744" y="356757"/>
                </a:lnTo>
                <a:lnTo>
                  <a:pt x="225083" y="378889"/>
                </a:lnTo>
                <a:lnTo>
                  <a:pt x="188643" y="386166"/>
                </a:lnTo>
                <a:lnTo>
                  <a:pt x="152992" y="378600"/>
                </a:lnTo>
                <a:lnTo>
                  <a:pt x="126738" y="355987"/>
                </a:lnTo>
                <a:lnTo>
                  <a:pt x="110518" y="318451"/>
                </a:lnTo>
                <a:lnTo>
                  <a:pt x="104970" y="266117"/>
                </a:lnTo>
                <a:lnTo>
                  <a:pt x="104970" y="0"/>
                </a:lnTo>
                <a:lnTo>
                  <a:pt x="0" y="0"/>
                </a:lnTo>
                <a:lnTo>
                  <a:pt x="0" y="257897"/>
                </a:lnTo>
                <a:lnTo>
                  <a:pt x="4140" y="316080"/>
                </a:lnTo>
                <a:lnTo>
                  <a:pt x="16320" y="364420"/>
                </a:lnTo>
                <a:lnTo>
                  <a:pt x="36180" y="403244"/>
                </a:lnTo>
                <a:lnTo>
                  <a:pt x="63360" y="432875"/>
                </a:lnTo>
                <a:lnTo>
                  <a:pt x="97498" y="453638"/>
                </a:lnTo>
                <a:lnTo>
                  <a:pt x="138234" y="465858"/>
                </a:lnTo>
                <a:lnTo>
                  <a:pt x="185209" y="469860"/>
                </a:lnTo>
                <a:lnTo>
                  <a:pt x="233897" y="465682"/>
                </a:lnTo>
                <a:lnTo>
                  <a:pt x="276216" y="453068"/>
                </a:lnTo>
                <a:lnTo>
                  <a:pt x="311756" y="431899"/>
                </a:lnTo>
                <a:lnTo>
                  <a:pt x="340111" y="402056"/>
                </a:lnTo>
                <a:lnTo>
                  <a:pt x="360870" y="363417"/>
                </a:lnTo>
                <a:lnTo>
                  <a:pt x="373625" y="315865"/>
                </a:lnTo>
                <a:lnTo>
                  <a:pt x="377967" y="259280"/>
                </a:lnTo>
                <a:lnTo>
                  <a:pt x="37796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3" name="object 4">
            <a:extLst>
              <a:ext uri="{FF2B5EF4-FFF2-40B4-BE49-F238E27FC236}">
                <a16:creationId xmlns:a16="http://schemas.microsoft.com/office/drawing/2014/main" id="{A2800012-DA06-CF45-A47A-D4B30EA37B75}"/>
              </a:ext>
            </a:extLst>
          </p:cNvPr>
          <p:cNvGrpSpPr/>
          <p:nvPr userDrawn="1"/>
        </p:nvGrpSpPr>
        <p:grpSpPr>
          <a:xfrm>
            <a:off x="2842727" y="10117702"/>
            <a:ext cx="427355" cy="597535"/>
            <a:chOff x="2842727" y="10117702"/>
            <a:chExt cx="427355" cy="597535"/>
          </a:xfrm>
        </p:grpSpPr>
        <p:sp>
          <p:nvSpPr>
            <p:cNvPr id="14" name="object 5">
              <a:extLst>
                <a:ext uri="{FF2B5EF4-FFF2-40B4-BE49-F238E27FC236}">
                  <a16:creationId xmlns:a16="http://schemas.microsoft.com/office/drawing/2014/main" id="{039AC548-D805-B546-AF98-3B421C054969}"/>
                </a:ext>
              </a:extLst>
            </p:cNvPr>
            <p:cNvSpPr/>
            <p:nvPr/>
          </p:nvSpPr>
          <p:spPr>
            <a:xfrm>
              <a:off x="2842727" y="10237764"/>
              <a:ext cx="366395" cy="477520"/>
            </a:xfrm>
            <a:custGeom>
              <a:avLst/>
              <a:gdLst/>
              <a:ahLst/>
              <a:cxnLst/>
              <a:rect l="l" t="t" r="r" b="b"/>
              <a:pathLst>
                <a:path w="366394" h="477520">
                  <a:moveTo>
                    <a:pt x="252421" y="0"/>
                  </a:moveTo>
                  <a:lnTo>
                    <a:pt x="206913" y="3226"/>
                  </a:lnTo>
                  <a:lnTo>
                    <a:pt x="164136" y="12810"/>
                  </a:lnTo>
                  <a:lnTo>
                    <a:pt x="124791" y="28603"/>
                  </a:lnTo>
                  <a:lnTo>
                    <a:pt x="89578" y="50459"/>
                  </a:lnTo>
                  <a:lnTo>
                    <a:pt x="59197" y="78232"/>
                  </a:lnTo>
                  <a:lnTo>
                    <a:pt x="34348" y="111776"/>
                  </a:lnTo>
                  <a:lnTo>
                    <a:pt x="15732" y="150943"/>
                  </a:lnTo>
                  <a:lnTo>
                    <a:pt x="4049" y="195587"/>
                  </a:lnTo>
                  <a:lnTo>
                    <a:pt x="0" y="245563"/>
                  </a:lnTo>
                  <a:lnTo>
                    <a:pt x="3849" y="293331"/>
                  </a:lnTo>
                  <a:lnTo>
                    <a:pt x="15359" y="337340"/>
                  </a:lnTo>
                  <a:lnTo>
                    <a:pt x="34475" y="376785"/>
                  </a:lnTo>
                  <a:lnTo>
                    <a:pt x="61138" y="410861"/>
                  </a:lnTo>
                  <a:lnTo>
                    <a:pt x="95292" y="438765"/>
                  </a:lnTo>
                  <a:lnTo>
                    <a:pt x="136882" y="459692"/>
                  </a:lnTo>
                  <a:lnTo>
                    <a:pt x="185849" y="472838"/>
                  </a:lnTo>
                  <a:lnTo>
                    <a:pt x="242139" y="477399"/>
                  </a:lnTo>
                  <a:lnTo>
                    <a:pt x="281711" y="475535"/>
                  </a:lnTo>
                  <a:lnTo>
                    <a:pt x="315367" y="470716"/>
                  </a:lnTo>
                  <a:lnTo>
                    <a:pt x="342072" y="464093"/>
                  </a:lnTo>
                  <a:lnTo>
                    <a:pt x="360795" y="456823"/>
                  </a:lnTo>
                  <a:lnTo>
                    <a:pt x="345036" y="375213"/>
                  </a:lnTo>
                  <a:lnTo>
                    <a:pt x="327174" y="381031"/>
                  </a:lnTo>
                  <a:lnTo>
                    <a:pt x="305583" y="385825"/>
                  </a:lnTo>
                  <a:lnTo>
                    <a:pt x="281936" y="389081"/>
                  </a:lnTo>
                  <a:lnTo>
                    <a:pt x="257908" y="390281"/>
                  </a:lnTo>
                  <a:lnTo>
                    <a:pt x="206680" y="383477"/>
                  </a:lnTo>
                  <a:lnTo>
                    <a:pt x="165463" y="363832"/>
                  </a:lnTo>
                  <a:lnTo>
                    <a:pt x="135046" y="332499"/>
                  </a:lnTo>
                  <a:lnTo>
                    <a:pt x="116217" y="290629"/>
                  </a:lnTo>
                  <a:lnTo>
                    <a:pt x="109766" y="239374"/>
                  </a:lnTo>
                  <a:lnTo>
                    <a:pt x="117134" y="183960"/>
                  </a:lnTo>
                  <a:lnTo>
                    <a:pt x="137767" y="141083"/>
                  </a:lnTo>
                  <a:lnTo>
                    <a:pt x="169464" y="110615"/>
                  </a:lnTo>
                  <a:lnTo>
                    <a:pt x="210018" y="92429"/>
                  </a:lnTo>
                  <a:lnTo>
                    <a:pt x="257227" y="86395"/>
                  </a:lnTo>
                  <a:lnTo>
                    <a:pt x="283580" y="87824"/>
                  </a:lnTo>
                  <a:lnTo>
                    <a:pt x="307041" y="91638"/>
                  </a:lnTo>
                  <a:lnTo>
                    <a:pt x="327548" y="97129"/>
                  </a:lnTo>
                  <a:lnTo>
                    <a:pt x="345036" y="103588"/>
                  </a:lnTo>
                  <a:lnTo>
                    <a:pt x="366302" y="20575"/>
                  </a:lnTo>
                  <a:lnTo>
                    <a:pt x="348314" y="13309"/>
                  </a:lnTo>
                  <a:lnTo>
                    <a:pt x="322736" y="6686"/>
                  </a:lnTo>
                  <a:lnTo>
                    <a:pt x="290470" y="1864"/>
                  </a:lnTo>
                  <a:lnTo>
                    <a:pt x="25242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5" name="object 6">
              <a:extLst>
                <a:ext uri="{FF2B5EF4-FFF2-40B4-BE49-F238E27FC236}">
                  <a16:creationId xmlns:a16="http://schemas.microsoft.com/office/drawing/2014/main" id="{DAA5A1C9-3FFD-F741-93B2-F1CDA55129CC}"/>
                </a:ext>
              </a:extLst>
            </p:cNvPr>
            <p:cNvPicPr/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157442" y="10117702"/>
              <a:ext cx="112300" cy="112268"/>
            </a:xfrm>
            <a:prstGeom prst="rect">
              <a:avLst/>
            </a:prstGeom>
          </p:spPr>
        </p:pic>
      </p:grpSp>
      <p:sp>
        <p:nvSpPr>
          <p:cNvPr id="16" name="object 7">
            <a:extLst>
              <a:ext uri="{FF2B5EF4-FFF2-40B4-BE49-F238E27FC236}">
                <a16:creationId xmlns:a16="http://schemas.microsoft.com/office/drawing/2014/main" id="{2AF2BE2F-4D9A-CF4D-AF78-BAD6CC1B2837}"/>
              </a:ext>
            </a:extLst>
          </p:cNvPr>
          <p:cNvSpPr/>
          <p:nvPr userDrawn="1"/>
        </p:nvSpPr>
        <p:spPr>
          <a:xfrm>
            <a:off x="17840597" y="656116"/>
            <a:ext cx="2243455" cy="1060450"/>
          </a:xfrm>
          <a:custGeom>
            <a:avLst/>
            <a:gdLst/>
            <a:ahLst/>
            <a:cxnLst/>
            <a:rect l="l" t="t" r="r" b="b"/>
            <a:pathLst>
              <a:path w="2243455" h="1060450">
                <a:moveTo>
                  <a:pt x="2243429" y="0"/>
                </a:moveTo>
                <a:lnTo>
                  <a:pt x="0" y="0"/>
                </a:lnTo>
                <a:lnTo>
                  <a:pt x="0" y="1059999"/>
                </a:lnTo>
                <a:lnTo>
                  <a:pt x="2243429" y="1059999"/>
                </a:lnTo>
                <a:lnTo>
                  <a:pt x="2243429" y="0"/>
                </a:lnTo>
                <a:close/>
              </a:path>
            </a:pathLst>
          </a:custGeom>
          <a:solidFill>
            <a:srgbClr val="257CE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Marcador de texto 17">
            <a:extLst>
              <a:ext uri="{FF2B5EF4-FFF2-40B4-BE49-F238E27FC236}">
                <a16:creationId xmlns:a16="http://schemas.microsoft.com/office/drawing/2014/main" id="{E6AC5AA0-C4FD-A742-898F-2F81DD6B4DF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27227" y="755454"/>
            <a:ext cx="16792423" cy="738664"/>
          </a:xfrm>
        </p:spPr>
        <p:txBody>
          <a:bodyPr/>
          <a:lstStyle>
            <a:lvl1pPr algn="r">
              <a:defRPr sz="4800"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 dirty="0"/>
              <a:t>Editar los estilos de texto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Imagen 19">
            <a:extLst>
              <a:ext uri="{FF2B5EF4-FFF2-40B4-BE49-F238E27FC236}">
                <a16:creationId xmlns:a16="http://schemas.microsoft.com/office/drawing/2014/main" id="{293DC4AC-3CD1-B728-F1D4-9297A3D9EA4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75BA927C-DF3C-76F9-F858-D08E957A4C0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40"/>
            <a:ext cx="20109342" cy="11305614"/>
          </a:xfrm>
          <a:prstGeom prst="rect">
            <a:avLst/>
          </a:prstGeom>
        </p:spPr>
      </p:pic>
      <p:sp>
        <p:nvSpPr>
          <p:cNvPr id="23" name="Rectángulo 22">
            <a:extLst>
              <a:ext uri="{FF2B5EF4-FFF2-40B4-BE49-F238E27FC236}">
                <a16:creationId xmlns:a16="http://schemas.microsoft.com/office/drawing/2014/main" id="{B6946770-F426-2FD2-6657-14F29D5A8E25}"/>
              </a:ext>
            </a:extLst>
          </p:cNvPr>
          <p:cNvSpPr/>
          <p:nvPr userDrawn="1"/>
        </p:nvSpPr>
        <p:spPr>
          <a:xfrm>
            <a:off x="755650" y="62642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4" name="Título 1">
            <a:extLst>
              <a:ext uri="{FF2B5EF4-FFF2-40B4-BE49-F238E27FC236}">
                <a16:creationId xmlns:a16="http://schemas.microsoft.com/office/drawing/2014/main" id="{38E6F079-F9D6-8270-ADE8-DE597BD21F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4428" y="65914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18">
            <a:extLst>
              <a:ext uri="{FF2B5EF4-FFF2-40B4-BE49-F238E27FC236}">
                <a16:creationId xmlns:a16="http://schemas.microsoft.com/office/drawing/2014/main" id="{CC49A5DC-7F63-7053-BF30-9BEB915A86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6"/>
            <a:ext cx="20104810" cy="11308953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97E369C9-9696-52E0-3D5A-4A3A83A9C22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2" y="0"/>
            <a:ext cx="20097375" cy="11309350"/>
          </a:xfrm>
          <a:prstGeom prst="rect">
            <a:avLst/>
          </a:prstGeom>
        </p:spPr>
      </p:pic>
      <p:sp>
        <p:nvSpPr>
          <p:cNvPr id="24" name="Rectángulo 23">
            <a:extLst>
              <a:ext uri="{FF2B5EF4-FFF2-40B4-BE49-F238E27FC236}">
                <a16:creationId xmlns:a16="http://schemas.microsoft.com/office/drawing/2014/main" id="{EDE5CBD5-32E9-715D-214E-87F7F64407EA}"/>
              </a:ext>
            </a:extLst>
          </p:cNvPr>
          <p:cNvSpPr/>
          <p:nvPr userDrawn="1"/>
        </p:nvSpPr>
        <p:spPr>
          <a:xfrm>
            <a:off x="7004050" y="7331075"/>
            <a:ext cx="9892434" cy="2286000"/>
          </a:xfrm>
          <a:prstGeom prst="rect">
            <a:avLst/>
          </a:prstGeom>
          <a:solidFill>
            <a:schemeClr val="tx1">
              <a:alpha val="5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5" name="Título 1">
            <a:extLst>
              <a:ext uri="{FF2B5EF4-FFF2-40B4-BE49-F238E27FC236}">
                <a16:creationId xmlns:a16="http://schemas.microsoft.com/office/drawing/2014/main" id="{FA2B3E84-593C-1926-74EE-AA7B31F62D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32828" y="7658201"/>
            <a:ext cx="9020022" cy="1538883"/>
          </a:xfrm>
        </p:spPr>
        <p:txBody>
          <a:bodyPr/>
          <a:lstStyle>
            <a:lvl1pPr algn="l">
              <a:defRPr sz="5000">
                <a:solidFill>
                  <a:srgbClr val="257CE1"/>
                </a:solidFill>
              </a:defRPr>
            </a:lvl1pPr>
          </a:lstStyle>
          <a:p>
            <a:r>
              <a:rPr lang="es-ES" dirty="0"/>
              <a:t>Haga clic para modificar el estilo de título del patrón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6545789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62212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2707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314421" y="714594"/>
            <a:ext cx="5259705" cy="915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2" r:id="rId2"/>
    <p:sldLayoutId id="2147483662" r:id="rId3"/>
    <p:sldLayoutId id="2147483669" r:id="rId4"/>
    <p:sldLayoutId id="2147483664" r:id="rId5"/>
    <p:sldLayoutId id="2147483670" r:id="rId6"/>
    <p:sldLayoutId id="2147483677" r:id="rId7"/>
    <p:sldLayoutId id="2147483666" r:id="rId8"/>
    <p:sldLayoutId id="2147483665" r:id="rId9"/>
    <p:sldLayoutId id="2147483663" r:id="rId10"/>
    <p:sldLayoutId id="2147483673" r:id="rId11"/>
    <p:sldLayoutId id="2147483671" r:id="rId12"/>
    <p:sldLayoutId id="2147483678" r:id="rId13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70841C-0ACF-DE6F-43AC-3E3396A292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89250" y="8169275"/>
            <a:ext cx="8749511" cy="1169551"/>
          </a:xfrm>
        </p:spPr>
        <p:txBody>
          <a:bodyPr/>
          <a:lstStyle/>
          <a:p>
            <a:r>
              <a:rPr lang="es-CL" sz="3800" spc="-10" dirty="0"/>
              <a:t>TÉCNICAS </a:t>
            </a:r>
            <a:br>
              <a:rPr lang="es-CL" sz="3800" spc="-10" dirty="0"/>
            </a:br>
            <a:r>
              <a:rPr lang="es-CL" sz="3800" spc="-10" dirty="0"/>
              <a:t>DE EVALUACIÓN</a:t>
            </a:r>
            <a:endParaRPr lang="es-CL" sz="3800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39BAB8-5980-04D6-9003-ABBE79FC69B7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2926080" y="9554269"/>
            <a:ext cx="8712681" cy="369332"/>
          </a:xfrm>
        </p:spPr>
        <p:txBody>
          <a:bodyPr/>
          <a:lstStyle/>
          <a:p>
            <a:r>
              <a:rPr lang="es-CL" dirty="0">
                <a:latin typeface="Arial"/>
                <a:cs typeface="Arial"/>
              </a:rPr>
              <a:t>BIY7121 MINERÍA DE DATOS</a:t>
            </a:r>
            <a:endParaRPr lang="es-CL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42932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FFB337F0-2FCC-924F-952C-07C673B763B0}"/>
              </a:ext>
            </a:extLst>
          </p:cNvPr>
          <p:cNvSpPr/>
          <p:nvPr/>
        </p:nvSpPr>
        <p:spPr>
          <a:xfrm>
            <a:off x="9518650" y="2378075"/>
            <a:ext cx="5357557" cy="101566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CL" sz="6000" b="1" dirty="0">
                <a:latin typeface="Arial Black" panose="020B0604020202020204" pitchFamily="34" charset="0"/>
                <a:cs typeface="Arial Black" panose="020B0604020202020204" pitchFamily="34" charset="0"/>
              </a:rPr>
              <a:t>CONTENIDO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8A3E674A-F038-D144-A91A-8FBF8FFE0F11}"/>
              </a:ext>
            </a:extLst>
          </p:cNvPr>
          <p:cNvSpPr txBox="1">
            <a:spLocks/>
          </p:cNvSpPr>
          <p:nvPr/>
        </p:nvSpPr>
        <p:spPr>
          <a:xfrm>
            <a:off x="9518650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BB375BB0-38DE-5947-A049-E37CBB392147}"/>
              </a:ext>
            </a:extLst>
          </p:cNvPr>
          <p:cNvSpPr txBox="1">
            <a:spLocks/>
          </p:cNvSpPr>
          <p:nvPr/>
        </p:nvSpPr>
        <p:spPr>
          <a:xfrm>
            <a:off x="9617262" y="7026177"/>
            <a:ext cx="4579097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OVERFITTING Y UNDERFITTING</a:t>
            </a:r>
          </a:p>
        </p:txBody>
      </p:sp>
      <p:sp>
        <p:nvSpPr>
          <p:cNvPr id="14" name="Título 1">
            <a:extLst>
              <a:ext uri="{FF2B5EF4-FFF2-40B4-BE49-F238E27FC236}">
                <a16:creationId xmlns:a16="http://schemas.microsoft.com/office/drawing/2014/main" id="{D2775DA9-AA36-2B46-A647-A78656981246}"/>
              </a:ext>
            </a:extLst>
          </p:cNvPr>
          <p:cNvSpPr txBox="1">
            <a:spLocks/>
          </p:cNvSpPr>
          <p:nvPr/>
        </p:nvSpPr>
        <p:spPr>
          <a:xfrm>
            <a:off x="9518650" y="6264177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16" name="Título 1">
            <a:extLst>
              <a:ext uri="{FF2B5EF4-FFF2-40B4-BE49-F238E27FC236}">
                <a16:creationId xmlns:a16="http://schemas.microsoft.com/office/drawing/2014/main" id="{5AD2299A-27D1-AA45-A043-C0D64B734853}"/>
              </a:ext>
            </a:extLst>
          </p:cNvPr>
          <p:cNvSpPr txBox="1">
            <a:spLocks/>
          </p:cNvSpPr>
          <p:nvPr/>
        </p:nvSpPr>
        <p:spPr>
          <a:xfrm>
            <a:off x="9617262" y="9194781"/>
            <a:ext cx="4165973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ENTRENAMIENTO Y PRUEBA</a:t>
            </a:r>
          </a:p>
        </p:txBody>
      </p:sp>
      <p:sp>
        <p:nvSpPr>
          <p:cNvPr id="18" name="Título 1">
            <a:extLst>
              <a:ext uri="{FF2B5EF4-FFF2-40B4-BE49-F238E27FC236}">
                <a16:creationId xmlns:a16="http://schemas.microsoft.com/office/drawing/2014/main" id="{5FEE1E9F-D6A8-614C-BB95-3AFA463327D0}"/>
              </a:ext>
            </a:extLst>
          </p:cNvPr>
          <p:cNvSpPr txBox="1">
            <a:spLocks/>
          </p:cNvSpPr>
          <p:nvPr/>
        </p:nvSpPr>
        <p:spPr>
          <a:xfrm>
            <a:off x="9617262" y="8432781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  <p:sp>
        <p:nvSpPr>
          <p:cNvPr id="21" name="Título 1">
            <a:extLst>
              <a:ext uri="{FF2B5EF4-FFF2-40B4-BE49-F238E27FC236}">
                <a16:creationId xmlns:a16="http://schemas.microsoft.com/office/drawing/2014/main" id="{325E44F9-8B81-FD43-8DCF-00283585DD6D}"/>
              </a:ext>
            </a:extLst>
          </p:cNvPr>
          <p:cNvSpPr txBox="1">
            <a:spLocks/>
          </p:cNvSpPr>
          <p:nvPr/>
        </p:nvSpPr>
        <p:spPr>
          <a:xfrm>
            <a:off x="9617262" y="4782488"/>
            <a:ext cx="4579097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3000" dirty="0"/>
              <a:t>INTRODUCCION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FE992D-1CA3-14C0-F902-6542723FD1C3}"/>
              </a:ext>
            </a:extLst>
          </p:cNvPr>
          <p:cNvSpPr txBox="1">
            <a:spLocks/>
          </p:cNvSpPr>
          <p:nvPr/>
        </p:nvSpPr>
        <p:spPr>
          <a:xfrm>
            <a:off x="14876207" y="4859339"/>
            <a:ext cx="4728882" cy="4616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r>
              <a:rPr lang="es-CL" sz="3000" dirty="0"/>
              <a:t>RESUMEN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47002DBB-23A6-9BA0-FF76-8B2A5E9F6159}"/>
              </a:ext>
            </a:extLst>
          </p:cNvPr>
          <p:cNvSpPr txBox="1">
            <a:spLocks/>
          </p:cNvSpPr>
          <p:nvPr/>
        </p:nvSpPr>
        <p:spPr>
          <a:xfrm>
            <a:off x="14656174" y="4020489"/>
            <a:ext cx="106680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6000" dirty="0"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39794441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1">
            <a:extLst>
              <a:ext uri="{FF2B5EF4-FFF2-40B4-BE49-F238E27FC236}">
                <a16:creationId xmlns:a16="http://schemas.microsoft.com/office/drawing/2014/main" id="{87A9F761-F66D-564C-A85F-5D24B1E7B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3250" y="7559675"/>
            <a:ext cx="10134600" cy="1015663"/>
          </a:xfrm>
        </p:spPr>
        <p:txBody>
          <a:bodyPr/>
          <a:lstStyle/>
          <a:p>
            <a:pPr algn="r"/>
            <a:r>
              <a:rPr lang="es-CL" sz="6600" dirty="0"/>
              <a:t>INTRODUCCIÓN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DC622BE7-4A49-A749-B2F2-EA3AD97A1AEF}"/>
              </a:ext>
            </a:extLst>
          </p:cNvPr>
          <p:cNvSpPr txBox="1">
            <a:spLocks/>
          </p:cNvSpPr>
          <p:nvPr/>
        </p:nvSpPr>
        <p:spPr>
          <a:xfrm>
            <a:off x="12677531" y="6082347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1175710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800" dirty="0"/>
              <a:t>Hemos visto varias de las técnicas más utilizadas en la</a:t>
            </a:r>
          </a:p>
          <a:p>
            <a:pPr algn="l"/>
            <a:r>
              <a:rPr lang="es-ES" sz="2800" dirty="0"/>
              <a:t>minería de datos.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Estas técnicas permiten la generación de modelos a partir de una evidencia formada por un conjunto de datos.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Llegados a este punto, cabe preguntarse cómo podemos saber si un determinado modelo es lo suficientemente válido para nuestros </a:t>
            </a:r>
            <a:r>
              <a:rPr lang="es-CL" sz="2800" dirty="0"/>
              <a:t>propósitos.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610392-ADFB-52B0-6FF3-C4C573143DA6}"/>
              </a:ext>
            </a:extLst>
          </p:cNvPr>
          <p:cNvSpPr txBox="1"/>
          <p:nvPr/>
        </p:nvSpPr>
        <p:spPr>
          <a:xfrm>
            <a:off x="2432050" y="9998075"/>
            <a:ext cx="6380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 – José </a:t>
            </a:r>
            <a:r>
              <a:rPr lang="es-CL" sz="1400" dirty="0" err="1"/>
              <a:t>Hernandez</a:t>
            </a:r>
            <a:r>
              <a:rPr lang="es-CL" sz="1400" dirty="0"/>
              <a:t> </a:t>
            </a:r>
            <a:r>
              <a:rPr lang="es-CL" sz="1400" dirty="0" err="1"/>
              <a:t>Orallo</a:t>
            </a:r>
            <a:r>
              <a:rPr lang="es-CL" sz="1400" dirty="0"/>
              <a:t> y otros.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E454208-439A-300A-EEEB-965B613B5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8050" y="2778452"/>
            <a:ext cx="6858000" cy="4210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6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>
                <a:solidFill>
                  <a:schemeClr val="tx1"/>
                </a:solidFill>
              </a:rPr>
              <a:t>Los métodos de aprendizaje permiten construir modelos o hipótesis a partir de un conjunto de datos, o evidencia.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En la mayoría de los casos es necesario evaluar la calidad de las hipótesis de la manera más exacta posible.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Por ejemplo, si en el ámbito de aplicación de un modelo un error en la predicción conlleva importantes consecuencias (por ejemplo, detección de células cancerígenas), es </a:t>
            </a:r>
            <a:r>
              <a:rPr lang="es-ES" sz="2800" dirty="0">
                <a:solidFill>
                  <a:srgbClr val="FF0000"/>
                </a:solidFill>
              </a:rPr>
              <a:t>importante conocer con exactitud el nivel de precisión</a:t>
            </a:r>
            <a:r>
              <a:rPr lang="es-ES" sz="2800" dirty="0"/>
              <a:t> de los modelos aprendidos.</a:t>
            </a:r>
            <a:endParaRPr lang="es-CL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610392-ADFB-52B0-6FF3-C4C573143DA6}"/>
              </a:ext>
            </a:extLst>
          </p:cNvPr>
          <p:cNvSpPr txBox="1"/>
          <p:nvPr/>
        </p:nvSpPr>
        <p:spPr>
          <a:xfrm>
            <a:off x="2432050" y="9998075"/>
            <a:ext cx="6380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 – José </a:t>
            </a:r>
            <a:r>
              <a:rPr lang="es-CL" sz="1400" dirty="0" err="1"/>
              <a:t>Hernandez</a:t>
            </a:r>
            <a:r>
              <a:rPr lang="es-CL" sz="1400" dirty="0"/>
              <a:t> </a:t>
            </a:r>
            <a:r>
              <a:rPr lang="es-CL" sz="1400" dirty="0" err="1"/>
              <a:t>Orallo</a:t>
            </a:r>
            <a:r>
              <a:rPr lang="es-CL" sz="1400" dirty="0"/>
              <a:t> y otros. 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7B833C3-C720-3105-4AC6-74EB7A177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85650" y="2777083"/>
            <a:ext cx="7631164" cy="5392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0515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>
                <a:solidFill>
                  <a:schemeClr val="tx1"/>
                </a:solidFill>
              </a:rPr>
              <a:t>La etapa de evaluación de modelos es crucial para la aplicación real de las técnicas de minería de datos. </a:t>
            </a:r>
          </a:p>
          <a:p>
            <a:pPr algn="l"/>
            <a:endParaRPr lang="es-ES" sz="2800" dirty="0">
              <a:solidFill>
                <a:schemeClr val="tx1"/>
              </a:solidFill>
            </a:endParaRPr>
          </a:p>
          <a:p>
            <a:pPr algn="just"/>
            <a:r>
              <a:rPr lang="es-ES" sz="2800" dirty="0">
                <a:solidFill>
                  <a:schemeClr val="tx1"/>
                </a:solidFill>
              </a:rPr>
              <a:t>Una primera aproximación nos llevaría a utilizar el propio conjunto de entrenamiento como referencia para evaluar la calidad de un modelo. </a:t>
            </a:r>
          </a:p>
          <a:p>
            <a:pPr algn="l"/>
            <a:endParaRPr lang="es-ES" sz="2800" dirty="0">
              <a:solidFill>
                <a:schemeClr val="tx1"/>
              </a:solidFill>
            </a:endParaRPr>
          </a:p>
          <a:p>
            <a:pPr algn="just"/>
            <a:r>
              <a:rPr lang="es-ES" sz="2800" dirty="0">
                <a:solidFill>
                  <a:schemeClr val="tx1"/>
                </a:solidFill>
              </a:rPr>
              <a:t>Esta aproximación es del todo equivocada, ya que premia los modelos que se ajustan más al conjunto de entrenamiento, por lo que favorecen los modelos que “</a:t>
            </a:r>
            <a:r>
              <a:rPr lang="es-ES" sz="2800" dirty="0" err="1">
                <a:solidFill>
                  <a:schemeClr val="tx1"/>
                </a:solidFill>
              </a:rPr>
              <a:t>sobreajustan</a:t>
            </a:r>
            <a:r>
              <a:rPr lang="es-ES" sz="2800" dirty="0">
                <a:solidFill>
                  <a:schemeClr val="tx1"/>
                </a:solidFill>
              </a:rPr>
              <a:t>” (</a:t>
            </a:r>
            <a:r>
              <a:rPr lang="es-ES" sz="2800" dirty="0" err="1">
                <a:solidFill>
                  <a:schemeClr val="tx1"/>
                </a:solidFill>
              </a:rPr>
              <a:t>overfitting</a:t>
            </a:r>
            <a:r>
              <a:rPr lang="es-ES" sz="2800" dirty="0">
                <a:solidFill>
                  <a:schemeClr val="tx1"/>
                </a:solidFill>
              </a:rPr>
              <a:t>) el conjunto de datos de entrenamiento y no generalizan para otros datos.</a:t>
            </a:r>
            <a:endParaRPr lang="es-CL" sz="2800" dirty="0">
              <a:solidFill>
                <a:schemeClr val="tx1"/>
              </a:solidFill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F7610392-ADFB-52B0-6FF3-C4C573143DA6}"/>
              </a:ext>
            </a:extLst>
          </p:cNvPr>
          <p:cNvSpPr txBox="1"/>
          <p:nvPr/>
        </p:nvSpPr>
        <p:spPr>
          <a:xfrm>
            <a:off x="2432050" y="9998075"/>
            <a:ext cx="63802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Introducción a la Minería de Datos – José </a:t>
            </a:r>
            <a:r>
              <a:rPr lang="es-CL" sz="1400" dirty="0" err="1"/>
              <a:t>Hernandez</a:t>
            </a:r>
            <a:r>
              <a:rPr lang="es-CL" sz="1400" dirty="0"/>
              <a:t> </a:t>
            </a:r>
            <a:r>
              <a:rPr lang="es-CL" sz="1400" dirty="0" err="1"/>
              <a:t>Orallo</a:t>
            </a:r>
            <a:r>
              <a:rPr lang="es-CL" sz="1400" dirty="0"/>
              <a:t> y otros. 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0C4CD96-C3AC-E76C-CD26-B1766A5B52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45335" y="2835275"/>
            <a:ext cx="7697730" cy="5110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272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11FCC6-3B49-9D46-8B62-80E94C906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INTRODUCCIÓN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8F4D9069-61BC-606E-6D98-4D82B593F24F}"/>
              </a:ext>
            </a:extLst>
          </p:cNvPr>
          <p:cNvSpPr txBox="1"/>
          <p:nvPr/>
        </p:nvSpPr>
        <p:spPr>
          <a:xfrm>
            <a:off x="2279650" y="2682875"/>
            <a:ext cx="89154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>
                <a:solidFill>
                  <a:schemeClr val="tx1"/>
                </a:solidFill>
              </a:rPr>
              <a:t>En las siguientes sesiones revisaremos en particular </a:t>
            </a:r>
            <a:r>
              <a:rPr lang="es-ES" sz="2800" b="1" i="1" dirty="0">
                <a:solidFill>
                  <a:schemeClr val="tx1"/>
                </a:solidFill>
              </a:rPr>
              <a:t>Técnicas de Evaluación </a:t>
            </a:r>
            <a:r>
              <a:rPr lang="es-ES" sz="2800" dirty="0">
                <a:solidFill>
                  <a:schemeClr val="tx1"/>
                </a:solidFill>
              </a:rPr>
              <a:t>para los modelos que ya conocemos (clasificación, regresión y agrupamiento). Considerando que cada uno de ellos trabajan de distinta forma según sus datos y objetivos particulares.</a:t>
            </a:r>
          </a:p>
          <a:p>
            <a:pPr algn="just"/>
            <a:endParaRPr lang="es-ES" sz="2800" dirty="0">
              <a:solidFill>
                <a:schemeClr val="tx1"/>
              </a:solidFill>
            </a:endParaRPr>
          </a:p>
          <a:p>
            <a:pPr algn="just"/>
            <a:r>
              <a:rPr lang="es-ES" sz="2800" dirty="0">
                <a:solidFill>
                  <a:schemeClr val="tx1"/>
                </a:solidFill>
              </a:rPr>
              <a:t>Por ahora, nos centraremos en el fenómeno del “sobre ajuste” (</a:t>
            </a:r>
            <a:r>
              <a:rPr lang="es-ES" sz="2800" dirty="0" err="1">
                <a:solidFill>
                  <a:schemeClr val="tx1"/>
                </a:solidFill>
              </a:rPr>
              <a:t>overfitting</a:t>
            </a:r>
            <a:r>
              <a:rPr lang="es-ES" sz="2800" dirty="0">
                <a:solidFill>
                  <a:schemeClr val="tx1"/>
                </a:solidFill>
              </a:rPr>
              <a:t>) y el “bajo ajuste” (</a:t>
            </a:r>
            <a:r>
              <a:rPr lang="es-ES" sz="2800" dirty="0" err="1">
                <a:solidFill>
                  <a:schemeClr val="tx1"/>
                </a:solidFill>
              </a:rPr>
              <a:t>underfitting</a:t>
            </a:r>
            <a:r>
              <a:rPr lang="es-ES" sz="2800" dirty="0">
                <a:solidFill>
                  <a:schemeClr val="tx1"/>
                </a:solidFill>
              </a:rPr>
              <a:t>).</a:t>
            </a:r>
            <a:endParaRPr lang="es-CL" sz="2800" dirty="0">
              <a:solidFill>
                <a:schemeClr val="tx1"/>
              </a:solidFill>
            </a:endParaRP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CA551A48-7E87-2F90-8365-97AF2DC8DD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9305" y="6569075"/>
            <a:ext cx="9982200" cy="333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2728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025BEF-C6CB-D142-BFA0-F95C5E30AC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47050" y="7712075"/>
            <a:ext cx="8305800" cy="738664"/>
          </a:xfrm>
        </p:spPr>
        <p:txBody>
          <a:bodyPr/>
          <a:lstStyle/>
          <a:p>
            <a:pPr algn="r"/>
            <a:r>
              <a:rPr lang="es-CL" sz="4800" dirty="0"/>
              <a:t>TÍTULO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4FE4634-98DF-A44A-92BF-86BBAE37A404}"/>
              </a:ext>
            </a:extLst>
          </p:cNvPr>
          <p:cNvSpPr txBox="1">
            <a:spLocks/>
          </p:cNvSpPr>
          <p:nvPr/>
        </p:nvSpPr>
        <p:spPr>
          <a:xfrm>
            <a:off x="8159750" y="6250622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02</a:t>
            </a:r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8B7ACE31-74A9-95B3-1599-372FB822D0E6}"/>
              </a:ext>
            </a:extLst>
          </p:cNvPr>
          <p:cNvSpPr txBox="1">
            <a:spLocks/>
          </p:cNvSpPr>
          <p:nvPr/>
        </p:nvSpPr>
        <p:spPr>
          <a:xfrm>
            <a:off x="1517650" y="7712075"/>
            <a:ext cx="83058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 sz="5000" b="1" i="0">
                <a:solidFill>
                  <a:srgbClr val="257CE1"/>
                </a:solidFill>
                <a:latin typeface="Arial"/>
                <a:ea typeface="+mj-ea"/>
                <a:cs typeface="Arial"/>
              </a:defRPr>
            </a:lvl1pPr>
          </a:lstStyle>
          <a:p>
            <a:pPr algn="r"/>
            <a:r>
              <a:rPr lang="es-CL" sz="4800" dirty="0"/>
              <a:t>OVERFITTING </a:t>
            </a:r>
          </a:p>
          <a:p>
            <a:pPr algn="r"/>
            <a:r>
              <a:rPr lang="es-CL" sz="4800" dirty="0"/>
              <a:t>&amp; UNDERFITTING</a:t>
            </a:r>
          </a:p>
        </p:txBody>
      </p:sp>
    </p:spTree>
    <p:extLst>
      <p:ext uri="{BB962C8B-B14F-4D97-AF65-F5344CB8AC3E}">
        <p14:creationId xmlns:p14="http://schemas.microsoft.com/office/powerpoint/2010/main" val="22576536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OVERFITTING &amp; UNDERFITTING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530475"/>
            <a:ext cx="779870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Las principales causas al obtener malos resultados en Machine </a:t>
            </a:r>
            <a:r>
              <a:rPr lang="es-ES" sz="2800" dirty="0" err="1"/>
              <a:t>Learning</a:t>
            </a:r>
            <a:r>
              <a:rPr lang="es-ES" sz="2800" dirty="0"/>
              <a:t> son el</a:t>
            </a:r>
            <a:r>
              <a:rPr lang="es-ES" sz="2800" dirty="0">
                <a:solidFill>
                  <a:srgbClr val="FF0000"/>
                </a:solidFill>
              </a:rPr>
              <a:t> </a:t>
            </a:r>
            <a:r>
              <a:rPr lang="es-ES" sz="2800" dirty="0" err="1">
                <a:solidFill>
                  <a:srgbClr val="FF0000"/>
                </a:solidFill>
              </a:rPr>
              <a:t>overfitting</a:t>
            </a:r>
            <a:r>
              <a:rPr lang="es-ES" sz="2800" dirty="0">
                <a:solidFill>
                  <a:srgbClr val="FF0000"/>
                </a:solidFill>
              </a:rPr>
              <a:t> </a:t>
            </a:r>
            <a:r>
              <a:rPr lang="es-ES" sz="2800" dirty="0"/>
              <a:t>o el </a:t>
            </a:r>
            <a:r>
              <a:rPr lang="es-ES" sz="2800" dirty="0" err="1">
                <a:solidFill>
                  <a:srgbClr val="FF0000"/>
                </a:solidFill>
              </a:rPr>
              <a:t>underfitting</a:t>
            </a:r>
            <a:r>
              <a:rPr lang="es-ES" sz="2800" dirty="0"/>
              <a:t> de los datos.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Cuando entrenamos nuestro modelo intentamos “hacer encajar” -</a:t>
            </a:r>
            <a:r>
              <a:rPr lang="es-ES" sz="2800" dirty="0" err="1"/>
              <a:t>fit</a:t>
            </a:r>
            <a:r>
              <a:rPr lang="es-ES" sz="2800" dirty="0"/>
              <a:t> en inglés- los datos de entrada entre ellos y con la salida. </a:t>
            </a:r>
          </a:p>
          <a:p>
            <a:pPr algn="just"/>
            <a:endParaRPr lang="es-ES" sz="2800" dirty="0"/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Tal vez se pueda traducir </a:t>
            </a:r>
            <a:r>
              <a:rPr lang="es-ES" sz="2800" dirty="0" err="1"/>
              <a:t>overfitting</a:t>
            </a:r>
            <a:r>
              <a:rPr lang="es-ES" sz="2800" dirty="0"/>
              <a:t> como “sobreajuste” y </a:t>
            </a:r>
            <a:r>
              <a:rPr lang="es-ES" sz="2800" dirty="0" err="1"/>
              <a:t>underfitting</a:t>
            </a:r>
            <a:r>
              <a:rPr lang="es-ES" sz="2800" dirty="0"/>
              <a:t>  como “</a:t>
            </a:r>
            <a:r>
              <a:rPr lang="es-ES" sz="2800" dirty="0" err="1"/>
              <a:t>subajuste</a:t>
            </a:r>
            <a:r>
              <a:rPr lang="es-ES" sz="2800" dirty="0"/>
              <a:t>” y hacen referencia al </a:t>
            </a:r>
            <a:r>
              <a:rPr lang="es-ES" sz="2800" dirty="0">
                <a:solidFill>
                  <a:srgbClr val="FF0000"/>
                </a:solidFill>
              </a:rPr>
              <a:t>fallo de nuestro modelo al generalizar</a:t>
            </a:r>
            <a:r>
              <a:rPr lang="es-ES" sz="2800" dirty="0"/>
              <a:t> -encajar- el conocimiento que pretendemos que adquieran.</a:t>
            </a:r>
            <a:endParaRPr lang="es-CL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0176C1-B225-0E3C-E33C-AB228F729F95}"/>
              </a:ext>
            </a:extLst>
          </p:cNvPr>
          <p:cNvSpPr txBox="1"/>
          <p:nvPr/>
        </p:nvSpPr>
        <p:spPr>
          <a:xfrm>
            <a:off x="3536652" y="10266005"/>
            <a:ext cx="840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https://www.aprendemachinelearning.com/que-es-overfitting-y-underfitting-y-como-solucionarlo/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37723765-ABCB-91BE-7050-E7DABEA9E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2049" y="2765386"/>
            <a:ext cx="9649295" cy="4108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3999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OVERFITTING &amp; UNDERFITTING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530475"/>
            <a:ext cx="7798705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Si nuestros datos de entrenamiento son muy pocos nuestra máquina </a:t>
            </a:r>
            <a:r>
              <a:rPr lang="es-ES" sz="2800" dirty="0">
                <a:solidFill>
                  <a:srgbClr val="FF0000"/>
                </a:solidFill>
              </a:rPr>
              <a:t>no será capaz de generalizar</a:t>
            </a:r>
            <a:r>
              <a:rPr lang="es-ES" sz="2800" dirty="0"/>
              <a:t> el conocimiento y estará incurriendo en </a:t>
            </a:r>
            <a:r>
              <a:rPr lang="es-ES" sz="2800" dirty="0" err="1"/>
              <a:t>underfitting</a:t>
            </a:r>
            <a:r>
              <a:rPr lang="es-ES" sz="2800" dirty="0"/>
              <a:t>. 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Por su parte, el sobreajuste (</a:t>
            </a:r>
            <a:r>
              <a:rPr lang="es-ES" sz="2800" dirty="0" err="1"/>
              <a:t>overfitting</a:t>
            </a:r>
            <a:r>
              <a:rPr lang="es-ES" sz="2800" dirty="0"/>
              <a:t>) es un fenómeno que ocurre cuando un </a:t>
            </a:r>
            <a:r>
              <a:rPr lang="es-ES" sz="2800" dirty="0">
                <a:solidFill>
                  <a:srgbClr val="FF0000"/>
                </a:solidFill>
              </a:rPr>
              <a:t>modelo se ajusta demasiado bien a los datos de entrenamiento</a:t>
            </a:r>
            <a:r>
              <a:rPr lang="es-ES" sz="2800" dirty="0"/>
              <a:t>, capturando no solo los patrones reales presentes en los datos, sino también el ruido o la aleatoriedad inherente a esos datos.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En este caso, el modelo sólo se ajustará a aprender los casos particulares que le enseñamos y </a:t>
            </a:r>
            <a:r>
              <a:rPr lang="es-ES" sz="2800" dirty="0">
                <a:solidFill>
                  <a:srgbClr val="FF0000"/>
                </a:solidFill>
              </a:rPr>
              <a:t>será incapaz de reconocer nuevos datos de entrada</a:t>
            </a:r>
            <a:r>
              <a:rPr lang="es-ES" sz="2800" dirty="0"/>
              <a:t>.</a:t>
            </a:r>
            <a:endParaRPr lang="es-CL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0176C1-B225-0E3C-E33C-AB228F729F95}"/>
              </a:ext>
            </a:extLst>
          </p:cNvPr>
          <p:cNvSpPr txBox="1"/>
          <p:nvPr/>
        </p:nvSpPr>
        <p:spPr>
          <a:xfrm>
            <a:off x="3536652" y="10266005"/>
            <a:ext cx="840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https://www.aprendemachinelearning.com/que-es-overfitting-y-underfitting-y-como-solucionarlo/</a:t>
            </a:r>
          </a:p>
        </p:txBody>
      </p:sp>
    </p:spTree>
    <p:extLst>
      <p:ext uri="{BB962C8B-B14F-4D97-AF65-F5344CB8AC3E}">
        <p14:creationId xmlns:p14="http://schemas.microsoft.com/office/powerpoint/2010/main" val="3147564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D5B4D40B-2281-FF4E-A378-6A0062B17D8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OVERFITTING &amp; UNDERFITTING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74B26D9-6484-8A3D-D1C7-2F2BBF65A190}"/>
              </a:ext>
            </a:extLst>
          </p:cNvPr>
          <p:cNvSpPr txBox="1"/>
          <p:nvPr/>
        </p:nvSpPr>
        <p:spPr>
          <a:xfrm>
            <a:off x="1898650" y="2530475"/>
            <a:ext cx="7798705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fontAlgn="base" latinLnBrk="0"/>
            <a:r>
              <a:rPr lang="es-ES" sz="2800" dirty="0"/>
              <a:t>Deberemos encontrar un punto medio en el aprendizaje de nuestro modelo en el que no estemos incurriendo en </a:t>
            </a:r>
            <a:r>
              <a:rPr lang="es-ES" sz="2800" dirty="0" err="1"/>
              <a:t>underfitting</a:t>
            </a:r>
            <a:r>
              <a:rPr lang="es-ES" sz="2800" dirty="0"/>
              <a:t> y tampoco en </a:t>
            </a:r>
            <a:r>
              <a:rPr lang="es-ES" sz="2800" dirty="0" err="1"/>
              <a:t>overfitting</a:t>
            </a:r>
            <a:r>
              <a:rPr lang="es-ES" sz="2800" dirty="0"/>
              <a:t>. </a:t>
            </a:r>
          </a:p>
          <a:p>
            <a:pPr algn="l" fontAlgn="base" latinLnBrk="0"/>
            <a:endParaRPr lang="es-ES" sz="2800" dirty="0"/>
          </a:p>
          <a:p>
            <a:pPr algn="just" fontAlgn="base" latinLnBrk="0"/>
            <a:r>
              <a:rPr lang="es-ES" sz="2800" dirty="0"/>
              <a:t>Para reconocer este problema </a:t>
            </a:r>
            <a:r>
              <a:rPr lang="es-ES" sz="2800" dirty="0">
                <a:solidFill>
                  <a:srgbClr val="FF0000"/>
                </a:solidFill>
              </a:rPr>
              <a:t>debemos </a:t>
            </a:r>
            <a:r>
              <a:rPr lang="es-ES" sz="2800" dirty="0" err="1">
                <a:solidFill>
                  <a:srgbClr val="FF0000"/>
                </a:solidFill>
              </a:rPr>
              <a:t>subvididir</a:t>
            </a:r>
            <a:r>
              <a:rPr lang="es-ES" sz="2800" dirty="0">
                <a:solidFill>
                  <a:srgbClr val="FF0000"/>
                </a:solidFill>
              </a:rPr>
              <a:t> nuestro conjunto de datos de entrada </a:t>
            </a:r>
            <a:r>
              <a:rPr lang="es-ES" sz="2800" dirty="0"/>
              <a:t>para entrenamiento en dos: uno para entrenamiento y otro para la Test que el modelo no conocerá de antemano. </a:t>
            </a:r>
          </a:p>
          <a:p>
            <a:pPr algn="l" fontAlgn="base" latinLnBrk="0"/>
            <a:endParaRPr lang="es-ES" sz="2800" dirty="0"/>
          </a:p>
          <a:p>
            <a:pPr algn="just" fontAlgn="base" latinLnBrk="0"/>
            <a:r>
              <a:rPr lang="es-ES" sz="2800" dirty="0"/>
              <a:t>Esta división se suele hacer del 80% para entrenar y 20% para test.</a:t>
            </a:r>
          </a:p>
          <a:p>
            <a:pPr algn="just"/>
            <a:endParaRPr lang="es-CL" sz="2800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E20176C1-B225-0E3C-E33C-AB228F729F95}"/>
              </a:ext>
            </a:extLst>
          </p:cNvPr>
          <p:cNvSpPr txBox="1"/>
          <p:nvPr/>
        </p:nvSpPr>
        <p:spPr>
          <a:xfrm>
            <a:off x="3536652" y="10266005"/>
            <a:ext cx="840807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CL" sz="1400" dirty="0"/>
              <a:t>Fuente: https://www.aprendemachinelearning.com/que-es-overfitting-y-underfitting-y-como-solucionarlo/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A74DE378-5EA5-7146-9EE3-0400BA03EF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85450" y="3749675"/>
            <a:ext cx="8702537" cy="2895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9452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1624723-9968-7E43-AF4C-4EA396BDB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250" y="7407275"/>
            <a:ext cx="10393528" cy="2031325"/>
          </a:xfrm>
        </p:spPr>
        <p:txBody>
          <a:bodyPr/>
          <a:lstStyle/>
          <a:p>
            <a:r>
              <a:rPr lang="es-CL" sz="6600" dirty="0"/>
              <a:t>ENTRENAMIENTO Y PRUEBA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E4D7CDB3-E365-8648-9D80-6AFDB724300B}"/>
              </a:ext>
            </a:extLst>
          </p:cNvPr>
          <p:cNvSpPr txBox="1">
            <a:spLocks/>
          </p:cNvSpPr>
          <p:nvPr/>
        </p:nvSpPr>
        <p:spPr>
          <a:xfrm>
            <a:off x="9089872" y="6188075"/>
            <a:ext cx="1905000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latin typeface="Arial Black" panose="020B0604020202020204" pitchFamily="34" charset="0"/>
                <a:cs typeface="Arial Black" panose="020B0604020202020204" pitchFamily="34" charset="0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735245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ENTRENAMIENTO Y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800" b="1" dirty="0"/>
              <a:t>Los Datos de Entrenamiento (Training Data):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Estos datos </a:t>
            </a:r>
            <a:r>
              <a:rPr lang="es-ES" sz="2800" dirty="0">
                <a:solidFill>
                  <a:srgbClr val="FF0000"/>
                </a:solidFill>
              </a:rPr>
              <a:t>se utilizan para entrenar el modelo</a:t>
            </a:r>
            <a:r>
              <a:rPr lang="es-ES" sz="2800" dirty="0"/>
              <a:t>. Durante el proceso de entrenamiento, el modelo ajusta sus parámetros utilizando estos datos con el objetivo de aprender patrones y relaciones en los datos.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Los datos de entrenamiento </a:t>
            </a:r>
            <a:r>
              <a:rPr lang="es-ES" sz="2800" dirty="0">
                <a:solidFill>
                  <a:srgbClr val="FF0000"/>
                </a:solidFill>
              </a:rPr>
              <a:t>deben abarcar una representación diversa y completa de los posibles casos</a:t>
            </a:r>
            <a:r>
              <a:rPr lang="es-ES" sz="2800" dirty="0"/>
              <a:t> que el modelo encontrará en la realidad. 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5CA44A49-12C2-54D0-017E-A297434A1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23650" y="2510692"/>
            <a:ext cx="8209722" cy="16002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F0DD504C-447E-C428-6913-27FDF00414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3650" y="4973637"/>
            <a:ext cx="8171154" cy="1671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8114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ENTRENAMIENTO Y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s-ES" sz="2800" dirty="0"/>
              <a:t>Cuanto más representativos sean los datos de entrenamiento, </a:t>
            </a:r>
            <a:r>
              <a:rPr lang="es-ES" sz="2800" dirty="0">
                <a:solidFill>
                  <a:srgbClr val="FF0000"/>
                </a:solidFill>
              </a:rPr>
              <a:t>mejor será el modelo para generalizar</a:t>
            </a:r>
            <a:r>
              <a:rPr lang="es-ES" sz="2800" dirty="0"/>
              <a:t> y hacer predicciones precisas sobre nuevos datos.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Durante el entrenamiento, el modelo ajusta sus parámetros iterativamente en función de cómo se compara su salida con las etiquetas o respuestas correctas asociadas a los datos de entrenamiento.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El objetivo es </a:t>
            </a:r>
            <a:r>
              <a:rPr lang="es-ES" sz="2800" dirty="0">
                <a:solidFill>
                  <a:srgbClr val="FF0000"/>
                </a:solidFill>
              </a:rPr>
              <a:t>minimizar la diferencia entre las predicciones del modelo y las respuestas reales</a:t>
            </a:r>
            <a:r>
              <a:rPr lang="es-ES" sz="2800" dirty="0"/>
              <a:t>.</a:t>
            </a:r>
          </a:p>
          <a:p>
            <a:pPr algn="just"/>
            <a:endParaRPr lang="es-ES" sz="2800" dirty="0"/>
          </a:p>
          <a:p>
            <a:pPr algn="just"/>
            <a:endParaRPr lang="es-ES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98423A4-B0D2-11BE-3D2C-6AC8C14CC2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18850" y="2251381"/>
            <a:ext cx="8674852" cy="2336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055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ENTRENAMIENTO Y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87100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800" b="1" dirty="0"/>
              <a:t>Datos de Prueba (</a:t>
            </a:r>
            <a:r>
              <a:rPr lang="es-ES" sz="2800" b="1" dirty="0" err="1"/>
              <a:t>Testing</a:t>
            </a:r>
            <a:r>
              <a:rPr lang="es-ES" sz="2800" b="1" dirty="0"/>
              <a:t> Data):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Después de que el modelo ha sido entrenado, se utiliza un </a:t>
            </a:r>
            <a:r>
              <a:rPr lang="es-ES" sz="2800" dirty="0">
                <a:solidFill>
                  <a:srgbClr val="FF0000"/>
                </a:solidFill>
              </a:rPr>
              <a:t>conjunto separado de datos de prueba para evaluar su rendimiento y generalización en datos no vistos anteriormente</a:t>
            </a:r>
            <a:r>
              <a:rPr lang="es-ES" sz="2800" dirty="0"/>
              <a:t>. Estos datos no se utilizaron en absoluto durante el entrenamiento.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Los datos de prueba son esenciales para comprender cómo se comporta el modelo en situaciones del mundo real. Deben representar de manera justa la variabilidad y complejidad de los casos que el modelo encontrará después de ser implementado.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Para ello, se alimentan los datos de prueba al modelo ya entrenado, y </a:t>
            </a:r>
            <a:r>
              <a:rPr lang="es-ES" sz="2800" dirty="0">
                <a:solidFill>
                  <a:srgbClr val="FF0000"/>
                </a:solidFill>
              </a:rPr>
              <a:t>se comparan las predicciones del modelo con las respuestas reales (etiquetas) para evaluar su precisión y rendimiento general</a:t>
            </a:r>
            <a:r>
              <a:rPr lang="es-ES" sz="2800" dirty="0"/>
              <a:t>.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CF15A5FE-5020-12F1-4D36-41150D3D22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8399" y="3140075"/>
            <a:ext cx="8264209" cy="29718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D01BDEF5-3C67-B093-C08C-4D74D500BB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5972" y="6416675"/>
            <a:ext cx="5464078" cy="4337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1767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ENTRENAMIENTO Y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800" dirty="0"/>
              <a:t>Validación:</a:t>
            </a:r>
          </a:p>
          <a:p>
            <a:pPr algn="l"/>
            <a:endParaRPr lang="es-ES" sz="2800" dirty="0"/>
          </a:p>
          <a:p>
            <a:pPr algn="just" fontAlgn="base" latinLnBrk="0"/>
            <a:r>
              <a:rPr lang="es-ES" sz="2800" dirty="0"/>
              <a:t>Si el modelo entrenado con el conjunto de </a:t>
            </a:r>
            <a:r>
              <a:rPr lang="es-ES" sz="2800" dirty="0" err="1"/>
              <a:t>train</a:t>
            </a:r>
            <a:r>
              <a:rPr lang="es-ES" sz="2800" dirty="0"/>
              <a:t> tiene un 90% de aciertos y con </a:t>
            </a:r>
            <a:r>
              <a:rPr lang="es-ES" sz="2800" dirty="0">
                <a:solidFill>
                  <a:srgbClr val="FF0000"/>
                </a:solidFill>
              </a:rPr>
              <a:t>el conjunto de test tiene un porcentaje muy bajo</a:t>
            </a:r>
            <a:r>
              <a:rPr lang="es-ES" sz="2800" dirty="0"/>
              <a:t>, esto señala claramente un problema de </a:t>
            </a:r>
            <a:r>
              <a:rPr lang="es-ES" sz="2800" dirty="0" err="1"/>
              <a:t>overfitting</a:t>
            </a:r>
            <a:r>
              <a:rPr lang="es-ES" sz="2800" dirty="0"/>
              <a:t>.</a:t>
            </a:r>
          </a:p>
          <a:p>
            <a:pPr algn="l" fontAlgn="base" latinLnBrk="0"/>
            <a:endParaRPr lang="es-ES" sz="2800" dirty="0"/>
          </a:p>
          <a:p>
            <a:pPr algn="l" fontAlgn="base" latinLnBrk="0"/>
            <a:endParaRPr lang="es-ES" sz="2800" dirty="0"/>
          </a:p>
          <a:p>
            <a:pPr algn="just" fontAlgn="base" latinLnBrk="0"/>
            <a:r>
              <a:rPr lang="es-ES" sz="2800" dirty="0"/>
              <a:t>Si en el conjunto de Test </a:t>
            </a:r>
            <a:r>
              <a:rPr lang="es-ES" sz="2800" dirty="0">
                <a:solidFill>
                  <a:srgbClr val="FF0000"/>
                </a:solidFill>
              </a:rPr>
              <a:t>sólo se acierta un tipo de clase o el único resultado que se obtiene es siempre el mismo valor</a:t>
            </a:r>
            <a:r>
              <a:rPr lang="es-ES" sz="2800" dirty="0"/>
              <a:t> será que se produjo un problema de </a:t>
            </a:r>
            <a:r>
              <a:rPr lang="es-ES" sz="2800" dirty="0" err="1"/>
              <a:t>underfitting</a:t>
            </a:r>
            <a:r>
              <a:rPr lang="es-ES" sz="2800" dirty="0"/>
              <a:t>.</a:t>
            </a:r>
          </a:p>
          <a:p>
            <a:pPr algn="l"/>
            <a:endParaRPr lang="es-ES" sz="2800" dirty="0"/>
          </a:p>
          <a:p>
            <a:pPr algn="l"/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37950259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ENTRENAMIENTO Y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800" b="1" dirty="0"/>
              <a:t>Cross </a:t>
            </a:r>
            <a:r>
              <a:rPr lang="es-ES" sz="2800" b="1" dirty="0" err="1"/>
              <a:t>Validation</a:t>
            </a:r>
            <a:r>
              <a:rPr lang="es-ES" sz="2800" dirty="0"/>
              <a:t>: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Si tenemos un conjunto de datos lo suficientemente grande y recursos computacionales limitados, la división tradicional (entrenamiento/test) puede ser adecuada.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Sin embargo, </a:t>
            </a:r>
            <a:r>
              <a:rPr lang="es-ES" sz="2800" dirty="0">
                <a:solidFill>
                  <a:srgbClr val="FF0000"/>
                </a:solidFill>
              </a:rPr>
              <a:t>si el conjunto de datos es pequeño o se desea una evaluación más robusta del rendimiento del modelo</a:t>
            </a:r>
            <a:r>
              <a:rPr lang="es-ES" sz="2800" dirty="0"/>
              <a:t>, la validación cruzada (Cross </a:t>
            </a:r>
            <a:r>
              <a:rPr lang="es-ES" sz="2800" dirty="0" err="1"/>
              <a:t>Validation</a:t>
            </a:r>
            <a:r>
              <a:rPr lang="es-ES" sz="2800" dirty="0"/>
              <a:t>) puede ser preferible.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Hay que tener en cuenta que la elección puede depender también de las características específicas del problema y los objetivos experimentales.</a:t>
            </a:r>
          </a:p>
          <a:p>
            <a:pPr algn="l"/>
            <a:endParaRPr lang="es-ES" sz="2800" dirty="0"/>
          </a:p>
          <a:p>
            <a:pPr algn="l"/>
            <a:endParaRPr lang="es-ES" sz="2800" dirty="0"/>
          </a:p>
          <a:p>
            <a:pPr algn="l"/>
            <a:endParaRPr lang="es-ES" sz="2800" dirty="0"/>
          </a:p>
        </p:txBody>
      </p:sp>
    </p:spTree>
    <p:extLst>
      <p:ext uri="{BB962C8B-B14F-4D97-AF65-F5344CB8AC3E}">
        <p14:creationId xmlns:p14="http://schemas.microsoft.com/office/powerpoint/2010/main" val="403343335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ENTRENAMIENTO Y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6986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800" b="1" dirty="0"/>
              <a:t>Cross </a:t>
            </a:r>
            <a:r>
              <a:rPr lang="es-ES" sz="2800" b="1" dirty="0" err="1"/>
              <a:t>Validation</a:t>
            </a:r>
            <a:r>
              <a:rPr lang="es-ES" sz="2800" dirty="0"/>
              <a:t>: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La validación cruzada es una técnica de evaluación donde para un único modelo </a:t>
            </a:r>
            <a:r>
              <a:rPr lang="es-ES" sz="2800" dirty="0">
                <a:solidFill>
                  <a:srgbClr val="FF0000"/>
                </a:solidFill>
              </a:rPr>
              <a:t>se utilizan múltiples divisiones de entrenamiento y test y devuelve múltiples puntuaciones de precisión</a:t>
            </a:r>
            <a:r>
              <a:rPr lang="es-ES" sz="2800" dirty="0"/>
              <a:t>. </a:t>
            </a:r>
          </a:p>
          <a:p>
            <a:pPr algn="just"/>
            <a:endParaRPr lang="es-ES" sz="2800" dirty="0"/>
          </a:p>
          <a:p>
            <a:pPr algn="just"/>
            <a:r>
              <a:rPr lang="es-ES" sz="2800" dirty="0"/>
              <a:t>El proceso es similar al proceso de </a:t>
            </a:r>
            <a:r>
              <a:rPr lang="es-ES" sz="2800" dirty="0" err="1"/>
              <a:t>remuestreo</a:t>
            </a:r>
            <a:r>
              <a:rPr lang="es-ES" sz="2800" dirty="0"/>
              <a:t>: utiliza diferentes subconjuntos del conjunto de datos original para entrenar y evaluar el mismo modelo, de modo que podamos obtener una puntuación de precisión promedio a partir de una serie de puntuaciones para determinar si el modelo que entrenamos es un buen predictor.</a:t>
            </a:r>
          </a:p>
          <a:p>
            <a:pPr algn="l"/>
            <a:endParaRPr lang="es-ES" sz="2800" dirty="0"/>
          </a:p>
          <a:p>
            <a:pPr algn="l"/>
            <a:endParaRPr lang="es-ES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89D157-C6DF-6F3B-3CEA-F6536CE136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04575" y="3140075"/>
            <a:ext cx="8292582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26549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232B839-E8CF-BF4D-93B8-0EE81E2A4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ENTRENAMIENTO Y PRUEBA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0AC1F8-F5E3-EED1-E241-DFBFD3CD9269}"/>
              </a:ext>
            </a:extLst>
          </p:cNvPr>
          <p:cNvSpPr txBox="1"/>
          <p:nvPr/>
        </p:nvSpPr>
        <p:spPr>
          <a:xfrm>
            <a:off x="2127250" y="2225675"/>
            <a:ext cx="8610600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ES" sz="2800" b="1" dirty="0"/>
              <a:t>Cross </a:t>
            </a:r>
            <a:r>
              <a:rPr lang="es-ES" sz="2800" b="1" dirty="0" err="1"/>
              <a:t>Validation</a:t>
            </a:r>
            <a:r>
              <a:rPr lang="es-ES" sz="2800" dirty="0"/>
              <a:t>: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Una de las técnicas más usadas en validación cruzada es k-</a:t>
            </a:r>
            <a:r>
              <a:rPr lang="es-ES" sz="2800" dirty="0" err="1"/>
              <a:t>fold</a:t>
            </a:r>
            <a:r>
              <a:rPr lang="es-ES" sz="2800" dirty="0"/>
              <a:t>.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Aquí, el conjunto de datos se divide en k pliegues (</a:t>
            </a:r>
            <a:r>
              <a:rPr lang="es-ES" sz="2800" dirty="0" err="1"/>
              <a:t>folds</a:t>
            </a:r>
            <a:r>
              <a:rPr lang="es-ES" sz="2800" dirty="0"/>
              <a:t>).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El modelo se entrena k veces, cada vez utilizando k-1 pliegues para el entrenamiento y 1 pliegue para la evaluación. </a:t>
            </a:r>
          </a:p>
          <a:p>
            <a:pPr algn="l"/>
            <a:endParaRPr lang="es-ES" sz="2800" dirty="0"/>
          </a:p>
          <a:p>
            <a:pPr algn="just"/>
            <a:r>
              <a:rPr lang="es-ES" sz="2800" dirty="0"/>
              <a:t>Se calcula la métrica de rendimiento k veces (una vez para cada pliegue), y se promedian los resultados para obtener una métrica de rendimiento general.</a:t>
            </a:r>
          </a:p>
          <a:p>
            <a:pPr algn="l"/>
            <a:endParaRPr lang="es-ES" sz="2800" dirty="0"/>
          </a:p>
          <a:p>
            <a:pPr algn="l"/>
            <a:endParaRPr lang="es-ES" sz="2800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66E96FA-63D2-99D9-74E4-BC494B73B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47450" y="2759075"/>
            <a:ext cx="8116711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4054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7D15BE-E3B2-F743-9878-F149B7D9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2050" y="9007475"/>
            <a:ext cx="9020022" cy="1015663"/>
          </a:xfrm>
        </p:spPr>
        <p:txBody>
          <a:bodyPr/>
          <a:lstStyle/>
          <a:p>
            <a:r>
              <a:rPr lang="es-CL" sz="6600" dirty="0"/>
              <a:t>RESUMEN</a:t>
            </a: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224DE7A-4464-F54B-B074-7663E7D43917}"/>
              </a:ext>
            </a:extLst>
          </p:cNvPr>
          <p:cNvSpPr txBox="1">
            <a:spLocks/>
          </p:cNvSpPr>
          <p:nvPr/>
        </p:nvSpPr>
        <p:spPr>
          <a:xfrm>
            <a:off x="6276975" y="7752358"/>
            <a:ext cx="1670957" cy="147732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0" b="1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</a:lstStyle>
          <a:p>
            <a:pPr algn="l"/>
            <a:r>
              <a:rPr lang="es-CL" sz="9600" dirty="0">
                <a:solidFill>
                  <a:srgbClr val="257CE1"/>
                </a:solidFill>
                <a:latin typeface="Arial Black" panose="020B0604020202020204" pitchFamily="34" charset="0"/>
                <a:cs typeface="Arial Black" panose="020B0604020202020204" pitchFamily="34" charset="0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202464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CBCD8BF0-1144-D34D-8793-D9BC0214A6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s-CL" dirty="0"/>
              <a:t>RESUMEN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F119F-996A-54C1-08D8-A05CBD0E1453}"/>
              </a:ext>
            </a:extLst>
          </p:cNvPr>
          <p:cNvSpPr txBox="1"/>
          <p:nvPr/>
        </p:nvSpPr>
        <p:spPr>
          <a:xfrm>
            <a:off x="2279650" y="2682875"/>
            <a:ext cx="121920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L" sz="2800" b="1" dirty="0">
                <a:latin typeface="Arial" panose="020B0604020202020204" pitchFamily="34" charset="0"/>
                <a:cs typeface="Arial" panose="020B0604020202020204" pitchFamily="34" charset="0"/>
              </a:rPr>
              <a:t>En esta presentación, hemos visto:</a:t>
            </a:r>
          </a:p>
          <a:p>
            <a:endParaRPr lang="es-CL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Introducción a  las Técnicas de Evaluación</a:t>
            </a: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Overfitting</a:t>
            </a: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 &amp; </a:t>
            </a:r>
            <a:r>
              <a:rPr lang="es-ES" sz="2800" dirty="0" err="1">
                <a:latin typeface="Arial" panose="020B0604020202020204" pitchFamily="34" charset="0"/>
                <a:cs typeface="Arial" panose="020B0604020202020204" pitchFamily="34" charset="0"/>
              </a:rPr>
              <a:t>Underfitting</a:t>
            </a:r>
            <a:endParaRPr lang="es-ES" sz="2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Wingdings" panose="05000000000000000000" pitchFamily="2" charset="2"/>
              <a:buChar char="q"/>
            </a:pPr>
            <a:r>
              <a:rPr lang="es-ES" sz="2800" dirty="0">
                <a:latin typeface="Arial" panose="020B0604020202020204" pitchFamily="34" charset="0"/>
                <a:cs typeface="Arial" panose="020B0604020202020204" pitchFamily="34" charset="0"/>
              </a:rPr>
              <a:t>Datos de Entrenamiento y Prueba</a:t>
            </a:r>
          </a:p>
          <a:p>
            <a:pPr algn="just"/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30569588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E9A3AE23414AD41A4F4D6368514CED2" ma:contentTypeVersion="13" ma:contentTypeDescription="Crear nuevo documento." ma:contentTypeScope="" ma:versionID="e5b9210409080ab1878d310b63a91de2">
  <xsd:schema xmlns:xsd="http://www.w3.org/2001/XMLSchema" xmlns:xs="http://www.w3.org/2001/XMLSchema" xmlns:p="http://schemas.microsoft.com/office/2006/metadata/properties" xmlns:ns2="dbb86751-ad4c-49ff-a33d-b7314027950b" xmlns:ns3="4215e297-5d6e-42b1-b795-55976a17412c" targetNamespace="http://schemas.microsoft.com/office/2006/metadata/properties" ma:root="true" ma:fieldsID="13f1ec48c0d2d83b68390b1e0be9568b" ns2:_="" ns3:_="">
    <xsd:import namespace="dbb86751-ad4c-49ff-a33d-b7314027950b"/>
    <xsd:import namespace="4215e297-5d6e-42b1-b795-55976a17412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b86751-ad4c-49ff-a33d-b7314027950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Etiquetas de imagen" ma:readOnly="false" ma:fieldId="{5cf76f15-5ced-4ddc-b409-7134ff3c332f}" ma:taxonomyMulti="true" ma:sspId="e2f773bf-f00b-42a6-8b07-050935be226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15e297-5d6e-42b1-b795-55976a17412c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f8d5977e-d2ec-4115-827c-1393f5edec4a}" ma:internalName="TaxCatchAll" ma:showField="CatchAllData" ma:web="4215e297-5d6e-42b1-b795-55976a17412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bb86751-ad4c-49ff-a33d-b7314027950b">
      <Terms xmlns="http://schemas.microsoft.com/office/infopath/2007/PartnerControls"/>
    </lcf76f155ced4ddcb4097134ff3c332f>
    <TaxCatchAll xmlns="4215e297-5d6e-42b1-b795-55976a17412c" xsi:nil="true"/>
  </documentManagement>
</p:properties>
</file>

<file path=customXml/itemProps1.xml><?xml version="1.0" encoding="utf-8"?>
<ds:datastoreItem xmlns:ds="http://schemas.openxmlformats.org/officeDocument/2006/customXml" ds:itemID="{64C43652-73DC-4C77-8E79-F06010C18C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BBF0A18-574F-4CFD-981D-5882D694459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b86751-ad4c-49ff-a33d-b7314027950b"/>
    <ds:schemaRef ds:uri="4215e297-5d6e-42b1-b795-55976a17412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D821600-D61B-433B-B6F8-A294D9BC75DD}">
  <ds:schemaRefs>
    <ds:schemaRef ds:uri="http://schemas.microsoft.com/office/2006/metadata/properties"/>
    <ds:schemaRef ds:uri="http://schemas.microsoft.com/office/infopath/2007/PartnerControls"/>
    <ds:schemaRef ds:uri="dbb86751-ad4c-49ff-a33d-b7314027950b"/>
    <ds:schemaRef ds:uri="4215e297-5d6e-42b1-b795-55976a17412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4517</TotalTime>
  <Words>1295</Words>
  <Application>Microsoft Office PowerPoint</Application>
  <PresentationFormat>Personalizado</PresentationFormat>
  <Paragraphs>127</Paragraphs>
  <Slides>21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21</vt:i4>
      </vt:variant>
    </vt:vector>
  </HeadingPairs>
  <TitlesOfParts>
    <vt:vector size="26" baseType="lpstr">
      <vt:lpstr>Arial</vt:lpstr>
      <vt:lpstr>Arial Black</vt:lpstr>
      <vt:lpstr>Calibri</vt:lpstr>
      <vt:lpstr>Wingdings</vt:lpstr>
      <vt:lpstr>Office Theme</vt:lpstr>
      <vt:lpstr>TÉCNICAS  DE EVALUACIÓN</vt:lpstr>
      <vt:lpstr>Presentación de PowerPoint</vt:lpstr>
      <vt:lpstr>INTRODUCCIÓN</vt:lpstr>
      <vt:lpstr>INTRODUCCIÓN</vt:lpstr>
      <vt:lpstr>INTRODUCCIÓN</vt:lpstr>
      <vt:lpstr>INTRODUCCIÓN</vt:lpstr>
      <vt:lpstr>INTRODUCCIÓN</vt:lpstr>
      <vt:lpstr>TÍTULO</vt:lpstr>
      <vt:lpstr>Presentación de PowerPoint</vt:lpstr>
      <vt:lpstr>Presentación de PowerPoint</vt:lpstr>
      <vt:lpstr>Presentación de PowerPoint</vt:lpstr>
      <vt:lpstr>ENTRENAMIENTO Y PRUEBA</vt:lpstr>
      <vt:lpstr>ENTRENAMIENTO Y PRUEBA</vt:lpstr>
      <vt:lpstr>ENTRENAMIENTO Y PRUEBA</vt:lpstr>
      <vt:lpstr>ENTRENAMIENTO Y PRUEBA</vt:lpstr>
      <vt:lpstr>ENTRENAMIENTO Y PRUEBA</vt:lpstr>
      <vt:lpstr>ENTRENAMIENTO Y PRUEBA</vt:lpstr>
      <vt:lpstr>ENTRENAMIENTO Y PRUEBA</vt:lpstr>
      <vt:lpstr>ENTRENAMIENTO Y PRUEBA</vt:lpstr>
      <vt:lpstr>RESUMEN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Web</dc:title>
  <dc:creator>Daniela Taito R.</dc:creator>
  <cp:lastModifiedBy>guillermo pinto</cp:lastModifiedBy>
  <cp:revision>243</cp:revision>
  <dcterms:created xsi:type="dcterms:W3CDTF">2022-07-20T19:15:37Z</dcterms:created>
  <dcterms:modified xsi:type="dcterms:W3CDTF">2023-12-04T22:13:22Z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2022-07-20T00:00:00Z</vt:filetime>
  </property>
  <property fmtid="{D5CDD505-2E9C-101B-9397-08002B2CF9AE}" pid="3" name="Creator">
    <vt:lpwstr>Adobe Illustrator 26.3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2022-07-20T00:00:00Z</vt:filetime>
  </property>
  <property fmtid="{D5CDD505-2E9C-101B-9397-08002B2CF9AE}" pid="6" name="Producer">
    <vt:lpwstr>Adobe PDF library 15.00</vt:lpwstr>
  </property>
  <property fmtid="{D5CDD505-2E9C-101B-9397-08002B2CF9AE}" pid="7" name="ContentTypeId">
    <vt:lpwstr>0x0101004E9A3AE23414AD41A4F4D6368514CED2</vt:lpwstr>
  </property>
</Properties>
</file>