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9" r:id="rId5"/>
  </p:sldMasterIdLst>
  <p:notesMasterIdLst>
    <p:notesMasterId r:id="rId25"/>
  </p:notesMasterIdLst>
  <p:sldIdLst>
    <p:sldId id="261" r:id="rId6"/>
    <p:sldId id="337" r:id="rId7"/>
    <p:sldId id="344" r:id="rId8"/>
    <p:sldId id="259" r:id="rId9"/>
    <p:sldId id="349" r:id="rId10"/>
    <p:sldId id="350" r:id="rId11"/>
    <p:sldId id="260" r:id="rId12"/>
    <p:sldId id="348" r:id="rId13"/>
    <p:sldId id="262" r:id="rId14"/>
    <p:sldId id="270" r:id="rId15"/>
    <p:sldId id="269" r:id="rId16"/>
    <p:sldId id="351" r:id="rId17"/>
    <p:sldId id="271" r:id="rId18"/>
    <p:sldId id="272" r:id="rId19"/>
    <p:sldId id="273" r:id="rId20"/>
    <p:sldId id="274" r:id="rId21"/>
    <p:sldId id="275" r:id="rId22"/>
    <p:sldId id="327" r:id="rId23"/>
    <p:sldId id="342" r:id="rId2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2" autoAdjust="0"/>
    <p:restoredTop sz="94558"/>
  </p:normalViewPr>
  <p:slideViewPr>
    <p:cSldViewPr>
      <p:cViewPr varScale="1">
        <p:scale>
          <a:sx n="47" d="100"/>
          <a:sy n="47" d="100"/>
        </p:scale>
        <p:origin x="65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12-11-2023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683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4254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4"/>
          <p:cNvSpPr txBox="1"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subTitle" idx="1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/>
          <p:nvPr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 h="120000" extrusionOk="0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w="104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550529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7647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6"/>
          <p:cNvSpPr txBox="1"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9848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/>
          <p:nvPr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" name="Google Shape;29;p27"/>
          <p:cNvSpPr/>
          <p:nvPr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 extrusionOk="0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" name="Google Shape;30;p27"/>
          <p:cNvSpPr/>
          <p:nvPr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1" name="Google Shape;31;p27"/>
          <p:cNvGrpSpPr/>
          <p:nvPr/>
        </p:nvGrpSpPr>
        <p:grpSpPr>
          <a:xfrm>
            <a:off x="19053919" y="10117702"/>
            <a:ext cx="427015" cy="597582"/>
            <a:chOff x="19053919" y="10117702"/>
            <a:chExt cx="427015" cy="597582"/>
          </a:xfrm>
        </p:grpSpPr>
        <p:sp>
          <p:nvSpPr>
            <p:cNvPr id="32" name="Google Shape;32;p27"/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3" name="Google Shape;33;p2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87060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340"/>
            <a:ext cx="20109342" cy="1130561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8"/>
          <p:cNvSpPr/>
          <p:nvPr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4448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/>
          <p:nvPr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 extrusionOk="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" name="Google Shape;41;p29"/>
          <p:cNvSpPr/>
          <p:nvPr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2" name="Google Shape;42;p29"/>
          <p:cNvGrpSpPr/>
          <p:nvPr/>
        </p:nvGrpSpPr>
        <p:grpSpPr>
          <a:xfrm>
            <a:off x="2842727" y="10117702"/>
            <a:ext cx="427015" cy="597582"/>
            <a:chOff x="2842727" y="10117702"/>
            <a:chExt cx="427015" cy="597582"/>
          </a:xfrm>
        </p:grpSpPr>
        <p:sp>
          <p:nvSpPr>
            <p:cNvPr id="43" name="Google Shape;43;p29"/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44" name="Google Shape;44;p2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29"/>
          <p:cNvSpPr/>
          <p:nvPr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" name="Google Shape;46;p29"/>
          <p:cNvSpPr txBox="1">
            <a:spLocks noGrp="1"/>
          </p:cNvSpPr>
          <p:nvPr>
            <p:ph type="body" idx="1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099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seño personalizado">
  <p:cSld name="5_Diseño personaliza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3340"/>
            <a:ext cx="20110047" cy="1130601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0"/>
          <p:cNvSpPr txBox="1"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3839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Diseño personalizado">
  <p:cSld name="6_Diseño personalizad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1"/>
          <p:cNvSpPr/>
          <p:nvPr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4" name="Google Shape;54;p31"/>
          <p:cNvSpPr txBox="1"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87974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eño personalizado">
  <p:cSld name="3_Diseño personalizad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2"/>
          <p:cNvSpPr txBox="1"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56906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eño personalizado">
  <p:cSld name="4_Diseño personalizad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3"/>
          <p:cNvSpPr/>
          <p:nvPr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236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4"/>
          <p:cNvSpPr/>
          <p:nvPr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7" name="Google Shape;67;p34"/>
          <p:cNvSpPr txBox="1"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57482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2844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64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15373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www.researchgate.net/publication/220254274_A_survey_of_data_mining_and_knowledge_discovery_process_models_and_methodologie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ericasistemas.com.pe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ericasistemas.com.pe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ericasistemas.com.p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ericasistemas.com.p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ericasistemas.com.p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ericasistemas.com.p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pc="-10" dirty="0"/>
              <a:t>METODOLOGÍA</a:t>
            </a:r>
            <a:br>
              <a:rPr lang="es-CL" sz="3800" dirty="0"/>
            </a:br>
            <a:r>
              <a:rPr lang="es-CL" sz="3800" dirty="0"/>
              <a:t>MINERÍA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9BAB8-5980-04D6-9003-ABBE79FC69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26080" y="9554269"/>
            <a:ext cx="8712681" cy="369332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BIY7121 MINERÍA DE DATOS</a:t>
            </a:r>
            <a:endParaRPr lang="es-CL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CRISP DM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5AD2299A-27D1-AA45-A043-C0D64B734853}"/>
              </a:ext>
            </a:extLst>
          </p:cNvPr>
          <p:cNvSpPr txBox="1">
            <a:spLocks/>
          </p:cNvSpPr>
          <p:nvPr/>
        </p:nvSpPr>
        <p:spPr>
          <a:xfrm>
            <a:off x="9617262" y="9194781"/>
            <a:ext cx="416597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RESUMEN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FEE1E9F-D6A8-614C-BB95-3AFA463327D0}"/>
              </a:ext>
            </a:extLst>
          </p:cNvPr>
          <p:cNvSpPr txBox="1">
            <a:spLocks/>
          </p:cNvSpPr>
          <p:nvPr/>
        </p:nvSpPr>
        <p:spPr>
          <a:xfrm>
            <a:off x="9617262" y="8432781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ORIGEN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0" y="7559675"/>
            <a:ext cx="10134600" cy="1015663"/>
          </a:xfrm>
        </p:spPr>
        <p:txBody>
          <a:bodyPr/>
          <a:lstStyle/>
          <a:p>
            <a:pPr algn="r"/>
            <a:r>
              <a:rPr lang="es-CL" sz="6600" dirty="0"/>
              <a:t>ORIGEN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MINERÍA DE DATOS</a:t>
            </a:r>
            <a:endParaRPr dirty="0"/>
          </a:p>
        </p:txBody>
      </p:sp>
      <p:sp>
        <p:nvSpPr>
          <p:cNvPr id="100" name="Google Shape;100;p4"/>
          <p:cNvSpPr txBox="1"/>
          <p:nvPr/>
        </p:nvSpPr>
        <p:spPr>
          <a:xfrm>
            <a:off x="1136650" y="2492375"/>
            <a:ext cx="6781800" cy="8833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El proceso de minería de datos comprende una serie de pasos que abarcan desde la recopilación de datos hasta la visualización, para extraer</a:t>
            </a:r>
            <a:r>
              <a:rPr kumimoji="0" lang="es-ES" sz="3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ES" sz="3200" b="0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insights</a:t>
            </a:r>
            <a:r>
              <a:rPr kumimoji="0" lang="es-ES" sz="3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 grandes volúmenes de datos.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s-ES" sz="32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3200" dirty="0">
                <a:solidFill>
                  <a:srgbClr val="000000"/>
                </a:solidFill>
                <a:latin typeface="Arial"/>
                <a:cs typeface="Arial"/>
              </a:rPr>
              <a:t>Un </a:t>
            </a:r>
            <a:r>
              <a:rPr lang="es-ES" sz="3200" i="1" dirty="0" err="1">
                <a:solidFill>
                  <a:srgbClr val="FF0000"/>
                </a:solidFill>
                <a:latin typeface="Arial"/>
                <a:cs typeface="Arial"/>
              </a:rPr>
              <a:t>insight</a:t>
            </a:r>
            <a:r>
              <a:rPr lang="es-ES" sz="3200" dirty="0">
                <a:solidFill>
                  <a:srgbClr val="000000"/>
                </a:solidFill>
                <a:latin typeface="Arial"/>
                <a:cs typeface="Arial"/>
              </a:rPr>
              <a:t> es una </a:t>
            </a:r>
            <a:r>
              <a:rPr lang="es-ES" sz="3200" b="1" dirty="0">
                <a:solidFill>
                  <a:srgbClr val="000000"/>
                </a:solidFill>
                <a:latin typeface="Arial"/>
                <a:cs typeface="Arial"/>
              </a:rPr>
              <a:t>clave</a:t>
            </a:r>
            <a:r>
              <a:rPr lang="es-ES" sz="3200" dirty="0">
                <a:solidFill>
                  <a:srgbClr val="000000"/>
                </a:solidFill>
                <a:latin typeface="Arial"/>
                <a:cs typeface="Arial"/>
              </a:rPr>
              <a:t>, la esencia que nos permite encontrar la solución a un problema. Un camino, un dato que nos sugiere como resolver cualquier ecuación por compleja que sea. Un </a:t>
            </a:r>
            <a:r>
              <a:rPr lang="es-ES" sz="3200" i="1" dirty="0" err="1">
                <a:solidFill>
                  <a:srgbClr val="FF0000"/>
                </a:solidFill>
                <a:latin typeface="Arial"/>
                <a:cs typeface="Arial"/>
              </a:rPr>
              <a:t>insight</a:t>
            </a:r>
            <a:r>
              <a:rPr lang="es-ES" sz="32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s-ES" sz="3200" dirty="0">
                <a:solidFill>
                  <a:srgbClr val="000000"/>
                </a:solidFill>
                <a:latin typeface="Arial"/>
                <a:cs typeface="Arial"/>
              </a:rPr>
              <a:t>no es la solución, es simplemente el punto que nos lleva al camino de esa solución.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9A31029-B6A2-F237-DB35-E8D87027A1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180F59-FEF1-0E0B-E86E-62319D44E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450" y="2492375"/>
            <a:ext cx="105410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MINERÍA DE DATOS  </a:t>
            </a:r>
            <a:endParaRPr dirty="0"/>
          </a:p>
        </p:txBody>
      </p:sp>
      <p:sp>
        <p:nvSpPr>
          <p:cNvPr id="100" name="Google Shape;100;p4"/>
          <p:cNvSpPr txBox="1"/>
          <p:nvPr/>
        </p:nvSpPr>
        <p:spPr>
          <a:xfrm>
            <a:off x="984250" y="1844675"/>
            <a:ext cx="6781800" cy="8094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La tarea de minería de datos, es el análisis automático o </a:t>
            </a:r>
            <a:r>
              <a:rPr kumimoji="0" lang="es-E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semi-automático</a:t>
            </a: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de grandes cantidades de datos para extraer </a:t>
            </a:r>
            <a:r>
              <a:rPr kumimoji="0" lang="es-E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patrones</a:t>
            </a: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interesantes hasta ahora desconocidos, como los grupos de registros de datos (análisis clúster), registros poco usuales (la detección de anomalías) y dependencias (minería por reglas de asociación).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s-ES" sz="3200" dirty="0">
              <a:solidFill>
                <a:srgbClr val="202122"/>
              </a:solidFill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También clasifican y agrupan datos a través de métodos de clasificación y regresión.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3A61AD1-BC77-E5E1-733B-00B654120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166" y="1844675"/>
            <a:ext cx="10440020" cy="718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13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MINERÍA DE DATOS  -  KDD </a:t>
            </a:r>
            <a:endParaRPr/>
          </a:p>
        </p:txBody>
      </p:sp>
      <p:sp>
        <p:nvSpPr>
          <p:cNvPr id="100" name="Google Shape;100;p4"/>
          <p:cNvSpPr txBox="1"/>
          <p:nvPr/>
        </p:nvSpPr>
        <p:spPr>
          <a:xfrm>
            <a:off x="1060450" y="2225675"/>
            <a:ext cx="6477000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Estos patrones pueden entonces ser vistos como </a:t>
            </a:r>
            <a:r>
              <a:rPr kumimoji="0" lang="es-E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una especie de resumen de los datos de entrada</a:t>
            </a: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y pueden ser utilizados en el análisis adicional o, por ejemplo, en el aprendizaje automático y análisis predictivo.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4">
            <a:extLst>
              <a:ext uri="{FF2B5EF4-FFF2-40B4-BE49-F238E27FC236}">
                <a16:creationId xmlns:a16="http://schemas.microsoft.com/office/drawing/2014/main" id="{8A002B29-140B-E143-728C-32E10BE8A93F}"/>
              </a:ext>
            </a:extLst>
          </p:cNvPr>
          <p:cNvSpPr txBox="1"/>
          <p:nvPr/>
        </p:nvSpPr>
        <p:spPr>
          <a:xfrm>
            <a:off x="8524009" y="8321675"/>
            <a:ext cx="976168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En 1996, </a:t>
            </a:r>
            <a:r>
              <a:rPr kumimoji="0" lang="es-E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Fayyad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propuso una metodología para enfrentar los proyectos de Minería de Datos: KDD (</a:t>
            </a:r>
            <a:r>
              <a:rPr kumimoji="0" lang="es-E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knowledge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E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discovery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in </a:t>
            </a:r>
            <a:r>
              <a:rPr kumimoji="0" lang="es-E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databases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4D5156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).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160406-01CC-BD71-99BD-3EEDD1A54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50" y="2940788"/>
            <a:ext cx="10972800" cy="5018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795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MINERÍA DE DATOS - SEMMA 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984250" y="2454275"/>
            <a:ext cx="647700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SEMMA</a:t>
            </a:r>
            <a:r>
              <a:rPr kumimoji="0" lang="es-E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es el acrónimo a las cinco fases: Sample, Explore, Modify, Model, Assess.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 metodología es propuesta por SAS Institute Inc, que la define como: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“… proceso de selección, exploración y modelamiento de grandes cantidades de datos para descubrir patrones de negocios desconocidos…”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9450" y="2454275"/>
            <a:ext cx="11479627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MINERÍA DE DATOS - CRISP-DM 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1060450" y="2454275"/>
            <a:ext cx="64770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CROSS INDUSTRY STANDARD PROCESS FOR DATA MINING (CRISP DM) 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 una iniciativa financiada por la Comunidad Europea donde ha unido a diferentes empresas para desarrollar una plataforma para Minería de Datos.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6250" y="1807962"/>
            <a:ext cx="8153400" cy="8200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EVOLUCIÓN DE LAS METODOLOGÍAS</a:t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2650" y="1844675"/>
            <a:ext cx="12192000" cy="820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/>
        </p:nvSpPr>
        <p:spPr>
          <a:xfrm>
            <a:off x="5087389" y="10440591"/>
            <a:ext cx="99293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Fuente: </a:t>
            </a:r>
            <a:r>
              <a:rPr kumimoji="0" lang="es-ES" sz="1800" b="1" i="0" u="sng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  <a:hlinkClick r:id="rId4"/>
              </a:rPr>
              <a:t>A survey of data mining and knowledge discovery process models and methodologies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5BEF-C6CB-D142-BFA0-F95C5E3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50" y="7712075"/>
            <a:ext cx="8305800" cy="738664"/>
          </a:xfrm>
        </p:spPr>
        <p:txBody>
          <a:bodyPr/>
          <a:lstStyle/>
          <a:p>
            <a:pPr algn="r"/>
            <a:r>
              <a:rPr lang="es-CL" sz="4800" dirty="0"/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CRISP DM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CRISP DM la metodología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1365251" y="2835275"/>
            <a:ext cx="9372600" cy="501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CRISP-DM fue concebida a fines de 1996.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Como </a:t>
            </a: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metodología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incluye descripciones de las fases normales de un proyecto, las tareas necesarias en cada fase y una explicación de las relaciones entre las tareas.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El modelo </a:t>
            </a: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contiene seis fases 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 flechas que indican las dependencias más importantes y frecuentes entre fases. </a:t>
            </a:r>
            <a:r>
              <a:rPr kumimoji="0" lang="es-E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La secuencia de las fases no es estricta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 De hecho, la mayoría de los proyectos avanzan y retroceden entre fases si es necesario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76050" y="2378075"/>
            <a:ext cx="7315200" cy="73573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/>
        </p:nvSpPr>
        <p:spPr>
          <a:xfrm>
            <a:off x="11957050" y="10290923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Fuente : IBM SPSS Modeler Documentación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CRISP DM  comprender el negocio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11976099" y="10116429"/>
            <a:ext cx="4953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Fuente : </a:t>
            </a:r>
            <a:r>
              <a:rPr kumimoji="0" lang="es-ES" sz="1800" b="0" i="0" u="sng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https://www.americasistemas.com.pe/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ciencia-de-datos-crisp-dm-y-su-proceso-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de-implementacion/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84850" y="2307025"/>
            <a:ext cx="10205400" cy="87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Comprensión del problema o negocio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Esta es </a:t>
            </a:r>
            <a:r>
              <a:rPr kumimoji="0" lang="es-ES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la etapa más importante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ya que, si no se comprende correctamente el negocio, o problema, no servirá pasar a las siguientes etapas.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Sus actividades principales son: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Identificación del problema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Aborda el entendimiento y delimitación de la problemática, así como la identificación de los requisitos, restricciones, supuestos y beneficios del proyecto.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Determinación de objetivos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Establece los posibles resultados a obtener al proponer la solución.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Evaluación de la situación actual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Describe el estado actual antes de ser implementada la solución propuesta, con el fin de tener un objeto de comparación que permita medir el grado de éxito del proyecto.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76099" y="2759075"/>
            <a:ext cx="6610350" cy="66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/>
          <p:nvPr/>
        </p:nvSpPr>
        <p:spPr>
          <a:xfrm>
            <a:off x="13100050" y="3444875"/>
            <a:ext cx="1905000" cy="1537736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CRISP DM  comprender los datos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11976099" y="10116429"/>
            <a:ext cx="4953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Fuente : </a:t>
            </a:r>
            <a:r>
              <a:rPr kumimoji="0" lang="es-ES" sz="1800" b="0" i="0" u="sng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https://www.americasistemas.com.pe/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ciencia-de-datos-crisp-dm-y-su-proceso-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de-implementacion/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9" name="Google Shape;19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28450" y="2606675"/>
            <a:ext cx="6610350" cy="66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6"/>
          <p:cNvSpPr/>
          <p:nvPr/>
        </p:nvSpPr>
        <p:spPr>
          <a:xfrm>
            <a:off x="15386050" y="3140075"/>
            <a:ext cx="1905000" cy="1537736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1270550" y="2783425"/>
            <a:ext cx="10020300" cy="73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Comprensión de los datos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Comprende la recolección inicial de datos, con el objetivo de establecer un primer acercamiento con el problema, conociendo a los datos, identificando su calidad y estableciendo las primeras relaciones que permitan definir correlaciones entre variables.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Sus actividades principales son: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Recolección de datos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Consiste en obtener los datos a utilizar en el proyecto a partir de algunas fuentes de datos, e identificando las técnicas utilizadas para su recolección.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Exploración de datos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Se basa en aplicar pruebas estadísticas que permitan conocer las propiedades de los datos.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CRISP DM  preparación de datos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11976099" y="10116429"/>
            <a:ext cx="4953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Fuente : </a:t>
            </a:r>
            <a:r>
              <a:rPr kumimoji="0" lang="es-ES" sz="1800" b="0" i="0" u="sng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https://www.americasistemas.com.pe/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ciencia-de-datos-crisp-dm-y-su-proceso-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de-implementacion/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8" name="Google Shape;20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28450" y="2606675"/>
            <a:ext cx="6610350" cy="66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/>
          <p:nvPr/>
        </p:nvSpPr>
        <p:spPr>
          <a:xfrm>
            <a:off x="15976599" y="4358239"/>
            <a:ext cx="1905000" cy="1537736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1369700" y="2714900"/>
            <a:ext cx="9749100" cy="7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Preparación de datos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Esta es </a:t>
            </a:r>
            <a:r>
              <a:rPr kumimoji="0" lang="es-ES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la etapa que demanda más tiempo 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en el proyecto, aquí se seleccionan los datos que serán transformados de acuerdo con los resultados de la etapa anterior a fin de ser utilizados en la etapa de modelado.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Sus actividades principales son: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Limpieza de datos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Para este fin se aplican diferentes técnicas, por ejemplo, normalización de datos, tratamiento de valores nulos, tratamiento de duplicados e imputación de datos.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Transformación de datos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Aquí se cambia la estructura o el formato de ciertos datos sin alterar su significado, a fin de poder ser utilizados en la etapa de modelado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CRISP DM  modelado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1976099" y="10116429"/>
            <a:ext cx="4953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Fuente : </a:t>
            </a:r>
            <a:r>
              <a:rPr kumimoji="0" lang="es-ES" sz="1800" b="0" i="0" u="sng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https://www.americasistemas.com.pe/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ciencia-de-datos-crisp-dm-y-su-proceso-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de-implementacion/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17" name="Google Shape;21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28450" y="2606675"/>
            <a:ext cx="6610350" cy="66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15976599" y="5413394"/>
            <a:ext cx="1905000" cy="1537736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1517651" y="2730601"/>
            <a:ext cx="9601200" cy="79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Modelado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En esta etapa se obtiene el modelo propuesto.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Sus actividades principales son: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Selección de técnica de modelado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Se elige la técnica apropiada de acuerdo con el problema a resolver, los datos disponibles, las herramientas de minería de datos disponibles.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Selección de datos de prueba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En algunos modelos se necesita segmentar la muestra en datos de entrenamiento y de prueba.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5080" lvl="0" indent="-40640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Obtención del modelo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Aquí se genera el mejor modelo mediante un proceso iterativo con los datos de prueba y de entrenamiento.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CRISP DM  evaluación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1976099" y="10116429"/>
            <a:ext cx="4953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Fuente : </a:t>
            </a:r>
            <a:r>
              <a:rPr kumimoji="0" lang="es-ES" sz="1800" b="0" i="0" u="sng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https://www.americasistemas.com.pe/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ciencia-de-datos-crisp-dm-y-su-proceso-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de-implementacion/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6" name="Google Shape;22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28450" y="2606675"/>
            <a:ext cx="6610350" cy="66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/>
          <p:nvPr/>
        </p:nvSpPr>
        <p:spPr>
          <a:xfrm>
            <a:off x="14081125" y="7164939"/>
            <a:ext cx="1905000" cy="1537736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1667933" y="3368675"/>
            <a:ext cx="9298500" cy="4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Evaluación del modelo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En esta etapa se determina la calidad del modelo teniendo en cuenta el análisis de determinadas métricas y criterios estadísticos del mismo, comparando los resultados que se van obteniendo con resultados previos.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 acuerdo con los resultados de esta etapa se decide continuar con la última fase de la metodología, </a:t>
            </a:r>
            <a:r>
              <a:rPr kumimoji="0" lang="es-ES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revisar alguna de las etapas anteriores para ref</a:t>
            </a:r>
            <a:r>
              <a:rPr kumimoji="0" lang="es-ES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ormular</a:t>
            </a:r>
            <a:r>
              <a:rPr kumimoji="0" lang="es-ES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o incluso iniciar desde cero con un nuevo </a:t>
            </a:r>
            <a:r>
              <a:rPr kumimoji="0" lang="es-ES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objetivo</a:t>
            </a:r>
            <a:r>
              <a:rPr kumimoji="0" lang="es-ES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endParaRPr kumimoji="0" sz="2800" b="0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CRISP DM  implementación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11976099" y="10116429"/>
            <a:ext cx="4953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Fuente : </a:t>
            </a:r>
            <a:r>
              <a:rPr kumimoji="0" lang="es-ES" sz="1800" b="0" i="0" u="sng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https://www.americasistemas.com.pe/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ciencia-de-datos-crisp-dm-y-su-proceso-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de-implementacion/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5" name="Google Shape;23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28450" y="2606675"/>
            <a:ext cx="6610350" cy="66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/>
          <p:nvPr/>
        </p:nvSpPr>
        <p:spPr>
          <a:xfrm>
            <a:off x="12185650" y="5162032"/>
            <a:ext cx="1905000" cy="1537736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1365251" y="3460319"/>
            <a:ext cx="9448800" cy="58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Implementación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Aquí el modelo ya ha sido construido y evaluado. Esta etapa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lleva a producción el modelo desarrollado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mediante acciones específicas, el conocimiento adquirido mediante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las etapas previas, pudiendo ser aplicado a diversos y nuevos conjuntos de datos o también dentro de un proceso del negocio.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6355" marR="5080" lvl="0" indent="0" algn="just" defTabSz="914400" rtl="0" eaLnBrk="1" fontAlgn="auto" latinLnBrk="0" hangingPunct="1">
              <a:lnSpc>
                <a:spcPct val="101499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Por ejemplo, en detección de fraudes, análisis de endeudamiento crediticio, entre otros casos. Todo esto por lo general finalizando con la documentación y presentación de resultados del modelo para el usuario, con el fin de obtener un incremento del conocimiento sobre un problema o proceso del negocio.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7407275"/>
            <a:ext cx="10393528" cy="1015663"/>
          </a:xfrm>
        </p:spPr>
        <p:txBody>
          <a:bodyPr/>
          <a:lstStyle/>
          <a:p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CD8BF0-1144-D34D-8793-D9BC0214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F119F-996A-54C1-08D8-A05CBD0E1453}"/>
              </a:ext>
            </a:extLst>
          </p:cNvPr>
          <p:cNvSpPr txBox="1"/>
          <p:nvPr/>
        </p:nvSpPr>
        <p:spPr>
          <a:xfrm>
            <a:off x="2279650" y="2682875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Origen de diversas metodologías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En detalle, CRISP DM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9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4088</TotalTime>
  <Words>1194</Words>
  <Application>Microsoft Office PowerPoint</Application>
  <PresentationFormat>Personalizado</PresentationFormat>
  <Paragraphs>116</Paragraphs>
  <Slides>19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Roboto</vt:lpstr>
      <vt:lpstr>Wingdings</vt:lpstr>
      <vt:lpstr>Office Theme</vt:lpstr>
      <vt:lpstr>1_Office Theme</vt:lpstr>
      <vt:lpstr>METODOLOGÍA MINERÍA DE DATOS</vt:lpstr>
      <vt:lpstr>Presentación de PowerPoint</vt:lpstr>
      <vt:lpstr>ORIGEN</vt:lpstr>
      <vt:lpstr>MINERÍA DE DATOS</vt:lpstr>
      <vt:lpstr>MINERÍA DE DATOS  </vt:lpstr>
      <vt:lpstr>MINERÍA DE DATOS  -  KDD </vt:lpstr>
      <vt:lpstr>MINERÍA DE DATOS - SEMMA </vt:lpstr>
      <vt:lpstr>MINERÍA DE DATOS - CRISP-DM </vt:lpstr>
      <vt:lpstr>EVOLUCIÓN DE LAS METODOLOGÍAS</vt:lpstr>
      <vt:lpstr>TÍTULO</vt:lpstr>
      <vt:lpstr>CRISP DM la metodología</vt:lpstr>
      <vt:lpstr>CRISP DM  comprender el negocio</vt:lpstr>
      <vt:lpstr>CRISP DM  comprender los datos</vt:lpstr>
      <vt:lpstr>CRISP DM  preparación de datos</vt:lpstr>
      <vt:lpstr>CRISP DM  modelado</vt:lpstr>
      <vt:lpstr>CRISP DM  evaluación</vt:lpstr>
      <vt:lpstr>CRISP DM  implementación</vt:lpstr>
      <vt:lpstr>RESUMEN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guillermo pinto</cp:lastModifiedBy>
  <cp:revision>228</cp:revision>
  <dcterms:created xsi:type="dcterms:W3CDTF">2022-07-20T19:15:37Z</dcterms:created>
  <dcterms:modified xsi:type="dcterms:W3CDTF">2023-11-12T15:53:02Z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