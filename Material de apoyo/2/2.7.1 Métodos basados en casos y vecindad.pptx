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6"/>
  </p:notesMasterIdLst>
  <p:sldIdLst>
    <p:sldId id="261" r:id="rId5"/>
    <p:sldId id="337" r:id="rId6"/>
    <p:sldId id="344" r:id="rId7"/>
    <p:sldId id="339" r:id="rId8"/>
    <p:sldId id="345" r:id="rId9"/>
    <p:sldId id="270" r:id="rId10"/>
    <p:sldId id="340" r:id="rId11"/>
    <p:sldId id="346" r:id="rId12"/>
    <p:sldId id="347" r:id="rId13"/>
    <p:sldId id="348" r:id="rId14"/>
    <p:sldId id="327" r:id="rId15"/>
    <p:sldId id="341" r:id="rId16"/>
    <p:sldId id="349" r:id="rId17"/>
    <p:sldId id="350" r:id="rId18"/>
    <p:sldId id="351" r:id="rId19"/>
    <p:sldId id="352" r:id="rId20"/>
    <p:sldId id="353" r:id="rId21"/>
    <p:sldId id="354" r:id="rId22"/>
    <p:sldId id="355" r:id="rId23"/>
    <p:sldId id="332" r:id="rId24"/>
    <p:sldId id="342" r:id="rId25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7CE1"/>
    <a:srgbClr val="C2D501"/>
    <a:srgbClr val="DB0532"/>
    <a:srgbClr val="B14EC4"/>
    <a:srgbClr val="FF595A"/>
    <a:srgbClr val="D39F17"/>
    <a:srgbClr val="58C0E9"/>
    <a:srgbClr val="DC0031"/>
    <a:srgbClr val="EF7821"/>
    <a:srgbClr val="C4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42" autoAdjust="0"/>
    <p:restoredTop sz="94558"/>
  </p:normalViewPr>
  <p:slideViewPr>
    <p:cSldViewPr>
      <p:cViewPr varScale="1">
        <p:scale>
          <a:sx n="59" d="100"/>
          <a:sy n="59" d="100"/>
        </p:scale>
        <p:origin x="144" y="2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35674-3C19-9844-8370-EE59E1CD260A}" type="datetimeFigureOut">
              <a:rPr lang="es-CL" smtClean="0"/>
              <a:t>28-11-2023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2C890-E6DE-1A45-98C6-E722FA6368D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139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9F4E23B3-D17D-BBDA-CF94-0F577C2DCC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38209" y="8700548"/>
            <a:ext cx="6781800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838209" y="9612314"/>
            <a:ext cx="87126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60E109FA-AB96-844B-8998-73B547E74E45}"/>
              </a:ext>
            </a:extLst>
          </p:cNvPr>
          <p:cNvSpPr/>
          <p:nvPr userDrawn="1"/>
        </p:nvSpPr>
        <p:spPr>
          <a:xfrm>
            <a:off x="2838209" y="9464675"/>
            <a:ext cx="8841105" cy="0"/>
          </a:xfrm>
          <a:custGeom>
            <a:avLst/>
            <a:gdLst/>
            <a:ahLst/>
            <a:cxnLst/>
            <a:rect l="l" t="t" r="r" b="b"/>
            <a:pathLst>
              <a:path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71AAB55C-247D-ECE0-5655-F1E1F2AF1A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340"/>
            <a:ext cx="20110047" cy="1130601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2F0E50CD-FEFD-B21C-4BE3-4F2AA3739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1786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7461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21D21F6-64EA-9F7E-F1FC-89374B3096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994F59E7-28C4-825A-1194-67522AF9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650" y="74834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7451F99-8CB8-50AA-1CC0-54512CBB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2C83ACDF-F359-C1DD-3AF9-368B761A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050" y="70262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4336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F738965-FD99-AFAE-3CAA-5CEAF9995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4AB59064-93F0-56FE-006F-C58F84A8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0" y="69500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3973E67C-611D-F88A-80C1-185A9B8D4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E466965-0C09-5FCB-13FD-111D1D2AD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9" name="Rectángulo 28">
            <a:extLst>
              <a:ext uri="{FF2B5EF4-FFF2-40B4-BE49-F238E27FC236}">
                <a16:creationId xmlns:a16="http://schemas.microsoft.com/office/drawing/2014/main" id="{98C6A4D7-FDE0-20C5-1EB3-30217CE5E1DC}"/>
              </a:ext>
            </a:extLst>
          </p:cNvPr>
          <p:cNvSpPr/>
          <p:nvPr userDrawn="1"/>
        </p:nvSpPr>
        <p:spPr>
          <a:xfrm>
            <a:off x="4413250" y="42068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EE9CC866-5882-3C12-E5D7-404765C1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028" y="45340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38586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FADFFD87-E732-F006-B065-62B946429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FB62982-E03B-E5B0-2921-4742F850F5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FA473640-6785-830B-E009-5E08A060B6B1}"/>
              </a:ext>
            </a:extLst>
          </p:cNvPr>
          <p:cNvSpPr/>
          <p:nvPr userDrawn="1"/>
        </p:nvSpPr>
        <p:spPr>
          <a:xfrm>
            <a:off x="7232650" y="7880350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B55FBF2B-6203-81C7-B7DD-070ABE20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1428" y="8207476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1109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38F75-3EE0-1345-84D2-95B57EB1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14BF04F1-8F4E-3E46-A3B2-80F47EADF391}"/>
              </a:ext>
            </a:extLst>
          </p:cNvPr>
          <p:cNvSpPr/>
          <p:nvPr userDrawn="1"/>
        </p:nvSpPr>
        <p:spPr>
          <a:xfrm>
            <a:off x="-6350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7932DF43-D838-5B47-A92B-B88C568B4A19}"/>
              </a:ext>
            </a:extLst>
          </p:cNvPr>
          <p:cNvSpPr/>
          <p:nvPr userDrawn="1"/>
        </p:nvSpPr>
        <p:spPr>
          <a:xfrm>
            <a:off x="16938421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69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69" h="511175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69" h="511175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69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DEB8F4A-6C01-284B-B123-A27D152597CD}"/>
              </a:ext>
            </a:extLst>
          </p:cNvPr>
          <p:cNvSpPr/>
          <p:nvPr userDrawn="1"/>
        </p:nvSpPr>
        <p:spPr>
          <a:xfrm>
            <a:off x="18623540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59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5">
            <a:extLst>
              <a:ext uri="{FF2B5EF4-FFF2-40B4-BE49-F238E27FC236}">
                <a16:creationId xmlns:a16="http://schemas.microsoft.com/office/drawing/2014/main" id="{50440F77-9AF6-2142-A93F-4B5F6DDBD871}"/>
              </a:ext>
            </a:extLst>
          </p:cNvPr>
          <p:cNvGrpSpPr/>
          <p:nvPr userDrawn="1"/>
        </p:nvGrpSpPr>
        <p:grpSpPr>
          <a:xfrm>
            <a:off x="19053919" y="10117702"/>
            <a:ext cx="427355" cy="597535"/>
            <a:chOff x="19053919" y="10117702"/>
            <a:chExt cx="427355" cy="597535"/>
          </a:xfrm>
        </p:grpSpPr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B5FF8718-DC05-C046-A01E-6155D9ABE0D5}"/>
                </a:ext>
              </a:extLst>
            </p:cNvPr>
            <p:cNvSpPr/>
            <p:nvPr/>
          </p:nvSpPr>
          <p:spPr>
            <a:xfrm>
              <a:off x="19053919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7">
              <a:extLst>
                <a:ext uri="{FF2B5EF4-FFF2-40B4-BE49-F238E27FC236}">
                  <a16:creationId xmlns:a16="http://schemas.microsoft.com/office/drawing/2014/main" id="{680319A8-C88C-E845-B967-74CD5DD4CA96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138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id="{248CA032-B7CF-AC47-80C3-3DC0FECADE87}"/>
              </a:ext>
            </a:extLst>
          </p:cNvPr>
          <p:cNvSpPr/>
          <p:nvPr userDrawn="1"/>
        </p:nvSpPr>
        <p:spPr>
          <a:xfrm>
            <a:off x="727227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70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70" h="511175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70" h="511175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70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AB72D184-1BCC-8E4D-AB97-E7C9B55D20C7}"/>
              </a:ext>
            </a:extLst>
          </p:cNvPr>
          <p:cNvSpPr/>
          <p:nvPr userDrawn="1"/>
        </p:nvSpPr>
        <p:spPr>
          <a:xfrm>
            <a:off x="2412348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60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4">
            <a:extLst>
              <a:ext uri="{FF2B5EF4-FFF2-40B4-BE49-F238E27FC236}">
                <a16:creationId xmlns:a16="http://schemas.microsoft.com/office/drawing/2014/main" id="{A2800012-DA06-CF45-A47A-D4B30EA37B75}"/>
              </a:ext>
            </a:extLst>
          </p:cNvPr>
          <p:cNvGrpSpPr/>
          <p:nvPr userDrawn="1"/>
        </p:nvGrpSpPr>
        <p:grpSpPr>
          <a:xfrm>
            <a:off x="2842727" y="10117702"/>
            <a:ext cx="427355" cy="597535"/>
            <a:chOff x="2842727" y="10117702"/>
            <a:chExt cx="427355" cy="597535"/>
          </a:xfrm>
        </p:grpSpPr>
        <p:sp>
          <p:nvSpPr>
            <p:cNvPr id="14" name="object 5">
              <a:extLst>
                <a:ext uri="{FF2B5EF4-FFF2-40B4-BE49-F238E27FC236}">
                  <a16:creationId xmlns:a16="http://schemas.microsoft.com/office/drawing/2014/main" id="{039AC548-D805-B546-AF98-3B421C054969}"/>
                </a:ext>
              </a:extLst>
            </p:cNvPr>
            <p:cNvSpPr/>
            <p:nvPr/>
          </p:nvSpPr>
          <p:spPr>
            <a:xfrm>
              <a:off x="2842727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6">
              <a:extLst>
                <a:ext uri="{FF2B5EF4-FFF2-40B4-BE49-F238E27FC236}">
                  <a16:creationId xmlns:a16="http://schemas.microsoft.com/office/drawing/2014/main" id="{DAA5A1C9-3FFD-F741-93B2-F1CDA55129CC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</p:spPr>
        </p:pic>
      </p:grpSp>
      <p:sp>
        <p:nvSpPr>
          <p:cNvPr id="16" name="object 7">
            <a:extLst>
              <a:ext uri="{FF2B5EF4-FFF2-40B4-BE49-F238E27FC236}">
                <a16:creationId xmlns:a16="http://schemas.microsoft.com/office/drawing/2014/main" id="{2AF2BE2F-4D9A-CF4D-AF78-BAD6CC1B2837}"/>
              </a:ext>
            </a:extLst>
          </p:cNvPr>
          <p:cNvSpPr/>
          <p:nvPr userDrawn="1"/>
        </p:nvSpPr>
        <p:spPr>
          <a:xfrm>
            <a:off x="17840597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E6AC5AA0-C4FD-A742-898F-2F81DD6B4D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738664"/>
          </a:xfrm>
        </p:spPr>
        <p:txBody>
          <a:bodyPr/>
          <a:lstStyle>
            <a:lvl1pPr algn="r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Editar los estilos de texto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293DC4AC-3CD1-B728-F1D4-9297A3D9EA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5BA927C-DF3C-76F9-F858-D08E957A4C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0"/>
            <a:ext cx="20109342" cy="11305614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B6946770-F426-2FD2-6657-14F29D5A8E25}"/>
              </a:ext>
            </a:extLst>
          </p:cNvPr>
          <p:cNvSpPr/>
          <p:nvPr userDrawn="1"/>
        </p:nvSpPr>
        <p:spPr>
          <a:xfrm>
            <a:off x="755650" y="62642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38E6F079-F9D6-8270-ADE8-DE597BD2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428" y="65914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CC49A5DC-7F63-7053-BF30-9BEB915A8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97E369C9-9696-52E0-3D5A-4A3A83A9C2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EDE5CBD5-32E9-715D-214E-87F7F64407EA}"/>
              </a:ext>
            </a:extLst>
          </p:cNvPr>
          <p:cNvSpPr/>
          <p:nvPr userDrawn="1"/>
        </p:nvSpPr>
        <p:spPr>
          <a:xfrm>
            <a:off x="7004050" y="73310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FA2B3E84-593C-1926-74EE-AA7B31F6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828" y="76582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54578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21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70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14421" y="714594"/>
            <a:ext cx="5259705" cy="915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9" r:id="rId4"/>
    <p:sldLayoutId id="2147483664" r:id="rId5"/>
    <p:sldLayoutId id="2147483670" r:id="rId6"/>
    <p:sldLayoutId id="2147483677" r:id="rId7"/>
    <p:sldLayoutId id="2147483666" r:id="rId8"/>
    <p:sldLayoutId id="2147483665" r:id="rId9"/>
    <p:sldLayoutId id="2147483663" r:id="rId10"/>
    <p:sldLayoutId id="2147483673" r:id="rId11"/>
    <p:sldLayoutId id="2147483671" r:id="rId12"/>
    <p:sldLayoutId id="2147483678" r:id="rId1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0841C-0ACF-DE6F-43AC-3E3396A2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9250" y="8169275"/>
            <a:ext cx="8749511" cy="1169551"/>
          </a:xfrm>
        </p:spPr>
        <p:txBody>
          <a:bodyPr/>
          <a:lstStyle/>
          <a:p>
            <a:r>
              <a:rPr lang="es-CL" spc="-10" dirty="0"/>
              <a:t>MÉTODOS BASADOS</a:t>
            </a:r>
            <a:br>
              <a:rPr lang="es-CL" spc="-10" dirty="0"/>
            </a:br>
            <a:r>
              <a:rPr lang="es-CL" spc="-10" dirty="0"/>
              <a:t>EN CASOS Y VECINDAD</a:t>
            </a:r>
            <a:endParaRPr lang="es-CL" sz="3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39BAB8-5980-04D6-9003-ABBE79FC69B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926080" y="9554269"/>
            <a:ext cx="8712681" cy="369332"/>
          </a:xfrm>
        </p:spPr>
        <p:txBody>
          <a:bodyPr/>
          <a:lstStyle/>
          <a:p>
            <a:r>
              <a:rPr lang="es-CL" dirty="0">
                <a:latin typeface="Arial"/>
                <a:cs typeface="Arial"/>
              </a:rPr>
              <a:t>BIY7121 MINERÍA DE DATOS</a:t>
            </a:r>
            <a:endParaRPr lang="es-CL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293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FFB337F0-2FCC-924F-952C-07C673B763B0}"/>
              </a:ext>
            </a:extLst>
          </p:cNvPr>
          <p:cNvSpPr/>
          <p:nvPr/>
        </p:nvSpPr>
        <p:spPr>
          <a:xfrm>
            <a:off x="9518650" y="2378075"/>
            <a:ext cx="535755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6000" b="1" dirty="0">
                <a:latin typeface="Arial Black" panose="020B0604020202020204" pitchFamily="34" charset="0"/>
                <a:cs typeface="Arial Black" panose="020B0604020202020204" pitchFamily="34" charset="0"/>
              </a:rPr>
              <a:t>CONTENIDO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A3E674A-F038-D144-A91A-8FBF8FFE0F11}"/>
              </a:ext>
            </a:extLst>
          </p:cNvPr>
          <p:cNvSpPr txBox="1">
            <a:spLocks/>
          </p:cNvSpPr>
          <p:nvPr/>
        </p:nvSpPr>
        <p:spPr>
          <a:xfrm>
            <a:off x="9518650" y="4020489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B375BB0-38DE-5947-A049-E37CBB392147}"/>
              </a:ext>
            </a:extLst>
          </p:cNvPr>
          <p:cNvSpPr txBox="1">
            <a:spLocks/>
          </p:cNvSpPr>
          <p:nvPr/>
        </p:nvSpPr>
        <p:spPr>
          <a:xfrm>
            <a:off x="9617262" y="7026177"/>
            <a:ext cx="4579097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DISTANCIA Y </a:t>
            </a:r>
            <a:br>
              <a:rPr lang="es-CL" sz="3000" dirty="0"/>
            </a:br>
            <a:r>
              <a:rPr lang="es-CL" sz="3000" dirty="0"/>
              <a:t>SIMILITUD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D2775DA9-AA36-2B46-A647-A78656981246}"/>
              </a:ext>
            </a:extLst>
          </p:cNvPr>
          <p:cNvSpPr txBox="1">
            <a:spLocks/>
          </p:cNvSpPr>
          <p:nvPr/>
        </p:nvSpPr>
        <p:spPr>
          <a:xfrm>
            <a:off x="9518650" y="6264177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5AD2299A-27D1-AA45-A043-C0D64B734853}"/>
              </a:ext>
            </a:extLst>
          </p:cNvPr>
          <p:cNvSpPr txBox="1">
            <a:spLocks/>
          </p:cNvSpPr>
          <p:nvPr/>
        </p:nvSpPr>
        <p:spPr>
          <a:xfrm>
            <a:off x="9617262" y="9194781"/>
            <a:ext cx="4165973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TÉCNICA K MEANS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5FEE1E9F-D6A8-614C-BB95-3AFA463327D0}"/>
              </a:ext>
            </a:extLst>
          </p:cNvPr>
          <p:cNvSpPr txBox="1">
            <a:spLocks/>
          </p:cNvSpPr>
          <p:nvPr/>
        </p:nvSpPr>
        <p:spPr>
          <a:xfrm>
            <a:off x="9617262" y="8432781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325E44F9-8B81-FD43-8DCF-00283585DD6D}"/>
              </a:ext>
            </a:extLst>
          </p:cNvPr>
          <p:cNvSpPr txBox="1">
            <a:spLocks/>
          </p:cNvSpPr>
          <p:nvPr/>
        </p:nvSpPr>
        <p:spPr>
          <a:xfrm>
            <a:off x="9617262" y="4782488"/>
            <a:ext cx="457909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INTRODUCCION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FE992D-1CA3-14C0-F902-6542723FD1C3}"/>
              </a:ext>
            </a:extLst>
          </p:cNvPr>
          <p:cNvSpPr txBox="1">
            <a:spLocks/>
          </p:cNvSpPr>
          <p:nvPr/>
        </p:nvSpPr>
        <p:spPr>
          <a:xfrm>
            <a:off x="14876207" y="4859339"/>
            <a:ext cx="4728882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RESUMEN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7002DBB-23A6-9BA0-FF76-8B2A5E9F6159}"/>
              </a:ext>
            </a:extLst>
          </p:cNvPr>
          <p:cNvSpPr txBox="1">
            <a:spLocks/>
          </p:cNvSpPr>
          <p:nvPr/>
        </p:nvSpPr>
        <p:spPr>
          <a:xfrm>
            <a:off x="14656174" y="4020489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97944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87A9F761-F66D-564C-A85F-5D24B1E7B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0" y="7559675"/>
            <a:ext cx="10134600" cy="1015663"/>
          </a:xfrm>
        </p:spPr>
        <p:txBody>
          <a:bodyPr/>
          <a:lstStyle/>
          <a:p>
            <a:pPr algn="r"/>
            <a:r>
              <a:rPr lang="es-CL" sz="6600" dirty="0"/>
              <a:t>INTRODUCCIÓN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C622BE7-4A49-A749-B2F2-EA3AD97A1AEF}"/>
              </a:ext>
            </a:extLst>
          </p:cNvPr>
          <p:cNvSpPr txBox="1">
            <a:spLocks/>
          </p:cNvSpPr>
          <p:nvPr/>
        </p:nvSpPr>
        <p:spPr>
          <a:xfrm>
            <a:off x="12677531" y="6082347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9600" dirty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17571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1FCC6-3B49-9D46-8B62-80E94C90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4D9069-61BC-606E-6D98-4D82B593F24F}"/>
              </a:ext>
            </a:extLst>
          </p:cNvPr>
          <p:cNvSpPr txBox="1"/>
          <p:nvPr/>
        </p:nvSpPr>
        <p:spPr>
          <a:xfrm>
            <a:off x="2203450" y="2016959"/>
            <a:ext cx="89154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Cuando se aprende de ejemplos, casos o datos conocidos, generalmente lo que se intenta es poder tomar una decisión sobre nuevos casos. 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Por ejemplo, en la tarea de clasificación, podremos asignar una clase a un nuevo caso, observando las clases de casos similares. 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En el caso de la regresión, el valor predicho para un nuevo ejemplo no puede distar mucho de los valores obtenidos para ejemplos similares.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En la tarea de </a:t>
            </a:r>
            <a:r>
              <a:rPr lang="es-ES" sz="2800" dirty="0">
                <a:solidFill>
                  <a:srgbClr val="FF0000"/>
                </a:solidFill>
              </a:rPr>
              <a:t>agrupamiento</a:t>
            </a:r>
            <a:r>
              <a:rPr lang="es-ES" sz="2800" dirty="0"/>
              <a:t>, asignaremos un nuevo ejemplo al grupo donde estén los individuos más similares. </a:t>
            </a:r>
          </a:p>
          <a:p>
            <a:pPr algn="just"/>
            <a:endParaRPr lang="es-ES" sz="2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7610392-ADFB-52B0-6FF3-C4C573143DA6}"/>
              </a:ext>
            </a:extLst>
          </p:cNvPr>
          <p:cNvSpPr txBox="1"/>
          <p:nvPr/>
        </p:nvSpPr>
        <p:spPr>
          <a:xfrm>
            <a:off x="2432050" y="9998075"/>
            <a:ext cx="74863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Introducción a la Minería de Datos. José Hernández y otros. Pearson / Prentice Hall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E87AAA7-5710-7C69-7AFE-AF2A17857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7050" y="2149475"/>
            <a:ext cx="67056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6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1FCC6-3B49-9D46-8B62-80E94C90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4D9069-61BC-606E-6D98-4D82B593F24F}"/>
              </a:ext>
            </a:extLst>
          </p:cNvPr>
          <p:cNvSpPr txBox="1"/>
          <p:nvPr/>
        </p:nvSpPr>
        <p:spPr>
          <a:xfrm>
            <a:off x="2203450" y="2016959"/>
            <a:ext cx="89154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800" b="0" i="0" u="none" strike="noStrike" baseline="0" dirty="0">
                <a:latin typeface="PalatinoLinotype-Roman"/>
              </a:rPr>
              <a:t> </a:t>
            </a:r>
            <a:r>
              <a:rPr lang="es-ES" sz="2800" dirty="0"/>
              <a:t>A partir de esa ida, surge la pregunta de como  determinar qué se entiende por “similitud”, dando lugar al concepto matemático equivalente (o más bien, inverso) de “distancia”. </a:t>
            </a:r>
          </a:p>
          <a:p>
            <a:pPr algn="just"/>
            <a:endParaRPr lang="es-ES" sz="2800" dirty="0"/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dirty="0"/>
              <a:t>Normalmente, para poder hablar de </a:t>
            </a:r>
            <a:r>
              <a:rPr lang="es-ES" sz="2800" dirty="0" err="1">
                <a:solidFill>
                  <a:srgbClr val="FF0000"/>
                </a:solidFill>
              </a:rPr>
              <a:t>similaridad</a:t>
            </a:r>
            <a:r>
              <a:rPr lang="es-ES" sz="2800" dirty="0"/>
              <a:t> se suele acudir a algún tipo de distancia, con el fin de poder asociar la similitud de los objetos </a:t>
            </a:r>
            <a:r>
              <a:rPr lang="es-ES" sz="2800" dirty="0">
                <a:solidFill>
                  <a:srgbClr val="FF0000"/>
                </a:solidFill>
              </a:rPr>
              <a:t>analizados con la distancia que hay entre ellos</a:t>
            </a:r>
            <a:r>
              <a:rPr lang="es-ES" sz="2800" dirty="0"/>
              <a:t>. </a:t>
            </a:r>
          </a:p>
          <a:p>
            <a:pPr algn="just"/>
            <a:br>
              <a:rPr lang="es-ES" sz="2800" dirty="0"/>
            </a:br>
            <a:r>
              <a:rPr lang="es-ES" sz="2800" dirty="0"/>
              <a:t>Por ejemplo, si podemos describir el objeto por medio de un vector numérico de propiedades, es entonces habitual tratar con métricas vectoriales (como la distancia </a:t>
            </a:r>
            <a:r>
              <a:rPr lang="es-ES" sz="2800" dirty="0" err="1"/>
              <a:t>euclídeana</a:t>
            </a:r>
            <a:r>
              <a:rPr lang="es-ES" sz="2800" dirty="0"/>
              <a:t>) para medir la similitud entre los objetos.</a:t>
            </a:r>
          </a:p>
          <a:p>
            <a:pPr algn="just"/>
            <a:endParaRPr lang="es-ES" sz="2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7610392-ADFB-52B0-6FF3-C4C573143DA6}"/>
              </a:ext>
            </a:extLst>
          </p:cNvPr>
          <p:cNvSpPr txBox="1"/>
          <p:nvPr/>
        </p:nvSpPr>
        <p:spPr>
          <a:xfrm>
            <a:off x="2432050" y="9998075"/>
            <a:ext cx="74863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Introducción a la Minería de Datos. José Hernández y otros. Pearson / Prentice Hall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F90E192-826F-C8FA-C520-B8C28C719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250" y="2378075"/>
            <a:ext cx="53340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0190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25BEF-C6CB-D142-BFA0-F95C5E30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7050" y="7712075"/>
            <a:ext cx="8305800" cy="738664"/>
          </a:xfrm>
        </p:spPr>
        <p:txBody>
          <a:bodyPr/>
          <a:lstStyle/>
          <a:p>
            <a:pPr algn="r"/>
            <a:r>
              <a:rPr lang="es-CL" sz="4800" dirty="0"/>
              <a:t>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4FE4634-98DF-A44A-92BF-86BBAE37A404}"/>
              </a:ext>
            </a:extLst>
          </p:cNvPr>
          <p:cNvSpPr txBox="1">
            <a:spLocks/>
          </p:cNvSpPr>
          <p:nvPr/>
        </p:nvSpPr>
        <p:spPr>
          <a:xfrm>
            <a:off x="8159750" y="6250622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solidFill>
                  <a:srgbClr val="257CE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B7ACE31-74A9-95B3-1599-372FB822D0E6}"/>
              </a:ext>
            </a:extLst>
          </p:cNvPr>
          <p:cNvSpPr txBox="1">
            <a:spLocks/>
          </p:cNvSpPr>
          <p:nvPr/>
        </p:nvSpPr>
        <p:spPr>
          <a:xfrm>
            <a:off x="1517650" y="7712075"/>
            <a:ext cx="83058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 sz="5000" b="1" i="0">
                <a:solidFill>
                  <a:srgbClr val="257CE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4800" dirty="0"/>
              <a:t>DISTANCIA Y</a:t>
            </a:r>
          </a:p>
          <a:p>
            <a:pPr algn="r"/>
            <a:r>
              <a:rPr lang="es-CL" sz="4800" dirty="0"/>
              <a:t>SIMILITUD</a:t>
            </a:r>
          </a:p>
        </p:txBody>
      </p:sp>
    </p:spTree>
    <p:extLst>
      <p:ext uri="{BB962C8B-B14F-4D97-AF65-F5344CB8AC3E}">
        <p14:creationId xmlns:p14="http://schemas.microsoft.com/office/powerpoint/2010/main" val="225765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DISTANCIA Y SIMILITUD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1822450" y="2568496"/>
            <a:ext cx="7798705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Como se ha mencionado, la manera de formalizar el concepto de similitud es a través de métricas o medidas de distancia. En realidad, </a:t>
            </a:r>
            <a:r>
              <a:rPr lang="es-ES" sz="2800" dirty="0">
                <a:solidFill>
                  <a:srgbClr val="FF0000"/>
                </a:solidFill>
              </a:rPr>
              <a:t>si se quiere saber la similitud entre dos instancias o individuos, es necesario elegir una función de distancia </a:t>
            </a:r>
            <a:r>
              <a:rPr lang="es-ES" sz="2800" dirty="0"/>
              <a:t>y calcular con ella la</a:t>
            </a:r>
          </a:p>
          <a:p>
            <a:pPr algn="just"/>
            <a:r>
              <a:rPr lang="es-ES" sz="2800" dirty="0"/>
              <a:t>distancia entre los dos individuos.</a:t>
            </a:r>
          </a:p>
          <a:p>
            <a:pPr algn="just"/>
            <a:endParaRPr lang="es-ES" sz="2800" dirty="0"/>
          </a:p>
          <a:p>
            <a:pPr marL="114300" algn="just" rtl="0">
              <a:spcBef>
                <a:spcPts val="1200"/>
              </a:spcBef>
              <a:spcAft>
                <a:spcPts val="0"/>
              </a:spcAft>
            </a:pPr>
            <a:r>
              <a:rPr lang="es-ES" sz="2800" dirty="0"/>
              <a:t>Una medida de similitud cuantifica </a:t>
            </a:r>
            <a:r>
              <a:rPr lang="es-ES" sz="2800" dirty="0">
                <a:solidFill>
                  <a:srgbClr val="FF0000"/>
                </a:solidFill>
              </a:rPr>
              <a:t>qué tan próximos están dos objetos</a:t>
            </a:r>
            <a:r>
              <a:rPr lang="es-ES" sz="2800" dirty="0"/>
              <a:t>, entregando generalmente el valor 0 para aquellos que no tienen relación alguna. </a:t>
            </a:r>
          </a:p>
          <a:p>
            <a:pPr marL="114300" algn="just" rtl="0">
              <a:spcBef>
                <a:spcPts val="1200"/>
              </a:spcBef>
              <a:spcAft>
                <a:spcPts val="0"/>
              </a:spcAft>
            </a:pPr>
            <a:endParaRPr lang="es-ES" sz="2800" dirty="0"/>
          </a:p>
          <a:p>
            <a:pPr marL="114300" algn="just" rtl="0">
              <a:spcBef>
                <a:spcPts val="1200"/>
              </a:spcBef>
              <a:spcAft>
                <a:spcPts val="0"/>
              </a:spcAft>
            </a:pPr>
            <a:r>
              <a:rPr lang="es-ES" sz="2800" dirty="0"/>
              <a:t>A mayor valor de la medida de similitud, mayor es la proximidad o parecido entre dos objetos.</a:t>
            </a:r>
            <a:endParaRPr lang="es-CL" sz="2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BCE01B7-8B79-657F-9F65-D278E37EC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4050" y="3843481"/>
            <a:ext cx="7691794" cy="362238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B375FAF-E4EF-FDF2-3E63-A1724543FF80}"/>
              </a:ext>
            </a:extLst>
          </p:cNvPr>
          <p:cNvSpPr txBox="1"/>
          <p:nvPr/>
        </p:nvSpPr>
        <p:spPr>
          <a:xfrm>
            <a:off x="3422650" y="10292286"/>
            <a:ext cx="7205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CL" sz="1400" dirty="0"/>
              <a:t>Fuente: </a:t>
            </a: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https://www.slideserve.com/melyssa-simpson/fundamentos-de-miner-a-de-datos</a:t>
            </a:r>
            <a:endParaRPr lang="es-ES" sz="1400" b="0" dirty="0">
              <a:effectLst/>
            </a:endParaRPr>
          </a:p>
          <a:p>
            <a:endParaRPr lang="es-CL" sz="1400" dirty="0"/>
          </a:p>
        </p:txBody>
      </p:sp>
    </p:spTree>
    <p:extLst>
      <p:ext uri="{BB962C8B-B14F-4D97-AF65-F5344CB8AC3E}">
        <p14:creationId xmlns:p14="http://schemas.microsoft.com/office/powerpoint/2010/main" val="717399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DISTANCIA Y SIMILITUD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1822450" y="2568496"/>
            <a:ext cx="7798705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algn="just" rtl="0">
              <a:spcBef>
                <a:spcPts val="1200"/>
              </a:spcBef>
              <a:spcAft>
                <a:spcPts val="0"/>
              </a:spcAft>
            </a:pPr>
            <a:r>
              <a:rPr lang="es-ES" sz="2800" dirty="0"/>
              <a:t>Las medidas de distancias están íntimamente relacionadas a las de similitud, </a:t>
            </a:r>
            <a:r>
              <a:rPr lang="es-ES" sz="2800" dirty="0">
                <a:solidFill>
                  <a:srgbClr val="FF0000"/>
                </a:solidFill>
              </a:rPr>
              <a:t>pero de manera inversa</a:t>
            </a:r>
            <a:r>
              <a:rPr lang="es-ES" sz="2800" dirty="0"/>
              <a:t>. Se podría llamar “</a:t>
            </a:r>
            <a:r>
              <a:rPr lang="es-ES" sz="2800" dirty="0" err="1"/>
              <a:t>disimilaridad</a:t>
            </a:r>
            <a:r>
              <a:rPr lang="es-ES" sz="2800" dirty="0"/>
              <a:t>”.</a:t>
            </a:r>
          </a:p>
          <a:p>
            <a:pPr marL="114300" algn="just" rtl="0">
              <a:spcBef>
                <a:spcPts val="1200"/>
              </a:spcBef>
              <a:spcAft>
                <a:spcPts val="0"/>
              </a:spcAft>
            </a:pPr>
            <a:endParaRPr lang="es-ES" sz="2800" dirty="0"/>
          </a:p>
          <a:p>
            <a:pPr marL="114300" algn="just" rtl="0">
              <a:spcBef>
                <a:spcPts val="1200"/>
              </a:spcBef>
              <a:spcAft>
                <a:spcPts val="0"/>
              </a:spcAft>
            </a:pPr>
            <a:r>
              <a:rPr lang="es-ES" sz="2800" dirty="0"/>
              <a:t>Esto es, a mayor valor de la medida, más lejanos son los puntos considerados. </a:t>
            </a:r>
          </a:p>
          <a:p>
            <a:pPr marL="114300" algn="just" rtl="0">
              <a:spcBef>
                <a:spcPts val="1200"/>
              </a:spcBef>
              <a:spcAft>
                <a:spcPts val="0"/>
              </a:spcAft>
            </a:pPr>
            <a:endParaRPr lang="es-ES" sz="2800" dirty="0"/>
          </a:p>
          <a:p>
            <a:pPr marL="114300" algn="just" rtl="0">
              <a:spcBef>
                <a:spcPts val="1200"/>
              </a:spcBef>
              <a:spcAft>
                <a:spcPts val="0"/>
              </a:spcAft>
            </a:pPr>
            <a:r>
              <a:rPr lang="es-ES" sz="2800" dirty="0"/>
              <a:t>Cada objeto tendrá distancia igual a 0 al ser comparado consigo mismo.</a:t>
            </a:r>
          </a:p>
          <a:p>
            <a:br>
              <a:rPr lang="es-ES" sz="2800" dirty="0"/>
            </a:br>
            <a:endParaRPr lang="es-CL" sz="2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5C2C94C-C371-8CE0-B936-64509AE25D2D}"/>
              </a:ext>
            </a:extLst>
          </p:cNvPr>
          <p:cNvSpPr txBox="1"/>
          <p:nvPr/>
        </p:nvSpPr>
        <p:spPr>
          <a:xfrm>
            <a:off x="3422650" y="10292286"/>
            <a:ext cx="7205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CL" sz="1400" dirty="0"/>
              <a:t>Fuente: </a:t>
            </a: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https://www.slideserve.com/melyssa-simpson/fundamentos-de-miner-a-de-datos</a:t>
            </a:r>
            <a:endParaRPr lang="es-ES" sz="1400" b="0" dirty="0">
              <a:effectLst/>
            </a:endParaRPr>
          </a:p>
          <a:p>
            <a:endParaRPr lang="es-CL" sz="14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6CCC608-00F7-9C41-087F-49805BA96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6965" y="2568496"/>
            <a:ext cx="6858000" cy="663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842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DISTANCIA Y SIMILITUD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1942196" y="1999128"/>
            <a:ext cx="7798705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1200"/>
              </a:spcBef>
              <a:spcAft>
                <a:spcPts val="0"/>
              </a:spcAft>
            </a:pPr>
            <a:r>
              <a:rPr lang="es-ES" sz="2800" dirty="0"/>
              <a:t>Existen </a:t>
            </a:r>
            <a:r>
              <a:rPr lang="es-ES" sz="2800" dirty="0">
                <a:solidFill>
                  <a:srgbClr val="FF0000"/>
                </a:solidFill>
              </a:rPr>
              <a:t>medidas para cuantificar </a:t>
            </a:r>
            <a:r>
              <a:rPr lang="es-ES" sz="2800" dirty="0"/>
              <a:t>la proximidad de objetos representados en espacios con dimensiones numéricas, binarias, categóricas, ordinales y mezclas de estos. </a:t>
            </a:r>
          </a:p>
          <a:p>
            <a:pPr rtl="0">
              <a:spcBef>
                <a:spcPts val="1200"/>
              </a:spcBef>
              <a:spcAft>
                <a:spcPts val="0"/>
              </a:spcAft>
            </a:pPr>
            <a:endParaRPr lang="es-ES" sz="2800" dirty="0"/>
          </a:p>
          <a:p>
            <a:pPr rtl="0">
              <a:spcBef>
                <a:spcPts val="1200"/>
              </a:spcBef>
              <a:spcAft>
                <a:spcPts val="0"/>
              </a:spcAft>
            </a:pPr>
            <a:r>
              <a:rPr lang="es-ES" sz="2800" dirty="0"/>
              <a:t>Por ejemplo:</a:t>
            </a:r>
          </a:p>
          <a:p>
            <a:pPr rtl="0">
              <a:spcBef>
                <a:spcPts val="1200"/>
              </a:spcBef>
              <a:spcAft>
                <a:spcPts val="0"/>
              </a:spcAft>
            </a:pPr>
            <a:endParaRPr lang="es-ES" sz="2800" dirty="0"/>
          </a:p>
          <a:p>
            <a:pPr marL="457200" indent="-457200" algn="just" rtl="0" fontAlgn="base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s-ES" sz="2800" dirty="0"/>
              <a:t>Mediciones del largo y ancho de pétalos y sépalos de distintas flores una misma especie correspondería a objetos numéricos en 4 dimensiones.</a:t>
            </a:r>
          </a:p>
          <a:p>
            <a:pPr marL="457200" indent="-457200" algn="just" rtl="0" fontAlgn="base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s-ES" sz="2800" dirty="0"/>
              <a:t>Se tienen registros de color de ojos, de pelo y nivel de escolaridad correspondería a objetos representados con atributos categóricos en un espacio con 3 dimensiones.</a:t>
            </a:r>
            <a:endParaRPr lang="es-CL" sz="2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5C2C94C-C371-8CE0-B936-64509AE25D2D}"/>
              </a:ext>
            </a:extLst>
          </p:cNvPr>
          <p:cNvSpPr txBox="1"/>
          <p:nvPr/>
        </p:nvSpPr>
        <p:spPr>
          <a:xfrm>
            <a:off x="3422650" y="10292286"/>
            <a:ext cx="7205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CL" sz="1400" dirty="0"/>
              <a:t>Fuente: </a:t>
            </a: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https://www.slideserve.com/melyssa-simpson/fundamentos-de-miner-a-de-datos</a:t>
            </a:r>
            <a:endParaRPr lang="es-ES" sz="1400" b="0" dirty="0">
              <a:effectLst/>
            </a:endParaRPr>
          </a:p>
          <a:p>
            <a:endParaRPr lang="es-CL" sz="1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FE64194-0B9E-98B2-429A-45E72AE3F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6850" y="2664708"/>
            <a:ext cx="9327176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325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DISTANCIA Y SIMILITUD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1942196" y="1999128"/>
            <a:ext cx="7798705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1200"/>
              </a:spcBef>
              <a:spcAft>
                <a:spcPts val="0"/>
              </a:spcAft>
            </a:pPr>
            <a:r>
              <a:rPr lang="es-ES" sz="2800" dirty="0"/>
              <a:t>La elección de la medida de distancia </a:t>
            </a:r>
            <a:r>
              <a:rPr lang="es-ES" sz="2800" dirty="0">
                <a:solidFill>
                  <a:srgbClr val="FF0000"/>
                </a:solidFill>
              </a:rPr>
              <a:t>depende del tipo de datos y la naturaleza del problema</a:t>
            </a:r>
            <a:r>
              <a:rPr lang="es-ES" sz="2800" dirty="0"/>
              <a:t>.</a:t>
            </a:r>
          </a:p>
          <a:p>
            <a:pPr algn="just" rtl="0">
              <a:spcBef>
                <a:spcPts val="1200"/>
              </a:spcBef>
              <a:spcAft>
                <a:spcPts val="0"/>
              </a:spcAft>
            </a:pPr>
            <a:endParaRPr lang="es-ES" sz="2800" dirty="0"/>
          </a:p>
          <a:p>
            <a:pPr algn="just" rtl="0">
              <a:spcBef>
                <a:spcPts val="1200"/>
              </a:spcBef>
              <a:spcAft>
                <a:spcPts val="0"/>
              </a:spcAft>
            </a:pPr>
            <a:r>
              <a:rPr lang="es-ES" sz="2800" dirty="0"/>
              <a:t>Por ejemplo:</a:t>
            </a:r>
          </a:p>
          <a:p>
            <a:pPr marL="457200" indent="-457200" algn="just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s-ES" sz="2800" dirty="0"/>
              <a:t>Para datos numéricos, la distancia euclidiana puede ser apropiada, mientras que, para datos categóricos, la distancia de </a:t>
            </a:r>
            <a:r>
              <a:rPr lang="es-ES" sz="2800" dirty="0" err="1"/>
              <a:t>Hamming</a:t>
            </a:r>
            <a:r>
              <a:rPr lang="es-ES" sz="2800" dirty="0"/>
              <a:t> o la distancia de Jaccard pueden ser más adecuadas.</a:t>
            </a:r>
          </a:p>
          <a:p>
            <a:pPr marL="457200" indent="-457200" algn="just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s-ES" sz="2800" dirty="0"/>
              <a:t>Algunas medidas de distancia son más robustas a los </a:t>
            </a:r>
            <a:r>
              <a:rPr lang="es-ES" sz="2800" dirty="0" err="1"/>
              <a:t>outliers</a:t>
            </a:r>
            <a:r>
              <a:rPr lang="es-ES" sz="2800" dirty="0"/>
              <a:t> que otras. Por ejemplo, la distancia de Manhattan (o distancia de la ciudad) puede ser menos sensible a los valores extremos que la distancia euclidiana.</a:t>
            </a:r>
            <a:endParaRPr lang="es-CL" sz="28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32EAE0A-8153-2A79-2718-650E15365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9250" y="3140075"/>
            <a:ext cx="9206490" cy="467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99B9829-A19E-4BEA-6057-39A8F4A417AD}"/>
              </a:ext>
            </a:extLst>
          </p:cNvPr>
          <p:cNvSpPr txBox="1"/>
          <p:nvPr/>
        </p:nvSpPr>
        <p:spPr>
          <a:xfrm>
            <a:off x="3575050" y="10369230"/>
            <a:ext cx="100510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FUENTE: https://www.uv.es/mlejarza/datamine/T4.pdf</a:t>
            </a:r>
            <a:endParaRPr lang="es-CL" sz="1400" dirty="0"/>
          </a:p>
        </p:txBody>
      </p:sp>
    </p:spTree>
    <p:extLst>
      <p:ext uri="{BB962C8B-B14F-4D97-AF65-F5344CB8AC3E}">
        <p14:creationId xmlns:p14="http://schemas.microsoft.com/office/powerpoint/2010/main" val="316910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624723-9968-7E43-AF4C-4EA396BDB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250" y="7407275"/>
            <a:ext cx="10393528" cy="1015663"/>
          </a:xfrm>
        </p:spPr>
        <p:txBody>
          <a:bodyPr/>
          <a:lstStyle/>
          <a:p>
            <a:r>
              <a:rPr lang="es-CL" sz="6600" dirty="0"/>
              <a:t>TÉCNICA K MEANS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4D7CDB3-E365-8648-9D80-6AFDB724300B}"/>
              </a:ext>
            </a:extLst>
          </p:cNvPr>
          <p:cNvSpPr txBox="1">
            <a:spLocks/>
          </p:cNvSpPr>
          <p:nvPr/>
        </p:nvSpPr>
        <p:spPr>
          <a:xfrm>
            <a:off x="9089872" y="6188075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3524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TÉCNICA K MEANS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051050" y="2835275"/>
            <a:ext cx="86106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El algoritmo K medias (del inglés </a:t>
            </a:r>
            <a:r>
              <a:rPr lang="es-ES" sz="2800" dirty="0" err="1">
                <a:solidFill>
                  <a:srgbClr val="333333"/>
                </a:solidFill>
                <a:latin typeface="Arial" panose="020B0604020202020204" pitchFamily="34" charset="0"/>
              </a:rPr>
              <a:t>Kmeans</a:t>
            </a: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) se trata de un método de agrupamiento por vecindad en el que se parte de un número determinado de prototipos y de un conjunto de ejemplos a agrupar, sin etiquetar. Es el método más popular de los métodos de agrupamiento denominados “por partición”. </a:t>
            </a:r>
          </a:p>
          <a:p>
            <a:pPr algn="l"/>
            <a:endParaRPr lang="es-ES" sz="28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algn="just"/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La idea del K medias es </a:t>
            </a:r>
            <a:r>
              <a:rPr lang="es-ES" sz="2800" dirty="0">
                <a:solidFill>
                  <a:srgbClr val="FF0000"/>
                </a:solidFill>
                <a:latin typeface="Arial" panose="020B0604020202020204" pitchFamily="34" charset="0"/>
              </a:rPr>
              <a:t>situar a los prototipos o centros en el espacio, de forma que los datos pertenecientes al mismo prototipo tengan características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</a:rPr>
              <a:t>similares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[Moody &amp; Darken 1989, MacQueen 1967].</a:t>
            </a:r>
            <a:endParaRPr lang="es-ES" sz="2800" dirty="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5D2F539-5A0D-EABB-7106-117B41D744BC}"/>
              </a:ext>
            </a:extLst>
          </p:cNvPr>
          <p:cNvSpPr txBox="1"/>
          <p:nvPr/>
        </p:nvSpPr>
        <p:spPr>
          <a:xfrm>
            <a:off x="2432050" y="9998075"/>
            <a:ext cx="74863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Introducción a la Minería de Datos. José Hernández y otros. Pearson / Prentice Hall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8E9F2E8-C146-EA22-DAF6-F46DA31B7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0674" y="3039020"/>
            <a:ext cx="8096250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11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TÉCNICA K MEANS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051050" y="2835275"/>
            <a:ext cx="861060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El algoritmo K-</a:t>
            </a:r>
            <a:r>
              <a:rPr lang="es-ES" sz="2800" dirty="0" err="1">
                <a:solidFill>
                  <a:srgbClr val="333333"/>
                </a:solidFill>
                <a:latin typeface="Arial" panose="020B0604020202020204" pitchFamily="34" charset="0"/>
              </a:rPr>
              <a:t>means</a:t>
            </a: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 (</a:t>
            </a:r>
            <a:r>
              <a:rPr lang="es-ES" sz="2800" dirty="0" err="1">
                <a:solidFill>
                  <a:srgbClr val="333333"/>
                </a:solidFill>
                <a:latin typeface="Arial" panose="020B0604020202020204" pitchFamily="34" charset="0"/>
              </a:rPr>
              <a:t>MacQueen</a:t>
            </a: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, 1967) agrupa las observaciones en un número predefinido de K </a:t>
            </a:r>
            <a:r>
              <a:rPr lang="es-ES" sz="2800" dirty="0" err="1">
                <a:solidFill>
                  <a:srgbClr val="333333"/>
                </a:solidFill>
                <a:latin typeface="Arial" panose="020B0604020202020204" pitchFamily="34" charset="0"/>
              </a:rPr>
              <a:t>clusters</a:t>
            </a: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 de forma que, </a:t>
            </a:r>
            <a:r>
              <a:rPr lang="es-ES" sz="2800" dirty="0">
                <a:solidFill>
                  <a:srgbClr val="FF0000"/>
                </a:solidFill>
                <a:latin typeface="Arial" panose="020B0604020202020204" pitchFamily="34" charset="0"/>
              </a:rPr>
              <a:t>la suma de las varianzas internas de los “</a:t>
            </a:r>
            <a:r>
              <a:rPr lang="es-ES" sz="2800" dirty="0" err="1">
                <a:solidFill>
                  <a:srgbClr val="FF0000"/>
                </a:solidFill>
                <a:latin typeface="Arial" panose="020B0604020202020204" pitchFamily="34" charset="0"/>
              </a:rPr>
              <a:t>clusters</a:t>
            </a:r>
            <a:r>
              <a:rPr lang="es-ES" sz="2800" dirty="0">
                <a:solidFill>
                  <a:srgbClr val="FF0000"/>
                </a:solidFill>
                <a:latin typeface="Arial" panose="020B0604020202020204" pitchFamily="34" charset="0"/>
              </a:rPr>
              <a:t>”, sea lo menor posible</a:t>
            </a: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.</a:t>
            </a:r>
          </a:p>
          <a:p>
            <a:pPr algn="just"/>
            <a:endParaRPr lang="es-ES" sz="28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Minimizar la suma total de varianza interna de forma exacta (encontrar el mínimo global) es un proceso muy complejo debido a la inmensa cantidad de formas en las que n observaciones se pueden repartir en K grupos. 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b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</a:b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En lugar de esto, k-</a:t>
            </a:r>
            <a:r>
              <a:rPr lang="es-ES" sz="2800" dirty="0" err="1">
                <a:solidFill>
                  <a:srgbClr val="333333"/>
                </a:solidFill>
                <a:latin typeface="Arial" panose="020B0604020202020204" pitchFamily="34" charset="0"/>
              </a:rPr>
              <a:t>means</a:t>
            </a: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 trata de encontrar una solución que, aun no siendo la mejor de entre todas las posibles, sea buena (óptimo local). 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b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</a:b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El Algoritmo empleado es: </a:t>
            </a:r>
          </a:p>
          <a:p>
            <a:br>
              <a:rPr lang="es-ES" sz="2800" dirty="0"/>
            </a:br>
            <a:endParaRPr lang="es-ES" sz="2800" dirty="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EF6E757-CE2E-452E-353A-C3107808C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47450" y="2835275"/>
            <a:ext cx="8385875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484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TÉCNICA K MEANS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051050" y="2835275"/>
            <a:ext cx="861060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El algoritmo K-</a:t>
            </a:r>
            <a:r>
              <a:rPr lang="es-ES" sz="2800" dirty="0" err="1">
                <a:solidFill>
                  <a:srgbClr val="333333"/>
                </a:solidFill>
                <a:latin typeface="Arial" panose="020B0604020202020204" pitchFamily="34" charset="0"/>
              </a:rPr>
              <a:t>means</a:t>
            </a: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 (</a:t>
            </a:r>
            <a:r>
              <a:rPr lang="es-ES" sz="2800" dirty="0" err="1">
                <a:solidFill>
                  <a:srgbClr val="333333"/>
                </a:solidFill>
                <a:latin typeface="Arial" panose="020B0604020202020204" pitchFamily="34" charset="0"/>
              </a:rPr>
              <a:t>MacQueen</a:t>
            </a: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, 1967) agrupa las observaciones en un número predefinido de K </a:t>
            </a:r>
            <a:r>
              <a:rPr lang="es-ES" sz="2800" dirty="0" err="1">
                <a:solidFill>
                  <a:srgbClr val="333333"/>
                </a:solidFill>
                <a:latin typeface="Arial" panose="020B0604020202020204" pitchFamily="34" charset="0"/>
              </a:rPr>
              <a:t>clusters</a:t>
            </a: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 de forma que, </a:t>
            </a:r>
            <a:r>
              <a:rPr lang="es-ES" sz="2800" dirty="0">
                <a:solidFill>
                  <a:srgbClr val="FF0000"/>
                </a:solidFill>
                <a:latin typeface="Arial" panose="020B0604020202020204" pitchFamily="34" charset="0"/>
              </a:rPr>
              <a:t>la suma de las varianzas internas de los “</a:t>
            </a:r>
            <a:r>
              <a:rPr lang="es-ES" sz="2800" dirty="0" err="1">
                <a:solidFill>
                  <a:srgbClr val="FF0000"/>
                </a:solidFill>
                <a:latin typeface="Arial" panose="020B0604020202020204" pitchFamily="34" charset="0"/>
              </a:rPr>
              <a:t>clusters</a:t>
            </a:r>
            <a:r>
              <a:rPr lang="es-ES" sz="2800" dirty="0">
                <a:solidFill>
                  <a:srgbClr val="FF0000"/>
                </a:solidFill>
                <a:latin typeface="Arial" panose="020B0604020202020204" pitchFamily="34" charset="0"/>
              </a:rPr>
              <a:t>”, sea lo menor posible</a:t>
            </a: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.</a:t>
            </a:r>
          </a:p>
          <a:p>
            <a:pPr algn="just"/>
            <a:endParaRPr lang="es-ES" sz="28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Minimizar la suma total de varianza interna de forma exacta (encontrar el mínimo global) es un proceso muy complejo debido a la inmensa cantidad de formas en las que n observaciones se pueden repartir en K grupos. 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b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</a:b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En lugar de esto, k-</a:t>
            </a:r>
            <a:r>
              <a:rPr lang="es-ES" sz="2800" dirty="0" err="1">
                <a:solidFill>
                  <a:srgbClr val="333333"/>
                </a:solidFill>
                <a:latin typeface="Arial" panose="020B0604020202020204" pitchFamily="34" charset="0"/>
              </a:rPr>
              <a:t>means</a:t>
            </a: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 trata de encontrar una solución que, aun no siendo la mejor de entre todas las posibles, sea buena (óptimo local). 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b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</a:b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El Algoritmo empleado es: </a:t>
            </a:r>
          </a:p>
          <a:p>
            <a:br>
              <a:rPr lang="es-ES" sz="2800" dirty="0"/>
            </a:br>
            <a:endParaRPr lang="es-ES" sz="2800" dirty="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EF6E757-CE2E-452E-353A-C3107808C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47450" y="2835275"/>
            <a:ext cx="8385875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328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TÉCNICA K MEANS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B17A4CD-23BF-C912-8314-D08807551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850" y="1997075"/>
            <a:ext cx="13411200" cy="8203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6895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TÉCNICA K MEANS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99810B4-2D37-4061-91EC-C0D60DD19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050" y="2225675"/>
            <a:ext cx="14876732" cy="777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127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TÉCNICA K MEANS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051050" y="2835275"/>
            <a:ext cx="86106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Una desventaja de esta técnica, es la necesidad de indicar a priori el número de </a:t>
            </a:r>
            <a:r>
              <a:rPr lang="es-ES" sz="2800" dirty="0" err="1">
                <a:solidFill>
                  <a:srgbClr val="333333"/>
                </a:solidFill>
                <a:latin typeface="Arial" panose="020B0604020202020204" pitchFamily="34" charset="0"/>
              </a:rPr>
              <a:t>clusters</a:t>
            </a: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. Esto puede ser complicado si no se dispone de información adicional sobre los datos con los que se trabaja. </a:t>
            </a:r>
          </a:p>
          <a:p>
            <a:pPr algn="just"/>
            <a:endParaRPr lang="es-ES" sz="28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Se han desarrollado varias estrategias para ayudar a identificar potenciales valores óptimos de K (</a:t>
            </a:r>
            <a:r>
              <a:rPr lang="es-ES" sz="2800" dirty="0" err="1">
                <a:solidFill>
                  <a:srgbClr val="333333"/>
                </a:solidFill>
                <a:latin typeface="Arial" panose="020B0604020202020204" pitchFamily="34" charset="0"/>
              </a:rPr>
              <a:t>elbow</a:t>
            </a: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, </a:t>
            </a:r>
            <a:r>
              <a:rPr lang="es-ES" sz="2800" dirty="0" err="1">
                <a:solidFill>
                  <a:srgbClr val="333333"/>
                </a:solidFill>
                <a:latin typeface="Arial" panose="020B0604020202020204" pitchFamily="34" charset="0"/>
              </a:rPr>
              <a:t>shilouette</a:t>
            </a: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), pero todas ellas son orientativas.</a:t>
            </a:r>
          </a:p>
          <a:p>
            <a:b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</a:br>
            <a:endParaRPr lang="es-ES" sz="28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br>
              <a:rPr lang="es-ES" sz="2800" dirty="0"/>
            </a:br>
            <a:endParaRPr lang="es-ES" sz="2800" dirty="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7ECA7A8-6EEF-CFFC-4C04-811E0EA81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7449" y="2835275"/>
            <a:ext cx="8072863" cy="635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61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TÉCNICA K MEANS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051050" y="2835275"/>
            <a:ext cx="86106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b="1" dirty="0">
                <a:solidFill>
                  <a:srgbClr val="333333"/>
                </a:solidFill>
                <a:latin typeface="Arial" panose="020B0604020202020204" pitchFamily="34" charset="0"/>
              </a:rPr>
              <a:t>MÉTODO ELBOW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b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</a:b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Se acumulan las sumas de diferencias al cuadrado de todos los grupos y se grafican para distintos valores del parámetro k.</a:t>
            </a:r>
          </a:p>
          <a:p>
            <a:b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</a:b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Finalmente, se escoge visualmente aquel valor para el cual la caída en la suma total es marginal</a:t>
            </a:r>
            <a:b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</a:br>
            <a:endParaRPr lang="es-ES" sz="28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br>
              <a:rPr lang="es-ES" sz="2800" dirty="0"/>
            </a:br>
            <a:endParaRPr lang="es-ES" sz="2800" dirty="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302173F-3AF6-9D64-0764-C45CF751D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7450" y="3032125"/>
            <a:ext cx="8133024" cy="544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3603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TÉCNICA K MEANS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051050" y="2835275"/>
            <a:ext cx="8610600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b="1" dirty="0">
                <a:solidFill>
                  <a:srgbClr val="333333"/>
                </a:solidFill>
                <a:latin typeface="Arial" panose="020B0604020202020204" pitchFamily="34" charset="0"/>
              </a:rPr>
              <a:t>MÉTODO DE SILHOUETTE</a:t>
            </a:r>
          </a:p>
          <a:p>
            <a:pPr marL="114300" algn="just" rtl="0">
              <a:spcBef>
                <a:spcPts val="0"/>
              </a:spcBef>
              <a:spcAft>
                <a:spcPts val="0"/>
              </a:spcAft>
            </a:pPr>
            <a:b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</a:b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Medida de cuán similar es un dato a los datos de su </a:t>
            </a:r>
            <a:r>
              <a:rPr lang="es-ES" sz="2800" dirty="0" err="1">
                <a:solidFill>
                  <a:srgbClr val="333333"/>
                </a:solidFill>
                <a:latin typeface="Arial" panose="020B0604020202020204" pitchFamily="34" charset="0"/>
              </a:rPr>
              <a:t>cluster</a:t>
            </a: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 en comparación a los datos del </a:t>
            </a:r>
            <a:r>
              <a:rPr lang="es-ES" sz="2800" dirty="0" err="1">
                <a:solidFill>
                  <a:srgbClr val="333333"/>
                </a:solidFill>
                <a:latin typeface="Arial" panose="020B0604020202020204" pitchFamily="34" charset="0"/>
              </a:rPr>
              <a:t>cluster</a:t>
            </a: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 más cercano.</a:t>
            </a:r>
          </a:p>
          <a:p>
            <a:pPr marL="114300" algn="just" rtl="0">
              <a:spcBef>
                <a:spcPts val="0"/>
              </a:spcBef>
              <a:spcAft>
                <a:spcPts val="0"/>
              </a:spcAft>
            </a:pPr>
            <a:b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</a:b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Su valor está en el rango [-1,1]</a:t>
            </a:r>
          </a:p>
          <a:p>
            <a:pPr marL="114300" algn="just" rtl="0">
              <a:spcBef>
                <a:spcPts val="0"/>
              </a:spcBef>
              <a:spcAft>
                <a:spcPts val="0"/>
              </a:spcAft>
            </a:pPr>
            <a:b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</a:b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El valor “1” indica que el dato está bien emparejado en su propio </a:t>
            </a:r>
            <a:r>
              <a:rPr lang="es-ES" sz="2800" dirty="0" err="1">
                <a:solidFill>
                  <a:srgbClr val="333333"/>
                </a:solidFill>
                <a:latin typeface="Arial" panose="020B0604020202020204" pitchFamily="34" charset="0"/>
              </a:rPr>
              <a:t>cluster</a:t>
            </a: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 y mal emparejado con los datos de otros </a:t>
            </a:r>
            <a:r>
              <a:rPr lang="es-ES" sz="2800" dirty="0" err="1">
                <a:solidFill>
                  <a:srgbClr val="333333"/>
                </a:solidFill>
                <a:latin typeface="Arial" panose="020B0604020202020204" pitchFamily="34" charset="0"/>
              </a:rPr>
              <a:t>clusters</a:t>
            </a: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.</a:t>
            </a:r>
          </a:p>
          <a:p>
            <a:br>
              <a:rPr lang="es-ES" sz="2800" dirty="0"/>
            </a:br>
            <a:b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</a:br>
            <a:b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</a:br>
            <a:endParaRPr lang="es-ES" sz="28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br>
              <a:rPr lang="es-ES" sz="2800" dirty="0"/>
            </a:br>
            <a:endParaRPr lang="es-ES" sz="2800" dirty="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89213FD-797A-CBBD-B327-76A7D361C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8849" y="2835275"/>
            <a:ext cx="8589567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04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7D15BE-E3B2-F743-9878-F149B7D92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050" y="9007475"/>
            <a:ext cx="9020022" cy="1015663"/>
          </a:xfrm>
        </p:spPr>
        <p:txBody>
          <a:bodyPr/>
          <a:lstStyle/>
          <a:p>
            <a:r>
              <a:rPr lang="es-CL" sz="6600" dirty="0"/>
              <a:t>RESUMEN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224DE7A-4464-F54B-B074-7663E7D43917}"/>
              </a:ext>
            </a:extLst>
          </p:cNvPr>
          <p:cNvSpPr txBox="1">
            <a:spLocks/>
          </p:cNvSpPr>
          <p:nvPr/>
        </p:nvSpPr>
        <p:spPr>
          <a:xfrm>
            <a:off x="6276975" y="7752358"/>
            <a:ext cx="1670957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solidFill>
                  <a:srgbClr val="257CE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0246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BCD8BF0-1144-D34D-8793-D9BC0214A6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RESUMEN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27F119F-996A-54C1-08D8-A05CBD0E1453}"/>
              </a:ext>
            </a:extLst>
          </p:cNvPr>
          <p:cNvSpPr txBox="1"/>
          <p:nvPr/>
        </p:nvSpPr>
        <p:spPr>
          <a:xfrm>
            <a:off x="2279650" y="2682875"/>
            <a:ext cx="12192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>
                <a:latin typeface="Arial" panose="020B0604020202020204" pitchFamily="34" charset="0"/>
                <a:cs typeface="Arial" panose="020B0604020202020204" pitchFamily="34" charset="0"/>
              </a:rPr>
              <a:t>En esta presentación, hemos visto:</a:t>
            </a:r>
          </a:p>
          <a:p>
            <a:endParaRPr lang="es-C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Introducción a Modelos basados en casos y vecindad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Concepto de distancia y similitud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Técnica K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Means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3056958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46C03A48966454199A2879BC4C40350" ma:contentTypeVersion="4" ma:contentTypeDescription="Crear nuevo documento." ma:contentTypeScope="" ma:versionID="0871355141b037be11610f00f2a1c7a0">
  <xsd:schema xmlns:xsd="http://www.w3.org/2001/XMLSchema" xmlns:xs="http://www.w3.org/2001/XMLSchema" xmlns:p="http://schemas.microsoft.com/office/2006/metadata/properties" xmlns:ns2="84cca355-e832-4fbe-b8f4-563de4688da1" targetNamespace="http://schemas.microsoft.com/office/2006/metadata/properties" ma:root="true" ma:fieldsID="62da9adeebec7973d853d7513ae873e4" ns2:_="">
    <xsd:import namespace="84cca355-e832-4fbe-b8f4-563de4688d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cca355-e832-4fbe-b8f4-563de4688d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8C44CC5-CF52-476A-BB47-35C38E86C96C}"/>
</file>

<file path=customXml/itemProps2.xml><?xml version="1.0" encoding="utf-8"?>
<ds:datastoreItem xmlns:ds="http://schemas.openxmlformats.org/officeDocument/2006/customXml" ds:itemID="{64C43652-73DC-4C77-8E79-F06010C18C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821600-D61B-433B-B6F8-A294D9BC75DD}">
  <ds:schemaRefs>
    <ds:schemaRef ds:uri="http://purl.org/dc/terms/"/>
    <ds:schemaRef ds:uri="http://schemas.microsoft.com/office/2006/metadata/properties"/>
    <ds:schemaRef ds:uri="http://schemas.openxmlformats.org/package/2006/metadata/core-properties"/>
    <ds:schemaRef ds:uri="b45b625c-c26a-47f6-b683-8d6b2db36159"/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infopath/2007/PartnerControls"/>
    <ds:schemaRef ds:uri="e5b8f56d-7793-429f-909c-9567ca729807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4812</TotalTime>
  <Words>1247</Words>
  <Application>Microsoft Office PowerPoint</Application>
  <PresentationFormat>Personalizado</PresentationFormat>
  <Paragraphs>114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7" baseType="lpstr">
      <vt:lpstr>Arial</vt:lpstr>
      <vt:lpstr>Arial Black</vt:lpstr>
      <vt:lpstr>Calibri</vt:lpstr>
      <vt:lpstr>PalatinoLinotype-Roman</vt:lpstr>
      <vt:lpstr>Wingdings</vt:lpstr>
      <vt:lpstr>Office Theme</vt:lpstr>
      <vt:lpstr>MÉTODOS BASADOS EN CASOS Y VECINDAD</vt:lpstr>
      <vt:lpstr>Presentación de PowerPoint</vt:lpstr>
      <vt:lpstr>INTRODUCCIÓN</vt:lpstr>
      <vt:lpstr>INTRODUCCIÓN</vt:lpstr>
      <vt:lpstr>INTRODUCCIÓN</vt:lpstr>
      <vt:lpstr>LO</vt:lpstr>
      <vt:lpstr>Presentación de PowerPoint</vt:lpstr>
      <vt:lpstr>Presentación de PowerPoint</vt:lpstr>
      <vt:lpstr>Presentación de PowerPoint</vt:lpstr>
      <vt:lpstr>Presentación de PowerPoint</vt:lpstr>
      <vt:lpstr>TÉCNICA K MEANS</vt:lpstr>
      <vt:lpstr>TÉCNICA K MEANS</vt:lpstr>
      <vt:lpstr>TÉCNICA K MEANS</vt:lpstr>
      <vt:lpstr>TÉCNICA K MEANS</vt:lpstr>
      <vt:lpstr>TÉCNICA K MEANS</vt:lpstr>
      <vt:lpstr>TÉCNICA K MEANS</vt:lpstr>
      <vt:lpstr>TÉCNICA K MEANS</vt:lpstr>
      <vt:lpstr>TÉCNICA K MEANS</vt:lpstr>
      <vt:lpstr>TÉCNICA K MEANS</vt:lpstr>
      <vt:lpstr>RESUMEN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</dc:title>
  <dc:creator>Daniela Taito R.</dc:creator>
  <cp:lastModifiedBy>guillermo pinto</cp:lastModifiedBy>
  <cp:revision>262</cp:revision>
  <dcterms:created xsi:type="dcterms:W3CDTF">2022-07-20T19:15:37Z</dcterms:created>
  <dcterms:modified xsi:type="dcterms:W3CDTF">2023-11-29T01:59:29Z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2022-07-20T00:00:00Z</vt:filetime>
  </property>
  <property fmtid="{D5CDD505-2E9C-101B-9397-08002B2CF9AE}" pid="3" name="Creator">
    <vt:lpwstr>Adobe Illustrator 26.3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2022-07-20T00:00:00Z</vt:filetime>
  </property>
  <property fmtid="{D5CDD505-2E9C-101B-9397-08002B2CF9AE}" pid="6" name="Producer">
    <vt:lpwstr>Adobe PDF library 15.00</vt:lpwstr>
  </property>
  <property fmtid="{D5CDD505-2E9C-101B-9397-08002B2CF9AE}" pid="7" name="ContentTypeId">
    <vt:lpwstr>0x010100346C03A48966454199A2879BC4C40350</vt:lpwstr>
  </property>
</Properties>
</file>