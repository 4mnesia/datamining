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sldIdLst>
    <p:sldId id="261" r:id="rId5"/>
    <p:sldId id="337" r:id="rId6"/>
    <p:sldId id="344" r:id="rId7"/>
    <p:sldId id="339" r:id="rId8"/>
    <p:sldId id="350" r:id="rId9"/>
    <p:sldId id="346" r:id="rId10"/>
    <p:sldId id="270" r:id="rId11"/>
    <p:sldId id="340" r:id="rId12"/>
    <p:sldId id="347" r:id="rId13"/>
    <p:sldId id="348" r:id="rId14"/>
    <p:sldId id="327" r:id="rId15"/>
    <p:sldId id="341" r:id="rId16"/>
    <p:sldId id="352" r:id="rId17"/>
    <p:sldId id="353" r:id="rId18"/>
    <p:sldId id="354" r:id="rId19"/>
    <p:sldId id="355" r:id="rId20"/>
    <p:sldId id="349" r:id="rId21"/>
    <p:sldId id="332" r:id="rId22"/>
    <p:sldId id="342" r:id="rId23"/>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42" autoAdjust="0"/>
    <p:restoredTop sz="94558"/>
  </p:normalViewPr>
  <p:slideViewPr>
    <p:cSldViewPr>
      <p:cViewPr varScale="1">
        <p:scale>
          <a:sx n="65" d="100"/>
          <a:sy n="65" d="100"/>
        </p:scale>
        <p:origin x="432"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26-11-2023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pc="-10" dirty="0"/>
              <a:t>MODELOS </a:t>
            </a:r>
            <a:br>
              <a:rPr lang="es-CL" spc="-10" dirty="0"/>
            </a:br>
            <a:r>
              <a:rPr lang="es-CL" spc="-10" dirty="0"/>
              <a:t>BAYESIANOS</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TEOREMA DE BAYES</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NAIVE BAYES</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124754"/>
          </a:xfrm>
          <a:prstGeom prst="rect">
            <a:avLst/>
          </a:prstGeom>
          <a:noFill/>
        </p:spPr>
        <p:txBody>
          <a:bodyPr wrap="square" rtlCol="0">
            <a:spAutoFit/>
          </a:bodyPr>
          <a:lstStyle/>
          <a:p>
            <a:pPr algn="just"/>
            <a:r>
              <a:rPr lang="es-ES" sz="2800" dirty="0"/>
              <a:t>Uno de los principales problemas a los que se enfrentan las técnicas de minería de datos es cómo </a:t>
            </a:r>
            <a:r>
              <a:rPr lang="es-ES" sz="2800" dirty="0">
                <a:solidFill>
                  <a:srgbClr val="FF0000"/>
                </a:solidFill>
              </a:rPr>
              <a:t>trabajar con incertidumbre</a:t>
            </a:r>
            <a:r>
              <a:rPr lang="es-ES" sz="2800" dirty="0"/>
              <a:t>. </a:t>
            </a:r>
          </a:p>
          <a:p>
            <a:pPr algn="just"/>
            <a:endParaRPr lang="es-ES" sz="2800" dirty="0"/>
          </a:p>
          <a:p>
            <a:pPr algn="just"/>
            <a:r>
              <a:rPr lang="es-ES" sz="2800" dirty="0"/>
              <a:t>Este hecho, que es un problema para muchas de las técnicas de minería de datos en general, no lo es en absoluto para los métodos y técnicas bayesianas, puesto que una de sus principales características es el uso explícito de la </a:t>
            </a:r>
            <a:r>
              <a:rPr lang="es-ES" sz="2800" dirty="0">
                <a:solidFill>
                  <a:srgbClr val="FF0000"/>
                </a:solidFill>
              </a:rPr>
              <a:t>teoría de la probabilidad para cuantificar la incertidumbre</a:t>
            </a:r>
            <a:r>
              <a:rPr lang="es-ES" sz="2800" dirty="0"/>
              <a:t>.</a:t>
            </a:r>
          </a:p>
          <a:p>
            <a:pPr algn="just"/>
            <a:endParaRPr lang="es-ES" sz="2800" dirty="0"/>
          </a:p>
          <a:p>
            <a:pPr algn="just"/>
            <a:endParaRPr lang="es-ES" sz="2800" dirty="0"/>
          </a:p>
          <a:p>
            <a:pPr algn="l"/>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6" name="Imagen 5">
            <a:extLst>
              <a:ext uri="{FF2B5EF4-FFF2-40B4-BE49-F238E27FC236}">
                <a16:creationId xmlns:a16="http://schemas.microsoft.com/office/drawing/2014/main" id="{52BB2CC5-A457-D4AD-5121-58C37C5A9C76}"/>
              </a:ext>
            </a:extLst>
          </p:cNvPr>
          <p:cNvPicPr>
            <a:picLocks noChangeAspect="1"/>
          </p:cNvPicPr>
          <p:nvPr/>
        </p:nvPicPr>
        <p:blipFill>
          <a:blip r:embed="rId2"/>
          <a:stretch>
            <a:fillRect/>
          </a:stretch>
        </p:blipFill>
        <p:spPr>
          <a:xfrm>
            <a:off x="12033250" y="2517884"/>
            <a:ext cx="7078006" cy="5592960"/>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7417415"/>
          </a:xfrm>
          <a:prstGeom prst="rect">
            <a:avLst/>
          </a:prstGeom>
          <a:noFill/>
        </p:spPr>
        <p:txBody>
          <a:bodyPr wrap="square" rtlCol="0">
            <a:spAutoFit/>
          </a:bodyPr>
          <a:lstStyle/>
          <a:p>
            <a:pPr algn="just"/>
            <a:r>
              <a:rPr lang="es-ES" sz="2800" dirty="0"/>
              <a:t>Los Modelos Bayesianos permiten un doble uso: </a:t>
            </a:r>
            <a:r>
              <a:rPr lang="es-ES" sz="2800" dirty="0">
                <a:solidFill>
                  <a:srgbClr val="FF0000"/>
                </a:solidFill>
              </a:rPr>
              <a:t>descriptivo y predictivo</a:t>
            </a:r>
            <a:r>
              <a:rPr lang="es-ES" sz="2800" dirty="0"/>
              <a:t>. </a:t>
            </a:r>
          </a:p>
          <a:p>
            <a:pPr algn="just"/>
            <a:endParaRPr lang="es-ES" sz="2800" dirty="0"/>
          </a:p>
          <a:p>
            <a:pPr algn="just"/>
            <a:r>
              <a:rPr lang="es-ES" sz="2800" dirty="0"/>
              <a:t>En cuanto a su uso como modelo descriptivo, los algoritmos de aprendizaje de redes bayesianas </a:t>
            </a:r>
            <a:r>
              <a:rPr lang="es-ES" sz="2800" dirty="0">
                <a:solidFill>
                  <a:srgbClr val="FF0000"/>
                </a:solidFill>
              </a:rPr>
              <a:t>se centran en el descubrimiento de relaciones de independencia y/o relevancia entre sus variables</a:t>
            </a:r>
            <a:r>
              <a:rPr lang="es-ES" sz="2800" dirty="0"/>
              <a:t>, por lo que el modelo resultante refleja de </a:t>
            </a:r>
            <a:r>
              <a:rPr lang="es-CL" sz="2800" dirty="0"/>
              <a:t>forma explícita numerosas relaciones de interés.</a:t>
            </a:r>
          </a:p>
          <a:p>
            <a:pPr algn="just"/>
            <a:endParaRPr lang="es-CL" sz="2800" dirty="0"/>
          </a:p>
          <a:p>
            <a:pPr algn="just"/>
            <a:r>
              <a:rPr lang="es-ES" sz="2800" dirty="0"/>
              <a:t>En cuanto al uso predictivo, nos referimos fundamentalmente al uso de las redes </a:t>
            </a:r>
            <a:r>
              <a:rPr lang="es-CL" sz="2800" dirty="0"/>
              <a:t>bayesianas </a:t>
            </a:r>
            <a:r>
              <a:rPr lang="es-CL" sz="2800" dirty="0">
                <a:solidFill>
                  <a:srgbClr val="FF0000"/>
                </a:solidFill>
              </a:rPr>
              <a:t>como clasificadores (como la detección de correo spam).</a:t>
            </a:r>
            <a:endParaRPr lang="es-CL" sz="2800" dirty="0"/>
          </a:p>
          <a:p>
            <a:pPr algn="just"/>
            <a:endParaRPr lang="es-CL" sz="2800" dirty="0"/>
          </a:p>
          <a:p>
            <a:pPr algn="just"/>
            <a:endParaRPr lang="es-ES" sz="2800" dirty="0"/>
          </a:p>
          <a:p>
            <a:pPr algn="l"/>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4" name="Imagen 3">
            <a:extLst>
              <a:ext uri="{FF2B5EF4-FFF2-40B4-BE49-F238E27FC236}">
                <a16:creationId xmlns:a16="http://schemas.microsoft.com/office/drawing/2014/main" id="{DFFF3746-CBFC-7AEB-3A54-93430DDFA971}"/>
              </a:ext>
            </a:extLst>
          </p:cNvPr>
          <p:cNvPicPr>
            <a:picLocks noChangeAspect="1"/>
          </p:cNvPicPr>
          <p:nvPr/>
        </p:nvPicPr>
        <p:blipFill>
          <a:blip r:embed="rId2"/>
          <a:stretch>
            <a:fillRect/>
          </a:stretch>
        </p:blipFill>
        <p:spPr>
          <a:xfrm>
            <a:off x="11804650" y="3521075"/>
            <a:ext cx="7759426" cy="3876675"/>
          </a:xfrm>
          <a:prstGeom prst="rect">
            <a:avLst/>
          </a:prstGeom>
        </p:spPr>
      </p:pic>
    </p:spTree>
    <p:extLst>
      <p:ext uri="{BB962C8B-B14F-4D97-AF65-F5344CB8AC3E}">
        <p14:creationId xmlns:p14="http://schemas.microsoft.com/office/powerpoint/2010/main" val="548895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986528"/>
          </a:xfrm>
          <a:prstGeom prst="rect">
            <a:avLst/>
          </a:prstGeom>
          <a:noFill/>
        </p:spPr>
        <p:txBody>
          <a:bodyPr wrap="square" rtlCol="0">
            <a:spAutoFit/>
          </a:bodyPr>
          <a:lstStyle/>
          <a:p>
            <a:pPr algn="just"/>
            <a:r>
              <a:rPr lang="es-ES" sz="2800" dirty="0"/>
              <a:t>La teoría de la probabilidad y los métodos bayesianos son una de las técnicas que más se han utilizado en problemas de inteligencia artificial y, por tanto, de aprendizaje automático y minería de datos. </a:t>
            </a:r>
          </a:p>
          <a:p>
            <a:pPr algn="l"/>
            <a:endParaRPr lang="es-ES" sz="2800" dirty="0"/>
          </a:p>
          <a:p>
            <a:pPr algn="just"/>
            <a:r>
              <a:rPr lang="es-ES" sz="2800" dirty="0"/>
              <a:t>Una de las razones por las que los métodos bayesianos son relevantes al aprendizaje automático y a la minería de datos es por:</a:t>
            </a:r>
          </a:p>
          <a:p>
            <a:pPr algn="l"/>
            <a:endParaRPr lang="es-ES" sz="2800" dirty="0"/>
          </a:p>
          <a:p>
            <a:pPr algn="just"/>
            <a:r>
              <a:rPr lang="es-ES" sz="2800" dirty="0"/>
              <a:t>Son un </a:t>
            </a:r>
            <a:r>
              <a:rPr lang="es-ES" sz="2800" dirty="0">
                <a:solidFill>
                  <a:srgbClr val="FF0000"/>
                </a:solidFill>
              </a:rPr>
              <a:t>método práctico para realizar inferencias a partir de los datos</a:t>
            </a:r>
            <a:r>
              <a:rPr lang="es-ES" sz="2800" dirty="0"/>
              <a:t>, induciendo modelos probabilísticos que después serán usados para razonar (formular hipótesis) sobre nuevos valores observados. </a:t>
            </a:r>
            <a:r>
              <a:rPr lang="es-ES" sz="2800" dirty="0">
                <a:solidFill>
                  <a:srgbClr val="FF0000"/>
                </a:solidFill>
              </a:rPr>
              <a:t>Además, permiten calcular de forma explícita la probabilidad asociada a cada una de las hipótesis posibles</a:t>
            </a:r>
            <a:r>
              <a:rPr lang="es-ES" sz="2800" dirty="0"/>
              <a:t>, lo que constituye una gran ventaja sobre otras técnicas.</a:t>
            </a:r>
            <a:endParaRPr lang="es-CL" sz="2800" dirty="0"/>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7" name="Imagen 6">
            <a:extLst>
              <a:ext uri="{FF2B5EF4-FFF2-40B4-BE49-F238E27FC236}">
                <a16:creationId xmlns:a16="http://schemas.microsoft.com/office/drawing/2014/main" id="{561F1D01-5B36-5FFB-2F73-D5D2399FBF49}"/>
              </a:ext>
            </a:extLst>
          </p:cNvPr>
          <p:cNvPicPr>
            <a:picLocks noChangeAspect="1"/>
          </p:cNvPicPr>
          <p:nvPr/>
        </p:nvPicPr>
        <p:blipFill>
          <a:blip r:embed="rId2"/>
          <a:stretch>
            <a:fillRect/>
          </a:stretch>
        </p:blipFill>
        <p:spPr>
          <a:xfrm>
            <a:off x="11728450" y="2911475"/>
            <a:ext cx="7981950" cy="4657725"/>
          </a:xfrm>
          <a:prstGeom prst="rect">
            <a:avLst/>
          </a:prstGeom>
        </p:spPr>
      </p:pic>
    </p:spTree>
    <p:extLst>
      <p:ext uri="{BB962C8B-B14F-4D97-AF65-F5344CB8AC3E}">
        <p14:creationId xmlns:p14="http://schemas.microsoft.com/office/powerpoint/2010/main" val="4070405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TEOREMA DE BAYES</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TEOREMA DE BAYES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555641"/>
          </a:xfrm>
          <a:prstGeom prst="rect">
            <a:avLst/>
          </a:prstGeom>
          <a:noFill/>
        </p:spPr>
        <p:txBody>
          <a:bodyPr wrap="square" rtlCol="0">
            <a:spAutoFit/>
          </a:bodyPr>
          <a:lstStyle/>
          <a:p>
            <a:pPr algn="just"/>
            <a:r>
              <a:rPr lang="es-ES" sz="2800" dirty="0"/>
              <a:t>En teoría de la probabilidad, el teorema de Bayes es la regla básica para realizar inferencias.</a:t>
            </a:r>
          </a:p>
          <a:p>
            <a:pPr algn="just"/>
            <a:endParaRPr lang="es-ES" sz="2800" dirty="0"/>
          </a:p>
          <a:p>
            <a:pPr algn="just"/>
            <a:r>
              <a:rPr lang="es-ES" sz="2800" dirty="0"/>
              <a:t>Así, el teorema de Bayes nos permite actualizar la creencia que tenemos en un suceso o conjunto de sucesos a la luz de nuevos datos u observaciones. Es decir, </a:t>
            </a:r>
            <a:r>
              <a:rPr lang="es-ES" sz="2800" dirty="0">
                <a:solidFill>
                  <a:srgbClr val="FF0000"/>
                </a:solidFill>
              </a:rPr>
              <a:t>nos permite pasar de la probabilidad a priori P(suceso) a la  probabilidad a posteriori P(</a:t>
            </a:r>
            <a:r>
              <a:rPr lang="es-ES" sz="2800" dirty="0" err="1">
                <a:solidFill>
                  <a:srgbClr val="FF0000"/>
                </a:solidFill>
              </a:rPr>
              <a:t>suceso|observaciones</a:t>
            </a:r>
            <a:r>
              <a:rPr lang="es-ES" sz="2800" dirty="0">
                <a:solidFill>
                  <a:srgbClr val="FF0000"/>
                </a:solidFill>
              </a:rPr>
              <a:t>).</a:t>
            </a:r>
          </a:p>
          <a:p>
            <a:pPr algn="just"/>
            <a:endParaRPr lang="es-ES" sz="2800" dirty="0"/>
          </a:p>
          <a:p>
            <a:pPr algn="just"/>
            <a:r>
              <a:rPr lang="es-ES" sz="2800" dirty="0"/>
              <a:t>La probabilidad a priori puede verse como la probabilidad inicial, la que fijamos sin saber </a:t>
            </a:r>
            <a:r>
              <a:rPr lang="es-CL" sz="2800" dirty="0"/>
              <a:t>nada más.</a:t>
            </a:r>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4" name="Imagen 3">
            <a:extLst>
              <a:ext uri="{FF2B5EF4-FFF2-40B4-BE49-F238E27FC236}">
                <a16:creationId xmlns:a16="http://schemas.microsoft.com/office/drawing/2014/main" id="{A43AC863-8AD3-14B9-B6C8-178231EAAEA7}"/>
              </a:ext>
            </a:extLst>
          </p:cNvPr>
          <p:cNvPicPr>
            <a:picLocks noChangeAspect="1"/>
          </p:cNvPicPr>
          <p:nvPr/>
        </p:nvPicPr>
        <p:blipFill>
          <a:blip r:embed="rId2"/>
          <a:stretch>
            <a:fillRect/>
          </a:stretch>
        </p:blipFill>
        <p:spPr>
          <a:xfrm>
            <a:off x="11253235" y="2911475"/>
            <a:ext cx="7040457" cy="4343400"/>
          </a:xfrm>
          <a:prstGeom prst="rect">
            <a:avLst/>
          </a:prstGeom>
        </p:spPr>
      </p:pic>
    </p:spTree>
    <p:extLst>
      <p:ext uri="{BB962C8B-B14F-4D97-AF65-F5344CB8AC3E}">
        <p14:creationId xmlns:p14="http://schemas.microsoft.com/office/powerpoint/2010/main" val="71739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TEOREMA DE BAYES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073275"/>
            <a:ext cx="7798705" cy="8279190"/>
          </a:xfrm>
          <a:prstGeom prst="rect">
            <a:avLst/>
          </a:prstGeom>
          <a:noFill/>
        </p:spPr>
        <p:txBody>
          <a:bodyPr wrap="square" rtlCol="0">
            <a:spAutoFit/>
          </a:bodyPr>
          <a:lstStyle/>
          <a:p>
            <a:pPr algn="just"/>
            <a:r>
              <a:rPr lang="es-ES" sz="2800" dirty="0"/>
              <a:t>Por ejemplo, si estamos en invierno, la probabilidad de que una persona padezca gripe en un momento determinado podría ser del 0,05 ( P(Gripe=sí) = 0,05 ). </a:t>
            </a:r>
          </a:p>
          <a:p>
            <a:pPr algn="l"/>
            <a:endParaRPr lang="es-ES" sz="2800" dirty="0"/>
          </a:p>
          <a:p>
            <a:pPr algn="just"/>
            <a:r>
              <a:rPr lang="es-ES" sz="2800" dirty="0"/>
              <a:t>La </a:t>
            </a:r>
            <a:r>
              <a:rPr lang="es-ES" sz="2800" dirty="0">
                <a:solidFill>
                  <a:srgbClr val="FF0000"/>
                </a:solidFill>
              </a:rPr>
              <a:t>probabilidad a posteriori es la que obtendríamos tras conocer cierta información</a:t>
            </a:r>
            <a:r>
              <a:rPr lang="es-ES" sz="2800" dirty="0"/>
              <a:t>, por tanto, puede verse como un refinamiento de nuestro conocimiento. </a:t>
            </a:r>
          </a:p>
          <a:p>
            <a:pPr algn="l"/>
            <a:endParaRPr lang="es-ES" sz="2800" dirty="0"/>
          </a:p>
          <a:p>
            <a:pPr algn="just"/>
            <a:r>
              <a:rPr lang="es-ES" sz="2800" dirty="0"/>
              <a:t>Por ejemplo, si sabemos que la persona en cuestión se ha vacunado contra la gripe, entonces la probabilidad a posteriori sería prácticamente cero </a:t>
            </a:r>
            <a:r>
              <a:rPr lang="es-ES" sz="2400" dirty="0"/>
              <a:t>( P(Gripe=</a:t>
            </a:r>
            <a:r>
              <a:rPr lang="es-ES" sz="2400" dirty="0" err="1"/>
              <a:t>sí|Vacuna</a:t>
            </a:r>
            <a:r>
              <a:rPr lang="es-ES" sz="2400" dirty="0"/>
              <a:t>=sí) ≈ 0 ).</a:t>
            </a:r>
          </a:p>
          <a:p>
            <a:pPr algn="l"/>
            <a:endParaRPr lang="es-ES" sz="2800" dirty="0"/>
          </a:p>
          <a:p>
            <a:pPr algn="l"/>
            <a:r>
              <a:rPr lang="es-ES" sz="2800" dirty="0"/>
              <a:t>Teniendo en cuenta estos conceptos, el teorema de Bayes viene representado por la</a:t>
            </a:r>
          </a:p>
          <a:p>
            <a:pPr algn="l"/>
            <a:r>
              <a:rPr lang="es-CL" sz="2800" dirty="0"/>
              <a:t>siguiente expresión.</a:t>
            </a:r>
            <a:endParaRPr lang="es-ES" sz="2800" dirty="0"/>
          </a:p>
          <a:p>
            <a:pPr algn="l"/>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pic>
        <p:nvPicPr>
          <p:cNvPr id="6" name="Imagen 5">
            <a:extLst>
              <a:ext uri="{FF2B5EF4-FFF2-40B4-BE49-F238E27FC236}">
                <a16:creationId xmlns:a16="http://schemas.microsoft.com/office/drawing/2014/main" id="{4A54B576-15B8-BDF2-6E15-BFD4ED23D960}"/>
              </a:ext>
            </a:extLst>
          </p:cNvPr>
          <p:cNvPicPr>
            <a:picLocks noChangeAspect="1"/>
          </p:cNvPicPr>
          <p:nvPr/>
        </p:nvPicPr>
        <p:blipFill>
          <a:blip r:embed="rId2"/>
          <a:stretch>
            <a:fillRect/>
          </a:stretch>
        </p:blipFill>
        <p:spPr>
          <a:xfrm>
            <a:off x="10890355" y="3268745"/>
            <a:ext cx="7620000" cy="5324475"/>
          </a:xfrm>
          <a:prstGeom prst="rect">
            <a:avLst/>
          </a:prstGeom>
        </p:spPr>
      </p:pic>
    </p:spTree>
    <p:extLst>
      <p:ext uri="{BB962C8B-B14F-4D97-AF65-F5344CB8AC3E}">
        <p14:creationId xmlns:p14="http://schemas.microsoft.com/office/powerpoint/2010/main" val="1945776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TEOREMA DE BAYES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073275"/>
            <a:ext cx="7798705" cy="4401205"/>
          </a:xfrm>
          <a:prstGeom prst="rect">
            <a:avLst/>
          </a:prstGeom>
          <a:noFill/>
        </p:spPr>
        <p:txBody>
          <a:bodyPr wrap="square" rtlCol="0">
            <a:spAutoFit/>
          </a:bodyPr>
          <a:lstStyle/>
          <a:p>
            <a:pPr algn="just"/>
            <a:r>
              <a:rPr lang="es-ES" sz="2800" dirty="0"/>
              <a:t>Sin embargo, este método tiene un problema, y es su </a:t>
            </a:r>
            <a:r>
              <a:rPr lang="es-ES" sz="2800" dirty="0">
                <a:solidFill>
                  <a:srgbClr val="FF0000"/>
                </a:solidFill>
              </a:rPr>
              <a:t>altísima complejidad computacional, debido a que necesitamos trabajar con distribuciones de probabilidad que involucran muchas variables</a:t>
            </a:r>
            <a:r>
              <a:rPr lang="es-ES" sz="2800" dirty="0"/>
              <a:t>, haciéndolas en la mayoría de los casos inmanejables. </a:t>
            </a:r>
          </a:p>
          <a:p>
            <a:pPr algn="l"/>
            <a:endParaRPr lang="es-ES" sz="2800" dirty="0"/>
          </a:p>
          <a:p>
            <a:pPr algn="just"/>
            <a:r>
              <a:rPr lang="es-ES" sz="2800" dirty="0"/>
              <a:t>Veremos a continuación, cómo este problema es paliado haciendo uso de las (a veces supuestas) </a:t>
            </a:r>
            <a:r>
              <a:rPr lang="es-ES" sz="2800" dirty="0">
                <a:solidFill>
                  <a:srgbClr val="FF0000"/>
                </a:solidFill>
              </a:rPr>
              <a:t>independencias entre las variables</a:t>
            </a:r>
            <a:r>
              <a:rPr lang="es-ES" sz="2800" dirty="0"/>
              <a:t>.</a:t>
            </a:r>
            <a:endParaRPr lang="es-CL" sz="2800" dirty="0"/>
          </a:p>
        </p:txBody>
      </p:sp>
      <p:sp>
        <p:nvSpPr>
          <p:cNvPr id="5" name="CuadroTexto 4">
            <a:extLst>
              <a:ext uri="{FF2B5EF4-FFF2-40B4-BE49-F238E27FC236}">
                <a16:creationId xmlns:a16="http://schemas.microsoft.com/office/drawing/2014/main" id="{EA420310-9A07-5C8F-E4D0-7C74EA7B9B10}"/>
              </a:ext>
            </a:extLst>
          </p:cNvPr>
          <p:cNvSpPr txBox="1"/>
          <p:nvPr/>
        </p:nvSpPr>
        <p:spPr>
          <a:xfrm>
            <a:off x="3498850" y="10400007"/>
            <a:ext cx="7486345" cy="307777"/>
          </a:xfrm>
          <a:prstGeom prst="rect">
            <a:avLst/>
          </a:prstGeom>
          <a:noFill/>
        </p:spPr>
        <p:txBody>
          <a:bodyPr wrap="none" rtlCol="0">
            <a:spAutoFit/>
          </a:bodyPr>
          <a:lstStyle/>
          <a:p>
            <a:r>
              <a:rPr lang="es-CL" sz="1400" dirty="0"/>
              <a:t>Fuente: Introducción a la Minería de Datos. José Hernández y otros. Pearson / Prentice Hall</a:t>
            </a:r>
          </a:p>
        </p:txBody>
      </p:sp>
    </p:spTree>
    <p:extLst>
      <p:ext uri="{BB962C8B-B14F-4D97-AF65-F5344CB8AC3E}">
        <p14:creationId xmlns:p14="http://schemas.microsoft.com/office/powerpoint/2010/main" val="117242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1015663"/>
          </a:xfrm>
        </p:spPr>
        <p:txBody>
          <a:bodyPr/>
          <a:lstStyle/>
          <a:p>
            <a:r>
              <a:rPr lang="es-CL" sz="6600" dirty="0"/>
              <a:t>NAIVES BAYES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5693866"/>
          </a:xfrm>
          <a:prstGeom prst="rect">
            <a:avLst/>
          </a:prstGeom>
          <a:noFill/>
        </p:spPr>
        <p:txBody>
          <a:bodyPr wrap="square" rtlCol="0">
            <a:spAutoFit/>
          </a:bodyPr>
          <a:lstStyle/>
          <a:p>
            <a:pPr algn="just" rtl="0" fontAlgn="base">
              <a:spcBef>
                <a:spcPts val="0"/>
              </a:spcBef>
              <a:spcAft>
                <a:spcPts val="0"/>
              </a:spcAft>
            </a:pPr>
            <a:r>
              <a:rPr lang="es-ES" sz="2800" b="0" i="0" dirty="0" err="1">
                <a:solidFill>
                  <a:srgbClr val="333333"/>
                </a:solidFill>
                <a:effectLst/>
                <a:latin typeface="Arial" panose="020B0604020202020204" pitchFamily="34" charset="0"/>
              </a:rPr>
              <a:t>Naïve</a:t>
            </a:r>
            <a:r>
              <a:rPr lang="es-ES" sz="2800" b="0" i="0" dirty="0">
                <a:solidFill>
                  <a:srgbClr val="333333"/>
                </a:solidFill>
                <a:effectLst/>
                <a:latin typeface="Arial" panose="020B0604020202020204" pitchFamily="34" charset="0"/>
              </a:rPr>
              <a:t> Bayes es </a:t>
            </a:r>
            <a:r>
              <a:rPr lang="es-ES" sz="2800" b="0" i="0" dirty="0">
                <a:solidFill>
                  <a:srgbClr val="FF0000"/>
                </a:solidFill>
                <a:effectLst/>
                <a:latin typeface="Arial" panose="020B0604020202020204" pitchFamily="34" charset="0"/>
              </a:rPr>
              <a:t>uno de los clasificadores más utilizados</a:t>
            </a:r>
            <a:r>
              <a:rPr lang="es-ES" sz="2800" b="0" i="0" dirty="0">
                <a:solidFill>
                  <a:srgbClr val="333333"/>
                </a:solidFill>
                <a:effectLst/>
                <a:latin typeface="Arial" panose="020B0604020202020204" pitchFamily="34" charset="0"/>
              </a:rPr>
              <a:t> por su simplicidad y rapidez.</a:t>
            </a:r>
            <a:br>
              <a:rPr lang="es-ES" sz="2800" dirty="0"/>
            </a:br>
            <a:br>
              <a:rPr lang="es-ES" sz="2800" dirty="0"/>
            </a:br>
            <a:r>
              <a:rPr lang="es-ES" sz="2800" b="0" i="0" dirty="0">
                <a:solidFill>
                  <a:srgbClr val="333333"/>
                </a:solidFill>
                <a:effectLst/>
                <a:latin typeface="Arial" panose="020B0604020202020204" pitchFamily="34" charset="0"/>
              </a:rPr>
              <a:t>Se trata de una </a:t>
            </a:r>
            <a:r>
              <a:rPr lang="es-ES" sz="2800" b="0" i="0" dirty="0">
                <a:solidFill>
                  <a:srgbClr val="FF0000"/>
                </a:solidFill>
                <a:effectLst/>
                <a:latin typeface="Arial" panose="020B0604020202020204" pitchFamily="34" charset="0"/>
              </a:rPr>
              <a:t>técnica de clasificación y predicción supervisada </a:t>
            </a:r>
            <a:r>
              <a:rPr lang="es-ES" sz="2800" b="0" i="0" dirty="0">
                <a:solidFill>
                  <a:srgbClr val="333333"/>
                </a:solidFill>
                <a:effectLst/>
                <a:latin typeface="Arial" panose="020B0604020202020204" pitchFamily="34" charset="0"/>
              </a:rPr>
              <a:t>que construye modelos que predicen la probabilidad de posibles resultados. </a:t>
            </a:r>
          </a:p>
          <a:p>
            <a:pPr algn="just" rtl="0" fontAlgn="base">
              <a:spcBef>
                <a:spcPts val="0"/>
              </a:spcBef>
              <a:spcAft>
                <a:spcPts val="0"/>
              </a:spcAft>
            </a:pPr>
            <a:endParaRPr lang="es-ES" sz="2800" dirty="0">
              <a:solidFill>
                <a:srgbClr val="333333"/>
              </a:solidFill>
              <a:latin typeface="Arial" panose="020B0604020202020204" pitchFamily="34" charset="0"/>
            </a:endParaRPr>
          </a:p>
          <a:p>
            <a:pPr algn="just" rtl="0" fontAlgn="base">
              <a:spcBef>
                <a:spcPts val="0"/>
              </a:spcBef>
              <a:spcAft>
                <a:spcPts val="0"/>
              </a:spcAft>
            </a:pPr>
            <a:r>
              <a:rPr lang="es-ES" sz="2800" b="0" i="0" dirty="0">
                <a:solidFill>
                  <a:srgbClr val="333333"/>
                </a:solidFill>
                <a:effectLst/>
                <a:latin typeface="Arial" panose="020B0604020202020204" pitchFamily="34" charset="0"/>
              </a:rPr>
              <a:t>Constituye una técnica supervisada </a:t>
            </a:r>
            <a:r>
              <a:rPr lang="es-ES" sz="2800" b="0" i="0" dirty="0">
                <a:solidFill>
                  <a:srgbClr val="FF0000"/>
                </a:solidFill>
                <a:effectLst/>
                <a:latin typeface="Arial" panose="020B0604020202020204" pitchFamily="34" charset="0"/>
              </a:rPr>
              <a:t>porque necesita tener datos clasificados (etiquetados) para que funcione</a:t>
            </a:r>
            <a:r>
              <a:rPr lang="es-ES" sz="2800" b="0" i="0" dirty="0">
                <a:solidFill>
                  <a:srgbClr val="333333"/>
                </a:solidFill>
                <a:effectLst/>
                <a:latin typeface="Arial" panose="020B0604020202020204" pitchFamily="34" charset="0"/>
              </a:rPr>
              <a:t>.</a:t>
            </a:r>
          </a:p>
          <a:p>
            <a:pPr algn="just" rtl="0" fontAlgn="base">
              <a:spcBef>
                <a:spcPts val="0"/>
              </a:spcBef>
              <a:spcAft>
                <a:spcPts val="0"/>
              </a:spcAft>
            </a:pPr>
            <a:endParaRPr lang="es-ES" sz="2800" dirty="0">
              <a:solidFill>
                <a:srgbClr val="333333"/>
              </a:solidFill>
              <a:latin typeface="Arial" panose="020B0604020202020204" pitchFamily="34" charset="0"/>
            </a:endParaRPr>
          </a:p>
          <a:p>
            <a:pPr algn="just" rtl="0" fontAlgn="base">
              <a:spcBef>
                <a:spcPts val="0"/>
              </a:spcBef>
              <a:spcAft>
                <a:spcPts val="0"/>
              </a:spcAft>
            </a:pPr>
            <a:r>
              <a:rPr lang="es-ES" sz="2800" dirty="0">
                <a:solidFill>
                  <a:srgbClr val="333333"/>
                </a:solidFill>
                <a:latin typeface="Arial" panose="020B0604020202020204" pitchFamily="34" charset="0"/>
              </a:rPr>
              <a:t>El objetivo, es agrupar los datos en una “clase” o, en el fondo, asociarle una etiqueta.</a:t>
            </a:r>
            <a:endParaRPr lang="es-ES" sz="2800" dirty="0"/>
          </a:p>
        </p:txBody>
      </p:sp>
      <p:sp>
        <p:nvSpPr>
          <p:cNvPr id="4" name="CuadroTexto 3">
            <a:extLst>
              <a:ext uri="{FF2B5EF4-FFF2-40B4-BE49-F238E27FC236}">
                <a16:creationId xmlns:a16="http://schemas.microsoft.com/office/drawing/2014/main" id="{A094F14B-8BCE-C581-C602-55E5D82AB25C}"/>
              </a:ext>
            </a:extLst>
          </p:cNvPr>
          <p:cNvSpPr txBox="1"/>
          <p:nvPr/>
        </p:nvSpPr>
        <p:spPr>
          <a:xfrm>
            <a:off x="2355850" y="10321890"/>
            <a:ext cx="7683514" cy="307777"/>
          </a:xfrm>
          <a:prstGeom prst="rect">
            <a:avLst/>
          </a:prstGeom>
          <a:noFill/>
        </p:spPr>
        <p:txBody>
          <a:bodyPr wrap="none" rtlCol="0">
            <a:spAutoFit/>
          </a:bodyPr>
          <a:lstStyle/>
          <a:p>
            <a:r>
              <a:rPr lang="es-CL" sz="1400" dirty="0"/>
              <a:t>Fuente: https://naivebayes.blogspot.com/2013/05/clasificador-naive-bayes-como-funciona.html</a:t>
            </a:r>
          </a:p>
        </p:txBody>
      </p:sp>
      <p:pic>
        <p:nvPicPr>
          <p:cNvPr id="6" name="Imagen 5">
            <a:extLst>
              <a:ext uri="{FF2B5EF4-FFF2-40B4-BE49-F238E27FC236}">
                <a16:creationId xmlns:a16="http://schemas.microsoft.com/office/drawing/2014/main" id="{E7C1ABCA-AF45-834D-C530-E023E67F3100}"/>
              </a:ext>
            </a:extLst>
          </p:cNvPr>
          <p:cNvPicPr>
            <a:picLocks noChangeAspect="1"/>
          </p:cNvPicPr>
          <p:nvPr/>
        </p:nvPicPr>
        <p:blipFill>
          <a:blip r:embed="rId2"/>
          <a:stretch>
            <a:fillRect/>
          </a:stretch>
        </p:blipFill>
        <p:spPr>
          <a:xfrm>
            <a:off x="11271250" y="1844675"/>
            <a:ext cx="8372475" cy="6810375"/>
          </a:xfrm>
          <a:prstGeom prst="rect">
            <a:avLst/>
          </a:prstGeom>
        </p:spPr>
      </p:pic>
    </p:spTree>
    <p:extLst>
      <p:ext uri="{BB962C8B-B14F-4D97-AF65-F5344CB8AC3E}">
        <p14:creationId xmlns:p14="http://schemas.microsoft.com/office/powerpoint/2010/main" val="106781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3108543"/>
          </a:xfrm>
          <a:prstGeom prst="rect">
            <a:avLst/>
          </a:prstGeom>
          <a:noFill/>
        </p:spPr>
        <p:txBody>
          <a:bodyPr wrap="square" rtlCol="0">
            <a:spAutoFit/>
          </a:bodyPr>
          <a:lstStyle/>
          <a:p>
            <a:pPr algn="just" rtl="0" fontAlgn="base">
              <a:spcBef>
                <a:spcPts val="0"/>
              </a:spcBef>
              <a:spcAft>
                <a:spcPts val="0"/>
              </a:spcAft>
            </a:pPr>
            <a:r>
              <a:rPr lang="es-ES" sz="2800" dirty="0"/>
              <a:t>Está basada en el Teorema de Bayes, también conocido como teorema de la probabilidad condicionada. </a:t>
            </a:r>
          </a:p>
          <a:p>
            <a:pPr algn="just" rtl="0" fontAlgn="base">
              <a:spcBef>
                <a:spcPts val="0"/>
              </a:spcBef>
              <a:spcAft>
                <a:spcPts val="0"/>
              </a:spcAft>
            </a:pPr>
            <a:endParaRPr lang="es-ES" sz="2800" dirty="0"/>
          </a:p>
          <a:p>
            <a:pPr algn="just" rtl="0" fontAlgn="base">
              <a:spcBef>
                <a:spcPts val="0"/>
              </a:spcBef>
              <a:spcAft>
                <a:spcPts val="0"/>
              </a:spcAft>
            </a:pPr>
            <a:r>
              <a:rPr lang="es-ES" sz="2800" dirty="0"/>
              <a:t>Veamos un ejemplo antes de expresar sus fórmulas para un mejor entendimiento del mismo:</a:t>
            </a:r>
          </a:p>
          <a:p>
            <a:pPr algn="just" rtl="0" fontAlgn="base">
              <a:spcBef>
                <a:spcPts val="0"/>
              </a:spcBef>
              <a:spcAft>
                <a:spcPts val="0"/>
              </a:spcAft>
            </a:pPr>
            <a:endParaRPr lang="es-ES" sz="2800" dirty="0"/>
          </a:p>
        </p:txBody>
      </p:sp>
      <p:sp>
        <p:nvSpPr>
          <p:cNvPr id="4" name="CuadroTexto 3">
            <a:extLst>
              <a:ext uri="{FF2B5EF4-FFF2-40B4-BE49-F238E27FC236}">
                <a16:creationId xmlns:a16="http://schemas.microsoft.com/office/drawing/2014/main" id="{A094F14B-8BCE-C581-C602-55E5D82AB25C}"/>
              </a:ext>
            </a:extLst>
          </p:cNvPr>
          <p:cNvSpPr txBox="1"/>
          <p:nvPr/>
        </p:nvSpPr>
        <p:spPr>
          <a:xfrm>
            <a:off x="2355850" y="10321890"/>
            <a:ext cx="7683514" cy="307777"/>
          </a:xfrm>
          <a:prstGeom prst="rect">
            <a:avLst/>
          </a:prstGeom>
          <a:noFill/>
        </p:spPr>
        <p:txBody>
          <a:bodyPr wrap="none" rtlCol="0">
            <a:spAutoFit/>
          </a:bodyPr>
          <a:lstStyle/>
          <a:p>
            <a:r>
              <a:rPr lang="es-CL" sz="1400" dirty="0"/>
              <a:t>Fuente: https://naivebayes.blogspot.com/2013/05/clasificador-naive-bayes-como-funciona.html</a:t>
            </a:r>
          </a:p>
        </p:txBody>
      </p:sp>
      <p:sp>
        <p:nvSpPr>
          <p:cNvPr id="7" name="CuadroTexto 6">
            <a:extLst>
              <a:ext uri="{FF2B5EF4-FFF2-40B4-BE49-F238E27FC236}">
                <a16:creationId xmlns:a16="http://schemas.microsoft.com/office/drawing/2014/main" id="{E278C798-13A8-DC34-0A24-7F3A0981FABF}"/>
              </a:ext>
            </a:extLst>
          </p:cNvPr>
          <p:cNvSpPr txBox="1"/>
          <p:nvPr/>
        </p:nvSpPr>
        <p:spPr>
          <a:xfrm>
            <a:off x="10933061" y="2799531"/>
            <a:ext cx="8610600" cy="4585871"/>
          </a:xfrm>
          <a:prstGeom prst="rect">
            <a:avLst/>
          </a:prstGeom>
          <a:noFill/>
        </p:spPr>
        <p:txBody>
          <a:bodyPr wrap="square" rtlCol="0">
            <a:spAutoFit/>
          </a:bodyPr>
          <a:lstStyle/>
          <a:p>
            <a:pPr algn="just" rtl="0" fontAlgn="base">
              <a:spcBef>
                <a:spcPts val="0"/>
              </a:spcBef>
              <a:spcAft>
                <a:spcPts val="0"/>
              </a:spcAft>
            </a:pPr>
            <a:r>
              <a:rPr lang="es-ES" sz="2400" i="1" dirty="0"/>
              <a:t>"Supongamos que un ingeniero está buscando agua en un terreno. A priori, se sabe que la probabilidad de que haya agua en dicha finca es del 60%. No obstante, el ingeniero quiere asegurarse mejor y decide realizar una prueba que permite detectar la presencia o no de agua. Dicha prueba tiene una fiabilidad del 90%, es decir, habiendo agua, la detecta en el 90% de los casos. También, cuando realmente no hay agua, la prueba predice que no hay agua en el 90% de los casos.</a:t>
            </a:r>
          </a:p>
          <a:p>
            <a:pPr algn="just" rtl="0" fontAlgn="base">
              <a:spcBef>
                <a:spcPts val="0"/>
              </a:spcBef>
              <a:spcAft>
                <a:spcPts val="0"/>
              </a:spcAft>
            </a:pPr>
            <a:r>
              <a:rPr lang="es-ES" sz="2400" i="1" dirty="0"/>
              <a:t>Por tanto, pudiendo hacer uso de dicha prueba ¿qué es más probable, que haya agua o que no?"</a:t>
            </a:r>
          </a:p>
          <a:p>
            <a:pPr algn="just" rtl="0" fontAlgn="base">
              <a:spcBef>
                <a:spcPts val="0"/>
              </a:spcBef>
              <a:spcAft>
                <a:spcPts val="0"/>
              </a:spcAft>
            </a:pPr>
            <a:endParaRPr lang="es-ES" sz="2800" dirty="0"/>
          </a:p>
        </p:txBody>
      </p:sp>
    </p:spTree>
    <p:extLst>
      <p:ext uri="{BB962C8B-B14F-4D97-AF65-F5344CB8AC3E}">
        <p14:creationId xmlns:p14="http://schemas.microsoft.com/office/powerpoint/2010/main" val="3372208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4401205"/>
          </a:xfrm>
          <a:prstGeom prst="rect">
            <a:avLst/>
          </a:prstGeom>
          <a:noFill/>
        </p:spPr>
        <p:txBody>
          <a:bodyPr wrap="square" rtlCol="0">
            <a:spAutoFit/>
          </a:bodyPr>
          <a:lstStyle/>
          <a:p>
            <a:pPr algn="just" rtl="0" fontAlgn="base">
              <a:spcBef>
                <a:spcPts val="0"/>
              </a:spcBef>
              <a:spcAft>
                <a:spcPts val="0"/>
              </a:spcAft>
            </a:pPr>
            <a:r>
              <a:rPr lang="es-ES" sz="2800" b="0" i="0" dirty="0">
                <a:solidFill>
                  <a:srgbClr val="333333"/>
                </a:solidFill>
                <a:effectLst/>
                <a:latin typeface="Arial" panose="020B0604020202020204" pitchFamily="34" charset="0"/>
              </a:rPr>
              <a:t>Como vemos, en el enunciado tenemos una probabilidad a priori (60% de que haya agua) que se ve afectada por otra probabilidad (el 90% de acierto de la prueba). </a:t>
            </a:r>
          </a:p>
          <a:p>
            <a:pPr algn="just" rtl="0" fontAlgn="base">
              <a:spcBef>
                <a:spcPts val="0"/>
              </a:spcBef>
              <a:spcAft>
                <a:spcPts val="0"/>
              </a:spcAft>
            </a:pPr>
            <a:endParaRPr lang="es-ES" sz="2800" dirty="0">
              <a:solidFill>
                <a:srgbClr val="333333"/>
              </a:solidFill>
              <a:latin typeface="Arial" panose="020B0604020202020204" pitchFamily="34" charset="0"/>
            </a:endParaRPr>
          </a:p>
          <a:p>
            <a:pPr algn="just" rtl="0" fontAlgn="base">
              <a:spcBef>
                <a:spcPts val="0"/>
              </a:spcBef>
              <a:spcAft>
                <a:spcPts val="0"/>
              </a:spcAft>
            </a:pPr>
            <a:r>
              <a:rPr lang="es-ES" sz="2800" b="0" i="0" dirty="0">
                <a:solidFill>
                  <a:srgbClr val="333333"/>
                </a:solidFill>
                <a:effectLst/>
                <a:latin typeface="Arial" panose="020B0604020202020204" pitchFamily="34" charset="0"/>
              </a:rPr>
              <a:t>Para resolver esta problemática, Thomas Bayes nos dio la solución. La probabilidad de que se dé un suceso (que haya agua) habiendo sucedido otro que influye en el anterior (que la prueba diga que sí hay agua), se define con la siguiente fórmula:</a:t>
            </a:r>
            <a:endParaRPr lang="es-ES" sz="2800" dirty="0"/>
          </a:p>
        </p:txBody>
      </p:sp>
      <p:sp>
        <p:nvSpPr>
          <p:cNvPr id="4" name="CuadroTexto 3">
            <a:extLst>
              <a:ext uri="{FF2B5EF4-FFF2-40B4-BE49-F238E27FC236}">
                <a16:creationId xmlns:a16="http://schemas.microsoft.com/office/drawing/2014/main" id="{A094F14B-8BCE-C581-C602-55E5D82AB25C}"/>
              </a:ext>
            </a:extLst>
          </p:cNvPr>
          <p:cNvSpPr txBox="1"/>
          <p:nvPr/>
        </p:nvSpPr>
        <p:spPr>
          <a:xfrm>
            <a:off x="2355850" y="10321890"/>
            <a:ext cx="7683514" cy="307777"/>
          </a:xfrm>
          <a:prstGeom prst="rect">
            <a:avLst/>
          </a:prstGeom>
          <a:noFill/>
        </p:spPr>
        <p:txBody>
          <a:bodyPr wrap="none" rtlCol="0">
            <a:spAutoFit/>
          </a:bodyPr>
          <a:lstStyle/>
          <a:p>
            <a:r>
              <a:rPr lang="es-CL" sz="1400" dirty="0"/>
              <a:t>Fuente: https://naivebayes.blogspot.com/2013/05/clasificador-naive-bayes-como-funciona.html</a:t>
            </a:r>
          </a:p>
        </p:txBody>
      </p:sp>
      <p:pic>
        <p:nvPicPr>
          <p:cNvPr id="3" name="Imagen 2">
            <a:extLst>
              <a:ext uri="{FF2B5EF4-FFF2-40B4-BE49-F238E27FC236}">
                <a16:creationId xmlns:a16="http://schemas.microsoft.com/office/drawing/2014/main" id="{0F38A53D-35A9-384D-5D8D-7EF215114A97}"/>
              </a:ext>
            </a:extLst>
          </p:cNvPr>
          <p:cNvPicPr>
            <a:picLocks noChangeAspect="1"/>
          </p:cNvPicPr>
          <p:nvPr/>
        </p:nvPicPr>
        <p:blipFill>
          <a:blip r:embed="rId2"/>
          <a:stretch>
            <a:fillRect/>
          </a:stretch>
        </p:blipFill>
        <p:spPr>
          <a:xfrm>
            <a:off x="11957050" y="4283075"/>
            <a:ext cx="6096000" cy="1828800"/>
          </a:xfrm>
          <a:prstGeom prst="rect">
            <a:avLst/>
          </a:prstGeom>
        </p:spPr>
      </p:pic>
    </p:spTree>
    <p:extLst>
      <p:ext uri="{BB962C8B-B14F-4D97-AF65-F5344CB8AC3E}">
        <p14:creationId xmlns:p14="http://schemas.microsoft.com/office/powerpoint/2010/main" val="3413830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6124754"/>
          </a:xfrm>
          <a:prstGeom prst="rect">
            <a:avLst/>
          </a:prstGeom>
          <a:noFill/>
        </p:spPr>
        <p:txBody>
          <a:bodyPr wrap="square" rtlCol="0">
            <a:spAutoFit/>
          </a:bodyPr>
          <a:lstStyle/>
          <a:p>
            <a:pPr algn="just" rtl="0" fontAlgn="base">
              <a:spcBef>
                <a:spcPts val="0"/>
              </a:spcBef>
              <a:spcAft>
                <a:spcPts val="0"/>
              </a:spcAft>
            </a:pPr>
            <a:r>
              <a:rPr lang="es-ES" sz="2800" b="0" i="0" dirty="0">
                <a:solidFill>
                  <a:srgbClr val="333333"/>
                </a:solidFill>
                <a:effectLst/>
                <a:latin typeface="Arial" panose="020B0604020202020204" pitchFamily="34" charset="0"/>
              </a:rPr>
              <a:t>Por tanto, para resolver el problema, por un lado, habría que calcular la probabilidad de que hubiese agua sabiendo que la prueba ha detectado agua (P(</a:t>
            </a:r>
            <a:r>
              <a:rPr lang="es-ES" sz="2800" b="0" i="0" dirty="0" err="1">
                <a:solidFill>
                  <a:srgbClr val="333333"/>
                </a:solidFill>
                <a:effectLst/>
                <a:latin typeface="Arial" panose="020B0604020202020204" pitchFamily="34" charset="0"/>
              </a:rPr>
              <a:t>Agua|Prueba</a:t>
            </a:r>
            <a:r>
              <a:rPr lang="es-ES" sz="2800" b="0" i="0" dirty="0">
                <a:solidFill>
                  <a:srgbClr val="333333"/>
                </a:solidFill>
                <a:effectLst/>
                <a:latin typeface="Arial" panose="020B0604020202020204" pitchFamily="34" charset="0"/>
              </a:rPr>
              <a:t>+)); </a:t>
            </a:r>
          </a:p>
          <a:p>
            <a:pPr algn="just" rtl="0" fontAlgn="base">
              <a:spcBef>
                <a:spcPts val="0"/>
              </a:spcBef>
              <a:spcAft>
                <a:spcPts val="0"/>
              </a:spcAft>
            </a:pPr>
            <a:endParaRPr lang="es-ES" sz="2800" dirty="0">
              <a:solidFill>
                <a:srgbClr val="333333"/>
              </a:solidFill>
              <a:latin typeface="Arial" panose="020B0604020202020204" pitchFamily="34" charset="0"/>
            </a:endParaRPr>
          </a:p>
          <a:p>
            <a:pPr algn="just" rtl="0" fontAlgn="base">
              <a:spcBef>
                <a:spcPts val="0"/>
              </a:spcBef>
              <a:spcAft>
                <a:spcPts val="0"/>
              </a:spcAft>
            </a:pPr>
            <a:r>
              <a:rPr lang="es-ES" sz="2800" b="0" i="0" dirty="0">
                <a:solidFill>
                  <a:srgbClr val="333333"/>
                </a:solidFill>
                <a:effectLst/>
                <a:latin typeface="Arial" panose="020B0604020202020204" pitchFamily="34" charset="0"/>
              </a:rPr>
              <a:t>y por otro lado, debemos calcular la probabilidad de que no hubiese agua sabiendo que la prueba no ha detectado agua (P(</a:t>
            </a:r>
            <a:r>
              <a:rPr lang="es-ES" sz="2800" b="0" i="0" dirty="0" err="1">
                <a:solidFill>
                  <a:srgbClr val="333333"/>
                </a:solidFill>
                <a:effectLst/>
                <a:latin typeface="Arial" panose="020B0604020202020204" pitchFamily="34" charset="0"/>
              </a:rPr>
              <a:t>NoAgua|Prueba</a:t>
            </a:r>
            <a:r>
              <a:rPr lang="es-ES" sz="2800" b="0" i="0" dirty="0">
                <a:solidFill>
                  <a:srgbClr val="333333"/>
                </a:solidFill>
                <a:effectLst/>
                <a:latin typeface="Arial" panose="020B0604020202020204" pitchFamily="34" charset="0"/>
              </a:rPr>
              <a:t>-)).</a:t>
            </a:r>
          </a:p>
          <a:p>
            <a:pPr algn="just" rtl="0" fontAlgn="base">
              <a:spcBef>
                <a:spcPts val="0"/>
              </a:spcBef>
              <a:spcAft>
                <a:spcPts val="0"/>
              </a:spcAft>
            </a:pPr>
            <a:br>
              <a:rPr lang="es-ES" sz="2800" dirty="0"/>
            </a:br>
            <a:r>
              <a:rPr lang="es-ES" sz="2800" b="0" i="0" dirty="0">
                <a:solidFill>
                  <a:srgbClr val="333333"/>
                </a:solidFill>
                <a:effectLst/>
                <a:latin typeface="Arial" panose="020B0604020202020204" pitchFamily="34" charset="0"/>
              </a:rPr>
              <a:t>También se debe tener en cuenta que la probabilidad de que la prueba salga positiva, es la suma de las probabilidades de todos los casos posibles donde pueda salir la prueba positiva. Se debe hacer igual con P(Prueba-):</a:t>
            </a:r>
            <a:endParaRPr lang="es-ES" sz="2800" dirty="0"/>
          </a:p>
        </p:txBody>
      </p:sp>
      <p:sp>
        <p:nvSpPr>
          <p:cNvPr id="4" name="CuadroTexto 3">
            <a:extLst>
              <a:ext uri="{FF2B5EF4-FFF2-40B4-BE49-F238E27FC236}">
                <a16:creationId xmlns:a16="http://schemas.microsoft.com/office/drawing/2014/main" id="{A094F14B-8BCE-C581-C602-55E5D82AB25C}"/>
              </a:ext>
            </a:extLst>
          </p:cNvPr>
          <p:cNvSpPr txBox="1"/>
          <p:nvPr/>
        </p:nvSpPr>
        <p:spPr>
          <a:xfrm>
            <a:off x="2355850" y="10321890"/>
            <a:ext cx="7683514" cy="307777"/>
          </a:xfrm>
          <a:prstGeom prst="rect">
            <a:avLst/>
          </a:prstGeom>
          <a:noFill/>
        </p:spPr>
        <p:txBody>
          <a:bodyPr wrap="none" rtlCol="0">
            <a:spAutoFit/>
          </a:bodyPr>
          <a:lstStyle/>
          <a:p>
            <a:r>
              <a:rPr lang="es-CL" sz="1400" dirty="0"/>
              <a:t>Fuente: https://naivebayes.blogspot.com/2013/05/clasificador-naive-bayes-como-funciona.html</a:t>
            </a:r>
          </a:p>
        </p:txBody>
      </p:sp>
      <p:pic>
        <p:nvPicPr>
          <p:cNvPr id="7" name="Imagen 6">
            <a:extLst>
              <a:ext uri="{FF2B5EF4-FFF2-40B4-BE49-F238E27FC236}">
                <a16:creationId xmlns:a16="http://schemas.microsoft.com/office/drawing/2014/main" id="{B62CD5DC-7702-AA87-E85A-F9D25C2933B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11042650" y="4359275"/>
            <a:ext cx="8636000" cy="2590800"/>
          </a:xfrm>
          <a:prstGeom prst="rect">
            <a:avLst/>
          </a:prstGeom>
        </p:spPr>
      </p:pic>
    </p:spTree>
    <p:extLst>
      <p:ext uri="{BB962C8B-B14F-4D97-AF65-F5344CB8AC3E}">
        <p14:creationId xmlns:p14="http://schemas.microsoft.com/office/powerpoint/2010/main" val="253201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3970318"/>
          </a:xfrm>
          <a:prstGeom prst="rect">
            <a:avLst/>
          </a:prstGeom>
          <a:noFill/>
        </p:spPr>
        <p:txBody>
          <a:bodyPr wrap="square" rtlCol="0">
            <a:spAutoFit/>
          </a:bodyPr>
          <a:lstStyle/>
          <a:p>
            <a:pPr algn="just" rtl="0" fontAlgn="base">
              <a:spcBef>
                <a:spcPts val="0"/>
              </a:spcBef>
              <a:spcAft>
                <a:spcPts val="0"/>
              </a:spcAft>
            </a:pPr>
            <a:r>
              <a:rPr lang="es-ES" sz="2800" b="0" i="0" dirty="0">
                <a:solidFill>
                  <a:srgbClr val="333333"/>
                </a:solidFill>
                <a:effectLst/>
                <a:latin typeface="Arial" panose="020B0604020202020204" pitchFamily="34" charset="0"/>
              </a:rPr>
              <a:t>Debemos </a:t>
            </a:r>
            <a:r>
              <a:rPr lang="es-ES" sz="2800" b="0" i="0" dirty="0" err="1">
                <a:solidFill>
                  <a:srgbClr val="333333"/>
                </a:solidFill>
                <a:effectLst/>
                <a:latin typeface="Arial" panose="020B0604020202020204" pitchFamily="34" charset="0"/>
              </a:rPr>
              <a:t>quedarmos</a:t>
            </a:r>
            <a:r>
              <a:rPr lang="es-ES" sz="2800" b="0" i="0" dirty="0">
                <a:solidFill>
                  <a:srgbClr val="333333"/>
                </a:solidFill>
                <a:effectLst/>
                <a:latin typeface="Arial" panose="020B0604020202020204" pitchFamily="34" charset="0"/>
              </a:rPr>
              <a:t> con el resultado que refleje más probabilidad. </a:t>
            </a:r>
          </a:p>
          <a:p>
            <a:pPr algn="just" rtl="0" fontAlgn="base">
              <a:spcBef>
                <a:spcPts val="0"/>
              </a:spcBef>
              <a:spcAft>
                <a:spcPts val="0"/>
              </a:spcAft>
            </a:pPr>
            <a:endParaRPr lang="es-ES" sz="2800" dirty="0">
              <a:solidFill>
                <a:srgbClr val="333333"/>
              </a:solidFill>
              <a:latin typeface="Arial" panose="020B0604020202020204" pitchFamily="34" charset="0"/>
            </a:endParaRPr>
          </a:p>
          <a:p>
            <a:pPr algn="just" rtl="0" fontAlgn="base">
              <a:spcBef>
                <a:spcPts val="0"/>
              </a:spcBef>
              <a:spcAft>
                <a:spcPts val="0"/>
              </a:spcAft>
            </a:pPr>
            <a:r>
              <a:rPr lang="es-ES" sz="2800" b="0" i="0" dirty="0">
                <a:solidFill>
                  <a:srgbClr val="333333"/>
                </a:solidFill>
                <a:effectLst/>
                <a:latin typeface="Arial" panose="020B0604020202020204" pitchFamily="34" charset="0"/>
              </a:rPr>
              <a:t>En este caso, es más probable que haya agua.</a:t>
            </a:r>
          </a:p>
          <a:p>
            <a:pPr algn="just" rtl="0" fontAlgn="base">
              <a:spcBef>
                <a:spcPts val="0"/>
              </a:spcBef>
              <a:spcAft>
                <a:spcPts val="0"/>
              </a:spcAft>
            </a:pPr>
            <a:br>
              <a:rPr lang="es-ES" sz="2800" dirty="0"/>
            </a:br>
            <a:r>
              <a:rPr lang="es-ES" sz="2800" b="0" i="0" dirty="0">
                <a:solidFill>
                  <a:srgbClr val="333333"/>
                </a:solidFill>
                <a:effectLst/>
                <a:latin typeface="Arial" panose="020B0604020202020204" pitchFamily="34" charset="0"/>
              </a:rPr>
              <a:t>Nota: P(Prueba+|Agua)=0,9, como se dice en el enunciado. Es decir, en los casos que se ha visto que finalmente había agua, la prueba ha acertado en el 90% de esos casos</a:t>
            </a:r>
            <a:endParaRPr lang="es-ES" sz="2800" dirty="0"/>
          </a:p>
        </p:txBody>
      </p:sp>
      <p:sp>
        <p:nvSpPr>
          <p:cNvPr id="4" name="CuadroTexto 3">
            <a:extLst>
              <a:ext uri="{FF2B5EF4-FFF2-40B4-BE49-F238E27FC236}">
                <a16:creationId xmlns:a16="http://schemas.microsoft.com/office/drawing/2014/main" id="{A094F14B-8BCE-C581-C602-55E5D82AB25C}"/>
              </a:ext>
            </a:extLst>
          </p:cNvPr>
          <p:cNvSpPr txBox="1"/>
          <p:nvPr/>
        </p:nvSpPr>
        <p:spPr>
          <a:xfrm>
            <a:off x="2355850" y="10321890"/>
            <a:ext cx="7683514" cy="307777"/>
          </a:xfrm>
          <a:prstGeom prst="rect">
            <a:avLst/>
          </a:prstGeom>
          <a:noFill/>
        </p:spPr>
        <p:txBody>
          <a:bodyPr wrap="none" rtlCol="0">
            <a:spAutoFit/>
          </a:bodyPr>
          <a:lstStyle/>
          <a:p>
            <a:r>
              <a:rPr lang="es-CL" sz="1400" dirty="0"/>
              <a:t>Fuente: https://naivebayes.blogspot.com/2013/05/clasificador-naive-bayes-como-funciona.html</a:t>
            </a:r>
          </a:p>
        </p:txBody>
      </p:sp>
    </p:spTree>
    <p:extLst>
      <p:ext uri="{BB962C8B-B14F-4D97-AF65-F5344CB8AC3E}">
        <p14:creationId xmlns:p14="http://schemas.microsoft.com/office/powerpoint/2010/main" val="192393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err="1"/>
              <a:t>Naive</a:t>
            </a:r>
            <a:r>
              <a:rPr lang="es-CL" dirty="0"/>
              <a:t> Bayes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6555641"/>
          </a:xfrm>
          <a:prstGeom prst="rect">
            <a:avLst/>
          </a:prstGeom>
          <a:noFill/>
        </p:spPr>
        <p:txBody>
          <a:bodyPr wrap="square" rtlCol="0">
            <a:spAutoFit/>
          </a:bodyPr>
          <a:lstStyle/>
          <a:p>
            <a:pPr algn="just" rtl="0">
              <a:spcBef>
                <a:spcPts val="0"/>
              </a:spcBef>
              <a:spcAft>
                <a:spcPts val="0"/>
              </a:spcAft>
            </a:pPr>
            <a:r>
              <a:rPr lang="es-ES" sz="2800" dirty="0"/>
              <a:t>Los nombres Gaussian y </a:t>
            </a:r>
            <a:r>
              <a:rPr lang="es-ES" sz="2800" dirty="0" err="1"/>
              <a:t>Naive</a:t>
            </a:r>
            <a:r>
              <a:rPr lang="es-ES" sz="2800" dirty="0"/>
              <a:t> (ingenuo) del algoritmo vienen de dos supuestos:</a:t>
            </a:r>
          </a:p>
          <a:p>
            <a:pPr algn="just" rtl="0" fontAlgn="base">
              <a:spcBef>
                <a:spcPts val="0"/>
              </a:spcBef>
              <a:spcAft>
                <a:spcPts val="0"/>
              </a:spcAft>
            </a:pPr>
            <a:br>
              <a:rPr lang="es-ES" sz="2800" dirty="0"/>
            </a:br>
            <a:r>
              <a:rPr lang="es-ES" sz="2800" dirty="0"/>
              <a:t>Asumimos que las características de ingresos, ahorros e hijos </a:t>
            </a:r>
            <a:r>
              <a:rPr lang="es-ES" sz="2800" dirty="0">
                <a:solidFill>
                  <a:srgbClr val="FF0000"/>
                </a:solidFill>
              </a:rPr>
              <a:t>no están correlacionadas entre ellas</a:t>
            </a:r>
            <a:r>
              <a:rPr lang="es-ES" sz="2800" dirty="0"/>
              <a:t>. Esto sería que los ingresos sean independientes a la cantidad de hijos y de los ahorros. Como no es siempre cierto y </a:t>
            </a:r>
            <a:r>
              <a:rPr lang="es-ES" sz="2800" dirty="0">
                <a:solidFill>
                  <a:srgbClr val="FF0000"/>
                </a:solidFill>
              </a:rPr>
              <a:t>es una suposición ingenua</a:t>
            </a:r>
            <a:r>
              <a:rPr lang="es-ES" sz="2800" dirty="0"/>
              <a:t>, es que aparece en el nombre “</a:t>
            </a:r>
            <a:r>
              <a:rPr lang="es-ES" sz="2800" dirty="0" err="1"/>
              <a:t>naive</a:t>
            </a:r>
            <a:r>
              <a:rPr lang="es-ES" sz="2800" dirty="0"/>
              <a:t> bayes”.</a:t>
            </a:r>
          </a:p>
          <a:p>
            <a:pPr algn="just"/>
            <a:br>
              <a:rPr lang="es-ES" sz="2800" dirty="0"/>
            </a:br>
            <a:r>
              <a:rPr lang="es-ES" sz="2800" dirty="0"/>
              <a:t>Asumimos que el valor de las características (ingresos, hijos, etc.) </a:t>
            </a:r>
            <a:r>
              <a:rPr lang="es-ES" sz="2800" dirty="0">
                <a:solidFill>
                  <a:srgbClr val="FF0000"/>
                </a:solidFill>
              </a:rPr>
              <a:t>tendrá una distribución normal </a:t>
            </a:r>
            <a:r>
              <a:rPr lang="es-ES" sz="2800" dirty="0"/>
              <a:t>(gaussiana). Esto nos permite calcular cada parte p(</a:t>
            </a:r>
            <a:r>
              <a:rPr lang="es-ES" sz="2800" dirty="0" err="1"/>
              <a:t>ingresos|comprar</a:t>
            </a:r>
            <a:r>
              <a:rPr lang="es-ES" sz="2800" dirty="0"/>
              <a:t>) usando la </a:t>
            </a:r>
            <a:r>
              <a:rPr lang="es-ES" sz="2800" dirty="0">
                <a:solidFill>
                  <a:srgbClr val="FF0000"/>
                </a:solidFill>
              </a:rPr>
              <a:t>función de probabilidad de densidad normal</a:t>
            </a:r>
            <a:r>
              <a:rPr lang="es-ES" sz="2800" dirty="0"/>
              <a:t>.</a:t>
            </a:r>
          </a:p>
        </p:txBody>
      </p:sp>
      <p:pic>
        <p:nvPicPr>
          <p:cNvPr id="3" name="Imagen 2">
            <a:extLst>
              <a:ext uri="{FF2B5EF4-FFF2-40B4-BE49-F238E27FC236}">
                <a16:creationId xmlns:a16="http://schemas.microsoft.com/office/drawing/2014/main" id="{FE29FED9-2E96-3626-3A48-82A80218B179}"/>
              </a:ext>
            </a:extLst>
          </p:cNvPr>
          <p:cNvPicPr>
            <a:picLocks noChangeAspect="1"/>
          </p:cNvPicPr>
          <p:nvPr/>
        </p:nvPicPr>
        <p:blipFill>
          <a:blip r:embed="rId2"/>
          <a:stretch>
            <a:fillRect/>
          </a:stretch>
        </p:blipFill>
        <p:spPr>
          <a:xfrm>
            <a:off x="11736608" y="2759075"/>
            <a:ext cx="7721600" cy="5791200"/>
          </a:xfrm>
          <a:prstGeom prst="rect">
            <a:avLst/>
          </a:prstGeom>
        </p:spPr>
      </p:pic>
    </p:spTree>
    <p:extLst>
      <p:ext uri="{BB962C8B-B14F-4D97-AF65-F5344CB8AC3E}">
        <p14:creationId xmlns:p14="http://schemas.microsoft.com/office/powerpoint/2010/main" val="3417826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3416320"/>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métodos bayesianos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Teorema de Bayes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Aplicar </a:t>
            </a:r>
            <a:r>
              <a:rPr lang="es-ES" sz="2800" dirty="0" err="1">
                <a:latin typeface="Arial" panose="020B0604020202020204" pitchFamily="34" charset="0"/>
                <a:cs typeface="Arial" panose="020B0604020202020204" pitchFamily="34" charset="0"/>
              </a:rPr>
              <a:t>Naive</a:t>
            </a:r>
            <a:r>
              <a:rPr lang="es-ES" sz="2800" dirty="0">
                <a:latin typeface="Arial" panose="020B0604020202020204" pitchFamily="34" charset="0"/>
                <a:cs typeface="Arial" panose="020B0604020202020204" pitchFamily="34" charset="0"/>
              </a:rPr>
              <a:t> Bayes</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2.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3.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4649</TotalTime>
  <Words>1408</Words>
  <Application>Microsoft Office PowerPoint</Application>
  <PresentationFormat>Personalizado</PresentationFormat>
  <Paragraphs>107</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Arial Black</vt:lpstr>
      <vt:lpstr>Calibri</vt:lpstr>
      <vt:lpstr>Wingdings</vt:lpstr>
      <vt:lpstr>Office Theme</vt:lpstr>
      <vt:lpstr>MODELOS  BAYESIANOS</vt:lpstr>
      <vt:lpstr>Presentación de PowerPoint</vt:lpstr>
      <vt:lpstr>INTRODUCCIÓN</vt:lpstr>
      <vt:lpstr>INTRODUCCIÓN</vt:lpstr>
      <vt:lpstr>INTRODUCCIÓN</vt:lpstr>
      <vt:lpstr>INTRODUCCIÓN</vt:lpstr>
      <vt:lpstr>TÍTULO</vt:lpstr>
      <vt:lpstr>Presentación de PowerPoint</vt:lpstr>
      <vt:lpstr>Presentación de PowerPoint</vt:lpstr>
      <vt:lpstr>Presentación de PowerPoint</vt:lpstr>
      <vt:lpstr>NAIVES BAYES</vt:lpstr>
      <vt:lpstr>Naive Bayes</vt:lpstr>
      <vt:lpstr>Naive Bayes</vt:lpstr>
      <vt:lpstr>Naive Bayes</vt:lpstr>
      <vt:lpstr>Naive Bayes</vt:lpstr>
      <vt:lpstr>Naive Bayes</vt:lpstr>
      <vt:lpstr>Naive Bayes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guillermo pinto</cp:lastModifiedBy>
  <cp:revision>252</cp:revision>
  <dcterms:created xsi:type="dcterms:W3CDTF">2022-07-20T19:15:37Z</dcterms:created>
  <dcterms:modified xsi:type="dcterms:W3CDTF">2023-11-26T23:31:25Z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