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3"/>
  </p:notesMasterIdLst>
  <p:sldIdLst>
    <p:sldId id="261" r:id="rId5"/>
    <p:sldId id="337" r:id="rId6"/>
    <p:sldId id="344" r:id="rId7"/>
    <p:sldId id="339" r:id="rId8"/>
    <p:sldId id="345" r:id="rId9"/>
    <p:sldId id="270" r:id="rId10"/>
    <p:sldId id="340" r:id="rId11"/>
    <p:sldId id="353" r:id="rId12"/>
    <p:sldId id="354" r:id="rId13"/>
    <p:sldId id="355" r:id="rId14"/>
    <p:sldId id="356" r:id="rId15"/>
    <p:sldId id="357" r:id="rId16"/>
    <p:sldId id="327" r:id="rId17"/>
    <p:sldId id="341" r:id="rId18"/>
    <p:sldId id="358" r:id="rId19"/>
    <p:sldId id="359" r:id="rId20"/>
    <p:sldId id="332" r:id="rId21"/>
    <p:sldId id="342" r:id="rId22"/>
  </p:sldIdLst>
  <p:sldSz cx="20104100" cy="11309350"/>
  <p:notesSz cx="20104100" cy="113093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7CE1"/>
    <a:srgbClr val="C2D501"/>
    <a:srgbClr val="DB0532"/>
    <a:srgbClr val="B14EC4"/>
    <a:srgbClr val="FF595A"/>
    <a:srgbClr val="D39F17"/>
    <a:srgbClr val="58C0E9"/>
    <a:srgbClr val="DC0031"/>
    <a:srgbClr val="EF7821"/>
    <a:srgbClr val="C4D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42" autoAdjust="0"/>
    <p:restoredTop sz="94558"/>
  </p:normalViewPr>
  <p:slideViewPr>
    <p:cSldViewPr>
      <p:cViewPr varScale="1">
        <p:scale>
          <a:sx n="62" d="100"/>
          <a:sy n="62" d="100"/>
        </p:scale>
        <p:origin x="546"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sabel Nuñez" userId="ac8a58aecdf78c99" providerId="LiveId" clId="{F0834511-4203-4F43-B203-BA12DC03C281}"/>
    <pc:docChg chg="modSld">
      <pc:chgData name="Isabel Nuñez" userId="ac8a58aecdf78c99" providerId="LiveId" clId="{F0834511-4203-4F43-B203-BA12DC03C281}" dt="2023-11-30T13:49:39.211" v="13" actId="20577"/>
      <pc:docMkLst>
        <pc:docMk/>
      </pc:docMkLst>
      <pc:sldChg chg="modSp mod">
        <pc:chgData name="Isabel Nuñez" userId="ac8a58aecdf78c99" providerId="LiveId" clId="{F0834511-4203-4F43-B203-BA12DC03C281}" dt="2023-11-30T13:49:39.211" v="13" actId="20577"/>
        <pc:sldMkLst>
          <pc:docMk/>
          <pc:sldMk cId="3056958803" sldId="342"/>
        </pc:sldMkLst>
        <pc:spChg chg="mod">
          <ac:chgData name="Isabel Nuñez" userId="ac8a58aecdf78c99" providerId="LiveId" clId="{F0834511-4203-4F43-B203-BA12DC03C281}" dt="2023-11-30T13:49:39.211" v="13" actId="20577"/>
          <ac:spMkLst>
            <pc:docMk/>
            <pc:sldMk cId="3056958803" sldId="342"/>
            <ac:spMk id="3" creationId="{D27F119F-996A-54C1-08D8-A05CBD0E145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54D35674-3C19-9844-8370-EE59E1CD260A}" type="datetimeFigureOut">
              <a:rPr lang="es-CL" smtClean="0"/>
              <a:t>30-11-2023</a:t>
            </a:fld>
            <a:endParaRPr lang="es-CL"/>
          </a:p>
        </p:txBody>
      </p:sp>
      <p:sp>
        <p:nvSpPr>
          <p:cNvPr id="4" name="Marcador de imagen de diapositiva 3"/>
          <p:cNvSpPr>
            <a:spLocks noGrp="1" noRot="1" noChangeAspect="1"/>
          </p:cNvSpPr>
          <p:nvPr>
            <p:ph type="sldImg" idx="2"/>
          </p:nvPr>
        </p:nvSpPr>
        <p:spPr>
          <a:xfrm>
            <a:off x="6659563" y="1414463"/>
            <a:ext cx="6784975" cy="381635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r>
              <a:rPr lang="es-ES"/>
              <a:t>Editar los estilos de texto del patrón
Segundo nivel
Tercer nivel
Cuarto nivel
Quinto nivel</a:t>
            </a:r>
            <a:endParaRPr lang="es-CL"/>
          </a:p>
        </p:txBody>
      </p:sp>
      <p:sp>
        <p:nvSpPr>
          <p:cNvPr id="6" name="Marcador de pie de página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35C2C890-E6DE-1A45-98C6-E722FA6368DA}" type="slidenum">
              <a:rPr lang="es-CL" smtClean="0"/>
              <a:t>‹Nº›</a:t>
            </a:fld>
            <a:endParaRPr lang="es-CL"/>
          </a:p>
        </p:txBody>
      </p:sp>
    </p:spTree>
    <p:extLst>
      <p:ext uri="{BB962C8B-B14F-4D97-AF65-F5344CB8AC3E}">
        <p14:creationId xmlns:p14="http://schemas.microsoft.com/office/powerpoint/2010/main" val="2341394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9F4E23B3-D17D-BBDA-CF94-0F577C2DCCC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sp>
        <p:nvSpPr>
          <p:cNvPr id="2" name="Holder 2"/>
          <p:cNvSpPr>
            <a:spLocks noGrp="1"/>
          </p:cNvSpPr>
          <p:nvPr>
            <p:ph type="ctrTitle"/>
          </p:nvPr>
        </p:nvSpPr>
        <p:spPr>
          <a:xfrm>
            <a:off x="2838209" y="8700548"/>
            <a:ext cx="6781800" cy="584775"/>
          </a:xfrm>
          <a:prstGeom prst="rect">
            <a:avLst/>
          </a:prstGeom>
        </p:spPr>
        <p:txBody>
          <a:bodyPr wrap="square" lIns="0" tIns="0" rIns="0" bIns="0">
            <a:spAutoFit/>
          </a:bodyPr>
          <a:lstStyle>
            <a:lvl1pPr>
              <a:defRPr sz="3800">
                <a:solidFill>
                  <a:schemeClr val="bg1"/>
                </a:solidFill>
              </a:defRPr>
            </a:lvl1pPr>
          </a:lstStyle>
          <a:p>
            <a:endParaRPr dirty="0"/>
          </a:p>
        </p:txBody>
      </p:sp>
      <p:sp>
        <p:nvSpPr>
          <p:cNvPr id="3" name="Holder 3"/>
          <p:cNvSpPr>
            <a:spLocks noGrp="1"/>
          </p:cNvSpPr>
          <p:nvPr>
            <p:ph type="subTitle" idx="4"/>
          </p:nvPr>
        </p:nvSpPr>
        <p:spPr>
          <a:xfrm>
            <a:off x="2838209" y="9612314"/>
            <a:ext cx="8712681" cy="369332"/>
          </a:xfrm>
          <a:prstGeom prst="rect">
            <a:avLst/>
          </a:prstGeom>
        </p:spPr>
        <p:txBody>
          <a:bodyPr wrap="square" lIns="0" tIns="0" rIns="0" bIns="0">
            <a:spAutoFit/>
          </a:bodyPr>
          <a:lstStyle>
            <a:lvl1pPr>
              <a:defRPr sz="2400">
                <a:solidFill>
                  <a:schemeClr val="bg1"/>
                </a:solidFill>
                <a:latin typeface="Arial" panose="020B0604020202020204" pitchFamily="34" charset="0"/>
                <a:cs typeface="Arial" panose="020B0604020202020204" pitchFamily="34" charset="0"/>
              </a:defRPr>
            </a:lvl1pPr>
          </a:lstStyle>
          <a:p>
            <a:endParaRPr dirty="0"/>
          </a:p>
        </p:txBody>
      </p:sp>
      <p:sp>
        <p:nvSpPr>
          <p:cNvPr id="14" name="object 10">
            <a:extLst>
              <a:ext uri="{FF2B5EF4-FFF2-40B4-BE49-F238E27FC236}">
                <a16:creationId xmlns:a16="http://schemas.microsoft.com/office/drawing/2014/main" id="{60E109FA-AB96-844B-8998-73B547E74E45}"/>
              </a:ext>
            </a:extLst>
          </p:cNvPr>
          <p:cNvSpPr/>
          <p:nvPr userDrawn="1"/>
        </p:nvSpPr>
        <p:spPr>
          <a:xfrm>
            <a:off x="2838209" y="9464675"/>
            <a:ext cx="8841105" cy="0"/>
          </a:xfrm>
          <a:custGeom>
            <a:avLst/>
            <a:gdLst/>
            <a:ahLst/>
            <a:cxnLst/>
            <a:rect l="l" t="t" r="r" b="b"/>
            <a:pathLst>
              <a:path w="8841105">
                <a:moveTo>
                  <a:pt x="0" y="0"/>
                </a:moveTo>
                <a:lnTo>
                  <a:pt x="8840652" y="0"/>
                </a:lnTo>
              </a:path>
            </a:pathLst>
          </a:custGeom>
          <a:ln w="10470">
            <a:solidFill>
              <a:schemeClr val="bg1"/>
            </a:solidFill>
          </a:ln>
        </p:spPr>
        <p:txBody>
          <a:bodyPr wrap="square" lIns="0" tIns="0" rIns="0" bIns="0" rtlCol="0"/>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Diseño personalizado">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71AAB55C-247D-ECE0-5655-F1E1F2AF1A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3340"/>
            <a:ext cx="20110047" cy="11306010"/>
          </a:xfrm>
          <a:prstGeom prst="rect">
            <a:avLst/>
          </a:prstGeom>
        </p:spPr>
      </p:pic>
      <p:sp>
        <p:nvSpPr>
          <p:cNvPr id="10" name="Título 1">
            <a:extLst>
              <a:ext uri="{FF2B5EF4-FFF2-40B4-BE49-F238E27FC236}">
                <a16:creationId xmlns:a16="http://schemas.microsoft.com/office/drawing/2014/main" id="{2F0E50CD-FEFD-B21C-4BE3-4F2AA3739A6A}"/>
              </a:ext>
            </a:extLst>
          </p:cNvPr>
          <p:cNvSpPr>
            <a:spLocks noGrp="1"/>
          </p:cNvSpPr>
          <p:nvPr>
            <p:ph type="title"/>
          </p:nvPr>
        </p:nvSpPr>
        <p:spPr>
          <a:xfrm>
            <a:off x="831850" y="7178675"/>
            <a:ext cx="9782022" cy="1538883"/>
          </a:xfrm>
        </p:spPr>
        <p:txBody>
          <a:bodyPr/>
          <a:lstStyle>
            <a:lvl1pPr algn="r">
              <a:defRPr sz="5000"/>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774612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121D21F6-64EA-9F7E-F1FC-89374B30965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10" name="Título 1">
            <a:extLst>
              <a:ext uri="{FF2B5EF4-FFF2-40B4-BE49-F238E27FC236}">
                <a16:creationId xmlns:a16="http://schemas.microsoft.com/office/drawing/2014/main" id="{994F59E7-28C4-825A-1194-67522AF99C22}"/>
              </a:ext>
            </a:extLst>
          </p:cNvPr>
          <p:cNvSpPr>
            <a:spLocks noGrp="1"/>
          </p:cNvSpPr>
          <p:nvPr>
            <p:ph type="title"/>
          </p:nvPr>
        </p:nvSpPr>
        <p:spPr>
          <a:xfrm>
            <a:off x="6851650" y="7483475"/>
            <a:ext cx="9782022" cy="1538883"/>
          </a:xfrm>
        </p:spPr>
        <p:txBody>
          <a:bodyPr/>
          <a:lstStyle>
            <a:lvl1pPr algn="l">
              <a:defRPr sz="5000"/>
            </a:lvl1pPr>
          </a:lstStyle>
          <a:p>
            <a:r>
              <a:rPr lang="es-ES" dirty="0"/>
              <a:t>Haga clic para modificar el estilo de título del patrón</a:t>
            </a:r>
            <a:endParaRPr lang="es-CL"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Diseño personalizado">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87451F99-8CB8-50AA-1CC0-54512CBB6F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9" name="Título 1">
            <a:extLst>
              <a:ext uri="{FF2B5EF4-FFF2-40B4-BE49-F238E27FC236}">
                <a16:creationId xmlns:a16="http://schemas.microsoft.com/office/drawing/2014/main" id="{2C83ACDF-F359-C1DD-3AF9-368B761AA8DB}"/>
              </a:ext>
            </a:extLst>
          </p:cNvPr>
          <p:cNvSpPr>
            <a:spLocks noGrp="1"/>
          </p:cNvSpPr>
          <p:nvPr>
            <p:ph type="title"/>
          </p:nvPr>
        </p:nvSpPr>
        <p:spPr>
          <a:xfrm>
            <a:off x="6623050" y="7026275"/>
            <a:ext cx="9782022" cy="1538883"/>
          </a:xfrm>
        </p:spPr>
        <p:txBody>
          <a:bodyPr/>
          <a:lstStyle>
            <a:lvl1pPr algn="l">
              <a:defRPr sz="5000"/>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2343363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2F738965-FD99-AFAE-3CAA-5CEAF99952B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11" name="Título 1">
            <a:extLst>
              <a:ext uri="{FF2B5EF4-FFF2-40B4-BE49-F238E27FC236}">
                <a16:creationId xmlns:a16="http://schemas.microsoft.com/office/drawing/2014/main" id="{4AB59064-93F0-56FE-006F-C58F84A825C5}"/>
              </a:ext>
            </a:extLst>
          </p:cNvPr>
          <p:cNvSpPr>
            <a:spLocks noGrp="1"/>
          </p:cNvSpPr>
          <p:nvPr>
            <p:ph type="title"/>
          </p:nvPr>
        </p:nvSpPr>
        <p:spPr>
          <a:xfrm>
            <a:off x="4794250" y="6950075"/>
            <a:ext cx="9782022" cy="1538883"/>
          </a:xfrm>
        </p:spPr>
        <p:txBody>
          <a:bodyPr/>
          <a:lstStyle>
            <a:lvl1pPr algn="r">
              <a:defRPr sz="5000"/>
            </a:lvl1pPr>
          </a:lstStyle>
          <a:p>
            <a:r>
              <a:rPr lang="es-ES" dirty="0"/>
              <a:t>Haga clic para modificar el estilo de título del patrón</a:t>
            </a:r>
            <a:endParaRPr lang="es-CL"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Diseño personalizado">
    <p:spTree>
      <p:nvGrpSpPr>
        <p:cNvPr id="1" name=""/>
        <p:cNvGrpSpPr/>
        <p:nvPr/>
      </p:nvGrpSpPr>
      <p:grpSpPr>
        <a:xfrm>
          <a:off x="0" y="0"/>
          <a:ext cx="0" cy="0"/>
          <a:chOff x="0" y="0"/>
          <a:chExt cx="0" cy="0"/>
        </a:xfrm>
      </p:grpSpPr>
      <p:pic>
        <p:nvPicPr>
          <p:cNvPr id="22" name="Imagen 21">
            <a:extLst>
              <a:ext uri="{FF2B5EF4-FFF2-40B4-BE49-F238E27FC236}">
                <a16:creationId xmlns:a16="http://schemas.microsoft.com/office/drawing/2014/main" id="{3973E67C-611D-F88A-80C1-185A9B8D413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8" name="Imagen 27">
            <a:extLst>
              <a:ext uri="{FF2B5EF4-FFF2-40B4-BE49-F238E27FC236}">
                <a16:creationId xmlns:a16="http://schemas.microsoft.com/office/drawing/2014/main" id="{3E466965-0C09-5FCB-13FD-111D1D2AD25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29" name="Rectángulo 28">
            <a:extLst>
              <a:ext uri="{FF2B5EF4-FFF2-40B4-BE49-F238E27FC236}">
                <a16:creationId xmlns:a16="http://schemas.microsoft.com/office/drawing/2014/main" id="{98C6A4D7-FDE0-20C5-1EB3-30217CE5E1DC}"/>
              </a:ext>
            </a:extLst>
          </p:cNvPr>
          <p:cNvSpPr/>
          <p:nvPr userDrawn="1"/>
        </p:nvSpPr>
        <p:spPr>
          <a:xfrm>
            <a:off x="4413250" y="4206875"/>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30" name="Título 1">
            <a:extLst>
              <a:ext uri="{FF2B5EF4-FFF2-40B4-BE49-F238E27FC236}">
                <a16:creationId xmlns:a16="http://schemas.microsoft.com/office/drawing/2014/main" id="{EE9CC866-5882-3C12-E5D7-404765C18C0C}"/>
              </a:ext>
            </a:extLst>
          </p:cNvPr>
          <p:cNvSpPr>
            <a:spLocks noGrp="1"/>
          </p:cNvSpPr>
          <p:nvPr>
            <p:ph type="title"/>
          </p:nvPr>
        </p:nvSpPr>
        <p:spPr>
          <a:xfrm>
            <a:off x="4842028" y="4534001"/>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038586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Diseño personalizado">
    <p:spTree>
      <p:nvGrpSpPr>
        <p:cNvPr id="1" name=""/>
        <p:cNvGrpSpPr/>
        <p:nvPr/>
      </p:nvGrpSpPr>
      <p:grpSpPr>
        <a:xfrm>
          <a:off x="0" y="0"/>
          <a:ext cx="0" cy="0"/>
          <a:chOff x="0" y="0"/>
          <a:chExt cx="0" cy="0"/>
        </a:xfrm>
      </p:grpSpPr>
      <p:pic>
        <p:nvPicPr>
          <p:cNvPr id="21" name="Imagen 20">
            <a:extLst>
              <a:ext uri="{FF2B5EF4-FFF2-40B4-BE49-F238E27FC236}">
                <a16:creationId xmlns:a16="http://schemas.microsoft.com/office/drawing/2014/main" id="{FADFFD87-E732-F006-B065-62B946429B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3" name="Imagen 22">
            <a:extLst>
              <a:ext uri="{FF2B5EF4-FFF2-40B4-BE49-F238E27FC236}">
                <a16:creationId xmlns:a16="http://schemas.microsoft.com/office/drawing/2014/main" id="{5FB62982-E03B-E5B0-2921-4742F850F5A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24" name="Rectángulo 23">
            <a:extLst>
              <a:ext uri="{FF2B5EF4-FFF2-40B4-BE49-F238E27FC236}">
                <a16:creationId xmlns:a16="http://schemas.microsoft.com/office/drawing/2014/main" id="{FA473640-6785-830B-E009-5E08A060B6B1}"/>
              </a:ext>
            </a:extLst>
          </p:cNvPr>
          <p:cNvSpPr/>
          <p:nvPr userDrawn="1"/>
        </p:nvSpPr>
        <p:spPr>
          <a:xfrm>
            <a:off x="7232650" y="7880350"/>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25" name="Título 1">
            <a:extLst>
              <a:ext uri="{FF2B5EF4-FFF2-40B4-BE49-F238E27FC236}">
                <a16:creationId xmlns:a16="http://schemas.microsoft.com/office/drawing/2014/main" id="{B55FBF2B-6203-81C7-B7DD-070ABE20B4BB}"/>
              </a:ext>
            </a:extLst>
          </p:cNvPr>
          <p:cNvSpPr>
            <a:spLocks noGrp="1"/>
          </p:cNvSpPr>
          <p:nvPr>
            <p:ph type="title"/>
          </p:nvPr>
        </p:nvSpPr>
        <p:spPr>
          <a:xfrm>
            <a:off x="7661428" y="8207476"/>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711097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438F75-3EE0-1345-84D2-95B57EB1A45B}"/>
              </a:ext>
            </a:extLst>
          </p:cNvPr>
          <p:cNvSpPr>
            <a:spLocks noGrp="1"/>
          </p:cNvSpPr>
          <p:nvPr>
            <p:ph type="title"/>
          </p:nvPr>
        </p:nvSpPr>
        <p:spPr>
          <a:xfrm>
            <a:off x="2432050" y="714594"/>
            <a:ext cx="16988263" cy="738664"/>
          </a:xfrm>
        </p:spPr>
        <p:txBody>
          <a:bodyPr/>
          <a:lstStyle>
            <a:lvl1pPr>
              <a:defRPr sz="4800"/>
            </a:lvl1pPr>
          </a:lstStyle>
          <a:p>
            <a:r>
              <a:rPr lang="es-ES" dirty="0"/>
              <a:t>Haga clic para modificar el estilo de título del patrón</a:t>
            </a:r>
            <a:endParaRPr lang="es-CL" dirty="0"/>
          </a:p>
        </p:txBody>
      </p:sp>
      <p:sp>
        <p:nvSpPr>
          <p:cNvPr id="6" name="object 7">
            <a:extLst>
              <a:ext uri="{FF2B5EF4-FFF2-40B4-BE49-F238E27FC236}">
                <a16:creationId xmlns:a16="http://schemas.microsoft.com/office/drawing/2014/main" id="{14BF04F1-8F4E-3E46-A3B2-80F47EADF391}"/>
              </a:ext>
            </a:extLst>
          </p:cNvPr>
          <p:cNvSpPr/>
          <p:nvPr userDrawn="1"/>
        </p:nvSpPr>
        <p:spPr>
          <a:xfrm>
            <a:off x="-6350" y="656116"/>
            <a:ext cx="2243455" cy="1060450"/>
          </a:xfrm>
          <a:custGeom>
            <a:avLst/>
            <a:gdLst/>
            <a:ahLst/>
            <a:cxnLst/>
            <a:rect l="l" t="t" r="r" b="b"/>
            <a:pathLst>
              <a:path w="2243455" h="1060450">
                <a:moveTo>
                  <a:pt x="2243429" y="0"/>
                </a:moveTo>
                <a:lnTo>
                  <a:pt x="0" y="0"/>
                </a:lnTo>
                <a:lnTo>
                  <a:pt x="0" y="1059999"/>
                </a:lnTo>
                <a:lnTo>
                  <a:pt x="2243429" y="1059999"/>
                </a:lnTo>
                <a:lnTo>
                  <a:pt x="2243429" y="0"/>
                </a:lnTo>
                <a:close/>
              </a:path>
            </a:pathLst>
          </a:custGeom>
          <a:solidFill>
            <a:srgbClr val="257CE1"/>
          </a:solidFill>
        </p:spPr>
        <p:txBody>
          <a:bodyPr wrap="square" lIns="0" tIns="0" rIns="0" bIns="0" rtlCol="0"/>
          <a:lstStyle/>
          <a:p>
            <a:endParaRPr/>
          </a:p>
        </p:txBody>
      </p:sp>
      <p:sp>
        <p:nvSpPr>
          <p:cNvPr id="7" name="object 3">
            <a:extLst>
              <a:ext uri="{FF2B5EF4-FFF2-40B4-BE49-F238E27FC236}">
                <a16:creationId xmlns:a16="http://schemas.microsoft.com/office/drawing/2014/main" id="{7932DF43-D838-5B47-A92B-B88C568B4A19}"/>
              </a:ext>
            </a:extLst>
          </p:cNvPr>
          <p:cNvSpPr/>
          <p:nvPr userDrawn="1"/>
        </p:nvSpPr>
        <p:spPr>
          <a:xfrm>
            <a:off x="16938421" y="10202309"/>
            <a:ext cx="1576070" cy="511175"/>
          </a:xfrm>
          <a:custGeom>
            <a:avLst/>
            <a:gdLst/>
            <a:ahLst/>
            <a:cxnLst/>
            <a:rect l="l" t="t" r="r" b="b"/>
            <a:pathLst>
              <a:path w="1576069" h="511175">
                <a:moveTo>
                  <a:pt x="441172" y="241312"/>
                </a:moveTo>
                <a:lnTo>
                  <a:pt x="435267" y="179641"/>
                </a:lnTo>
                <a:lnTo>
                  <a:pt x="418414" y="127673"/>
                </a:lnTo>
                <a:lnTo>
                  <a:pt x="392747" y="86601"/>
                </a:lnTo>
                <a:lnTo>
                  <a:pt x="391845" y="85153"/>
                </a:lnTo>
                <a:lnTo>
                  <a:pt x="356819" y="51803"/>
                </a:lnTo>
                <a:lnTo>
                  <a:pt x="322008" y="30734"/>
                </a:lnTo>
                <a:lnTo>
                  <a:pt x="322008" y="245008"/>
                </a:lnTo>
                <a:lnTo>
                  <a:pt x="316534" y="299389"/>
                </a:lnTo>
                <a:lnTo>
                  <a:pt x="300723"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07" y="89408"/>
                </a:lnTo>
                <a:lnTo>
                  <a:pt x="132499" y="87985"/>
                </a:lnTo>
                <a:lnTo>
                  <a:pt x="146659" y="86982"/>
                </a:lnTo>
                <a:lnTo>
                  <a:pt x="163588" y="86601"/>
                </a:lnTo>
                <a:lnTo>
                  <a:pt x="209257" y="90881"/>
                </a:lnTo>
                <a:lnTo>
                  <a:pt x="248094" y="103809"/>
                </a:lnTo>
                <a:lnTo>
                  <a:pt x="279438"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59" y="484936"/>
                </a:lnTo>
                <a:lnTo>
                  <a:pt x="324205" y="466864"/>
                </a:lnTo>
                <a:lnTo>
                  <a:pt x="359016" y="443407"/>
                </a:lnTo>
                <a:lnTo>
                  <a:pt x="382054" y="419722"/>
                </a:lnTo>
                <a:lnTo>
                  <a:pt x="385749" y="415925"/>
                </a:lnTo>
                <a:lnTo>
                  <a:pt x="408393" y="382181"/>
                </a:lnTo>
                <a:lnTo>
                  <a:pt x="425894" y="341972"/>
                </a:lnTo>
                <a:lnTo>
                  <a:pt x="437172" y="295097"/>
                </a:lnTo>
                <a:lnTo>
                  <a:pt x="441172" y="241312"/>
                </a:lnTo>
                <a:close/>
              </a:path>
              <a:path w="1576069" h="511175">
                <a:moveTo>
                  <a:pt x="827582" y="502602"/>
                </a:moveTo>
                <a:lnTo>
                  <a:pt x="826490" y="478307"/>
                </a:lnTo>
                <a:lnTo>
                  <a:pt x="825538" y="450888"/>
                </a:lnTo>
                <a:lnTo>
                  <a:pt x="824865" y="420268"/>
                </a:lnTo>
                <a:lnTo>
                  <a:pt x="824611" y="386397"/>
                </a:lnTo>
                <a:lnTo>
                  <a:pt x="824611" y="140639"/>
                </a:lnTo>
                <a:lnTo>
                  <a:pt x="712089" y="140639"/>
                </a:lnTo>
                <a:lnTo>
                  <a:pt x="712089" y="365671"/>
                </a:lnTo>
                <a:lnTo>
                  <a:pt x="710628"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w="1576069" h="511175">
                <a:moveTo>
                  <a:pt x="1244155" y="318274"/>
                </a:moveTo>
                <a:lnTo>
                  <a:pt x="1238161" y="266484"/>
                </a:lnTo>
                <a:lnTo>
                  <a:pt x="1220876" y="221424"/>
                </a:lnTo>
                <a:lnTo>
                  <a:pt x="1193355" y="184315"/>
                </a:lnTo>
                <a:lnTo>
                  <a:pt x="1156639"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39" y="399072"/>
                </a:lnTo>
                <a:lnTo>
                  <a:pt x="986155" y="364807"/>
                </a:lnTo>
                <a:lnTo>
                  <a:pt x="981367" y="322008"/>
                </a:lnTo>
                <a:lnTo>
                  <a:pt x="985443" y="282206"/>
                </a:lnTo>
                <a:lnTo>
                  <a:pt x="998397" y="247332"/>
                </a:lnTo>
                <a:lnTo>
                  <a:pt x="1021346" y="222580"/>
                </a:lnTo>
                <a:lnTo>
                  <a:pt x="1055395" y="213169"/>
                </a:lnTo>
                <a:lnTo>
                  <a:pt x="1088174" y="222580"/>
                </a:lnTo>
                <a:lnTo>
                  <a:pt x="1110437"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395" y="199644"/>
                </a:lnTo>
                <a:lnTo>
                  <a:pt x="883894" y="235051"/>
                </a:lnTo>
                <a:lnTo>
                  <a:pt x="870508" y="276745"/>
                </a:lnTo>
                <a:lnTo>
                  <a:pt x="865911" y="324192"/>
                </a:lnTo>
                <a:lnTo>
                  <a:pt x="872426" y="378625"/>
                </a:lnTo>
                <a:lnTo>
                  <a:pt x="890930" y="424548"/>
                </a:lnTo>
                <a:lnTo>
                  <a:pt x="919835" y="461340"/>
                </a:lnTo>
                <a:lnTo>
                  <a:pt x="957567" y="488378"/>
                </a:lnTo>
                <a:lnTo>
                  <a:pt x="1002538" y="505066"/>
                </a:lnTo>
                <a:lnTo>
                  <a:pt x="1053160" y="510755"/>
                </a:lnTo>
                <a:lnTo>
                  <a:pt x="1053896" y="510755"/>
                </a:lnTo>
                <a:lnTo>
                  <a:pt x="1094740" y="507009"/>
                </a:lnTo>
                <a:lnTo>
                  <a:pt x="1133703" y="495655"/>
                </a:lnTo>
                <a:lnTo>
                  <a:pt x="1169187" y="476491"/>
                </a:lnTo>
                <a:lnTo>
                  <a:pt x="1199578" y="449364"/>
                </a:lnTo>
                <a:lnTo>
                  <a:pt x="1223276" y="414070"/>
                </a:lnTo>
                <a:lnTo>
                  <a:pt x="1238669" y="370433"/>
                </a:lnTo>
                <a:lnTo>
                  <a:pt x="1244155" y="318274"/>
                </a:lnTo>
                <a:close/>
              </a:path>
              <a:path w="1576069" h="511175">
                <a:moveTo>
                  <a:pt x="1575854" y="146558"/>
                </a:moveTo>
                <a:lnTo>
                  <a:pt x="1556600" y="140614"/>
                </a:lnTo>
                <a:lnTo>
                  <a:pt x="1535125" y="136194"/>
                </a:lnTo>
                <a:lnTo>
                  <a:pt x="1512544" y="133451"/>
                </a:lnTo>
                <a:lnTo>
                  <a:pt x="1489964" y="132499"/>
                </a:lnTo>
                <a:lnTo>
                  <a:pt x="1436065"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82"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p:spPr>
        <p:txBody>
          <a:bodyPr wrap="square" lIns="0" tIns="0" rIns="0" bIns="0" rtlCol="0"/>
          <a:lstStyle/>
          <a:p>
            <a:endParaRPr/>
          </a:p>
        </p:txBody>
      </p:sp>
      <p:sp>
        <p:nvSpPr>
          <p:cNvPr id="8" name="object 4">
            <a:extLst>
              <a:ext uri="{FF2B5EF4-FFF2-40B4-BE49-F238E27FC236}">
                <a16:creationId xmlns:a16="http://schemas.microsoft.com/office/drawing/2014/main" id="{9DEB8F4A-6C01-284B-B123-A27D152597CD}"/>
              </a:ext>
            </a:extLst>
          </p:cNvPr>
          <p:cNvSpPr/>
          <p:nvPr userDrawn="1"/>
        </p:nvSpPr>
        <p:spPr>
          <a:xfrm>
            <a:off x="18623540" y="10245307"/>
            <a:ext cx="378460" cy="469900"/>
          </a:xfrm>
          <a:custGeom>
            <a:avLst/>
            <a:gdLst/>
            <a:ahLst/>
            <a:cxnLst/>
            <a:rect l="l" t="t" r="r" b="b"/>
            <a:pathLst>
              <a:path w="378459" h="469900">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p:spPr>
        <p:txBody>
          <a:bodyPr wrap="square" lIns="0" tIns="0" rIns="0" bIns="0" rtlCol="0"/>
          <a:lstStyle/>
          <a:p>
            <a:endParaRPr/>
          </a:p>
        </p:txBody>
      </p:sp>
      <p:grpSp>
        <p:nvGrpSpPr>
          <p:cNvPr id="9" name="object 5">
            <a:extLst>
              <a:ext uri="{FF2B5EF4-FFF2-40B4-BE49-F238E27FC236}">
                <a16:creationId xmlns:a16="http://schemas.microsoft.com/office/drawing/2014/main" id="{50440F77-9AF6-2142-A93F-4B5F6DDBD871}"/>
              </a:ext>
            </a:extLst>
          </p:cNvPr>
          <p:cNvGrpSpPr/>
          <p:nvPr userDrawn="1"/>
        </p:nvGrpSpPr>
        <p:grpSpPr>
          <a:xfrm>
            <a:off x="19053919" y="10117702"/>
            <a:ext cx="427355" cy="597535"/>
            <a:chOff x="19053919" y="10117702"/>
            <a:chExt cx="427355" cy="597535"/>
          </a:xfrm>
        </p:grpSpPr>
        <p:sp>
          <p:nvSpPr>
            <p:cNvPr id="10" name="object 6">
              <a:extLst>
                <a:ext uri="{FF2B5EF4-FFF2-40B4-BE49-F238E27FC236}">
                  <a16:creationId xmlns:a16="http://schemas.microsoft.com/office/drawing/2014/main" id="{B5FF8718-DC05-C046-A01E-6155D9ABE0D5}"/>
                </a:ext>
              </a:extLst>
            </p:cNvPr>
            <p:cNvSpPr/>
            <p:nvPr/>
          </p:nvSpPr>
          <p:spPr>
            <a:xfrm>
              <a:off x="19053919" y="10237764"/>
              <a:ext cx="366395" cy="477520"/>
            </a:xfrm>
            <a:custGeom>
              <a:avLst/>
              <a:gdLst/>
              <a:ahLst/>
              <a:cxnLst/>
              <a:rect l="l" t="t" r="r" b="b"/>
              <a:pathLst>
                <a:path w="366394" h="477520">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p:spPr>
          <p:txBody>
            <a:bodyPr wrap="square" lIns="0" tIns="0" rIns="0" bIns="0" rtlCol="0"/>
            <a:lstStyle/>
            <a:p>
              <a:endParaRPr/>
            </a:p>
          </p:txBody>
        </p:sp>
        <p:pic>
          <p:nvPicPr>
            <p:cNvPr id="11" name="object 7">
              <a:extLst>
                <a:ext uri="{FF2B5EF4-FFF2-40B4-BE49-F238E27FC236}">
                  <a16:creationId xmlns:a16="http://schemas.microsoft.com/office/drawing/2014/main" id="{680319A8-C88C-E845-B967-74CD5DD4CA96}"/>
                </a:ext>
              </a:extLst>
            </p:cNvPr>
            <p:cNvPicPr/>
            <p:nvPr/>
          </p:nvPicPr>
          <p:blipFill>
            <a:blip r:embed="rId2" cstate="email">
              <a:extLst>
                <a:ext uri="{28A0092B-C50C-407E-A947-70E740481C1C}">
                  <a14:useLocalDpi xmlns:a14="http://schemas.microsoft.com/office/drawing/2010/main"/>
                </a:ext>
              </a:extLst>
            </a:blip>
            <a:stretch>
              <a:fillRect/>
            </a:stretch>
          </p:blipFill>
          <p:spPr>
            <a:xfrm>
              <a:off x="19368634" y="10117702"/>
              <a:ext cx="112300" cy="112268"/>
            </a:xfrm>
            <a:prstGeom prst="rect">
              <a:avLst/>
            </a:prstGeom>
          </p:spPr>
        </p:pic>
      </p:grpSp>
    </p:spTree>
    <p:extLst>
      <p:ext uri="{BB962C8B-B14F-4D97-AF65-F5344CB8AC3E}">
        <p14:creationId xmlns:p14="http://schemas.microsoft.com/office/powerpoint/2010/main" val="2391385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1" name="object 2">
            <a:extLst>
              <a:ext uri="{FF2B5EF4-FFF2-40B4-BE49-F238E27FC236}">
                <a16:creationId xmlns:a16="http://schemas.microsoft.com/office/drawing/2014/main" id="{248CA032-B7CF-AC47-80C3-3DC0FECADE87}"/>
              </a:ext>
            </a:extLst>
          </p:cNvPr>
          <p:cNvSpPr/>
          <p:nvPr userDrawn="1"/>
        </p:nvSpPr>
        <p:spPr>
          <a:xfrm>
            <a:off x="727227" y="10202309"/>
            <a:ext cx="1576070" cy="511175"/>
          </a:xfrm>
          <a:custGeom>
            <a:avLst/>
            <a:gdLst/>
            <a:ahLst/>
            <a:cxnLst/>
            <a:rect l="l" t="t" r="r" b="b"/>
            <a:pathLst>
              <a:path w="1576070" h="511175">
                <a:moveTo>
                  <a:pt x="441172" y="241312"/>
                </a:moveTo>
                <a:lnTo>
                  <a:pt x="435267" y="179641"/>
                </a:lnTo>
                <a:lnTo>
                  <a:pt x="418414" y="127673"/>
                </a:lnTo>
                <a:lnTo>
                  <a:pt x="392747" y="86601"/>
                </a:lnTo>
                <a:lnTo>
                  <a:pt x="391845" y="85153"/>
                </a:lnTo>
                <a:lnTo>
                  <a:pt x="356819" y="51803"/>
                </a:lnTo>
                <a:lnTo>
                  <a:pt x="322008" y="30734"/>
                </a:lnTo>
                <a:lnTo>
                  <a:pt x="322008" y="245008"/>
                </a:lnTo>
                <a:lnTo>
                  <a:pt x="316547" y="299389"/>
                </a:lnTo>
                <a:lnTo>
                  <a:pt x="300736"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19" y="89408"/>
                </a:lnTo>
                <a:lnTo>
                  <a:pt x="132499" y="87985"/>
                </a:lnTo>
                <a:lnTo>
                  <a:pt x="146659" y="86982"/>
                </a:lnTo>
                <a:lnTo>
                  <a:pt x="163601" y="86601"/>
                </a:lnTo>
                <a:lnTo>
                  <a:pt x="209257" y="90881"/>
                </a:lnTo>
                <a:lnTo>
                  <a:pt x="248094" y="103809"/>
                </a:lnTo>
                <a:lnTo>
                  <a:pt x="279450"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71" y="484936"/>
                </a:lnTo>
                <a:lnTo>
                  <a:pt x="324205" y="466864"/>
                </a:lnTo>
                <a:lnTo>
                  <a:pt x="359029" y="443407"/>
                </a:lnTo>
                <a:lnTo>
                  <a:pt x="382054" y="419722"/>
                </a:lnTo>
                <a:lnTo>
                  <a:pt x="385749" y="415925"/>
                </a:lnTo>
                <a:lnTo>
                  <a:pt x="408393" y="382181"/>
                </a:lnTo>
                <a:lnTo>
                  <a:pt x="425894" y="341972"/>
                </a:lnTo>
                <a:lnTo>
                  <a:pt x="437172" y="295097"/>
                </a:lnTo>
                <a:lnTo>
                  <a:pt x="441172" y="241312"/>
                </a:lnTo>
                <a:close/>
              </a:path>
              <a:path w="1576070" h="511175">
                <a:moveTo>
                  <a:pt x="827582" y="502602"/>
                </a:moveTo>
                <a:lnTo>
                  <a:pt x="826503" y="478307"/>
                </a:lnTo>
                <a:lnTo>
                  <a:pt x="825550" y="450888"/>
                </a:lnTo>
                <a:lnTo>
                  <a:pt x="824865" y="420268"/>
                </a:lnTo>
                <a:lnTo>
                  <a:pt x="824611" y="386397"/>
                </a:lnTo>
                <a:lnTo>
                  <a:pt x="824611" y="140639"/>
                </a:lnTo>
                <a:lnTo>
                  <a:pt x="712089" y="140639"/>
                </a:lnTo>
                <a:lnTo>
                  <a:pt x="712089" y="365671"/>
                </a:lnTo>
                <a:lnTo>
                  <a:pt x="710641"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w="1576070" h="511175">
                <a:moveTo>
                  <a:pt x="1244155" y="318274"/>
                </a:moveTo>
                <a:lnTo>
                  <a:pt x="1238161" y="266484"/>
                </a:lnTo>
                <a:lnTo>
                  <a:pt x="1220889" y="221424"/>
                </a:lnTo>
                <a:lnTo>
                  <a:pt x="1193355" y="184315"/>
                </a:lnTo>
                <a:lnTo>
                  <a:pt x="1156652"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52" y="399072"/>
                </a:lnTo>
                <a:lnTo>
                  <a:pt x="986155" y="364807"/>
                </a:lnTo>
                <a:lnTo>
                  <a:pt x="981367" y="322008"/>
                </a:lnTo>
                <a:lnTo>
                  <a:pt x="985443" y="282206"/>
                </a:lnTo>
                <a:lnTo>
                  <a:pt x="998397" y="247332"/>
                </a:lnTo>
                <a:lnTo>
                  <a:pt x="1021359" y="222580"/>
                </a:lnTo>
                <a:lnTo>
                  <a:pt x="1055395" y="213169"/>
                </a:lnTo>
                <a:lnTo>
                  <a:pt x="1088174" y="222580"/>
                </a:lnTo>
                <a:lnTo>
                  <a:pt x="1110449"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408" y="199644"/>
                </a:lnTo>
                <a:lnTo>
                  <a:pt x="883894" y="235051"/>
                </a:lnTo>
                <a:lnTo>
                  <a:pt x="870508" y="276745"/>
                </a:lnTo>
                <a:lnTo>
                  <a:pt x="865911" y="324192"/>
                </a:lnTo>
                <a:lnTo>
                  <a:pt x="872426" y="378625"/>
                </a:lnTo>
                <a:lnTo>
                  <a:pt x="890930" y="424548"/>
                </a:lnTo>
                <a:lnTo>
                  <a:pt x="919848" y="461340"/>
                </a:lnTo>
                <a:lnTo>
                  <a:pt x="957580" y="488378"/>
                </a:lnTo>
                <a:lnTo>
                  <a:pt x="1002538" y="505066"/>
                </a:lnTo>
                <a:lnTo>
                  <a:pt x="1053160" y="510755"/>
                </a:lnTo>
                <a:lnTo>
                  <a:pt x="1053909" y="510755"/>
                </a:lnTo>
                <a:lnTo>
                  <a:pt x="1094740" y="507009"/>
                </a:lnTo>
                <a:lnTo>
                  <a:pt x="1133703" y="495655"/>
                </a:lnTo>
                <a:lnTo>
                  <a:pt x="1169187" y="476491"/>
                </a:lnTo>
                <a:lnTo>
                  <a:pt x="1199578" y="449364"/>
                </a:lnTo>
                <a:lnTo>
                  <a:pt x="1223276" y="414070"/>
                </a:lnTo>
                <a:lnTo>
                  <a:pt x="1238669" y="370433"/>
                </a:lnTo>
                <a:lnTo>
                  <a:pt x="1244155" y="318274"/>
                </a:lnTo>
                <a:close/>
              </a:path>
              <a:path w="1576070" h="511175">
                <a:moveTo>
                  <a:pt x="1575854" y="146558"/>
                </a:moveTo>
                <a:lnTo>
                  <a:pt x="1556600" y="140614"/>
                </a:lnTo>
                <a:lnTo>
                  <a:pt x="1535125" y="136194"/>
                </a:lnTo>
                <a:lnTo>
                  <a:pt x="1512557" y="133451"/>
                </a:lnTo>
                <a:lnTo>
                  <a:pt x="1489964" y="132499"/>
                </a:lnTo>
                <a:lnTo>
                  <a:pt x="1436077"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94"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p:spPr>
        <p:txBody>
          <a:bodyPr wrap="square" lIns="0" tIns="0" rIns="0" bIns="0" rtlCol="0"/>
          <a:lstStyle/>
          <a:p>
            <a:endParaRPr/>
          </a:p>
        </p:txBody>
      </p:sp>
      <p:sp>
        <p:nvSpPr>
          <p:cNvPr id="12" name="object 3">
            <a:extLst>
              <a:ext uri="{FF2B5EF4-FFF2-40B4-BE49-F238E27FC236}">
                <a16:creationId xmlns:a16="http://schemas.microsoft.com/office/drawing/2014/main" id="{AB72D184-1BCC-8E4D-AB97-E7C9B55D20C7}"/>
              </a:ext>
            </a:extLst>
          </p:cNvPr>
          <p:cNvSpPr/>
          <p:nvPr userDrawn="1"/>
        </p:nvSpPr>
        <p:spPr>
          <a:xfrm>
            <a:off x="2412348" y="10245307"/>
            <a:ext cx="378460" cy="469900"/>
          </a:xfrm>
          <a:custGeom>
            <a:avLst/>
            <a:gdLst/>
            <a:ahLst/>
            <a:cxnLst/>
            <a:rect l="l" t="t" r="r" b="b"/>
            <a:pathLst>
              <a:path w="378460" h="469900">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p:spPr>
        <p:txBody>
          <a:bodyPr wrap="square" lIns="0" tIns="0" rIns="0" bIns="0" rtlCol="0"/>
          <a:lstStyle/>
          <a:p>
            <a:endParaRPr/>
          </a:p>
        </p:txBody>
      </p:sp>
      <p:grpSp>
        <p:nvGrpSpPr>
          <p:cNvPr id="13" name="object 4">
            <a:extLst>
              <a:ext uri="{FF2B5EF4-FFF2-40B4-BE49-F238E27FC236}">
                <a16:creationId xmlns:a16="http://schemas.microsoft.com/office/drawing/2014/main" id="{A2800012-DA06-CF45-A47A-D4B30EA37B75}"/>
              </a:ext>
            </a:extLst>
          </p:cNvPr>
          <p:cNvGrpSpPr/>
          <p:nvPr userDrawn="1"/>
        </p:nvGrpSpPr>
        <p:grpSpPr>
          <a:xfrm>
            <a:off x="2842727" y="10117702"/>
            <a:ext cx="427355" cy="597535"/>
            <a:chOff x="2842727" y="10117702"/>
            <a:chExt cx="427355" cy="597535"/>
          </a:xfrm>
        </p:grpSpPr>
        <p:sp>
          <p:nvSpPr>
            <p:cNvPr id="14" name="object 5">
              <a:extLst>
                <a:ext uri="{FF2B5EF4-FFF2-40B4-BE49-F238E27FC236}">
                  <a16:creationId xmlns:a16="http://schemas.microsoft.com/office/drawing/2014/main" id="{039AC548-D805-B546-AF98-3B421C054969}"/>
                </a:ext>
              </a:extLst>
            </p:cNvPr>
            <p:cNvSpPr/>
            <p:nvPr/>
          </p:nvSpPr>
          <p:spPr>
            <a:xfrm>
              <a:off x="2842727" y="10237764"/>
              <a:ext cx="366395" cy="477520"/>
            </a:xfrm>
            <a:custGeom>
              <a:avLst/>
              <a:gdLst/>
              <a:ahLst/>
              <a:cxnLst/>
              <a:rect l="l" t="t" r="r" b="b"/>
              <a:pathLst>
                <a:path w="366394" h="477520">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p:spPr>
          <p:txBody>
            <a:bodyPr wrap="square" lIns="0" tIns="0" rIns="0" bIns="0" rtlCol="0"/>
            <a:lstStyle/>
            <a:p>
              <a:endParaRPr/>
            </a:p>
          </p:txBody>
        </p:sp>
        <p:pic>
          <p:nvPicPr>
            <p:cNvPr id="15" name="object 6">
              <a:extLst>
                <a:ext uri="{FF2B5EF4-FFF2-40B4-BE49-F238E27FC236}">
                  <a16:creationId xmlns:a16="http://schemas.microsoft.com/office/drawing/2014/main" id="{DAA5A1C9-3FFD-F741-93B2-F1CDA55129CC}"/>
                </a:ext>
              </a:extLst>
            </p:cNvPr>
            <p:cNvPicPr/>
            <p:nvPr/>
          </p:nvPicPr>
          <p:blipFill>
            <a:blip r:embed="rId2" cstate="email">
              <a:extLst>
                <a:ext uri="{28A0092B-C50C-407E-A947-70E740481C1C}">
                  <a14:useLocalDpi xmlns:a14="http://schemas.microsoft.com/office/drawing/2010/main"/>
                </a:ext>
              </a:extLst>
            </a:blip>
            <a:stretch>
              <a:fillRect/>
            </a:stretch>
          </p:blipFill>
          <p:spPr>
            <a:xfrm>
              <a:off x="3157442" y="10117702"/>
              <a:ext cx="112300" cy="112268"/>
            </a:xfrm>
            <a:prstGeom prst="rect">
              <a:avLst/>
            </a:prstGeom>
          </p:spPr>
        </p:pic>
      </p:grpSp>
      <p:sp>
        <p:nvSpPr>
          <p:cNvPr id="16" name="object 7">
            <a:extLst>
              <a:ext uri="{FF2B5EF4-FFF2-40B4-BE49-F238E27FC236}">
                <a16:creationId xmlns:a16="http://schemas.microsoft.com/office/drawing/2014/main" id="{2AF2BE2F-4D9A-CF4D-AF78-BAD6CC1B2837}"/>
              </a:ext>
            </a:extLst>
          </p:cNvPr>
          <p:cNvSpPr/>
          <p:nvPr userDrawn="1"/>
        </p:nvSpPr>
        <p:spPr>
          <a:xfrm>
            <a:off x="17840597" y="656116"/>
            <a:ext cx="2243455" cy="1060450"/>
          </a:xfrm>
          <a:custGeom>
            <a:avLst/>
            <a:gdLst/>
            <a:ahLst/>
            <a:cxnLst/>
            <a:rect l="l" t="t" r="r" b="b"/>
            <a:pathLst>
              <a:path w="2243455" h="1060450">
                <a:moveTo>
                  <a:pt x="2243429" y="0"/>
                </a:moveTo>
                <a:lnTo>
                  <a:pt x="0" y="0"/>
                </a:lnTo>
                <a:lnTo>
                  <a:pt x="0" y="1059999"/>
                </a:lnTo>
                <a:lnTo>
                  <a:pt x="2243429" y="1059999"/>
                </a:lnTo>
                <a:lnTo>
                  <a:pt x="2243429" y="0"/>
                </a:lnTo>
                <a:close/>
              </a:path>
            </a:pathLst>
          </a:custGeom>
          <a:solidFill>
            <a:srgbClr val="257CE1"/>
          </a:solidFill>
        </p:spPr>
        <p:txBody>
          <a:bodyPr wrap="square" lIns="0" tIns="0" rIns="0" bIns="0" rtlCol="0"/>
          <a:lstStyle/>
          <a:p>
            <a:endParaRPr/>
          </a:p>
        </p:txBody>
      </p:sp>
      <p:sp>
        <p:nvSpPr>
          <p:cNvPr id="18" name="Marcador de texto 17">
            <a:extLst>
              <a:ext uri="{FF2B5EF4-FFF2-40B4-BE49-F238E27FC236}">
                <a16:creationId xmlns:a16="http://schemas.microsoft.com/office/drawing/2014/main" id="{E6AC5AA0-C4FD-A742-898F-2F81DD6B4DF8}"/>
              </a:ext>
            </a:extLst>
          </p:cNvPr>
          <p:cNvSpPr>
            <a:spLocks noGrp="1"/>
          </p:cNvSpPr>
          <p:nvPr>
            <p:ph type="body" sz="quarter" idx="10"/>
          </p:nvPr>
        </p:nvSpPr>
        <p:spPr>
          <a:xfrm>
            <a:off x="727227" y="755454"/>
            <a:ext cx="16792423" cy="738664"/>
          </a:xfrm>
        </p:spPr>
        <p:txBody>
          <a:bodyPr/>
          <a:lstStyle>
            <a:lvl1pPr algn="r">
              <a:defRPr sz="4800" b="1">
                <a:latin typeface="Arial" panose="020B0604020202020204" pitchFamily="34" charset="0"/>
                <a:cs typeface="Arial" panose="020B0604020202020204" pitchFamily="34" charset="0"/>
              </a:defRPr>
            </a:lvl1pPr>
          </a:lstStyle>
          <a:p>
            <a:r>
              <a:rPr lang="es-ES" dirty="0"/>
              <a:t>Editar los estilos de texto del patrón</a:t>
            </a:r>
            <a:endParaRPr lang="es-CL"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20" name="Imagen 19">
            <a:extLst>
              <a:ext uri="{FF2B5EF4-FFF2-40B4-BE49-F238E27FC236}">
                <a16:creationId xmlns:a16="http://schemas.microsoft.com/office/drawing/2014/main" id="{293DC4AC-3CD1-B728-F1D4-9297A3D9EA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2" name="Imagen 21">
            <a:extLst>
              <a:ext uri="{FF2B5EF4-FFF2-40B4-BE49-F238E27FC236}">
                <a16:creationId xmlns:a16="http://schemas.microsoft.com/office/drawing/2014/main" id="{75BA927C-DF3C-76F9-F858-D08E957A4C0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340"/>
            <a:ext cx="20109342" cy="11305614"/>
          </a:xfrm>
          <a:prstGeom prst="rect">
            <a:avLst/>
          </a:prstGeom>
        </p:spPr>
      </p:pic>
      <p:sp>
        <p:nvSpPr>
          <p:cNvPr id="23" name="Rectángulo 22">
            <a:extLst>
              <a:ext uri="{FF2B5EF4-FFF2-40B4-BE49-F238E27FC236}">
                <a16:creationId xmlns:a16="http://schemas.microsoft.com/office/drawing/2014/main" id="{B6946770-F426-2FD2-6657-14F29D5A8E25}"/>
              </a:ext>
            </a:extLst>
          </p:cNvPr>
          <p:cNvSpPr/>
          <p:nvPr userDrawn="1"/>
        </p:nvSpPr>
        <p:spPr>
          <a:xfrm>
            <a:off x="755650" y="6264275"/>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24" name="Título 1">
            <a:extLst>
              <a:ext uri="{FF2B5EF4-FFF2-40B4-BE49-F238E27FC236}">
                <a16:creationId xmlns:a16="http://schemas.microsoft.com/office/drawing/2014/main" id="{38E6F079-F9D6-8270-ADE8-DE597BD21FFF}"/>
              </a:ext>
            </a:extLst>
          </p:cNvPr>
          <p:cNvSpPr>
            <a:spLocks noGrp="1"/>
          </p:cNvSpPr>
          <p:nvPr>
            <p:ph type="title"/>
          </p:nvPr>
        </p:nvSpPr>
        <p:spPr>
          <a:xfrm>
            <a:off x="1184428" y="6591401"/>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19" name="Imagen 18">
            <a:extLst>
              <a:ext uri="{FF2B5EF4-FFF2-40B4-BE49-F238E27FC236}">
                <a16:creationId xmlns:a16="http://schemas.microsoft.com/office/drawing/2014/main" id="{CC49A5DC-7F63-7053-BF30-9BEB915A86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3" name="Imagen 22">
            <a:extLst>
              <a:ext uri="{FF2B5EF4-FFF2-40B4-BE49-F238E27FC236}">
                <a16:creationId xmlns:a16="http://schemas.microsoft.com/office/drawing/2014/main" id="{97E369C9-9696-52E0-3D5A-4A3A83A9C2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24" name="Rectángulo 23">
            <a:extLst>
              <a:ext uri="{FF2B5EF4-FFF2-40B4-BE49-F238E27FC236}">
                <a16:creationId xmlns:a16="http://schemas.microsoft.com/office/drawing/2014/main" id="{EDE5CBD5-32E9-715D-214E-87F7F64407EA}"/>
              </a:ext>
            </a:extLst>
          </p:cNvPr>
          <p:cNvSpPr/>
          <p:nvPr userDrawn="1"/>
        </p:nvSpPr>
        <p:spPr>
          <a:xfrm>
            <a:off x="7004050" y="7331075"/>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25" name="Título 1">
            <a:extLst>
              <a:ext uri="{FF2B5EF4-FFF2-40B4-BE49-F238E27FC236}">
                <a16:creationId xmlns:a16="http://schemas.microsoft.com/office/drawing/2014/main" id="{FA2B3E84-593C-1926-74EE-AA7B31F62D0D}"/>
              </a:ext>
            </a:extLst>
          </p:cNvPr>
          <p:cNvSpPr>
            <a:spLocks noGrp="1"/>
          </p:cNvSpPr>
          <p:nvPr>
            <p:ph type="title"/>
          </p:nvPr>
        </p:nvSpPr>
        <p:spPr>
          <a:xfrm>
            <a:off x="7432828" y="7658201"/>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6545789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2212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2707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2314421" y="714594"/>
            <a:ext cx="5259705" cy="915669"/>
          </a:xfrm>
          <a:prstGeom prst="rect">
            <a:avLst/>
          </a:prstGeom>
        </p:spPr>
        <p:txBody>
          <a:bodyPr wrap="square" lIns="0" tIns="0" rIns="0" bIns="0">
            <a:spAutoFit/>
          </a:bodyPr>
          <a:lstStyle>
            <a:lvl1pPr>
              <a:defRPr sz="5800" b="1" i="0">
                <a:solidFill>
                  <a:schemeClr val="tx1"/>
                </a:solidFill>
                <a:latin typeface="Arial"/>
                <a:cs typeface="Arial"/>
              </a:defRPr>
            </a:lvl1pPr>
          </a:lstStyle>
          <a:p>
            <a:endParaRPr/>
          </a:p>
        </p:txBody>
      </p:sp>
      <p:sp>
        <p:nvSpPr>
          <p:cNvPr id="3" name="Holder 3"/>
          <p:cNvSpPr>
            <a:spLocks noGrp="1"/>
          </p:cNvSpPr>
          <p:nvPr>
            <p:ph type="body" idx="1"/>
          </p:nvPr>
        </p:nvSpPr>
        <p:spPr>
          <a:xfrm>
            <a:off x="1005205" y="2601150"/>
            <a:ext cx="18093690" cy="7464171"/>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6835394" y="10517696"/>
            <a:ext cx="6433312" cy="56546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05205" y="10517696"/>
            <a:ext cx="4623943" cy="56546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11/30/2023</a:t>
            </a:fld>
            <a:endParaRPr lang="en-US"/>
          </a:p>
        </p:txBody>
      </p:sp>
      <p:sp>
        <p:nvSpPr>
          <p:cNvPr id="6" name="Holder 6"/>
          <p:cNvSpPr>
            <a:spLocks noGrp="1"/>
          </p:cNvSpPr>
          <p:nvPr>
            <p:ph type="sldNum" sz="quarter" idx="7"/>
          </p:nvPr>
        </p:nvSpPr>
        <p:spPr>
          <a:xfrm>
            <a:off x="14474953" y="10517696"/>
            <a:ext cx="4623943" cy="56546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72" r:id="rId2"/>
    <p:sldLayoutId id="2147483662" r:id="rId3"/>
    <p:sldLayoutId id="2147483669" r:id="rId4"/>
    <p:sldLayoutId id="2147483664" r:id="rId5"/>
    <p:sldLayoutId id="2147483670" r:id="rId6"/>
    <p:sldLayoutId id="2147483677" r:id="rId7"/>
    <p:sldLayoutId id="2147483666" r:id="rId8"/>
    <p:sldLayoutId id="2147483665" r:id="rId9"/>
    <p:sldLayoutId id="2147483663" r:id="rId10"/>
    <p:sldLayoutId id="2147483673" r:id="rId11"/>
    <p:sldLayoutId id="2147483671" r:id="rId12"/>
    <p:sldLayoutId id="2147483678" r:id="rId13"/>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70841C-0ACF-DE6F-43AC-3E3396A2923B}"/>
              </a:ext>
            </a:extLst>
          </p:cNvPr>
          <p:cNvSpPr>
            <a:spLocks noGrp="1"/>
          </p:cNvSpPr>
          <p:nvPr>
            <p:ph type="ctrTitle"/>
          </p:nvPr>
        </p:nvSpPr>
        <p:spPr>
          <a:xfrm>
            <a:off x="2889250" y="8169275"/>
            <a:ext cx="8749511" cy="1169551"/>
          </a:xfrm>
        </p:spPr>
        <p:txBody>
          <a:bodyPr/>
          <a:lstStyle/>
          <a:p>
            <a:r>
              <a:rPr lang="es-CL" sz="3800" spc="-10" dirty="0"/>
              <a:t>MÉTODOS</a:t>
            </a:r>
            <a:br>
              <a:rPr lang="es-CL" sz="3800" spc="-10" dirty="0"/>
            </a:br>
            <a:r>
              <a:rPr lang="es-CL" sz="3800" spc="-10" dirty="0"/>
              <a:t>DESCRIPTIVOS Y PREDICTIVOS</a:t>
            </a:r>
            <a:endParaRPr lang="es-CL" sz="3800" dirty="0"/>
          </a:p>
        </p:txBody>
      </p:sp>
      <p:sp>
        <p:nvSpPr>
          <p:cNvPr id="3" name="Subtítulo 2">
            <a:extLst>
              <a:ext uri="{FF2B5EF4-FFF2-40B4-BE49-F238E27FC236}">
                <a16:creationId xmlns:a16="http://schemas.microsoft.com/office/drawing/2014/main" id="{B839BAB8-5980-04D6-9003-ABBE79FC69B7}"/>
              </a:ext>
            </a:extLst>
          </p:cNvPr>
          <p:cNvSpPr>
            <a:spLocks noGrp="1"/>
          </p:cNvSpPr>
          <p:nvPr>
            <p:ph type="subTitle" idx="4"/>
          </p:nvPr>
        </p:nvSpPr>
        <p:spPr>
          <a:xfrm>
            <a:off x="2926080" y="9554269"/>
            <a:ext cx="8712681" cy="369332"/>
          </a:xfrm>
        </p:spPr>
        <p:txBody>
          <a:bodyPr/>
          <a:lstStyle/>
          <a:p>
            <a:r>
              <a:rPr lang="es-CL" dirty="0">
                <a:latin typeface="Arial"/>
                <a:cs typeface="Arial"/>
              </a:rPr>
              <a:t>BIY7121 MINERÍA DE DATOS</a:t>
            </a:r>
            <a:endParaRPr lang="es-CL" sz="2400" dirty="0">
              <a:latin typeface="Arial"/>
              <a:cs typeface="Arial"/>
            </a:endParaRPr>
          </a:p>
        </p:txBody>
      </p:sp>
    </p:spTree>
    <p:extLst>
      <p:ext uri="{BB962C8B-B14F-4D97-AF65-F5344CB8AC3E}">
        <p14:creationId xmlns:p14="http://schemas.microsoft.com/office/powerpoint/2010/main" val="3642932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FFB337F0-2FCC-924F-952C-07C673B763B0}"/>
              </a:ext>
            </a:extLst>
          </p:cNvPr>
          <p:cNvSpPr/>
          <p:nvPr/>
        </p:nvSpPr>
        <p:spPr>
          <a:xfrm>
            <a:off x="9518650" y="2378075"/>
            <a:ext cx="5357557" cy="1015663"/>
          </a:xfrm>
          <a:prstGeom prst="rect">
            <a:avLst/>
          </a:prstGeom>
        </p:spPr>
        <p:txBody>
          <a:bodyPr wrap="none">
            <a:spAutoFit/>
          </a:bodyPr>
          <a:lstStyle/>
          <a:p>
            <a:r>
              <a:rPr lang="es-CL" sz="6000" b="1" dirty="0">
                <a:latin typeface="Arial Black" panose="020B0604020202020204" pitchFamily="34" charset="0"/>
                <a:cs typeface="Arial Black" panose="020B0604020202020204" pitchFamily="34" charset="0"/>
              </a:rPr>
              <a:t>CONTENIDO</a:t>
            </a:r>
          </a:p>
        </p:txBody>
      </p:sp>
      <p:sp>
        <p:nvSpPr>
          <p:cNvPr id="9" name="Título 1">
            <a:extLst>
              <a:ext uri="{FF2B5EF4-FFF2-40B4-BE49-F238E27FC236}">
                <a16:creationId xmlns:a16="http://schemas.microsoft.com/office/drawing/2014/main" id="{8A3E674A-F038-D144-A91A-8FBF8FFE0F11}"/>
              </a:ext>
            </a:extLst>
          </p:cNvPr>
          <p:cNvSpPr txBox="1">
            <a:spLocks/>
          </p:cNvSpPr>
          <p:nvPr/>
        </p:nvSpPr>
        <p:spPr>
          <a:xfrm>
            <a:off x="9518650" y="4020489"/>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01</a:t>
            </a:r>
          </a:p>
        </p:txBody>
      </p:sp>
      <p:sp>
        <p:nvSpPr>
          <p:cNvPr id="12" name="Título 1">
            <a:extLst>
              <a:ext uri="{FF2B5EF4-FFF2-40B4-BE49-F238E27FC236}">
                <a16:creationId xmlns:a16="http://schemas.microsoft.com/office/drawing/2014/main" id="{BB375BB0-38DE-5947-A049-E37CBB392147}"/>
              </a:ext>
            </a:extLst>
          </p:cNvPr>
          <p:cNvSpPr txBox="1">
            <a:spLocks/>
          </p:cNvSpPr>
          <p:nvPr/>
        </p:nvSpPr>
        <p:spPr>
          <a:xfrm>
            <a:off x="9617262" y="7026177"/>
            <a:ext cx="4579097"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3000" dirty="0"/>
              <a:t>MÉTODOS PREDICTIVOS</a:t>
            </a:r>
          </a:p>
        </p:txBody>
      </p:sp>
      <p:sp>
        <p:nvSpPr>
          <p:cNvPr id="14" name="Título 1">
            <a:extLst>
              <a:ext uri="{FF2B5EF4-FFF2-40B4-BE49-F238E27FC236}">
                <a16:creationId xmlns:a16="http://schemas.microsoft.com/office/drawing/2014/main" id="{D2775DA9-AA36-2B46-A647-A78656981246}"/>
              </a:ext>
            </a:extLst>
          </p:cNvPr>
          <p:cNvSpPr txBox="1">
            <a:spLocks/>
          </p:cNvSpPr>
          <p:nvPr/>
        </p:nvSpPr>
        <p:spPr>
          <a:xfrm>
            <a:off x="9518650" y="6264177"/>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02</a:t>
            </a:r>
          </a:p>
        </p:txBody>
      </p:sp>
      <p:sp>
        <p:nvSpPr>
          <p:cNvPr id="16" name="Título 1">
            <a:extLst>
              <a:ext uri="{FF2B5EF4-FFF2-40B4-BE49-F238E27FC236}">
                <a16:creationId xmlns:a16="http://schemas.microsoft.com/office/drawing/2014/main" id="{5AD2299A-27D1-AA45-A043-C0D64B734853}"/>
              </a:ext>
            </a:extLst>
          </p:cNvPr>
          <p:cNvSpPr txBox="1">
            <a:spLocks/>
          </p:cNvSpPr>
          <p:nvPr/>
        </p:nvSpPr>
        <p:spPr>
          <a:xfrm>
            <a:off x="9617262" y="9194781"/>
            <a:ext cx="4165973"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3000" dirty="0"/>
              <a:t>MÉTODOS DESCRIPTIVOS</a:t>
            </a:r>
          </a:p>
        </p:txBody>
      </p:sp>
      <p:sp>
        <p:nvSpPr>
          <p:cNvPr id="18" name="Título 1">
            <a:extLst>
              <a:ext uri="{FF2B5EF4-FFF2-40B4-BE49-F238E27FC236}">
                <a16:creationId xmlns:a16="http://schemas.microsoft.com/office/drawing/2014/main" id="{5FEE1E9F-D6A8-614C-BB95-3AFA463327D0}"/>
              </a:ext>
            </a:extLst>
          </p:cNvPr>
          <p:cNvSpPr txBox="1">
            <a:spLocks/>
          </p:cNvSpPr>
          <p:nvPr/>
        </p:nvSpPr>
        <p:spPr>
          <a:xfrm>
            <a:off x="9617262" y="8432781"/>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03</a:t>
            </a:r>
          </a:p>
        </p:txBody>
      </p:sp>
      <p:sp>
        <p:nvSpPr>
          <p:cNvPr id="21" name="Título 1">
            <a:extLst>
              <a:ext uri="{FF2B5EF4-FFF2-40B4-BE49-F238E27FC236}">
                <a16:creationId xmlns:a16="http://schemas.microsoft.com/office/drawing/2014/main" id="{325E44F9-8B81-FD43-8DCF-00283585DD6D}"/>
              </a:ext>
            </a:extLst>
          </p:cNvPr>
          <p:cNvSpPr txBox="1">
            <a:spLocks/>
          </p:cNvSpPr>
          <p:nvPr/>
        </p:nvSpPr>
        <p:spPr>
          <a:xfrm>
            <a:off x="9617262" y="4782488"/>
            <a:ext cx="4579097" cy="461665"/>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3000" dirty="0"/>
              <a:t>INTRODUCCION</a:t>
            </a:r>
          </a:p>
        </p:txBody>
      </p:sp>
      <p:sp>
        <p:nvSpPr>
          <p:cNvPr id="2" name="Título 1">
            <a:extLst>
              <a:ext uri="{FF2B5EF4-FFF2-40B4-BE49-F238E27FC236}">
                <a16:creationId xmlns:a16="http://schemas.microsoft.com/office/drawing/2014/main" id="{7EFE992D-1CA3-14C0-F902-6542723FD1C3}"/>
              </a:ext>
            </a:extLst>
          </p:cNvPr>
          <p:cNvSpPr txBox="1">
            <a:spLocks/>
          </p:cNvSpPr>
          <p:nvPr/>
        </p:nvSpPr>
        <p:spPr>
          <a:xfrm>
            <a:off x="14876207" y="4859339"/>
            <a:ext cx="4728882" cy="461665"/>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r>
              <a:rPr lang="es-CL" sz="3000" dirty="0"/>
              <a:t>RESUMEN</a:t>
            </a:r>
          </a:p>
        </p:txBody>
      </p:sp>
      <p:sp>
        <p:nvSpPr>
          <p:cNvPr id="4" name="Título 1">
            <a:extLst>
              <a:ext uri="{FF2B5EF4-FFF2-40B4-BE49-F238E27FC236}">
                <a16:creationId xmlns:a16="http://schemas.microsoft.com/office/drawing/2014/main" id="{47002DBB-23A6-9BA0-FF76-8B2A5E9F6159}"/>
              </a:ext>
            </a:extLst>
          </p:cNvPr>
          <p:cNvSpPr txBox="1">
            <a:spLocks/>
          </p:cNvSpPr>
          <p:nvPr/>
        </p:nvSpPr>
        <p:spPr>
          <a:xfrm>
            <a:off x="14656174" y="4020489"/>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04</a:t>
            </a:r>
          </a:p>
        </p:txBody>
      </p:sp>
    </p:spTree>
    <p:extLst>
      <p:ext uri="{BB962C8B-B14F-4D97-AF65-F5344CB8AC3E}">
        <p14:creationId xmlns:p14="http://schemas.microsoft.com/office/powerpoint/2010/main" val="3979444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87A9F761-F66D-564C-A85F-5D24B1E7B998}"/>
              </a:ext>
            </a:extLst>
          </p:cNvPr>
          <p:cNvSpPr>
            <a:spLocks noGrp="1"/>
          </p:cNvSpPr>
          <p:nvPr>
            <p:ph type="title"/>
          </p:nvPr>
        </p:nvSpPr>
        <p:spPr>
          <a:xfrm>
            <a:off x="4413250" y="7559675"/>
            <a:ext cx="10134600" cy="1015663"/>
          </a:xfrm>
        </p:spPr>
        <p:txBody>
          <a:bodyPr/>
          <a:lstStyle/>
          <a:p>
            <a:pPr algn="r"/>
            <a:r>
              <a:rPr lang="es-CL" sz="6600" dirty="0"/>
              <a:t>INTRODUCCIÓN</a:t>
            </a:r>
          </a:p>
        </p:txBody>
      </p:sp>
      <p:sp>
        <p:nvSpPr>
          <p:cNvPr id="4" name="Título 1">
            <a:extLst>
              <a:ext uri="{FF2B5EF4-FFF2-40B4-BE49-F238E27FC236}">
                <a16:creationId xmlns:a16="http://schemas.microsoft.com/office/drawing/2014/main" id="{DC622BE7-4A49-A749-B2F2-EA3AD97A1AEF}"/>
              </a:ext>
            </a:extLst>
          </p:cNvPr>
          <p:cNvSpPr txBox="1">
            <a:spLocks/>
          </p:cNvSpPr>
          <p:nvPr/>
        </p:nvSpPr>
        <p:spPr>
          <a:xfrm>
            <a:off x="12677531" y="6082347"/>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r"/>
            <a:r>
              <a:rPr lang="es-CL" sz="9600" dirty="0">
                <a:latin typeface="Arial Black" panose="020B0604020202020204" pitchFamily="34" charset="0"/>
                <a:cs typeface="Arial Black" panose="020B0604020202020204" pitchFamily="34" charset="0"/>
              </a:rPr>
              <a:t>01</a:t>
            </a:r>
          </a:p>
        </p:txBody>
      </p:sp>
    </p:spTree>
    <p:extLst>
      <p:ext uri="{BB962C8B-B14F-4D97-AF65-F5344CB8AC3E}">
        <p14:creationId xmlns:p14="http://schemas.microsoft.com/office/powerpoint/2010/main" val="3117571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lstStyle/>
          <a:p>
            <a:r>
              <a:rPr lang="es-CL" dirty="0"/>
              <a:t>INTRODUCCIÓN</a:t>
            </a:r>
          </a:p>
        </p:txBody>
      </p:sp>
      <p:sp>
        <p:nvSpPr>
          <p:cNvPr id="3" name="CuadroTexto 2">
            <a:extLst>
              <a:ext uri="{FF2B5EF4-FFF2-40B4-BE49-F238E27FC236}">
                <a16:creationId xmlns:a16="http://schemas.microsoft.com/office/drawing/2014/main" id="{8F4D9069-61BC-606E-6D98-4D82B593F24F}"/>
              </a:ext>
            </a:extLst>
          </p:cNvPr>
          <p:cNvSpPr txBox="1"/>
          <p:nvPr/>
        </p:nvSpPr>
        <p:spPr>
          <a:xfrm>
            <a:off x="2279650" y="2682875"/>
            <a:ext cx="8915400" cy="5262979"/>
          </a:xfrm>
          <a:prstGeom prst="rect">
            <a:avLst/>
          </a:prstGeom>
          <a:noFill/>
        </p:spPr>
        <p:txBody>
          <a:bodyPr wrap="square" rtlCol="0">
            <a:spAutoFit/>
          </a:bodyPr>
          <a:lstStyle/>
          <a:p>
            <a:pPr algn="just"/>
            <a:r>
              <a:rPr lang="es-ES" sz="2800" dirty="0"/>
              <a:t>Existen </a:t>
            </a:r>
            <a:r>
              <a:rPr lang="es-ES" sz="2800" dirty="0">
                <a:solidFill>
                  <a:srgbClr val="FF0000"/>
                </a:solidFill>
              </a:rPr>
              <a:t>varios métodos y algoritmos que se pueden aplicar en el proceso de Minería de Datos</a:t>
            </a:r>
            <a:r>
              <a:rPr lang="es-ES" sz="2800" dirty="0"/>
              <a:t>, por lo que es importante tener una clasificación de los métodos existentes.</a:t>
            </a:r>
          </a:p>
          <a:p>
            <a:pPr algn="just"/>
            <a:endParaRPr lang="es-ES" sz="2800" dirty="0"/>
          </a:p>
          <a:p>
            <a:pPr algn="just"/>
            <a:r>
              <a:rPr lang="es-ES" sz="2800" dirty="0"/>
              <a:t>La elección del método depende del problema en estudio o el tipo de datos disponibles, el proceso de extracción de datos se rige por las aplicaciones, por esta razón, los métodos utilizados se pueden clasificar de acuerdo con el objetivo de los análisis. </a:t>
            </a:r>
          </a:p>
          <a:p>
            <a:pPr algn="just"/>
            <a:endParaRPr lang="es-ES" sz="2800" dirty="0"/>
          </a:p>
          <a:p>
            <a:pPr algn="just"/>
            <a:r>
              <a:rPr lang="es-ES" sz="2800" dirty="0"/>
              <a:t>Se podrían distinguir tres clases </a:t>
            </a:r>
            <a:r>
              <a:rPr lang="es-CL" sz="2800" dirty="0"/>
              <a:t>principales:</a:t>
            </a:r>
          </a:p>
        </p:txBody>
      </p:sp>
      <p:sp>
        <p:nvSpPr>
          <p:cNvPr id="5" name="CuadroTexto 4">
            <a:extLst>
              <a:ext uri="{FF2B5EF4-FFF2-40B4-BE49-F238E27FC236}">
                <a16:creationId xmlns:a16="http://schemas.microsoft.com/office/drawing/2014/main" id="{F7610392-ADFB-52B0-6FF3-C4C573143DA6}"/>
              </a:ext>
            </a:extLst>
          </p:cNvPr>
          <p:cNvSpPr txBox="1"/>
          <p:nvPr/>
        </p:nvSpPr>
        <p:spPr>
          <a:xfrm>
            <a:off x="2432050" y="9998075"/>
            <a:ext cx="9041258" cy="307777"/>
          </a:xfrm>
          <a:prstGeom prst="rect">
            <a:avLst/>
          </a:prstGeom>
          <a:noFill/>
        </p:spPr>
        <p:txBody>
          <a:bodyPr wrap="none" rtlCol="0">
            <a:spAutoFit/>
          </a:bodyPr>
          <a:lstStyle/>
          <a:p>
            <a:r>
              <a:rPr lang="es-CL" sz="1400" dirty="0"/>
              <a:t>Fuente: https://www.slideshare.net/lalopg/mtodos-predictivos-y-descriptivos-minera-de-datos?from_action=save</a:t>
            </a:r>
          </a:p>
        </p:txBody>
      </p:sp>
      <p:pic>
        <p:nvPicPr>
          <p:cNvPr id="6" name="Imagen 5">
            <a:extLst>
              <a:ext uri="{FF2B5EF4-FFF2-40B4-BE49-F238E27FC236}">
                <a16:creationId xmlns:a16="http://schemas.microsoft.com/office/drawing/2014/main" id="{A954DFB9-5CD3-B58A-55B9-295165E13F90}"/>
              </a:ext>
            </a:extLst>
          </p:cNvPr>
          <p:cNvPicPr>
            <a:picLocks noChangeAspect="1"/>
          </p:cNvPicPr>
          <p:nvPr/>
        </p:nvPicPr>
        <p:blipFill>
          <a:blip r:embed="rId2"/>
          <a:stretch>
            <a:fillRect/>
          </a:stretch>
        </p:blipFill>
        <p:spPr>
          <a:xfrm>
            <a:off x="11652250" y="1918701"/>
            <a:ext cx="8096250" cy="6791325"/>
          </a:xfrm>
          <a:prstGeom prst="rect">
            <a:avLst/>
          </a:prstGeom>
        </p:spPr>
      </p:pic>
    </p:spTree>
    <p:extLst>
      <p:ext uri="{BB962C8B-B14F-4D97-AF65-F5344CB8AC3E}">
        <p14:creationId xmlns:p14="http://schemas.microsoft.com/office/powerpoint/2010/main" val="2149623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lstStyle/>
          <a:p>
            <a:r>
              <a:rPr lang="es-CL" dirty="0"/>
              <a:t>INTRODUCCIÓN</a:t>
            </a:r>
          </a:p>
        </p:txBody>
      </p:sp>
      <p:sp>
        <p:nvSpPr>
          <p:cNvPr id="3" name="CuadroTexto 2">
            <a:extLst>
              <a:ext uri="{FF2B5EF4-FFF2-40B4-BE49-F238E27FC236}">
                <a16:creationId xmlns:a16="http://schemas.microsoft.com/office/drawing/2014/main" id="{8F4D9069-61BC-606E-6D98-4D82B593F24F}"/>
              </a:ext>
            </a:extLst>
          </p:cNvPr>
          <p:cNvSpPr txBox="1"/>
          <p:nvPr/>
        </p:nvSpPr>
        <p:spPr>
          <a:xfrm>
            <a:off x="2279650" y="2682875"/>
            <a:ext cx="8915400" cy="6555641"/>
          </a:xfrm>
          <a:prstGeom prst="rect">
            <a:avLst/>
          </a:prstGeom>
          <a:noFill/>
        </p:spPr>
        <p:txBody>
          <a:bodyPr wrap="square" rtlCol="0">
            <a:spAutoFit/>
          </a:bodyPr>
          <a:lstStyle/>
          <a:p>
            <a:pPr algn="just"/>
            <a:r>
              <a:rPr lang="es-CL" sz="2800" dirty="0"/>
              <a:t>Sin embargo, nos encontraremos que métodos, algoritmos, técnicas no siempre están orientadas a un análisis en particular.</a:t>
            </a:r>
          </a:p>
          <a:p>
            <a:pPr algn="just"/>
            <a:endParaRPr lang="es-CL" sz="2800" dirty="0"/>
          </a:p>
          <a:p>
            <a:pPr algn="just"/>
            <a:r>
              <a:rPr lang="es-CL" sz="2800" dirty="0"/>
              <a:t>Encontraremos que varias de ellas tienen más de una aplicación.   </a:t>
            </a:r>
          </a:p>
          <a:p>
            <a:pPr algn="just"/>
            <a:endParaRPr lang="es-CL" sz="2800" dirty="0"/>
          </a:p>
          <a:p>
            <a:pPr algn="just"/>
            <a:r>
              <a:rPr lang="es-ES" sz="2800" dirty="0"/>
              <a:t>Esta variedad es una de las razones por la que </a:t>
            </a:r>
            <a:r>
              <a:rPr lang="es-ES" sz="2800" dirty="0">
                <a:solidFill>
                  <a:srgbClr val="FF0000"/>
                </a:solidFill>
              </a:rPr>
              <a:t>es necesario conocer las capacidades de cada técnica</a:t>
            </a:r>
            <a:r>
              <a:rPr lang="es-ES" sz="2800" dirty="0"/>
              <a:t>, los ámbitos donde suele funcionar mejor, la eficiencia, la robustez, etc., en definitiva, las características funcionales de cada técnica </a:t>
            </a:r>
            <a:r>
              <a:rPr lang="es-CL" sz="2800" dirty="0"/>
              <a:t>respecto a las demás. Tal como podemos apreciar en la tabla, que sólo es a modo ilustrativo y muestra algunas de los modelos, algoritmos, técnicas más conocidas.</a:t>
            </a:r>
          </a:p>
        </p:txBody>
      </p:sp>
      <p:sp>
        <p:nvSpPr>
          <p:cNvPr id="7" name="CuadroTexto 6">
            <a:extLst>
              <a:ext uri="{FF2B5EF4-FFF2-40B4-BE49-F238E27FC236}">
                <a16:creationId xmlns:a16="http://schemas.microsoft.com/office/drawing/2014/main" id="{A58CB852-F124-BB3D-2040-EC2E214BBBCA}"/>
              </a:ext>
            </a:extLst>
          </p:cNvPr>
          <p:cNvSpPr txBox="1"/>
          <p:nvPr/>
        </p:nvSpPr>
        <p:spPr>
          <a:xfrm>
            <a:off x="2432050" y="9998075"/>
            <a:ext cx="6380273" cy="307777"/>
          </a:xfrm>
          <a:prstGeom prst="rect">
            <a:avLst/>
          </a:prstGeom>
          <a:noFill/>
        </p:spPr>
        <p:txBody>
          <a:bodyPr wrap="none" rtlCol="0">
            <a:spAutoFit/>
          </a:bodyPr>
          <a:lstStyle/>
          <a:p>
            <a:r>
              <a:rPr lang="es-CL" sz="1400" dirty="0"/>
              <a:t>Fuente: Introducción a la Minería de Datos – José </a:t>
            </a:r>
            <a:r>
              <a:rPr lang="es-CL" sz="1400" dirty="0" err="1"/>
              <a:t>Hernandez</a:t>
            </a:r>
            <a:r>
              <a:rPr lang="es-CL" sz="1400" dirty="0"/>
              <a:t> </a:t>
            </a:r>
            <a:r>
              <a:rPr lang="es-CL" sz="1400" dirty="0" err="1"/>
              <a:t>Orallo</a:t>
            </a:r>
            <a:r>
              <a:rPr lang="es-CL" sz="1400" dirty="0"/>
              <a:t> y otros. </a:t>
            </a:r>
          </a:p>
        </p:txBody>
      </p:sp>
      <p:pic>
        <p:nvPicPr>
          <p:cNvPr id="5" name="Imagen 4">
            <a:extLst>
              <a:ext uri="{FF2B5EF4-FFF2-40B4-BE49-F238E27FC236}">
                <a16:creationId xmlns:a16="http://schemas.microsoft.com/office/drawing/2014/main" id="{A221D881-018E-9B6B-B60C-F966A4B04DF3}"/>
              </a:ext>
            </a:extLst>
          </p:cNvPr>
          <p:cNvPicPr>
            <a:picLocks noChangeAspect="1"/>
          </p:cNvPicPr>
          <p:nvPr/>
        </p:nvPicPr>
        <p:blipFill>
          <a:blip r:embed="rId2"/>
          <a:stretch>
            <a:fillRect/>
          </a:stretch>
        </p:blipFill>
        <p:spPr>
          <a:xfrm>
            <a:off x="11499849" y="2759075"/>
            <a:ext cx="8448853" cy="5105400"/>
          </a:xfrm>
          <a:prstGeom prst="rect">
            <a:avLst/>
          </a:prstGeom>
        </p:spPr>
      </p:pic>
    </p:spTree>
    <p:extLst>
      <p:ext uri="{BB962C8B-B14F-4D97-AF65-F5344CB8AC3E}">
        <p14:creationId xmlns:p14="http://schemas.microsoft.com/office/powerpoint/2010/main" val="2675201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025BEF-C6CB-D142-BFA0-F95C5E30AC13}"/>
              </a:ext>
            </a:extLst>
          </p:cNvPr>
          <p:cNvSpPr>
            <a:spLocks noGrp="1"/>
          </p:cNvSpPr>
          <p:nvPr>
            <p:ph type="title"/>
          </p:nvPr>
        </p:nvSpPr>
        <p:spPr>
          <a:xfrm>
            <a:off x="8147050" y="7712075"/>
            <a:ext cx="8305800" cy="738664"/>
          </a:xfrm>
        </p:spPr>
        <p:txBody>
          <a:bodyPr/>
          <a:lstStyle/>
          <a:p>
            <a:pPr algn="r"/>
            <a:r>
              <a:rPr lang="es-CL" sz="4800" dirty="0"/>
              <a:t>TÍTULO</a:t>
            </a:r>
          </a:p>
        </p:txBody>
      </p:sp>
      <p:sp>
        <p:nvSpPr>
          <p:cNvPr id="3" name="Título 1">
            <a:extLst>
              <a:ext uri="{FF2B5EF4-FFF2-40B4-BE49-F238E27FC236}">
                <a16:creationId xmlns:a16="http://schemas.microsoft.com/office/drawing/2014/main" id="{94FE4634-98DF-A44A-92BF-86BBAE37A404}"/>
              </a:ext>
            </a:extLst>
          </p:cNvPr>
          <p:cNvSpPr txBox="1">
            <a:spLocks/>
          </p:cNvSpPr>
          <p:nvPr/>
        </p:nvSpPr>
        <p:spPr>
          <a:xfrm>
            <a:off x="8159750" y="6250622"/>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9600" dirty="0">
                <a:solidFill>
                  <a:srgbClr val="257CE1"/>
                </a:solidFill>
                <a:latin typeface="Arial Black" panose="020B0604020202020204" pitchFamily="34" charset="0"/>
                <a:cs typeface="Arial Black" panose="020B0604020202020204" pitchFamily="34" charset="0"/>
              </a:rPr>
              <a:t>02</a:t>
            </a:r>
          </a:p>
        </p:txBody>
      </p:sp>
      <p:sp>
        <p:nvSpPr>
          <p:cNvPr id="4" name="Título 1">
            <a:extLst>
              <a:ext uri="{FF2B5EF4-FFF2-40B4-BE49-F238E27FC236}">
                <a16:creationId xmlns:a16="http://schemas.microsoft.com/office/drawing/2014/main" id="{8B7ACE31-74A9-95B3-1599-372FB822D0E6}"/>
              </a:ext>
            </a:extLst>
          </p:cNvPr>
          <p:cNvSpPr txBox="1">
            <a:spLocks/>
          </p:cNvSpPr>
          <p:nvPr/>
        </p:nvSpPr>
        <p:spPr>
          <a:xfrm>
            <a:off x="1517650" y="7712075"/>
            <a:ext cx="8305800" cy="1477328"/>
          </a:xfrm>
          <a:prstGeom prst="rect">
            <a:avLst/>
          </a:prstGeom>
        </p:spPr>
        <p:txBody>
          <a:bodyPr wrap="square" lIns="0" tIns="0" rIns="0" bIns="0">
            <a:spAutoFit/>
          </a:bodyPr>
          <a:lstStyle>
            <a:lvl1pPr algn="l">
              <a:defRPr sz="5000" b="1" i="0">
                <a:solidFill>
                  <a:srgbClr val="257CE1"/>
                </a:solidFill>
                <a:latin typeface="Arial"/>
                <a:ea typeface="+mj-ea"/>
                <a:cs typeface="Arial"/>
              </a:defRPr>
            </a:lvl1pPr>
          </a:lstStyle>
          <a:p>
            <a:pPr algn="r"/>
            <a:r>
              <a:rPr lang="es-CL" sz="4800" dirty="0"/>
              <a:t>METODOS</a:t>
            </a:r>
          </a:p>
          <a:p>
            <a:pPr algn="r"/>
            <a:r>
              <a:rPr lang="es-CL" sz="4800" dirty="0"/>
              <a:t>PREDICTIVOS</a:t>
            </a:r>
          </a:p>
        </p:txBody>
      </p:sp>
    </p:spTree>
    <p:extLst>
      <p:ext uri="{BB962C8B-B14F-4D97-AF65-F5344CB8AC3E}">
        <p14:creationId xmlns:p14="http://schemas.microsoft.com/office/powerpoint/2010/main" val="2257653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CL" dirty="0"/>
              <a:t>MÉTODOS PREDICTIVOS</a:t>
            </a:r>
          </a:p>
        </p:txBody>
      </p:sp>
      <p:sp>
        <p:nvSpPr>
          <p:cNvPr id="3" name="CuadroTexto 2">
            <a:extLst>
              <a:ext uri="{FF2B5EF4-FFF2-40B4-BE49-F238E27FC236}">
                <a16:creationId xmlns:a16="http://schemas.microsoft.com/office/drawing/2014/main" id="{374B26D9-6484-8A3D-D1C7-2F2BBF65A190}"/>
              </a:ext>
            </a:extLst>
          </p:cNvPr>
          <p:cNvSpPr txBox="1"/>
          <p:nvPr/>
        </p:nvSpPr>
        <p:spPr>
          <a:xfrm>
            <a:off x="1898650" y="2530475"/>
            <a:ext cx="7798705" cy="7417415"/>
          </a:xfrm>
          <a:prstGeom prst="rect">
            <a:avLst/>
          </a:prstGeom>
          <a:noFill/>
        </p:spPr>
        <p:txBody>
          <a:bodyPr wrap="square" rtlCol="0">
            <a:spAutoFit/>
          </a:bodyPr>
          <a:lstStyle/>
          <a:p>
            <a:pPr algn="just"/>
            <a:r>
              <a:rPr lang="es-ES" sz="2800" dirty="0"/>
              <a:t>Los </a:t>
            </a:r>
            <a:r>
              <a:rPr lang="es-ES" sz="2800" dirty="0">
                <a:solidFill>
                  <a:srgbClr val="FF0000"/>
                </a:solidFill>
              </a:rPr>
              <a:t>Métodos predictivos o de Aprendizaje Supervisado</a:t>
            </a:r>
            <a:r>
              <a:rPr lang="es-ES" sz="2800" dirty="0"/>
              <a:t> se basan en entrenar a un modelo o método por medio de diferentes datos para </a:t>
            </a:r>
            <a:r>
              <a:rPr lang="es-ES" sz="2800" dirty="0">
                <a:solidFill>
                  <a:srgbClr val="FF0000"/>
                </a:solidFill>
              </a:rPr>
              <a:t>poder predecir una variable </a:t>
            </a:r>
            <a:r>
              <a:rPr lang="es-ES" sz="2800" dirty="0"/>
              <a:t>partiendo de estos mismos datos.</a:t>
            </a:r>
          </a:p>
          <a:p>
            <a:pPr algn="just"/>
            <a:endParaRPr lang="es-ES" sz="2800" dirty="0"/>
          </a:p>
          <a:p>
            <a:pPr algn="just"/>
            <a:r>
              <a:rPr lang="es-ES" sz="2800" dirty="0"/>
              <a:t>Mira el ejemplo de la figura. </a:t>
            </a:r>
          </a:p>
          <a:p>
            <a:pPr algn="just"/>
            <a:endParaRPr lang="es-ES" sz="2800" dirty="0"/>
          </a:p>
          <a:p>
            <a:pPr algn="just"/>
            <a:r>
              <a:rPr lang="es-ES" sz="2800" dirty="0"/>
              <a:t>Si podemos concluir con lo que el método ya aprendió, su respuesta será que eso es un cuadrado, porque ya lo aprendió con los datos anteriores, es por ello que se le llama aprendizaje supervisado o modelo predictivo porque </a:t>
            </a:r>
            <a:r>
              <a:rPr lang="es-ES" sz="2800" dirty="0">
                <a:solidFill>
                  <a:srgbClr val="FF0000"/>
                </a:solidFill>
              </a:rPr>
              <a:t>queremos predecir </a:t>
            </a:r>
            <a:r>
              <a:rPr lang="es-ES" sz="2800" dirty="0"/>
              <a:t>¿qué es? Esa nueva figura.</a:t>
            </a:r>
          </a:p>
          <a:p>
            <a:pPr algn="l"/>
            <a:endParaRPr lang="es-ES" sz="2800" dirty="0"/>
          </a:p>
          <a:p>
            <a:pPr algn="l"/>
            <a:endParaRPr lang="es-CL" sz="2800" dirty="0"/>
          </a:p>
        </p:txBody>
      </p:sp>
      <p:sp>
        <p:nvSpPr>
          <p:cNvPr id="4" name="CuadroTexto 3">
            <a:extLst>
              <a:ext uri="{FF2B5EF4-FFF2-40B4-BE49-F238E27FC236}">
                <a16:creationId xmlns:a16="http://schemas.microsoft.com/office/drawing/2014/main" id="{7F1FBDA0-98CB-05A4-FDC9-23FF9B65A099}"/>
              </a:ext>
            </a:extLst>
          </p:cNvPr>
          <p:cNvSpPr txBox="1"/>
          <p:nvPr/>
        </p:nvSpPr>
        <p:spPr>
          <a:xfrm>
            <a:off x="3498850" y="10400007"/>
            <a:ext cx="9041258" cy="307777"/>
          </a:xfrm>
          <a:prstGeom prst="rect">
            <a:avLst/>
          </a:prstGeom>
          <a:noFill/>
        </p:spPr>
        <p:txBody>
          <a:bodyPr wrap="none" rtlCol="0">
            <a:spAutoFit/>
          </a:bodyPr>
          <a:lstStyle/>
          <a:p>
            <a:r>
              <a:rPr lang="es-CL" sz="1400" dirty="0"/>
              <a:t>Fuente: https://www.slideshare.net/lalopg/mtodos-predictivos-y-descriptivos-minera-de-datos?from_action=save</a:t>
            </a:r>
          </a:p>
        </p:txBody>
      </p:sp>
      <p:pic>
        <p:nvPicPr>
          <p:cNvPr id="8" name="Imagen 7">
            <a:extLst>
              <a:ext uri="{FF2B5EF4-FFF2-40B4-BE49-F238E27FC236}">
                <a16:creationId xmlns:a16="http://schemas.microsoft.com/office/drawing/2014/main" id="{86C32446-406C-85E1-A6D4-EEA85B9487CB}"/>
              </a:ext>
            </a:extLst>
          </p:cNvPr>
          <p:cNvPicPr>
            <a:picLocks noChangeAspect="1"/>
          </p:cNvPicPr>
          <p:nvPr/>
        </p:nvPicPr>
        <p:blipFill>
          <a:blip r:embed="rId2"/>
          <a:stretch>
            <a:fillRect/>
          </a:stretch>
        </p:blipFill>
        <p:spPr>
          <a:xfrm>
            <a:off x="10406747" y="4283075"/>
            <a:ext cx="8695450" cy="2362200"/>
          </a:xfrm>
          <a:prstGeom prst="rect">
            <a:avLst/>
          </a:prstGeom>
          <a:ln w="53975">
            <a:solidFill>
              <a:schemeClr val="accent1"/>
            </a:solidFill>
          </a:ln>
        </p:spPr>
      </p:pic>
    </p:spTree>
    <p:extLst>
      <p:ext uri="{BB962C8B-B14F-4D97-AF65-F5344CB8AC3E}">
        <p14:creationId xmlns:p14="http://schemas.microsoft.com/office/powerpoint/2010/main" val="7173999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CL" dirty="0"/>
              <a:t>MÉTODOS PREDICTIVOS</a:t>
            </a:r>
          </a:p>
        </p:txBody>
      </p:sp>
      <p:sp>
        <p:nvSpPr>
          <p:cNvPr id="3" name="CuadroTexto 2">
            <a:extLst>
              <a:ext uri="{FF2B5EF4-FFF2-40B4-BE49-F238E27FC236}">
                <a16:creationId xmlns:a16="http://schemas.microsoft.com/office/drawing/2014/main" id="{374B26D9-6484-8A3D-D1C7-2F2BBF65A190}"/>
              </a:ext>
            </a:extLst>
          </p:cNvPr>
          <p:cNvSpPr txBox="1"/>
          <p:nvPr/>
        </p:nvSpPr>
        <p:spPr>
          <a:xfrm>
            <a:off x="1898650" y="2530475"/>
            <a:ext cx="7798705" cy="6124754"/>
          </a:xfrm>
          <a:prstGeom prst="rect">
            <a:avLst/>
          </a:prstGeom>
          <a:noFill/>
        </p:spPr>
        <p:txBody>
          <a:bodyPr wrap="square" rtlCol="0">
            <a:spAutoFit/>
          </a:bodyPr>
          <a:lstStyle/>
          <a:p>
            <a:pPr algn="just"/>
            <a:r>
              <a:rPr lang="es-ES" sz="2800" dirty="0"/>
              <a:t>El objetivo de los modelos predictivos es </a:t>
            </a:r>
            <a:r>
              <a:rPr lang="es-ES" sz="2800" dirty="0">
                <a:solidFill>
                  <a:srgbClr val="FF0000"/>
                </a:solidFill>
              </a:rPr>
              <a:t>describir una o más de las variables en relación con todas las demás</a:t>
            </a:r>
            <a:r>
              <a:rPr lang="es-ES" sz="2800" dirty="0"/>
              <a:t>, son conocidos como </a:t>
            </a:r>
            <a:r>
              <a:rPr lang="es-CL" sz="2800" dirty="0"/>
              <a:t>métodos asimétricos, supervisados o directos.</a:t>
            </a:r>
          </a:p>
          <a:p>
            <a:pPr algn="just"/>
            <a:endParaRPr lang="es-CL" sz="2800" dirty="0"/>
          </a:p>
          <a:p>
            <a:pPr algn="just"/>
            <a:r>
              <a:rPr lang="es-CL" sz="2800" dirty="0"/>
              <a:t>Se llevan a cabo </a:t>
            </a:r>
            <a:r>
              <a:rPr lang="es-ES" sz="2800" dirty="0"/>
              <a:t>mediante la búsqueda de normas de clasificación o de predicción basada en los datos, estas normas nos ayudan  a predecir o clasificar el resultado futuro de una o más variables de respuesta o de destino en relación a lo que ocurre en la práctica con los motivos que la causan o bien en relación con las variables de entrada. </a:t>
            </a:r>
            <a:endParaRPr lang="es-CL" sz="2800" dirty="0"/>
          </a:p>
          <a:p>
            <a:pPr algn="l"/>
            <a:endParaRPr lang="es-CL" sz="2800" dirty="0"/>
          </a:p>
        </p:txBody>
      </p:sp>
      <p:sp>
        <p:nvSpPr>
          <p:cNvPr id="4" name="CuadroTexto 3">
            <a:extLst>
              <a:ext uri="{FF2B5EF4-FFF2-40B4-BE49-F238E27FC236}">
                <a16:creationId xmlns:a16="http://schemas.microsoft.com/office/drawing/2014/main" id="{7F1FBDA0-98CB-05A4-FDC9-23FF9B65A099}"/>
              </a:ext>
            </a:extLst>
          </p:cNvPr>
          <p:cNvSpPr txBox="1"/>
          <p:nvPr/>
        </p:nvSpPr>
        <p:spPr>
          <a:xfrm>
            <a:off x="3498850" y="10400007"/>
            <a:ext cx="9041258" cy="307777"/>
          </a:xfrm>
          <a:prstGeom prst="rect">
            <a:avLst/>
          </a:prstGeom>
          <a:noFill/>
        </p:spPr>
        <p:txBody>
          <a:bodyPr wrap="none" rtlCol="0">
            <a:spAutoFit/>
          </a:bodyPr>
          <a:lstStyle/>
          <a:p>
            <a:r>
              <a:rPr lang="es-CL" sz="1400" dirty="0"/>
              <a:t>Fuente: https://www.slideshare.net/lalopg/mtodos-predictivos-y-descriptivos-minera-de-datos?from_action=save</a:t>
            </a:r>
          </a:p>
        </p:txBody>
      </p:sp>
      <p:pic>
        <p:nvPicPr>
          <p:cNvPr id="5" name="Imagen 4">
            <a:extLst>
              <a:ext uri="{FF2B5EF4-FFF2-40B4-BE49-F238E27FC236}">
                <a16:creationId xmlns:a16="http://schemas.microsoft.com/office/drawing/2014/main" id="{180137F4-7FEE-4EEE-E346-4540F1318BD1}"/>
              </a:ext>
            </a:extLst>
          </p:cNvPr>
          <p:cNvPicPr>
            <a:picLocks noChangeAspect="1"/>
          </p:cNvPicPr>
          <p:nvPr/>
        </p:nvPicPr>
        <p:blipFill>
          <a:blip r:embed="rId2"/>
          <a:stretch>
            <a:fillRect/>
          </a:stretch>
        </p:blipFill>
        <p:spPr>
          <a:xfrm>
            <a:off x="11373756" y="2682875"/>
            <a:ext cx="7315200" cy="5486400"/>
          </a:xfrm>
          <a:prstGeom prst="rect">
            <a:avLst/>
          </a:prstGeom>
        </p:spPr>
      </p:pic>
    </p:spTree>
    <p:extLst>
      <p:ext uri="{BB962C8B-B14F-4D97-AF65-F5344CB8AC3E}">
        <p14:creationId xmlns:p14="http://schemas.microsoft.com/office/powerpoint/2010/main" val="1894191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CL" dirty="0"/>
              <a:t>MÉTODOS PREDICTIVOS</a:t>
            </a:r>
          </a:p>
        </p:txBody>
      </p:sp>
      <p:sp>
        <p:nvSpPr>
          <p:cNvPr id="3" name="CuadroTexto 2">
            <a:extLst>
              <a:ext uri="{FF2B5EF4-FFF2-40B4-BE49-F238E27FC236}">
                <a16:creationId xmlns:a16="http://schemas.microsoft.com/office/drawing/2014/main" id="{374B26D9-6484-8A3D-D1C7-2F2BBF65A190}"/>
              </a:ext>
            </a:extLst>
          </p:cNvPr>
          <p:cNvSpPr txBox="1"/>
          <p:nvPr/>
        </p:nvSpPr>
        <p:spPr>
          <a:xfrm>
            <a:off x="1898650" y="2530475"/>
            <a:ext cx="7798705" cy="3539430"/>
          </a:xfrm>
          <a:prstGeom prst="rect">
            <a:avLst/>
          </a:prstGeom>
          <a:noFill/>
        </p:spPr>
        <p:txBody>
          <a:bodyPr wrap="square" rtlCol="0">
            <a:spAutoFit/>
          </a:bodyPr>
          <a:lstStyle/>
          <a:p>
            <a:pPr algn="just"/>
            <a:r>
              <a:rPr lang="es-ES" sz="2800" dirty="0"/>
              <a:t>Los principales  métodos de este tipo son los desarrollados en el ámbito de la </a:t>
            </a:r>
            <a:r>
              <a:rPr lang="es-ES" sz="2800" dirty="0">
                <a:solidFill>
                  <a:srgbClr val="FF0000"/>
                </a:solidFill>
              </a:rPr>
              <a:t>máquina de aprendizaje</a:t>
            </a:r>
            <a:r>
              <a:rPr lang="es-ES" sz="2800" dirty="0"/>
              <a:t>, tales como las redes neuronales (perceptrón de multicapa y árboles de decisión), como también lo son </a:t>
            </a:r>
            <a:r>
              <a:rPr lang="es-ES" sz="2800" dirty="0">
                <a:solidFill>
                  <a:srgbClr val="FF0000"/>
                </a:solidFill>
              </a:rPr>
              <a:t>modelos estadísticos clásicos</a:t>
            </a:r>
            <a:r>
              <a:rPr lang="es-ES" sz="2800" dirty="0"/>
              <a:t>, como los modelos de </a:t>
            </a:r>
            <a:r>
              <a:rPr lang="es-CL" sz="2800" dirty="0"/>
              <a:t>regresión lineal y logística.</a:t>
            </a:r>
            <a:endParaRPr lang="es-ES" sz="2800" dirty="0"/>
          </a:p>
          <a:p>
            <a:pPr algn="l"/>
            <a:endParaRPr lang="es-CL" sz="2800" dirty="0"/>
          </a:p>
        </p:txBody>
      </p:sp>
      <p:sp>
        <p:nvSpPr>
          <p:cNvPr id="4" name="CuadroTexto 3">
            <a:extLst>
              <a:ext uri="{FF2B5EF4-FFF2-40B4-BE49-F238E27FC236}">
                <a16:creationId xmlns:a16="http://schemas.microsoft.com/office/drawing/2014/main" id="{7F1FBDA0-98CB-05A4-FDC9-23FF9B65A099}"/>
              </a:ext>
            </a:extLst>
          </p:cNvPr>
          <p:cNvSpPr txBox="1"/>
          <p:nvPr/>
        </p:nvSpPr>
        <p:spPr>
          <a:xfrm>
            <a:off x="3498850" y="10400007"/>
            <a:ext cx="9041258" cy="307777"/>
          </a:xfrm>
          <a:prstGeom prst="rect">
            <a:avLst/>
          </a:prstGeom>
          <a:noFill/>
        </p:spPr>
        <p:txBody>
          <a:bodyPr wrap="none" rtlCol="0">
            <a:spAutoFit/>
          </a:bodyPr>
          <a:lstStyle/>
          <a:p>
            <a:r>
              <a:rPr lang="es-CL" sz="1400" dirty="0"/>
              <a:t>Fuente: https://www.slideshare.net/lalopg/mtodos-predictivos-y-descriptivos-minera-de-datos?from_action=save</a:t>
            </a:r>
          </a:p>
        </p:txBody>
      </p:sp>
      <p:pic>
        <p:nvPicPr>
          <p:cNvPr id="5" name="Imagen 4">
            <a:extLst>
              <a:ext uri="{FF2B5EF4-FFF2-40B4-BE49-F238E27FC236}">
                <a16:creationId xmlns:a16="http://schemas.microsoft.com/office/drawing/2014/main" id="{DCB7083A-72BC-E3E9-CE37-BB6A3E0961C6}"/>
              </a:ext>
            </a:extLst>
          </p:cNvPr>
          <p:cNvPicPr>
            <a:picLocks noChangeAspect="1"/>
          </p:cNvPicPr>
          <p:nvPr/>
        </p:nvPicPr>
        <p:blipFill>
          <a:blip r:embed="rId2"/>
          <a:stretch>
            <a:fillRect/>
          </a:stretch>
        </p:blipFill>
        <p:spPr>
          <a:xfrm>
            <a:off x="11042650" y="3032601"/>
            <a:ext cx="8193095" cy="4740275"/>
          </a:xfrm>
          <a:prstGeom prst="rect">
            <a:avLst/>
          </a:prstGeom>
        </p:spPr>
      </p:pic>
    </p:spTree>
    <p:extLst>
      <p:ext uri="{BB962C8B-B14F-4D97-AF65-F5344CB8AC3E}">
        <p14:creationId xmlns:p14="http://schemas.microsoft.com/office/powerpoint/2010/main" val="3883839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CL" dirty="0"/>
              <a:t>MÉTODOS PREDICTIVOS</a:t>
            </a:r>
          </a:p>
        </p:txBody>
      </p:sp>
      <p:sp>
        <p:nvSpPr>
          <p:cNvPr id="3" name="CuadroTexto 2">
            <a:extLst>
              <a:ext uri="{FF2B5EF4-FFF2-40B4-BE49-F238E27FC236}">
                <a16:creationId xmlns:a16="http://schemas.microsoft.com/office/drawing/2014/main" id="{374B26D9-6484-8A3D-D1C7-2F2BBF65A190}"/>
              </a:ext>
            </a:extLst>
          </p:cNvPr>
          <p:cNvSpPr txBox="1"/>
          <p:nvPr/>
        </p:nvSpPr>
        <p:spPr>
          <a:xfrm>
            <a:off x="1898650" y="2530475"/>
            <a:ext cx="7798705" cy="7417415"/>
          </a:xfrm>
          <a:prstGeom prst="rect">
            <a:avLst/>
          </a:prstGeom>
          <a:noFill/>
        </p:spPr>
        <p:txBody>
          <a:bodyPr wrap="square" rtlCol="0">
            <a:spAutoFit/>
          </a:bodyPr>
          <a:lstStyle/>
          <a:p>
            <a:pPr algn="just"/>
            <a:r>
              <a:rPr lang="es-ES" sz="2800" dirty="0">
                <a:solidFill>
                  <a:srgbClr val="FF0000"/>
                </a:solidFill>
              </a:rPr>
              <a:t>Un modelo predictivo se basa en dos tablas</a:t>
            </a:r>
            <a:r>
              <a:rPr lang="es-ES" sz="2800" dirty="0"/>
              <a:t>, la tabla de aprendizaje o tabla de entrenamiento, con ella entrenamos al </a:t>
            </a:r>
            <a:r>
              <a:rPr lang="es-CL" sz="2800" dirty="0"/>
              <a:t>modelo.</a:t>
            </a:r>
          </a:p>
          <a:p>
            <a:pPr algn="just"/>
            <a:endParaRPr lang="es-CL" sz="2800" dirty="0"/>
          </a:p>
          <a:p>
            <a:pPr algn="just"/>
            <a:r>
              <a:rPr lang="es-ES" sz="2800" dirty="0"/>
              <a:t>Las variables Id, Reembolso, Estado civil e ingresos anuales se les llama predictores y la variable Fraude se le llama variable a </a:t>
            </a:r>
            <a:r>
              <a:rPr lang="es-CL" sz="2800" dirty="0"/>
              <a:t>predecir.</a:t>
            </a:r>
          </a:p>
          <a:p>
            <a:pPr algn="just"/>
            <a:endParaRPr lang="es-CL" sz="2800" dirty="0"/>
          </a:p>
          <a:p>
            <a:pPr algn="just"/>
            <a:r>
              <a:rPr lang="es-ES" sz="2800" dirty="0"/>
              <a:t>En esta tabla es dónde generamos el modelo con algún algoritmo, ya sea redes neuronales, árbol de decisión, etc. </a:t>
            </a:r>
          </a:p>
          <a:p>
            <a:pPr algn="just"/>
            <a:r>
              <a:rPr lang="es-ES" sz="2800" dirty="0"/>
              <a:t>En la tabla de </a:t>
            </a:r>
            <a:r>
              <a:rPr lang="es-ES" sz="2800" dirty="0" err="1"/>
              <a:t>testing</a:t>
            </a:r>
            <a:r>
              <a:rPr lang="es-ES" sz="2800" dirty="0"/>
              <a:t> es dónde aplicamos el modelo generado para poder medir la calidad de nuestro modelo y saber si está </a:t>
            </a:r>
            <a:r>
              <a:rPr lang="es-CL" sz="2800" dirty="0"/>
              <a:t>prediciendo de manera correcta </a:t>
            </a:r>
            <a:r>
              <a:rPr lang="es-ES" sz="2800" dirty="0"/>
              <a:t>comparando lo que tenemos en la tabla de aprendizaje con lo que contiene la </a:t>
            </a:r>
            <a:r>
              <a:rPr lang="es-CL" sz="2800" dirty="0"/>
              <a:t>tabla de </a:t>
            </a:r>
            <a:r>
              <a:rPr lang="es-CL" sz="2800" dirty="0" err="1"/>
              <a:t>testing</a:t>
            </a:r>
            <a:r>
              <a:rPr lang="es-CL" sz="2800" dirty="0"/>
              <a:t>.</a:t>
            </a:r>
          </a:p>
        </p:txBody>
      </p:sp>
      <p:sp>
        <p:nvSpPr>
          <p:cNvPr id="4" name="CuadroTexto 3">
            <a:extLst>
              <a:ext uri="{FF2B5EF4-FFF2-40B4-BE49-F238E27FC236}">
                <a16:creationId xmlns:a16="http://schemas.microsoft.com/office/drawing/2014/main" id="{7F1FBDA0-98CB-05A4-FDC9-23FF9B65A099}"/>
              </a:ext>
            </a:extLst>
          </p:cNvPr>
          <p:cNvSpPr txBox="1"/>
          <p:nvPr/>
        </p:nvSpPr>
        <p:spPr>
          <a:xfrm>
            <a:off x="3498850" y="10400007"/>
            <a:ext cx="9041258" cy="307777"/>
          </a:xfrm>
          <a:prstGeom prst="rect">
            <a:avLst/>
          </a:prstGeom>
          <a:noFill/>
        </p:spPr>
        <p:txBody>
          <a:bodyPr wrap="none" rtlCol="0">
            <a:spAutoFit/>
          </a:bodyPr>
          <a:lstStyle/>
          <a:p>
            <a:r>
              <a:rPr lang="es-CL" sz="1400" dirty="0"/>
              <a:t>Fuente: https://www.slideshare.net/lalopg/mtodos-predictivos-y-descriptivos-minera-de-datos?from_action=save</a:t>
            </a:r>
          </a:p>
        </p:txBody>
      </p:sp>
      <p:pic>
        <p:nvPicPr>
          <p:cNvPr id="9" name="Imagen 8">
            <a:extLst>
              <a:ext uri="{FF2B5EF4-FFF2-40B4-BE49-F238E27FC236}">
                <a16:creationId xmlns:a16="http://schemas.microsoft.com/office/drawing/2014/main" id="{9503A0F8-A140-B115-7591-116EF749CC39}"/>
              </a:ext>
            </a:extLst>
          </p:cNvPr>
          <p:cNvPicPr>
            <a:picLocks noChangeAspect="1"/>
          </p:cNvPicPr>
          <p:nvPr/>
        </p:nvPicPr>
        <p:blipFill>
          <a:blip r:embed="rId2"/>
          <a:stretch>
            <a:fillRect/>
          </a:stretch>
        </p:blipFill>
        <p:spPr>
          <a:xfrm>
            <a:off x="10385425" y="2930186"/>
            <a:ext cx="9203229" cy="6229689"/>
          </a:xfrm>
          <a:prstGeom prst="rect">
            <a:avLst/>
          </a:prstGeom>
        </p:spPr>
      </p:pic>
    </p:spTree>
    <p:extLst>
      <p:ext uri="{BB962C8B-B14F-4D97-AF65-F5344CB8AC3E}">
        <p14:creationId xmlns:p14="http://schemas.microsoft.com/office/powerpoint/2010/main" val="19370685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CL" dirty="0"/>
              <a:t>MÉTODOS PREDICTIVOS</a:t>
            </a:r>
          </a:p>
        </p:txBody>
      </p:sp>
      <p:sp>
        <p:nvSpPr>
          <p:cNvPr id="3" name="CuadroTexto 2">
            <a:extLst>
              <a:ext uri="{FF2B5EF4-FFF2-40B4-BE49-F238E27FC236}">
                <a16:creationId xmlns:a16="http://schemas.microsoft.com/office/drawing/2014/main" id="{374B26D9-6484-8A3D-D1C7-2F2BBF65A190}"/>
              </a:ext>
            </a:extLst>
          </p:cNvPr>
          <p:cNvSpPr txBox="1"/>
          <p:nvPr/>
        </p:nvSpPr>
        <p:spPr>
          <a:xfrm>
            <a:off x="1898650" y="2530475"/>
            <a:ext cx="8382000" cy="7971413"/>
          </a:xfrm>
          <a:prstGeom prst="rect">
            <a:avLst/>
          </a:prstGeom>
          <a:noFill/>
        </p:spPr>
        <p:txBody>
          <a:bodyPr wrap="square" rtlCol="0">
            <a:spAutoFit/>
          </a:bodyPr>
          <a:lstStyle/>
          <a:p>
            <a:pPr algn="just"/>
            <a:r>
              <a:rPr lang="es-ES" sz="2800" dirty="0">
                <a:solidFill>
                  <a:schemeClr val="tx1"/>
                </a:solidFill>
              </a:rPr>
              <a:t>Los </a:t>
            </a:r>
            <a:r>
              <a:rPr lang="es-ES" sz="2800" dirty="0">
                <a:solidFill>
                  <a:srgbClr val="FF0000"/>
                </a:solidFill>
              </a:rPr>
              <a:t>métodos predictivos de regresión </a:t>
            </a:r>
            <a:r>
              <a:rPr lang="es-ES" sz="2800" dirty="0">
                <a:solidFill>
                  <a:schemeClr val="tx1"/>
                </a:solidFill>
              </a:rPr>
              <a:t>son utilizados para </a:t>
            </a:r>
            <a:r>
              <a:rPr lang="es-ES" sz="2800" dirty="0">
                <a:solidFill>
                  <a:srgbClr val="FF0000"/>
                </a:solidFill>
              </a:rPr>
              <a:t>predecir valores numéricos </a:t>
            </a:r>
            <a:r>
              <a:rPr lang="es-ES" sz="2800" dirty="0">
                <a:solidFill>
                  <a:schemeClr val="tx1"/>
                </a:solidFill>
              </a:rPr>
              <a:t>basados en variables independientes. </a:t>
            </a:r>
          </a:p>
          <a:p>
            <a:pPr algn="just"/>
            <a:endParaRPr lang="es-ES" sz="2000" dirty="0">
              <a:solidFill>
                <a:schemeClr val="tx1"/>
              </a:solidFill>
            </a:endParaRPr>
          </a:p>
          <a:p>
            <a:pPr algn="l">
              <a:buFont typeface="+mj-lt"/>
              <a:buAutoNum type="arabicPeriod"/>
            </a:pPr>
            <a:r>
              <a:rPr lang="es-ES" sz="2000" dirty="0">
                <a:solidFill>
                  <a:schemeClr val="tx1"/>
                </a:solidFill>
              </a:rPr>
              <a:t>Variable Dependiente (Objetivo):</a:t>
            </a:r>
          </a:p>
          <a:p>
            <a:pPr marL="457200" lvl="1" algn="just"/>
            <a:r>
              <a:rPr lang="es-ES" sz="2000" dirty="0">
                <a:solidFill>
                  <a:schemeClr val="tx1"/>
                </a:solidFill>
              </a:rPr>
              <a:t>En la regresión, hay una variable  dependiente o de respuesta que se está prediciendo. Esta variable es continua y numérica.</a:t>
            </a:r>
          </a:p>
          <a:p>
            <a:pPr marL="457200" lvl="1" algn="just"/>
            <a:endParaRPr lang="es-ES" sz="2000" dirty="0">
              <a:solidFill>
                <a:schemeClr val="tx1"/>
              </a:solidFill>
            </a:endParaRPr>
          </a:p>
          <a:p>
            <a:pPr algn="l">
              <a:buFont typeface="+mj-lt"/>
              <a:buAutoNum type="arabicPeriod"/>
            </a:pPr>
            <a:r>
              <a:rPr lang="es-ES" sz="2000" dirty="0">
                <a:solidFill>
                  <a:schemeClr val="tx1"/>
                </a:solidFill>
              </a:rPr>
              <a:t>Variables Independientes (Atributos o Características):</a:t>
            </a:r>
          </a:p>
          <a:p>
            <a:pPr marL="457200" lvl="1" algn="just"/>
            <a:r>
              <a:rPr lang="es-ES" sz="2000" dirty="0">
                <a:solidFill>
                  <a:schemeClr val="tx1"/>
                </a:solidFill>
              </a:rPr>
              <a:t>Hay una o más variables independientes que se utilizan para predecir la variable dependiente. Estas son las características o atributos del modelo.</a:t>
            </a:r>
          </a:p>
          <a:p>
            <a:pPr marL="457200" lvl="1" algn="just"/>
            <a:endParaRPr lang="es-ES" sz="2000" dirty="0">
              <a:solidFill>
                <a:schemeClr val="tx1"/>
              </a:solidFill>
            </a:endParaRPr>
          </a:p>
          <a:p>
            <a:pPr algn="l">
              <a:buFont typeface="+mj-lt"/>
              <a:buAutoNum type="arabicPeriod"/>
            </a:pPr>
            <a:r>
              <a:rPr lang="es-ES" sz="2000" dirty="0">
                <a:solidFill>
                  <a:schemeClr val="tx1"/>
                </a:solidFill>
              </a:rPr>
              <a:t>Relación Lineal o No Lineal:</a:t>
            </a:r>
          </a:p>
          <a:p>
            <a:pPr marL="457200" lvl="1" algn="just"/>
            <a:r>
              <a:rPr lang="es-ES" sz="2000" dirty="0">
                <a:solidFill>
                  <a:schemeClr val="tx1"/>
                </a:solidFill>
              </a:rPr>
              <a:t>La relación entre las variables independientes y la variable dependiente puede ser lineal o no lineal. Los modelos de regresión lineal asumen una relación lineal, mientras que los modelos de regresión no lineal permiten relaciones más complejas.</a:t>
            </a:r>
          </a:p>
          <a:p>
            <a:pPr marL="457200" lvl="1" algn="just"/>
            <a:endParaRPr lang="es-ES" sz="2000" dirty="0">
              <a:solidFill>
                <a:schemeClr val="tx1"/>
              </a:solidFill>
            </a:endParaRPr>
          </a:p>
          <a:p>
            <a:pPr algn="l">
              <a:buFont typeface="+mj-lt"/>
              <a:buAutoNum type="arabicPeriod"/>
            </a:pPr>
            <a:r>
              <a:rPr lang="es-ES" sz="2000" dirty="0">
                <a:solidFill>
                  <a:schemeClr val="tx1"/>
                </a:solidFill>
              </a:rPr>
              <a:t>Evaluación del Rendimiento:</a:t>
            </a:r>
          </a:p>
          <a:p>
            <a:pPr marL="457200" lvl="1" algn="just"/>
            <a:r>
              <a:rPr lang="es-ES" sz="2000" dirty="0">
                <a:solidFill>
                  <a:schemeClr val="tx1"/>
                </a:solidFill>
              </a:rPr>
              <a:t>El rendimiento del modelo se evalúa utilizando métricas como el error cuadrático medio (MSE), el coeficiente de determinación (R²), o el error absoluto medio (MAE).</a:t>
            </a:r>
          </a:p>
          <a:p>
            <a:pPr algn="just"/>
            <a:endParaRPr lang="es-CL" sz="2800" dirty="0">
              <a:solidFill>
                <a:schemeClr val="tx1"/>
              </a:solidFill>
            </a:endParaRPr>
          </a:p>
        </p:txBody>
      </p:sp>
      <p:pic>
        <p:nvPicPr>
          <p:cNvPr id="5" name="Imagen 4">
            <a:extLst>
              <a:ext uri="{FF2B5EF4-FFF2-40B4-BE49-F238E27FC236}">
                <a16:creationId xmlns:a16="http://schemas.microsoft.com/office/drawing/2014/main" id="{0736CDF7-428D-32DE-CB2C-FD3FCB5D6EB8}"/>
              </a:ext>
            </a:extLst>
          </p:cNvPr>
          <p:cNvPicPr>
            <a:picLocks noChangeAspect="1"/>
          </p:cNvPicPr>
          <p:nvPr/>
        </p:nvPicPr>
        <p:blipFill>
          <a:blip r:embed="rId2"/>
          <a:stretch>
            <a:fillRect/>
          </a:stretch>
        </p:blipFill>
        <p:spPr>
          <a:xfrm>
            <a:off x="11195050" y="2835275"/>
            <a:ext cx="8623062" cy="5105400"/>
          </a:xfrm>
          <a:prstGeom prst="rect">
            <a:avLst/>
          </a:prstGeom>
        </p:spPr>
      </p:pic>
    </p:spTree>
    <p:extLst>
      <p:ext uri="{BB962C8B-B14F-4D97-AF65-F5344CB8AC3E}">
        <p14:creationId xmlns:p14="http://schemas.microsoft.com/office/powerpoint/2010/main" val="17545952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CL" dirty="0"/>
              <a:t>MÉTODOS PREDICTIVOS</a:t>
            </a:r>
          </a:p>
        </p:txBody>
      </p:sp>
      <p:sp>
        <p:nvSpPr>
          <p:cNvPr id="3" name="CuadroTexto 2">
            <a:extLst>
              <a:ext uri="{FF2B5EF4-FFF2-40B4-BE49-F238E27FC236}">
                <a16:creationId xmlns:a16="http://schemas.microsoft.com/office/drawing/2014/main" id="{374B26D9-6484-8A3D-D1C7-2F2BBF65A190}"/>
              </a:ext>
            </a:extLst>
          </p:cNvPr>
          <p:cNvSpPr txBox="1"/>
          <p:nvPr/>
        </p:nvSpPr>
        <p:spPr>
          <a:xfrm>
            <a:off x="1898650" y="2530475"/>
            <a:ext cx="8382000" cy="7663636"/>
          </a:xfrm>
          <a:prstGeom prst="rect">
            <a:avLst/>
          </a:prstGeom>
          <a:noFill/>
        </p:spPr>
        <p:txBody>
          <a:bodyPr wrap="square" rtlCol="0">
            <a:spAutoFit/>
          </a:bodyPr>
          <a:lstStyle/>
          <a:p>
            <a:pPr algn="just"/>
            <a:r>
              <a:rPr lang="es-ES" sz="2800" dirty="0">
                <a:solidFill>
                  <a:schemeClr val="tx1"/>
                </a:solidFill>
              </a:rPr>
              <a:t>Los </a:t>
            </a:r>
            <a:r>
              <a:rPr lang="es-ES" sz="2800" dirty="0">
                <a:solidFill>
                  <a:srgbClr val="FF0000"/>
                </a:solidFill>
              </a:rPr>
              <a:t>métodos predictivos de clasificación </a:t>
            </a:r>
            <a:r>
              <a:rPr lang="es-ES" sz="2800" dirty="0">
                <a:solidFill>
                  <a:schemeClr val="tx1"/>
                </a:solidFill>
              </a:rPr>
              <a:t>son utilizados para </a:t>
            </a:r>
            <a:r>
              <a:rPr lang="es-ES" sz="2800" dirty="0">
                <a:solidFill>
                  <a:srgbClr val="FF0000"/>
                </a:solidFill>
              </a:rPr>
              <a:t>asignar observaciones a categorías o clases discretas</a:t>
            </a:r>
            <a:r>
              <a:rPr lang="es-ES" sz="2800" dirty="0">
                <a:solidFill>
                  <a:schemeClr val="tx1"/>
                </a:solidFill>
              </a:rPr>
              <a:t>. </a:t>
            </a:r>
          </a:p>
          <a:p>
            <a:pPr algn="just"/>
            <a:endParaRPr lang="es-ES" sz="2000" dirty="0">
              <a:solidFill>
                <a:schemeClr val="tx1"/>
              </a:solidFill>
            </a:endParaRPr>
          </a:p>
          <a:p>
            <a:pPr algn="just"/>
            <a:r>
              <a:rPr lang="es-ES" sz="2000" dirty="0">
                <a:solidFill>
                  <a:schemeClr val="tx1"/>
                </a:solidFill>
              </a:rPr>
              <a:t>1. Variable Dependiente (Objetivo):</a:t>
            </a:r>
          </a:p>
          <a:p>
            <a:pPr marL="457200" lvl="1" algn="l"/>
            <a:r>
              <a:rPr lang="es-ES" sz="2000" dirty="0">
                <a:solidFill>
                  <a:schemeClr val="tx1"/>
                </a:solidFill>
              </a:rPr>
              <a:t>En la clasificación, hay una variable dependiente que representa la categoría o clase a predecir. Esta variable es categórica y discreta.</a:t>
            </a:r>
          </a:p>
          <a:p>
            <a:pPr marL="457200" lvl="1" algn="l"/>
            <a:endParaRPr lang="es-ES" sz="2000" dirty="0">
              <a:solidFill>
                <a:schemeClr val="tx1"/>
              </a:solidFill>
            </a:endParaRPr>
          </a:p>
          <a:p>
            <a:pPr marL="457200" indent="-457200" algn="l">
              <a:buFont typeface="+mj-lt"/>
              <a:buAutoNum type="arabicPeriod" startAt="2"/>
            </a:pPr>
            <a:r>
              <a:rPr lang="es-ES" sz="2000" dirty="0">
                <a:solidFill>
                  <a:schemeClr val="tx1"/>
                </a:solidFill>
              </a:rPr>
              <a:t>Variables Independientes (Atributos o Características):</a:t>
            </a:r>
          </a:p>
          <a:p>
            <a:pPr marL="457200" lvl="1" algn="l"/>
            <a:r>
              <a:rPr lang="es-ES" sz="2000" dirty="0">
                <a:solidFill>
                  <a:schemeClr val="tx1"/>
                </a:solidFill>
              </a:rPr>
              <a:t>Hay una o más variables independientes que se utilizan para predecir la variable dependiente. Estas son las características o atributos del modelo.</a:t>
            </a:r>
          </a:p>
          <a:p>
            <a:pPr marL="457200" lvl="1" algn="l"/>
            <a:endParaRPr lang="es-ES" sz="2000" dirty="0">
              <a:solidFill>
                <a:schemeClr val="tx1"/>
              </a:solidFill>
            </a:endParaRPr>
          </a:p>
          <a:p>
            <a:pPr marL="457200" indent="-457200" algn="l">
              <a:buFont typeface="+mj-lt"/>
              <a:buAutoNum type="arabicPeriod" startAt="2"/>
            </a:pPr>
            <a:r>
              <a:rPr lang="es-ES" sz="2000" dirty="0">
                <a:solidFill>
                  <a:schemeClr val="tx1"/>
                </a:solidFill>
              </a:rPr>
              <a:t>Categorías o Clases:</a:t>
            </a:r>
          </a:p>
          <a:p>
            <a:pPr marL="457200" lvl="1" algn="l"/>
            <a:r>
              <a:rPr lang="es-ES" sz="2000" dirty="0">
                <a:solidFill>
                  <a:schemeClr val="tx1"/>
                </a:solidFill>
              </a:rPr>
              <a:t>El conjunto de categorías o clases posibles a predecir define la naturaleza de la clasificación. Pueden ser binarias (dos clases) o </a:t>
            </a:r>
            <a:r>
              <a:rPr lang="es-ES" sz="2000" dirty="0" err="1">
                <a:solidFill>
                  <a:schemeClr val="tx1"/>
                </a:solidFill>
              </a:rPr>
              <a:t>multinarias</a:t>
            </a:r>
            <a:r>
              <a:rPr lang="es-ES" sz="2000" dirty="0">
                <a:solidFill>
                  <a:schemeClr val="tx1"/>
                </a:solidFill>
              </a:rPr>
              <a:t> (más de dos clases).</a:t>
            </a:r>
          </a:p>
          <a:p>
            <a:pPr marL="457200" lvl="1" algn="l"/>
            <a:endParaRPr lang="es-ES" sz="2000" dirty="0">
              <a:solidFill>
                <a:schemeClr val="tx1"/>
              </a:solidFill>
            </a:endParaRPr>
          </a:p>
          <a:p>
            <a:pPr marL="457200" indent="-457200" algn="l">
              <a:buFont typeface="+mj-lt"/>
              <a:buAutoNum type="arabicPeriod" startAt="2"/>
            </a:pPr>
            <a:r>
              <a:rPr lang="es-ES" sz="2000" dirty="0">
                <a:solidFill>
                  <a:schemeClr val="tx1"/>
                </a:solidFill>
              </a:rPr>
              <a:t>Evaluación del Rendimiento:</a:t>
            </a:r>
          </a:p>
          <a:p>
            <a:pPr marL="457200" lvl="1" algn="l"/>
            <a:r>
              <a:rPr lang="es-ES" sz="2000" dirty="0">
                <a:solidFill>
                  <a:schemeClr val="tx1"/>
                </a:solidFill>
              </a:rPr>
              <a:t>El rendimiento del modelo se evalúa utilizando métricas como precisión, </a:t>
            </a:r>
            <a:r>
              <a:rPr lang="es-ES" sz="2000" dirty="0" err="1">
                <a:solidFill>
                  <a:schemeClr val="tx1"/>
                </a:solidFill>
              </a:rPr>
              <a:t>recall</a:t>
            </a:r>
            <a:r>
              <a:rPr lang="es-ES" sz="2000" dirty="0">
                <a:solidFill>
                  <a:schemeClr val="tx1"/>
                </a:solidFill>
              </a:rPr>
              <a:t>, F1-score, matriz de confusión, área bajo la curva ROC (AUC-ROC), entre otras.</a:t>
            </a:r>
          </a:p>
          <a:p>
            <a:pPr algn="just"/>
            <a:endParaRPr lang="es-CL" sz="2800" dirty="0">
              <a:solidFill>
                <a:schemeClr val="tx1"/>
              </a:solidFill>
            </a:endParaRPr>
          </a:p>
        </p:txBody>
      </p:sp>
      <p:pic>
        <p:nvPicPr>
          <p:cNvPr id="7" name="Imagen 6">
            <a:extLst>
              <a:ext uri="{FF2B5EF4-FFF2-40B4-BE49-F238E27FC236}">
                <a16:creationId xmlns:a16="http://schemas.microsoft.com/office/drawing/2014/main" id="{9BBF2848-5AB0-476D-C454-6C4B18113DD9}"/>
              </a:ext>
            </a:extLst>
          </p:cNvPr>
          <p:cNvPicPr>
            <a:picLocks noChangeAspect="1"/>
          </p:cNvPicPr>
          <p:nvPr/>
        </p:nvPicPr>
        <p:blipFill>
          <a:blip r:embed="rId2"/>
          <a:stretch>
            <a:fillRect/>
          </a:stretch>
        </p:blipFill>
        <p:spPr>
          <a:xfrm>
            <a:off x="11195050" y="2682875"/>
            <a:ext cx="8457786" cy="5029200"/>
          </a:xfrm>
          <a:prstGeom prst="rect">
            <a:avLst/>
          </a:prstGeom>
        </p:spPr>
      </p:pic>
    </p:spTree>
    <p:extLst>
      <p:ext uri="{BB962C8B-B14F-4D97-AF65-F5344CB8AC3E}">
        <p14:creationId xmlns:p14="http://schemas.microsoft.com/office/powerpoint/2010/main" val="9731435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624723-9968-7E43-AF4C-4EA396BDB1BC}"/>
              </a:ext>
            </a:extLst>
          </p:cNvPr>
          <p:cNvSpPr>
            <a:spLocks noGrp="1"/>
          </p:cNvSpPr>
          <p:nvPr>
            <p:ph type="title"/>
          </p:nvPr>
        </p:nvSpPr>
        <p:spPr>
          <a:xfrm>
            <a:off x="222250" y="7407275"/>
            <a:ext cx="10393528" cy="2031325"/>
          </a:xfrm>
        </p:spPr>
        <p:txBody>
          <a:bodyPr/>
          <a:lstStyle/>
          <a:p>
            <a:r>
              <a:rPr lang="es-CL" sz="6600" dirty="0"/>
              <a:t>MÉTODOS DESCRIPTIVOS</a:t>
            </a:r>
          </a:p>
        </p:txBody>
      </p:sp>
      <p:sp>
        <p:nvSpPr>
          <p:cNvPr id="3" name="Título 1">
            <a:extLst>
              <a:ext uri="{FF2B5EF4-FFF2-40B4-BE49-F238E27FC236}">
                <a16:creationId xmlns:a16="http://schemas.microsoft.com/office/drawing/2014/main" id="{E4D7CDB3-E365-8648-9D80-6AFDB724300B}"/>
              </a:ext>
            </a:extLst>
          </p:cNvPr>
          <p:cNvSpPr txBox="1">
            <a:spLocks/>
          </p:cNvSpPr>
          <p:nvPr/>
        </p:nvSpPr>
        <p:spPr>
          <a:xfrm>
            <a:off x="9089872" y="6188075"/>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9600" dirty="0">
                <a:latin typeface="Arial Black" panose="020B0604020202020204" pitchFamily="34" charset="0"/>
                <a:cs typeface="Arial Black" panose="020B0604020202020204" pitchFamily="34" charset="0"/>
              </a:rPr>
              <a:t>03</a:t>
            </a:r>
          </a:p>
        </p:txBody>
      </p:sp>
    </p:spTree>
    <p:extLst>
      <p:ext uri="{BB962C8B-B14F-4D97-AF65-F5344CB8AC3E}">
        <p14:creationId xmlns:p14="http://schemas.microsoft.com/office/powerpoint/2010/main" val="3735245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p:txBody>
          <a:bodyPr/>
          <a:lstStyle/>
          <a:p>
            <a:r>
              <a:rPr lang="es-CL" dirty="0"/>
              <a:t>MÉTODOS DESCRIPTIVOS</a:t>
            </a:r>
          </a:p>
        </p:txBody>
      </p:sp>
      <p:sp>
        <p:nvSpPr>
          <p:cNvPr id="5" name="CuadroTexto 4">
            <a:extLst>
              <a:ext uri="{FF2B5EF4-FFF2-40B4-BE49-F238E27FC236}">
                <a16:creationId xmlns:a16="http://schemas.microsoft.com/office/drawing/2014/main" id="{880AC1F8-F5E3-EED1-E241-DFBFD3CD9269}"/>
              </a:ext>
            </a:extLst>
          </p:cNvPr>
          <p:cNvSpPr txBox="1"/>
          <p:nvPr/>
        </p:nvSpPr>
        <p:spPr>
          <a:xfrm>
            <a:off x="2051050" y="2835275"/>
            <a:ext cx="8610600" cy="6124754"/>
          </a:xfrm>
          <a:prstGeom prst="rect">
            <a:avLst/>
          </a:prstGeom>
          <a:noFill/>
        </p:spPr>
        <p:txBody>
          <a:bodyPr wrap="square" rtlCol="0">
            <a:spAutoFit/>
          </a:bodyPr>
          <a:lstStyle/>
          <a:p>
            <a:pPr algn="just"/>
            <a:r>
              <a:rPr lang="es-CL" sz="2800" dirty="0"/>
              <a:t>Los Métodos Descriptivos o aprendizaje no supervisado </a:t>
            </a:r>
            <a:r>
              <a:rPr lang="es-CL" sz="2800" dirty="0">
                <a:solidFill>
                  <a:srgbClr val="FF0000"/>
                </a:solidFill>
              </a:rPr>
              <a:t>permiten </a:t>
            </a:r>
            <a:r>
              <a:rPr lang="es-ES" sz="2800" dirty="0">
                <a:solidFill>
                  <a:srgbClr val="FF0000"/>
                </a:solidFill>
              </a:rPr>
              <a:t>formar grupos de datos  rápidamente</a:t>
            </a:r>
            <a:r>
              <a:rPr lang="es-ES" sz="2800" dirty="0"/>
              <a:t>, también son conocidos </a:t>
            </a:r>
            <a:r>
              <a:rPr lang="es-CL" sz="2800" dirty="0"/>
              <a:t>como métodos simétricos, no supervisados o indirectos.</a:t>
            </a:r>
          </a:p>
          <a:p>
            <a:pPr algn="just"/>
            <a:endParaRPr lang="es-CL" sz="2800" dirty="0"/>
          </a:p>
          <a:p>
            <a:pPr algn="just"/>
            <a:r>
              <a:rPr lang="es-CL" sz="2800" dirty="0"/>
              <a:t>Las </a:t>
            </a:r>
            <a:r>
              <a:rPr lang="es-ES" sz="2800" dirty="0"/>
              <a:t>observaciones son generalmente clasificadas en grupos que no son conocidos con anterioridad, los elementos de las variables pueden estar conectados entre sí de acuerdo a vínculos desconocidos de antemano, de esta manera, todas las variables disponibles son tratados en el mismo nivel y no hay hipótesis de causalidad.</a:t>
            </a:r>
          </a:p>
          <a:p>
            <a:pPr algn="just"/>
            <a:endParaRPr lang="es-ES" sz="2800" dirty="0"/>
          </a:p>
          <a:p>
            <a:pPr algn="just"/>
            <a:endParaRPr lang="es-ES" sz="2800" dirty="0"/>
          </a:p>
        </p:txBody>
      </p:sp>
      <p:pic>
        <p:nvPicPr>
          <p:cNvPr id="6" name="Imagen 5">
            <a:extLst>
              <a:ext uri="{FF2B5EF4-FFF2-40B4-BE49-F238E27FC236}">
                <a16:creationId xmlns:a16="http://schemas.microsoft.com/office/drawing/2014/main" id="{C3E3DDCC-58B7-A31D-22E7-344706FEAA4C}"/>
              </a:ext>
            </a:extLst>
          </p:cNvPr>
          <p:cNvPicPr>
            <a:picLocks noChangeAspect="1"/>
          </p:cNvPicPr>
          <p:nvPr/>
        </p:nvPicPr>
        <p:blipFill>
          <a:blip r:embed="rId2"/>
          <a:stretch>
            <a:fillRect/>
          </a:stretch>
        </p:blipFill>
        <p:spPr>
          <a:xfrm>
            <a:off x="11957050" y="2835275"/>
            <a:ext cx="6534150" cy="5086350"/>
          </a:xfrm>
          <a:prstGeom prst="rect">
            <a:avLst/>
          </a:prstGeom>
        </p:spPr>
      </p:pic>
    </p:spTree>
    <p:extLst>
      <p:ext uri="{BB962C8B-B14F-4D97-AF65-F5344CB8AC3E}">
        <p14:creationId xmlns:p14="http://schemas.microsoft.com/office/powerpoint/2010/main" val="10678114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p:txBody>
          <a:bodyPr/>
          <a:lstStyle/>
          <a:p>
            <a:r>
              <a:rPr lang="es-CL" dirty="0"/>
              <a:t>MÉTODOS DESCRIPTIVOS</a:t>
            </a:r>
          </a:p>
        </p:txBody>
      </p:sp>
      <p:sp>
        <p:nvSpPr>
          <p:cNvPr id="5" name="CuadroTexto 4">
            <a:extLst>
              <a:ext uri="{FF2B5EF4-FFF2-40B4-BE49-F238E27FC236}">
                <a16:creationId xmlns:a16="http://schemas.microsoft.com/office/drawing/2014/main" id="{880AC1F8-F5E3-EED1-E241-DFBFD3CD9269}"/>
              </a:ext>
            </a:extLst>
          </p:cNvPr>
          <p:cNvSpPr txBox="1"/>
          <p:nvPr/>
        </p:nvSpPr>
        <p:spPr>
          <a:xfrm>
            <a:off x="2051050" y="2835275"/>
            <a:ext cx="8610600" cy="7048083"/>
          </a:xfrm>
          <a:prstGeom prst="rect">
            <a:avLst/>
          </a:prstGeom>
          <a:noFill/>
        </p:spPr>
        <p:txBody>
          <a:bodyPr wrap="square" rtlCol="0">
            <a:spAutoFit/>
          </a:bodyPr>
          <a:lstStyle/>
          <a:p>
            <a:pPr algn="just"/>
            <a:r>
              <a:rPr lang="es-CL" sz="2800" dirty="0"/>
              <a:t>Dentro de los métodos descriptivos, ya hemos vistos los de </a:t>
            </a:r>
            <a:r>
              <a:rPr lang="es-CL" sz="2800" dirty="0">
                <a:solidFill>
                  <a:srgbClr val="FF0000"/>
                </a:solidFill>
              </a:rPr>
              <a:t>asociación</a:t>
            </a:r>
            <a:r>
              <a:rPr lang="es-CL" sz="2800" dirty="0"/>
              <a:t>. Se caracterizan por :</a:t>
            </a:r>
          </a:p>
          <a:p>
            <a:pPr algn="just"/>
            <a:endParaRPr lang="es-CL" sz="2000" dirty="0">
              <a:solidFill>
                <a:schemeClr val="tx1"/>
              </a:solidFill>
            </a:endParaRPr>
          </a:p>
          <a:p>
            <a:pPr algn="l">
              <a:buFont typeface="+mj-lt"/>
              <a:buAutoNum type="arabicPeriod"/>
            </a:pPr>
            <a:r>
              <a:rPr lang="es-ES" sz="2000" dirty="0">
                <a:solidFill>
                  <a:schemeClr val="tx1"/>
                </a:solidFill>
              </a:rPr>
              <a:t>Descubrimiento de Patrones:</a:t>
            </a:r>
          </a:p>
          <a:p>
            <a:pPr marL="457200" lvl="1" algn="l"/>
            <a:r>
              <a:rPr lang="es-ES" sz="2000" dirty="0">
                <a:solidFill>
                  <a:schemeClr val="tx1"/>
                </a:solidFill>
              </a:rPr>
              <a:t>El objetivo principal es descubrir patrones y relaciones interesantes entre los elementos de un conjunto de datos. Estas relaciones pueden ser reglas de asociación que indican la ocurrencia conjunta de ciertos elementos.</a:t>
            </a:r>
          </a:p>
          <a:p>
            <a:pPr algn="l">
              <a:buFont typeface="+mj-lt"/>
              <a:buAutoNum type="arabicPeriod"/>
            </a:pPr>
            <a:r>
              <a:rPr lang="es-ES" sz="2000" dirty="0">
                <a:solidFill>
                  <a:schemeClr val="tx1"/>
                </a:solidFill>
              </a:rPr>
              <a:t>Datos Transaccionales:</a:t>
            </a:r>
          </a:p>
          <a:p>
            <a:pPr marL="457200" lvl="1" algn="l"/>
            <a:r>
              <a:rPr lang="es-ES" sz="2000" dirty="0">
                <a:solidFill>
                  <a:schemeClr val="tx1"/>
                </a:solidFill>
              </a:rPr>
              <a:t>Se utilizan comúnmente en conjuntos de datos transaccionales, donde las observaciones están asociadas con transacciones, eventos o elementos que ocurren juntos.</a:t>
            </a:r>
          </a:p>
          <a:p>
            <a:pPr algn="l">
              <a:buFont typeface="+mj-lt"/>
              <a:buAutoNum type="arabicPeriod"/>
            </a:pPr>
            <a:r>
              <a:rPr lang="es-ES" sz="2000" dirty="0">
                <a:solidFill>
                  <a:schemeClr val="tx1"/>
                </a:solidFill>
              </a:rPr>
              <a:t>Soporte, Confianza y </a:t>
            </a:r>
            <a:r>
              <a:rPr lang="es-ES" sz="2000" dirty="0" err="1">
                <a:solidFill>
                  <a:schemeClr val="tx1"/>
                </a:solidFill>
              </a:rPr>
              <a:t>Lift</a:t>
            </a:r>
            <a:r>
              <a:rPr lang="es-ES" sz="2000" dirty="0">
                <a:solidFill>
                  <a:schemeClr val="tx1"/>
                </a:solidFill>
              </a:rPr>
              <a:t>:</a:t>
            </a:r>
          </a:p>
          <a:p>
            <a:pPr marL="457200" lvl="1" algn="l"/>
            <a:r>
              <a:rPr lang="es-ES" sz="2000" dirty="0">
                <a:solidFill>
                  <a:schemeClr val="tx1"/>
                </a:solidFill>
              </a:rPr>
              <a:t>Se emplean medidas como el soporte (frecuencia relativa de una regla), la confianza (probabilidad condicional de que ocurra la consecuencia dado el antecedente) y el </a:t>
            </a:r>
            <a:r>
              <a:rPr lang="es-ES" sz="2000" dirty="0" err="1">
                <a:solidFill>
                  <a:schemeClr val="tx1"/>
                </a:solidFill>
              </a:rPr>
              <a:t>lift</a:t>
            </a:r>
            <a:r>
              <a:rPr lang="es-ES" sz="2000" dirty="0">
                <a:solidFill>
                  <a:schemeClr val="tx1"/>
                </a:solidFill>
              </a:rPr>
              <a:t> (la medida de cómo es probable que ocurra la consecuencia dado el antecedente, en comparación con si fueran eventos independientes).</a:t>
            </a:r>
          </a:p>
          <a:p>
            <a:pPr algn="just"/>
            <a:endParaRPr lang="es-ES" sz="2000" dirty="0">
              <a:solidFill>
                <a:schemeClr val="tx1"/>
              </a:solidFill>
            </a:endParaRPr>
          </a:p>
          <a:p>
            <a:pPr algn="just"/>
            <a:endParaRPr lang="es-ES" sz="2800" dirty="0"/>
          </a:p>
          <a:p>
            <a:pPr algn="just"/>
            <a:endParaRPr lang="es-ES" sz="2800" dirty="0"/>
          </a:p>
        </p:txBody>
      </p:sp>
      <p:pic>
        <p:nvPicPr>
          <p:cNvPr id="3" name="Imagen 2">
            <a:extLst>
              <a:ext uri="{FF2B5EF4-FFF2-40B4-BE49-F238E27FC236}">
                <a16:creationId xmlns:a16="http://schemas.microsoft.com/office/drawing/2014/main" id="{81A1A01A-DB53-82B5-9597-E55AD2B9147F}"/>
              </a:ext>
            </a:extLst>
          </p:cNvPr>
          <p:cNvPicPr>
            <a:picLocks noChangeAspect="1"/>
          </p:cNvPicPr>
          <p:nvPr/>
        </p:nvPicPr>
        <p:blipFill>
          <a:blip r:embed="rId2"/>
          <a:stretch>
            <a:fillRect/>
          </a:stretch>
        </p:blipFill>
        <p:spPr>
          <a:xfrm>
            <a:off x="11728450" y="2818493"/>
            <a:ext cx="7348856" cy="5274582"/>
          </a:xfrm>
          <a:prstGeom prst="rect">
            <a:avLst/>
          </a:prstGeom>
        </p:spPr>
      </p:pic>
    </p:spTree>
    <p:extLst>
      <p:ext uri="{BB962C8B-B14F-4D97-AF65-F5344CB8AC3E}">
        <p14:creationId xmlns:p14="http://schemas.microsoft.com/office/powerpoint/2010/main" val="33253414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2B839-E8CF-BF4D-93B8-0EE81E2A4A95}"/>
              </a:ext>
            </a:extLst>
          </p:cNvPr>
          <p:cNvSpPr>
            <a:spLocks noGrp="1"/>
          </p:cNvSpPr>
          <p:nvPr>
            <p:ph type="title"/>
          </p:nvPr>
        </p:nvSpPr>
        <p:spPr/>
        <p:txBody>
          <a:bodyPr/>
          <a:lstStyle/>
          <a:p>
            <a:r>
              <a:rPr lang="es-CL" dirty="0"/>
              <a:t>MÉTODOS DESCRIPTIVOS</a:t>
            </a:r>
          </a:p>
        </p:txBody>
      </p:sp>
      <p:sp>
        <p:nvSpPr>
          <p:cNvPr id="5" name="CuadroTexto 4">
            <a:extLst>
              <a:ext uri="{FF2B5EF4-FFF2-40B4-BE49-F238E27FC236}">
                <a16:creationId xmlns:a16="http://schemas.microsoft.com/office/drawing/2014/main" id="{880AC1F8-F5E3-EED1-E241-DFBFD3CD9269}"/>
              </a:ext>
            </a:extLst>
          </p:cNvPr>
          <p:cNvSpPr txBox="1"/>
          <p:nvPr/>
        </p:nvSpPr>
        <p:spPr>
          <a:xfrm>
            <a:off x="2051050" y="2835275"/>
            <a:ext cx="8610600" cy="6001643"/>
          </a:xfrm>
          <a:prstGeom prst="rect">
            <a:avLst/>
          </a:prstGeom>
          <a:noFill/>
        </p:spPr>
        <p:txBody>
          <a:bodyPr wrap="square" rtlCol="0">
            <a:spAutoFit/>
          </a:bodyPr>
          <a:lstStyle/>
          <a:p>
            <a:pPr algn="just"/>
            <a:r>
              <a:rPr lang="es-CL" sz="2800" dirty="0"/>
              <a:t>También tenemos de </a:t>
            </a:r>
            <a:r>
              <a:rPr lang="es-CL" sz="2800" dirty="0">
                <a:solidFill>
                  <a:srgbClr val="FF0000"/>
                </a:solidFill>
              </a:rPr>
              <a:t>agrupamiento</a:t>
            </a:r>
            <a:r>
              <a:rPr lang="es-CL" sz="2800" dirty="0"/>
              <a:t>. Se caracterizan por :</a:t>
            </a:r>
          </a:p>
          <a:p>
            <a:pPr algn="l"/>
            <a:endParaRPr lang="es-CL" sz="2000" dirty="0">
              <a:solidFill>
                <a:schemeClr val="tx1"/>
              </a:solidFill>
            </a:endParaRPr>
          </a:p>
          <a:p>
            <a:pPr algn="l">
              <a:buFont typeface="+mj-lt"/>
              <a:buAutoNum type="arabicPeriod"/>
            </a:pPr>
            <a:r>
              <a:rPr lang="es-ES" sz="2000" dirty="0">
                <a:solidFill>
                  <a:schemeClr val="tx1"/>
                </a:solidFill>
              </a:rPr>
              <a:t>Agrupamiento de Observaciones:</a:t>
            </a:r>
          </a:p>
          <a:p>
            <a:pPr marL="457200" lvl="1" algn="l"/>
            <a:r>
              <a:rPr lang="es-ES" sz="2000" dirty="0">
                <a:solidFill>
                  <a:schemeClr val="tx1"/>
                </a:solidFill>
              </a:rPr>
              <a:t>El objetivo principal es agrupar observaciones (o instancias) similares en conjuntos o clústeres, donde las similitudes se definen en función de las características de los datos.</a:t>
            </a:r>
          </a:p>
          <a:p>
            <a:pPr algn="l">
              <a:buFont typeface="+mj-lt"/>
              <a:buAutoNum type="arabicPeriod"/>
            </a:pPr>
            <a:r>
              <a:rPr lang="es-ES" sz="2000" dirty="0">
                <a:solidFill>
                  <a:schemeClr val="tx1"/>
                </a:solidFill>
              </a:rPr>
              <a:t>Sin Etiquetas Predefinidas:</a:t>
            </a:r>
          </a:p>
          <a:p>
            <a:pPr marL="457200" lvl="1" algn="l"/>
            <a:r>
              <a:rPr lang="es-ES" sz="2000" dirty="0">
                <a:solidFill>
                  <a:schemeClr val="tx1"/>
                </a:solidFill>
              </a:rPr>
              <a:t>No requieren etiquetas predefinidas en los datos. El algoritmo agrupa los datos en función de sus similitudes sin necesidad de información adicional.</a:t>
            </a:r>
          </a:p>
          <a:p>
            <a:pPr algn="l">
              <a:buFont typeface="+mj-lt"/>
              <a:buAutoNum type="arabicPeriod"/>
            </a:pPr>
            <a:r>
              <a:rPr lang="es-ES" sz="2000" dirty="0">
                <a:solidFill>
                  <a:schemeClr val="tx1"/>
                </a:solidFill>
              </a:rPr>
              <a:t>Exploratorio:</a:t>
            </a:r>
          </a:p>
          <a:p>
            <a:pPr marL="457200" lvl="1" algn="l"/>
            <a:r>
              <a:rPr lang="es-ES" sz="2000" dirty="0">
                <a:solidFill>
                  <a:schemeClr val="tx1"/>
                </a:solidFill>
              </a:rPr>
              <a:t>Son técnicas exploratorias diseñadas para descubrir patrones y estructuras ocultas en los datos.</a:t>
            </a:r>
          </a:p>
          <a:p>
            <a:pPr algn="l">
              <a:buFont typeface="+mj-lt"/>
              <a:buAutoNum type="arabicPeriod"/>
            </a:pPr>
            <a:r>
              <a:rPr lang="es-ES" sz="2000" dirty="0">
                <a:solidFill>
                  <a:schemeClr val="tx1"/>
                </a:solidFill>
              </a:rPr>
              <a:t>Medidas de Similitud o Distancia:</a:t>
            </a:r>
          </a:p>
          <a:p>
            <a:pPr marL="457200" lvl="1" algn="l"/>
            <a:r>
              <a:rPr lang="es-ES" sz="2000" dirty="0">
                <a:solidFill>
                  <a:schemeClr val="tx1"/>
                </a:solidFill>
              </a:rPr>
              <a:t>Se utilizan medidas de similitud o distancia para determinar qué tan parecidas son dos observaciones. </a:t>
            </a:r>
          </a:p>
          <a:p>
            <a:pPr algn="just"/>
            <a:endParaRPr lang="es-CL" sz="2800" dirty="0"/>
          </a:p>
        </p:txBody>
      </p:sp>
      <p:pic>
        <p:nvPicPr>
          <p:cNvPr id="3" name="Imagen 2">
            <a:extLst>
              <a:ext uri="{FF2B5EF4-FFF2-40B4-BE49-F238E27FC236}">
                <a16:creationId xmlns:a16="http://schemas.microsoft.com/office/drawing/2014/main" id="{DFD7CFF8-E105-B992-750A-7F496AD7FD4F}"/>
              </a:ext>
            </a:extLst>
          </p:cNvPr>
          <p:cNvPicPr>
            <a:picLocks noChangeAspect="1"/>
          </p:cNvPicPr>
          <p:nvPr/>
        </p:nvPicPr>
        <p:blipFill>
          <a:blip r:embed="rId2"/>
          <a:stretch>
            <a:fillRect/>
          </a:stretch>
        </p:blipFill>
        <p:spPr>
          <a:xfrm>
            <a:off x="11739353" y="2911475"/>
            <a:ext cx="7680960" cy="5486400"/>
          </a:xfrm>
          <a:prstGeom prst="rect">
            <a:avLst/>
          </a:prstGeom>
        </p:spPr>
      </p:pic>
    </p:spTree>
    <p:extLst>
      <p:ext uri="{BB962C8B-B14F-4D97-AF65-F5344CB8AC3E}">
        <p14:creationId xmlns:p14="http://schemas.microsoft.com/office/powerpoint/2010/main" val="6428227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7D15BE-E3B2-F743-9878-F149B7D92C0C}"/>
              </a:ext>
            </a:extLst>
          </p:cNvPr>
          <p:cNvSpPr>
            <a:spLocks noGrp="1"/>
          </p:cNvSpPr>
          <p:nvPr>
            <p:ph type="title"/>
          </p:nvPr>
        </p:nvSpPr>
        <p:spPr>
          <a:xfrm>
            <a:off x="6242050" y="9007475"/>
            <a:ext cx="9020022" cy="1015663"/>
          </a:xfrm>
        </p:spPr>
        <p:txBody>
          <a:bodyPr/>
          <a:lstStyle/>
          <a:p>
            <a:r>
              <a:rPr lang="es-CL" sz="6600" dirty="0"/>
              <a:t>RESUMEN</a:t>
            </a:r>
          </a:p>
        </p:txBody>
      </p:sp>
      <p:sp>
        <p:nvSpPr>
          <p:cNvPr id="3" name="Título 1">
            <a:extLst>
              <a:ext uri="{FF2B5EF4-FFF2-40B4-BE49-F238E27FC236}">
                <a16:creationId xmlns:a16="http://schemas.microsoft.com/office/drawing/2014/main" id="{9224DE7A-4464-F54B-B074-7663E7D43917}"/>
              </a:ext>
            </a:extLst>
          </p:cNvPr>
          <p:cNvSpPr txBox="1">
            <a:spLocks/>
          </p:cNvSpPr>
          <p:nvPr/>
        </p:nvSpPr>
        <p:spPr>
          <a:xfrm>
            <a:off x="6276975" y="7752358"/>
            <a:ext cx="1670957"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9600" dirty="0">
                <a:solidFill>
                  <a:srgbClr val="257CE1"/>
                </a:solidFill>
                <a:latin typeface="Arial Black" panose="020B0604020202020204" pitchFamily="34" charset="0"/>
                <a:cs typeface="Arial Black" panose="020B0604020202020204" pitchFamily="34" charset="0"/>
              </a:rPr>
              <a:t>04</a:t>
            </a:r>
          </a:p>
        </p:txBody>
      </p:sp>
    </p:spTree>
    <p:extLst>
      <p:ext uri="{BB962C8B-B14F-4D97-AF65-F5344CB8AC3E}">
        <p14:creationId xmlns:p14="http://schemas.microsoft.com/office/powerpoint/2010/main" val="1520246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CBCD8BF0-1144-D34D-8793-D9BC0214A663}"/>
              </a:ext>
            </a:extLst>
          </p:cNvPr>
          <p:cNvSpPr>
            <a:spLocks noGrp="1"/>
          </p:cNvSpPr>
          <p:nvPr>
            <p:ph type="body" sz="quarter" idx="10"/>
          </p:nvPr>
        </p:nvSpPr>
        <p:spPr/>
        <p:txBody>
          <a:bodyPr/>
          <a:lstStyle/>
          <a:p>
            <a:r>
              <a:rPr lang="es-CL" dirty="0"/>
              <a:t>RESUMEN</a:t>
            </a:r>
          </a:p>
        </p:txBody>
      </p:sp>
      <p:sp>
        <p:nvSpPr>
          <p:cNvPr id="3" name="CuadroTexto 2">
            <a:extLst>
              <a:ext uri="{FF2B5EF4-FFF2-40B4-BE49-F238E27FC236}">
                <a16:creationId xmlns:a16="http://schemas.microsoft.com/office/drawing/2014/main" id="{D27F119F-996A-54C1-08D8-A05CBD0E1453}"/>
              </a:ext>
            </a:extLst>
          </p:cNvPr>
          <p:cNvSpPr txBox="1"/>
          <p:nvPr/>
        </p:nvSpPr>
        <p:spPr>
          <a:xfrm>
            <a:off x="2279650" y="2682875"/>
            <a:ext cx="12192000" cy="3416320"/>
          </a:xfrm>
          <a:prstGeom prst="rect">
            <a:avLst/>
          </a:prstGeom>
          <a:noFill/>
        </p:spPr>
        <p:txBody>
          <a:bodyPr wrap="square" rtlCol="0">
            <a:spAutoFit/>
          </a:bodyPr>
          <a:lstStyle/>
          <a:p>
            <a:r>
              <a:rPr lang="es-CL" sz="2800" b="1" dirty="0">
                <a:latin typeface="Arial" panose="020B0604020202020204" pitchFamily="34" charset="0"/>
                <a:cs typeface="Arial" panose="020B0604020202020204" pitchFamily="34" charset="0"/>
              </a:rPr>
              <a:t>En esta presentación, hemos visto:</a:t>
            </a:r>
          </a:p>
          <a:p>
            <a:endParaRPr lang="es-CL" sz="2800" b="1"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q"/>
            </a:pPr>
            <a:r>
              <a:rPr lang="es-ES" sz="2800" dirty="0">
                <a:latin typeface="Arial" panose="020B0604020202020204" pitchFamily="34" charset="0"/>
                <a:cs typeface="Arial" panose="020B0604020202020204" pitchFamily="34" charset="0"/>
              </a:rPr>
              <a:t>Introducción a  </a:t>
            </a:r>
            <a:r>
              <a:rPr lang="es-ES" sz="2800">
                <a:latin typeface="Arial" panose="020B0604020202020204" pitchFamily="34" charset="0"/>
                <a:cs typeface="Arial" panose="020B0604020202020204" pitchFamily="34" charset="0"/>
              </a:rPr>
              <a:t>métodos predictivos y </a:t>
            </a:r>
            <a:r>
              <a:rPr lang="es-ES" sz="2800" dirty="0">
                <a:latin typeface="Arial" panose="020B0604020202020204" pitchFamily="34" charset="0"/>
                <a:cs typeface="Arial" panose="020B0604020202020204" pitchFamily="34" charset="0"/>
              </a:rPr>
              <a:t>descriptivos</a:t>
            </a:r>
          </a:p>
          <a:p>
            <a:pPr marL="457200" indent="-457200">
              <a:buFont typeface="Wingdings" panose="05000000000000000000" pitchFamily="2" charset="2"/>
              <a:buChar char="q"/>
            </a:pPr>
            <a:endParaRPr lang="es-ES" sz="2800"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q"/>
            </a:pPr>
            <a:r>
              <a:rPr lang="es-ES" sz="2800" dirty="0">
                <a:latin typeface="Arial" panose="020B0604020202020204" pitchFamily="34" charset="0"/>
                <a:cs typeface="Arial" panose="020B0604020202020204" pitchFamily="34" charset="0"/>
              </a:rPr>
              <a:t>Métodos predictivos</a:t>
            </a:r>
          </a:p>
          <a:p>
            <a:pPr marL="457200" indent="-457200">
              <a:buFont typeface="Wingdings" panose="05000000000000000000" pitchFamily="2" charset="2"/>
              <a:buChar char="q"/>
            </a:pPr>
            <a:endParaRPr lang="es-ES" sz="2800"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q"/>
            </a:pPr>
            <a:r>
              <a:rPr lang="es-ES" sz="2800" dirty="0">
                <a:latin typeface="Arial" panose="020B0604020202020204" pitchFamily="34" charset="0"/>
                <a:cs typeface="Arial" panose="020B0604020202020204" pitchFamily="34" charset="0"/>
              </a:rPr>
              <a:t>Métodos descriptivos</a:t>
            </a:r>
          </a:p>
          <a:p>
            <a:pPr algn="just"/>
            <a:endParaRPr lang="es-CL" sz="2000" dirty="0"/>
          </a:p>
        </p:txBody>
      </p:sp>
    </p:spTree>
    <p:extLst>
      <p:ext uri="{BB962C8B-B14F-4D97-AF65-F5344CB8AC3E}">
        <p14:creationId xmlns:p14="http://schemas.microsoft.com/office/powerpoint/2010/main" val="30569588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4E9A3AE23414AD41A4F4D6368514CED2" ma:contentTypeVersion="13" ma:contentTypeDescription="Crear nuevo documento." ma:contentTypeScope="" ma:versionID="e5b9210409080ab1878d310b63a91de2">
  <xsd:schema xmlns:xsd="http://www.w3.org/2001/XMLSchema" xmlns:xs="http://www.w3.org/2001/XMLSchema" xmlns:p="http://schemas.microsoft.com/office/2006/metadata/properties" xmlns:ns2="dbb86751-ad4c-49ff-a33d-b7314027950b" xmlns:ns3="4215e297-5d6e-42b1-b795-55976a17412c" targetNamespace="http://schemas.microsoft.com/office/2006/metadata/properties" ma:root="true" ma:fieldsID="13f1ec48c0d2d83b68390b1e0be9568b" ns2:_="" ns3:_="">
    <xsd:import namespace="dbb86751-ad4c-49ff-a33d-b7314027950b"/>
    <xsd:import namespace="4215e297-5d6e-42b1-b795-55976a17412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bb86751-ad4c-49ff-a33d-b7314027950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Etiquetas de imagen" ma:readOnly="false" ma:fieldId="{5cf76f15-5ced-4ddc-b409-7134ff3c332f}" ma:taxonomyMulti="true" ma:sspId="e2f773bf-f00b-42a6-8b07-050935be226b"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4215e297-5d6e-42b1-b795-55976a17412c" elementFormDefault="qualified">
    <xsd:import namespace="http://schemas.microsoft.com/office/2006/documentManagement/types"/>
    <xsd:import namespace="http://schemas.microsoft.com/office/infopath/2007/PartnerControls"/>
    <xsd:element name="SharedWithUsers" ma:index="16"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Detalles de uso compartido" ma:internalName="SharedWithDetails" ma:readOnly="true">
      <xsd:simpleType>
        <xsd:restriction base="dms:Note">
          <xsd:maxLength value="255"/>
        </xsd:restriction>
      </xsd:simpleType>
    </xsd:element>
    <xsd:element name="TaxCatchAll" ma:index="20" nillable="true" ma:displayName="Taxonomy Catch All Column" ma:hidden="true" ma:list="{f8d5977e-d2ec-4115-827c-1393f5edec4a}" ma:internalName="TaxCatchAll" ma:showField="CatchAllData" ma:web="4215e297-5d6e-42b1-b795-55976a1741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bb86751-ad4c-49ff-a33d-b7314027950b">
      <Terms xmlns="http://schemas.microsoft.com/office/infopath/2007/PartnerControls"/>
    </lcf76f155ced4ddcb4097134ff3c332f>
    <TaxCatchAll xmlns="4215e297-5d6e-42b1-b795-55976a17412c"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BBF0A18-574F-4CFD-981D-5882D694459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bb86751-ad4c-49ff-a33d-b7314027950b"/>
    <ds:schemaRef ds:uri="4215e297-5d6e-42b1-b795-55976a17412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D821600-D61B-433B-B6F8-A294D9BC75DD}">
  <ds:schemaRefs>
    <ds:schemaRef ds:uri="http://schemas.microsoft.com/office/2006/metadata/properties"/>
    <ds:schemaRef ds:uri="http://schemas.microsoft.com/office/infopath/2007/PartnerControls"/>
    <ds:schemaRef ds:uri="dbb86751-ad4c-49ff-a33d-b7314027950b"/>
    <ds:schemaRef ds:uri="4215e297-5d6e-42b1-b795-55976a17412c"/>
  </ds:schemaRefs>
</ds:datastoreItem>
</file>

<file path=customXml/itemProps3.xml><?xml version="1.0" encoding="utf-8"?>
<ds:datastoreItem xmlns:ds="http://schemas.openxmlformats.org/officeDocument/2006/customXml" ds:itemID="{64C43652-73DC-4C77-8E79-F06010C18C3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4504</TotalTime>
  <Words>1356</Words>
  <Application>Microsoft Office PowerPoint</Application>
  <PresentationFormat>Personalizado</PresentationFormat>
  <Paragraphs>119</Paragraphs>
  <Slides>18</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18</vt:i4>
      </vt:variant>
    </vt:vector>
  </HeadingPairs>
  <TitlesOfParts>
    <vt:vector size="23" baseType="lpstr">
      <vt:lpstr>Arial</vt:lpstr>
      <vt:lpstr>Arial Black</vt:lpstr>
      <vt:lpstr>Calibri</vt:lpstr>
      <vt:lpstr>Wingdings</vt:lpstr>
      <vt:lpstr>Office Theme</vt:lpstr>
      <vt:lpstr>MÉTODOS DESCRIPTIVOS Y PREDICTIVOS</vt:lpstr>
      <vt:lpstr>Presentación de PowerPoint</vt:lpstr>
      <vt:lpstr>INTRODUCCIÓN</vt:lpstr>
      <vt:lpstr>INTRODUCCIÓN</vt:lpstr>
      <vt:lpstr>INTRODUCCIÓN</vt:lpstr>
      <vt:lpstr>TÍTULO</vt:lpstr>
      <vt:lpstr>Presentación de PowerPoint</vt:lpstr>
      <vt:lpstr>Presentación de PowerPoint</vt:lpstr>
      <vt:lpstr>Presentación de PowerPoint</vt:lpstr>
      <vt:lpstr>Presentación de PowerPoint</vt:lpstr>
      <vt:lpstr>Presentación de PowerPoint</vt:lpstr>
      <vt:lpstr>Presentación de PowerPoint</vt:lpstr>
      <vt:lpstr>MÉTODOS DESCRIPTIVOS</vt:lpstr>
      <vt:lpstr>MÉTODOS DESCRIPTIVOS</vt:lpstr>
      <vt:lpstr>MÉTODOS DESCRIPTIVOS</vt:lpstr>
      <vt:lpstr>MÉTODOS DESCRIPTIVOS</vt:lpstr>
      <vt:lpstr>RESUMEN</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dc:title>
  <dc:creator>Daniela Taito R.</dc:creator>
  <cp:lastModifiedBy>Isabel Nuñez</cp:lastModifiedBy>
  <cp:revision>245</cp:revision>
  <dcterms:created xsi:type="dcterms:W3CDTF">2022-07-20T19:15:37Z</dcterms:created>
  <dcterms:modified xsi:type="dcterms:W3CDTF">2023-11-30T13:49:47Z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2022-07-20T00:00:00Z</vt:filetime>
  </property>
  <property fmtid="{D5CDD505-2E9C-101B-9397-08002B2CF9AE}" pid="3" name="Creator">
    <vt:lpwstr>Adobe Illustrator 26.3 (Macintosh)</vt:lpwstr>
  </property>
  <property fmtid="{D5CDD505-2E9C-101B-9397-08002B2CF9AE}" pid="4" name="CreatorVersion">
    <vt:lpwstr>21.0.0</vt:lpwstr>
  </property>
  <property fmtid="{D5CDD505-2E9C-101B-9397-08002B2CF9AE}" pid="5" name="LastSaved">
    <vt:filetime>2022-07-20T00:00:00Z</vt:filetime>
  </property>
  <property fmtid="{D5CDD505-2E9C-101B-9397-08002B2CF9AE}" pid="6" name="Producer">
    <vt:lpwstr>Adobe PDF library 15.00</vt:lpwstr>
  </property>
  <property fmtid="{D5CDD505-2E9C-101B-9397-08002B2CF9AE}" pid="7" name="ContentTypeId">
    <vt:lpwstr>0x0101004E9A3AE23414AD41A4F4D6368514CED2</vt:lpwstr>
  </property>
</Properties>
</file>