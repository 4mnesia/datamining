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65" r:id="rId5"/>
    <p:sldId id="259" r:id="rId6"/>
    <p:sldId id="260" r:id="rId7"/>
    <p:sldId id="261" r:id="rId8"/>
    <p:sldId id="262" r:id="rId9"/>
    <p:sldId id="263" r:id="rId10"/>
    <p:sldId id="264" r:id="rId11"/>
    <p:sldId id="271" r:id="rId12"/>
    <p:sldId id="266" r:id="rId13"/>
    <p:sldId id="267" r:id="rId14"/>
    <p:sldId id="268" r:id="rId15"/>
    <p:sldId id="269" r:id="rId16"/>
    <p:sldId id="270" r:id="rId17"/>
    <p:sldId id="285" r:id="rId18"/>
    <p:sldId id="286" r:id="rId19"/>
    <p:sldId id="287" r:id="rId20"/>
    <p:sldId id="288" r:id="rId21"/>
    <p:sldId id="284" r:id="rId22"/>
    <p:sldId id="272" r:id="rId23"/>
  </p:sldIdLst>
  <p:sldSz cx="20104100" cy="11309350"/>
  <p:notesSz cx="20104100" cy="11309350"/>
  <p:embeddedFontLst>
    <p:embeddedFont>
      <p:font typeface="Arial Black" panose="020B0A04020102020204" pitchFamily="34" charset="0"/>
      <p:regular r:id="rId25"/>
      <p:bold r:id="rId26"/>
    </p:embeddedFont>
    <p:embeddedFont>
      <p:font typeface="Calibri" panose="020F0502020204030204" pitchFamily="34" charset="0"/>
      <p:regular r:id="rId27"/>
      <p:bold r:id="rId28"/>
      <p:italic r:id="rId29"/>
      <p:boldItalic r:id="rId30"/>
    </p:embeddedFont>
    <p:embeddedFont>
      <p:font typeface="Helvetica Neue" panose="020B060402020202020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gr6QaUpg3cODlGLU/1/FaxNvAg8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120" y="120"/>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8712200" cy="566738"/>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 name="Google Shape;4;n"/>
          <p:cNvSpPr txBox="1">
            <a:spLocks noGrp="1"/>
          </p:cNvSpPr>
          <p:nvPr>
            <p:ph type="dt" idx="10"/>
          </p:nvPr>
        </p:nvSpPr>
        <p:spPr>
          <a:xfrm>
            <a:off x="11387138" y="0"/>
            <a:ext cx="8712200" cy="566738"/>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 name="Google Shape;5;n"/>
          <p:cNvSpPr>
            <a:spLocks noGrp="1" noRot="1" noChangeAspect="1"/>
          </p:cNvSpPr>
          <p:nvPr>
            <p:ph type="sldImg" idx="3"/>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2009775" y="5441950"/>
            <a:ext cx="16084550" cy="445452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742613"/>
            <a:ext cx="8712200" cy="56673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n"/>
          <p:cNvSpPr txBox="1">
            <a:spLocks noGrp="1"/>
          </p:cNvSpPr>
          <p:nvPr>
            <p:ph type="sldNum" idx="12"/>
          </p:nvPr>
        </p:nvSpPr>
        <p:spPr>
          <a:xfrm>
            <a:off x="11387138" y="10742613"/>
            <a:ext cx="8712200" cy="56673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sz="1200"/>
              <a:t>‹Nº›</a:t>
            </a:fld>
            <a:endParaRPr sz="120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1: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 name="Google Shape;72;p1: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2: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 name="Google Shape;78;p2: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3: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p3: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0: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10: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4: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5: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5: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6: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7: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8: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8: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9: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6: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6: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1: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11: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2: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12: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3: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13: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4: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1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5: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5: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6: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6: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43512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5: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5: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54190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5: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5: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30979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5: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5: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66282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9: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29: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7: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7: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obj">
  <p:cSld name="OBJECT">
    <p:spTree>
      <p:nvGrpSpPr>
        <p:cNvPr id="1" name="Shape 15"/>
        <p:cNvGrpSpPr/>
        <p:nvPr/>
      </p:nvGrpSpPr>
      <p:grpSpPr>
        <a:xfrm>
          <a:off x="0" y="0"/>
          <a:ext cx="0" cy="0"/>
          <a:chOff x="0" y="0"/>
          <a:chExt cx="0" cy="0"/>
        </a:xfrm>
      </p:grpSpPr>
      <p:pic>
        <p:nvPicPr>
          <p:cNvPr id="16" name="Google Shape;16;p19"/>
          <p:cNvPicPr preferRelativeResize="0"/>
          <p:nvPr/>
        </p:nvPicPr>
        <p:blipFill rotWithShape="1">
          <a:blip r:embed="rId2">
            <a:alphaModFix/>
          </a:blip>
          <a:srcRect/>
          <a:stretch/>
        </p:blipFill>
        <p:spPr>
          <a:xfrm>
            <a:off x="0" y="396"/>
            <a:ext cx="20104810" cy="11308953"/>
          </a:xfrm>
          <a:prstGeom prst="rect">
            <a:avLst/>
          </a:prstGeom>
          <a:noFill/>
          <a:ln>
            <a:noFill/>
          </a:ln>
        </p:spPr>
      </p:pic>
      <p:sp>
        <p:nvSpPr>
          <p:cNvPr id="17" name="Google Shape;17;p19"/>
          <p:cNvSpPr txBox="1">
            <a:spLocks noGrp="1"/>
          </p:cNvSpPr>
          <p:nvPr>
            <p:ph type="ctrTitle"/>
          </p:nvPr>
        </p:nvSpPr>
        <p:spPr>
          <a:xfrm>
            <a:off x="2838209" y="8700548"/>
            <a:ext cx="6781800" cy="5847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9"/>
          <p:cNvSpPr txBox="1">
            <a:spLocks noGrp="1"/>
          </p:cNvSpPr>
          <p:nvPr>
            <p:ph type="subTitle" idx="1"/>
          </p:nvPr>
        </p:nvSpPr>
        <p:spPr>
          <a:xfrm>
            <a:off x="2838209" y="9612314"/>
            <a:ext cx="8712681" cy="3693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9"/>
          <p:cNvSpPr/>
          <p:nvPr/>
        </p:nvSpPr>
        <p:spPr>
          <a:xfrm>
            <a:off x="2838209" y="9464675"/>
            <a:ext cx="8841105" cy="0"/>
          </a:xfrm>
          <a:custGeom>
            <a:avLst/>
            <a:gdLst/>
            <a:ahLst/>
            <a:cxnLst/>
            <a:rect l="l" t="t" r="r" b="b"/>
            <a:pathLst>
              <a:path w="8841105" h="120000" extrusionOk="0">
                <a:moveTo>
                  <a:pt x="0" y="0"/>
                </a:moveTo>
                <a:lnTo>
                  <a:pt x="8840652" y="0"/>
                </a:lnTo>
              </a:path>
            </a:pathLst>
          </a:custGeom>
          <a:noFill/>
          <a:ln w="10450"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0"/>
        <p:cNvGrpSpPr/>
        <p:nvPr/>
      </p:nvGrpSpPr>
      <p:grpSpPr>
        <a:xfrm>
          <a:off x="0" y="0"/>
          <a:ext cx="0" cy="0"/>
          <a:chOff x="0" y="0"/>
          <a:chExt cx="0" cy="0"/>
        </a:xfrm>
      </p:grpSpPr>
      <p:pic>
        <p:nvPicPr>
          <p:cNvPr id="21" name="Google Shape;21;p20"/>
          <p:cNvPicPr preferRelativeResize="0"/>
          <p:nvPr/>
        </p:nvPicPr>
        <p:blipFill rotWithShape="1">
          <a:blip r:embed="rId2">
            <a:alphaModFix/>
          </a:blip>
          <a:srcRect/>
          <a:stretch/>
        </p:blipFill>
        <p:spPr>
          <a:xfrm>
            <a:off x="3362" y="0"/>
            <a:ext cx="20097375" cy="11309350"/>
          </a:xfrm>
          <a:prstGeom prst="rect">
            <a:avLst/>
          </a:prstGeom>
          <a:noFill/>
          <a:ln>
            <a:noFill/>
          </a:ln>
        </p:spPr>
      </p:pic>
      <p:sp>
        <p:nvSpPr>
          <p:cNvPr id="22" name="Google Shape;22;p20"/>
          <p:cNvSpPr txBox="1">
            <a:spLocks noGrp="1"/>
          </p:cNvSpPr>
          <p:nvPr>
            <p:ph type="title"/>
          </p:nvPr>
        </p:nvSpPr>
        <p:spPr>
          <a:xfrm>
            <a:off x="6851650" y="7483475"/>
            <a:ext cx="9782022" cy="153888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3"/>
        <p:cNvGrpSpPr/>
        <p:nvPr/>
      </p:nvGrpSpPr>
      <p:grpSpPr>
        <a:xfrm>
          <a:off x="0" y="0"/>
          <a:ext cx="0" cy="0"/>
          <a:chOff x="0" y="0"/>
          <a:chExt cx="0" cy="0"/>
        </a:xfrm>
      </p:grpSpPr>
      <p:pic>
        <p:nvPicPr>
          <p:cNvPr id="24" name="Google Shape;24;p21"/>
          <p:cNvPicPr preferRelativeResize="0"/>
          <p:nvPr/>
        </p:nvPicPr>
        <p:blipFill rotWithShape="1">
          <a:blip r:embed="rId2">
            <a:alphaModFix/>
          </a:blip>
          <a:srcRect/>
          <a:stretch/>
        </p:blipFill>
        <p:spPr>
          <a:xfrm>
            <a:off x="3362" y="0"/>
            <a:ext cx="20097375" cy="11309350"/>
          </a:xfrm>
          <a:prstGeom prst="rect">
            <a:avLst/>
          </a:prstGeom>
          <a:noFill/>
          <a:ln>
            <a:noFill/>
          </a:ln>
        </p:spPr>
      </p:pic>
      <p:sp>
        <p:nvSpPr>
          <p:cNvPr id="25" name="Google Shape;25;p21"/>
          <p:cNvSpPr txBox="1">
            <a:spLocks noGrp="1"/>
          </p:cNvSpPr>
          <p:nvPr>
            <p:ph type="title"/>
          </p:nvPr>
        </p:nvSpPr>
        <p:spPr>
          <a:xfrm>
            <a:off x="4794250" y="6950075"/>
            <a:ext cx="9782022" cy="1538883"/>
          </a:xfrm>
          <a:prstGeom prst="rect">
            <a:avLst/>
          </a:prstGeom>
          <a:noFill/>
          <a:ln>
            <a:noFill/>
          </a:ln>
        </p:spPr>
        <p:txBody>
          <a:bodyPr spcFirstLastPara="1" wrap="square" lIns="0" tIns="0" rIns="0" bIns="0" anchor="t" anchorCtr="0">
            <a:spAutoFit/>
          </a:bodyPr>
          <a:lstStyle>
            <a:lvl1pPr lvl="0" algn="r">
              <a:spcBef>
                <a:spcPts val="0"/>
              </a:spcBef>
              <a:spcAft>
                <a:spcPts val="0"/>
              </a:spcAft>
              <a:buSzPts val="1400"/>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26"/>
        <p:cNvGrpSpPr/>
        <p:nvPr/>
      </p:nvGrpSpPr>
      <p:grpSpPr>
        <a:xfrm>
          <a:off x="0" y="0"/>
          <a:ext cx="0" cy="0"/>
          <a:chOff x="0" y="0"/>
          <a:chExt cx="0" cy="0"/>
        </a:xfrm>
      </p:grpSpPr>
      <p:sp>
        <p:nvSpPr>
          <p:cNvPr id="27" name="Google Shape;27;p22"/>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22"/>
          <p:cNvSpPr/>
          <p:nvPr/>
        </p:nvSpPr>
        <p:spPr>
          <a:xfrm>
            <a:off x="-6350" y="656116"/>
            <a:ext cx="2243455" cy="1060450"/>
          </a:xfrm>
          <a:custGeom>
            <a:avLst/>
            <a:gdLst/>
            <a:ahLst/>
            <a:cxnLst/>
            <a:rect l="l" t="t" r="r" b="b"/>
            <a:pathLst>
              <a:path w="2243455" h="1060450" extrusionOk="0">
                <a:moveTo>
                  <a:pt x="2243429" y="0"/>
                </a:moveTo>
                <a:lnTo>
                  <a:pt x="0" y="0"/>
                </a:lnTo>
                <a:lnTo>
                  <a:pt x="0" y="1059999"/>
                </a:lnTo>
                <a:lnTo>
                  <a:pt x="2243429" y="1059999"/>
                </a:lnTo>
                <a:lnTo>
                  <a:pt x="2243429" y="0"/>
                </a:lnTo>
                <a:close/>
              </a:path>
            </a:pathLst>
          </a:custGeom>
          <a:solidFill>
            <a:srgbClr val="257CE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9" name="Google Shape;29;p22"/>
          <p:cNvSpPr/>
          <p:nvPr/>
        </p:nvSpPr>
        <p:spPr>
          <a:xfrm>
            <a:off x="16938421" y="10202309"/>
            <a:ext cx="1576070" cy="511175"/>
          </a:xfrm>
          <a:custGeom>
            <a:avLst/>
            <a:gdLst/>
            <a:ahLst/>
            <a:cxnLst/>
            <a:rect l="l" t="t" r="r" b="b"/>
            <a:pathLst>
              <a:path w="1576069" h="511175" extrusionOk="0">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w="1576069" h="511175" extrusionOk="0">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69" h="511175" extrusionOk="0">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w="1576069" h="511175" extrusionOk="0">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0" name="Google Shape;30;p22"/>
          <p:cNvSpPr/>
          <p:nvPr/>
        </p:nvSpPr>
        <p:spPr>
          <a:xfrm>
            <a:off x="18623540" y="10245307"/>
            <a:ext cx="378460" cy="469900"/>
          </a:xfrm>
          <a:custGeom>
            <a:avLst/>
            <a:gdLst/>
            <a:ahLst/>
            <a:cxnLst/>
            <a:rect l="l" t="t" r="r" b="b"/>
            <a:pathLst>
              <a:path w="378459" h="469900" extrusionOk="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31" name="Google Shape;31;p22"/>
          <p:cNvGrpSpPr/>
          <p:nvPr/>
        </p:nvGrpSpPr>
        <p:grpSpPr>
          <a:xfrm>
            <a:off x="19053919" y="10117702"/>
            <a:ext cx="427015" cy="597582"/>
            <a:chOff x="19053919" y="10117702"/>
            <a:chExt cx="427015" cy="597582"/>
          </a:xfrm>
        </p:grpSpPr>
        <p:sp>
          <p:nvSpPr>
            <p:cNvPr id="32" name="Google Shape;32;p22"/>
            <p:cNvSpPr/>
            <p:nvPr/>
          </p:nvSpPr>
          <p:spPr>
            <a:xfrm>
              <a:off x="19053919" y="10237764"/>
              <a:ext cx="366395" cy="477520"/>
            </a:xfrm>
            <a:custGeom>
              <a:avLst/>
              <a:gdLst/>
              <a:ahLst/>
              <a:cxnLst/>
              <a:rect l="l" t="t" r="r" b="b"/>
              <a:pathLst>
                <a:path w="366394" h="477520" extrusionOk="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3" name="Google Shape;33;p22"/>
            <p:cNvPicPr preferRelativeResize="0"/>
            <p:nvPr/>
          </p:nvPicPr>
          <p:blipFill rotWithShape="1">
            <a:blip r:embed="rId2">
              <a:alphaModFix/>
            </a:blip>
            <a:srcRect/>
            <a:stretch/>
          </p:blipFill>
          <p:spPr>
            <a:xfrm>
              <a:off x="19368634" y="10117702"/>
              <a:ext cx="112300" cy="112268"/>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4"/>
        <p:cNvGrpSpPr/>
        <p:nvPr/>
      </p:nvGrpSpPr>
      <p:grpSpPr>
        <a:xfrm>
          <a:off x="0" y="0"/>
          <a:ext cx="0" cy="0"/>
          <a:chOff x="0" y="0"/>
          <a:chExt cx="0" cy="0"/>
        </a:xfrm>
      </p:grpSpPr>
      <p:pic>
        <p:nvPicPr>
          <p:cNvPr id="35" name="Google Shape;35;p23"/>
          <p:cNvPicPr preferRelativeResize="0"/>
          <p:nvPr/>
        </p:nvPicPr>
        <p:blipFill rotWithShape="1">
          <a:blip r:embed="rId2">
            <a:alphaModFix/>
          </a:blip>
          <a:srcRect/>
          <a:stretch/>
        </p:blipFill>
        <p:spPr>
          <a:xfrm>
            <a:off x="0" y="396"/>
            <a:ext cx="20104810" cy="11308953"/>
          </a:xfrm>
          <a:prstGeom prst="rect">
            <a:avLst/>
          </a:prstGeom>
          <a:noFill/>
          <a:ln>
            <a:noFill/>
          </a:ln>
        </p:spPr>
      </p:pic>
      <p:pic>
        <p:nvPicPr>
          <p:cNvPr id="36" name="Google Shape;36;p23"/>
          <p:cNvPicPr preferRelativeResize="0"/>
          <p:nvPr/>
        </p:nvPicPr>
        <p:blipFill rotWithShape="1">
          <a:blip r:embed="rId3">
            <a:alphaModFix/>
          </a:blip>
          <a:srcRect/>
          <a:stretch/>
        </p:blipFill>
        <p:spPr>
          <a:xfrm>
            <a:off x="0" y="3340"/>
            <a:ext cx="20109342" cy="11305614"/>
          </a:xfrm>
          <a:prstGeom prst="rect">
            <a:avLst/>
          </a:prstGeom>
          <a:noFill/>
          <a:ln>
            <a:noFill/>
          </a:ln>
        </p:spPr>
      </p:pic>
      <p:sp>
        <p:nvSpPr>
          <p:cNvPr id="37" name="Google Shape;37;p23"/>
          <p:cNvSpPr/>
          <p:nvPr/>
        </p:nvSpPr>
        <p:spPr>
          <a:xfrm>
            <a:off x="755650" y="6264275"/>
            <a:ext cx="9892434" cy="2286000"/>
          </a:xfrm>
          <a:prstGeom prst="rect">
            <a:avLst/>
          </a:prstGeom>
          <a:solidFill>
            <a:schemeClr val="dk1">
              <a:alpha val="58823"/>
            </a:schemeClr>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lt1"/>
              </a:solidFill>
            </a:endParaRPr>
          </a:p>
        </p:txBody>
      </p:sp>
      <p:sp>
        <p:nvSpPr>
          <p:cNvPr id="38" name="Google Shape;38;p23"/>
          <p:cNvSpPr txBox="1">
            <a:spLocks noGrp="1"/>
          </p:cNvSpPr>
          <p:nvPr>
            <p:ph type="title"/>
          </p:nvPr>
        </p:nvSpPr>
        <p:spPr>
          <a:xfrm>
            <a:off x="1184428" y="6591401"/>
            <a:ext cx="9020022" cy="153888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a:solidFill>
                  <a:srgbClr val="257CE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9"/>
        <p:cNvGrpSpPr/>
        <p:nvPr/>
      </p:nvGrpSpPr>
      <p:grpSpPr>
        <a:xfrm>
          <a:off x="0" y="0"/>
          <a:ext cx="0" cy="0"/>
          <a:chOff x="0" y="0"/>
          <a:chExt cx="0" cy="0"/>
        </a:xfrm>
      </p:grpSpPr>
      <p:sp>
        <p:nvSpPr>
          <p:cNvPr id="40" name="Google Shape;40;p24"/>
          <p:cNvSpPr/>
          <p:nvPr/>
        </p:nvSpPr>
        <p:spPr>
          <a:xfrm>
            <a:off x="727227" y="10202309"/>
            <a:ext cx="1576070" cy="511175"/>
          </a:xfrm>
          <a:custGeom>
            <a:avLst/>
            <a:gdLst/>
            <a:ahLst/>
            <a:cxnLst/>
            <a:rect l="l" t="t" r="r" b="b"/>
            <a:pathLst>
              <a:path w="1576070" h="511175" extrusionOk="0">
                <a:moveTo>
                  <a:pt x="441172" y="241312"/>
                </a:moveTo>
                <a:lnTo>
                  <a:pt x="435267" y="179641"/>
                </a:lnTo>
                <a:lnTo>
                  <a:pt x="418414" y="127673"/>
                </a:lnTo>
                <a:lnTo>
                  <a:pt x="392747" y="86601"/>
                </a:lnTo>
                <a:lnTo>
                  <a:pt x="391845" y="85153"/>
                </a:lnTo>
                <a:lnTo>
                  <a:pt x="356819" y="51803"/>
                </a:lnTo>
                <a:lnTo>
                  <a:pt x="322008" y="30734"/>
                </a:lnTo>
                <a:lnTo>
                  <a:pt x="322008" y="245008"/>
                </a:lnTo>
                <a:lnTo>
                  <a:pt x="316547" y="299389"/>
                </a:lnTo>
                <a:lnTo>
                  <a:pt x="300736"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19" y="89408"/>
                </a:lnTo>
                <a:lnTo>
                  <a:pt x="132499" y="87985"/>
                </a:lnTo>
                <a:lnTo>
                  <a:pt x="146659" y="86982"/>
                </a:lnTo>
                <a:lnTo>
                  <a:pt x="163601" y="86601"/>
                </a:lnTo>
                <a:lnTo>
                  <a:pt x="209257" y="90881"/>
                </a:lnTo>
                <a:lnTo>
                  <a:pt x="248094" y="103809"/>
                </a:lnTo>
                <a:lnTo>
                  <a:pt x="279450"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71" y="484936"/>
                </a:lnTo>
                <a:lnTo>
                  <a:pt x="324205" y="466864"/>
                </a:lnTo>
                <a:lnTo>
                  <a:pt x="359029" y="443407"/>
                </a:lnTo>
                <a:lnTo>
                  <a:pt x="382054" y="419722"/>
                </a:lnTo>
                <a:lnTo>
                  <a:pt x="385749" y="415925"/>
                </a:lnTo>
                <a:lnTo>
                  <a:pt x="408393" y="382181"/>
                </a:lnTo>
                <a:lnTo>
                  <a:pt x="425894" y="341972"/>
                </a:lnTo>
                <a:lnTo>
                  <a:pt x="437172" y="295097"/>
                </a:lnTo>
                <a:lnTo>
                  <a:pt x="441172" y="241312"/>
                </a:lnTo>
                <a:close/>
              </a:path>
              <a:path w="1576070" h="511175" extrusionOk="0">
                <a:moveTo>
                  <a:pt x="827582" y="502602"/>
                </a:moveTo>
                <a:lnTo>
                  <a:pt x="826503" y="478307"/>
                </a:lnTo>
                <a:lnTo>
                  <a:pt x="825550" y="450888"/>
                </a:lnTo>
                <a:lnTo>
                  <a:pt x="824865" y="420268"/>
                </a:lnTo>
                <a:lnTo>
                  <a:pt x="824611" y="386397"/>
                </a:lnTo>
                <a:lnTo>
                  <a:pt x="824611" y="140639"/>
                </a:lnTo>
                <a:lnTo>
                  <a:pt x="712089" y="140639"/>
                </a:lnTo>
                <a:lnTo>
                  <a:pt x="712089" y="365671"/>
                </a:lnTo>
                <a:lnTo>
                  <a:pt x="710641"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70" h="511175" extrusionOk="0">
                <a:moveTo>
                  <a:pt x="1244155" y="318274"/>
                </a:moveTo>
                <a:lnTo>
                  <a:pt x="1238161" y="266484"/>
                </a:lnTo>
                <a:lnTo>
                  <a:pt x="1220889" y="221424"/>
                </a:lnTo>
                <a:lnTo>
                  <a:pt x="1193355" y="184315"/>
                </a:lnTo>
                <a:lnTo>
                  <a:pt x="1156652"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52" y="399072"/>
                </a:lnTo>
                <a:lnTo>
                  <a:pt x="986155" y="364807"/>
                </a:lnTo>
                <a:lnTo>
                  <a:pt x="981367" y="322008"/>
                </a:lnTo>
                <a:lnTo>
                  <a:pt x="985443" y="282206"/>
                </a:lnTo>
                <a:lnTo>
                  <a:pt x="998397" y="247332"/>
                </a:lnTo>
                <a:lnTo>
                  <a:pt x="1021359" y="222580"/>
                </a:lnTo>
                <a:lnTo>
                  <a:pt x="1055395" y="213169"/>
                </a:lnTo>
                <a:lnTo>
                  <a:pt x="1088174" y="222580"/>
                </a:lnTo>
                <a:lnTo>
                  <a:pt x="1110449"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408" y="199644"/>
                </a:lnTo>
                <a:lnTo>
                  <a:pt x="883894" y="235051"/>
                </a:lnTo>
                <a:lnTo>
                  <a:pt x="870508" y="276745"/>
                </a:lnTo>
                <a:lnTo>
                  <a:pt x="865911" y="324192"/>
                </a:lnTo>
                <a:lnTo>
                  <a:pt x="872426" y="378625"/>
                </a:lnTo>
                <a:lnTo>
                  <a:pt x="890930" y="424548"/>
                </a:lnTo>
                <a:lnTo>
                  <a:pt x="919848" y="461340"/>
                </a:lnTo>
                <a:lnTo>
                  <a:pt x="957580" y="488378"/>
                </a:lnTo>
                <a:lnTo>
                  <a:pt x="1002538" y="505066"/>
                </a:lnTo>
                <a:lnTo>
                  <a:pt x="1053160" y="510755"/>
                </a:lnTo>
                <a:lnTo>
                  <a:pt x="1053909" y="510755"/>
                </a:lnTo>
                <a:lnTo>
                  <a:pt x="1094740" y="507009"/>
                </a:lnTo>
                <a:lnTo>
                  <a:pt x="1133703" y="495655"/>
                </a:lnTo>
                <a:lnTo>
                  <a:pt x="1169187" y="476491"/>
                </a:lnTo>
                <a:lnTo>
                  <a:pt x="1199578" y="449364"/>
                </a:lnTo>
                <a:lnTo>
                  <a:pt x="1223276" y="414070"/>
                </a:lnTo>
                <a:lnTo>
                  <a:pt x="1238669" y="370433"/>
                </a:lnTo>
                <a:lnTo>
                  <a:pt x="1244155" y="318274"/>
                </a:lnTo>
                <a:close/>
              </a:path>
              <a:path w="1576070" h="511175" extrusionOk="0">
                <a:moveTo>
                  <a:pt x="1575854" y="146558"/>
                </a:moveTo>
                <a:lnTo>
                  <a:pt x="1556600" y="140614"/>
                </a:lnTo>
                <a:lnTo>
                  <a:pt x="1535125" y="136194"/>
                </a:lnTo>
                <a:lnTo>
                  <a:pt x="1512557" y="133451"/>
                </a:lnTo>
                <a:lnTo>
                  <a:pt x="1489964" y="132499"/>
                </a:lnTo>
                <a:lnTo>
                  <a:pt x="1436077"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94"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1" name="Google Shape;41;p24"/>
          <p:cNvSpPr/>
          <p:nvPr/>
        </p:nvSpPr>
        <p:spPr>
          <a:xfrm>
            <a:off x="2412348" y="10245307"/>
            <a:ext cx="378460" cy="469900"/>
          </a:xfrm>
          <a:custGeom>
            <a:avLst/>
            <a:gdLst/>
            <a:ahLst/>
            <a:cxnLst/>
            <a:rect l="l" t="t" r="r" b="b"/>
            <a:pathLst>
              <a:path w="378460" h="469900" extrusionOk="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42" name="Google Shape;42;p24"/>
          <p:cNvGrpSpPr/>
          <p:nvPr/>
        </p:nvGrpSpPr>
        <p:grpSpPr>
          <a:xfrm>
            <a:off x="2842727" y="10117702"/>
            <a:ext cx="427015" cy="597582"/>
            <a:chOff x="2842727" y="10117702"/>
            <a:chExt cx="427015" cy="597582"/>
          </a:xfrm>
        </p:grpSpPr>
        <p:sp>
          <p:nvSpPr>
            <p:cNvPr id="43" name="Google Shape;43;p24"/>
            <p:cNvSpPr/>
            <p:nvPr/>
          </p:nvSpPr>
          <p:spPr>
            <a:xfrm>
              <a:off x="2842727" y="10237764"/>
              <a:ext cx="366395" cy="477520"/>
            </a:xfrm>
            <a:custGeom>
              <a:avLst/>
              <a:gdLst/>
              <a:ahLst/>
              <a:cxnLst/>
              <a:rect l="l" t="t" r="r" b="b"/>
              <a:pathLst>
                <a:path w="366394" h="477520" extrusionOk="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44" name="Google Shape;44;p24"/>
            <p:cNvPicPr preferRelativeResize="0"/>
            <p:nvPr/>
          </p:nvPicPr>
          <p:blipFill rotWithShape="1">
            <a:blip r:embed="rId2">
              <a:alphaModFix/>
            </a:blip>
            <a:srcRect/>
            <a:stretch/>
          </p:blipFill>
          <p:spPr>
            <a:xfrm>
              <a:off x="3157442" y="10117702"/>
              <a:ext cx="112300" cy="112268"/>
            </a:xfrm>
            <a:prstGeom prst="rect">
              <a:avLst/>
            </a:prstGeom>
            <a:noFill/>
            <a:ln>
              <a:noFill/>
            </a:ln>
          </p:spPr>
        </p:pic>
      </p:grpSp>
      <p:sp>
        <p:nvSpPr>
          <p:cNvPr id="45" name="Google Shape;45;p24"/>
          <p:cNvSpPr/>
          <p:nvPr/>
        </p:nvSpPr>
        <p:spPr>
          <a:xfrm>
            <a:off x="17840597" y="656116"/>
            <a:ext cx="2243455" cy="1060450"/>
          </a:xfrm>
          <a:custGeom>
            <a:avLst/>
            <a:gdLst/>
            <a:ahLst/>
            <a:cxnLst/>
            <a:rect l="l" t="t" r="r" b="b"/>
            <a:pathLst>
              <a:path w="2243455" h="1060450" extrusionOk="0">
                <a:moveTo>
                  <a:pt x="2243429" y="0"/>
                </a:moveTo>
                <a:lnTo>
                  <a:pt x="0" y="0"/>
                </a:lnTo>
                <a:lnTo>
                  <a:pt x="0" y="1059999"/>
                </a:lnTo>
                <a:lnTo>
                  <a:pt x="2243429" y="1059999"/>
                </a:lnTo>
                <a:lnTo>
                  <a:pt x="2243429" y="0"/>
                </a:lnTo>
                <a:close/>
              </a:path>
            </a:pathLst>
          </a:custGeom>
          <a:solidFill>
            <a:srgbClr val="257CE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6" name="Google Shape;46;p24"/>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lvl1pPr marL="457200" lvl="0" indent="-228600" algn="r">
              <a:spcBef>
                <a:spcPts val="0"/>
              </a:spcBef>
              <a:spcAft>
                <a:spcPts val="0"/>
              </a:spcAft>
              <a:buSzPts val="1400"/>
              <a:buNone/>
              <a:defRPr sz="4800" b="1">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5_Diseño personalizado">
  <p:cSld name="5_Diseño personalizado">
    <p:spTree>
      <p:nvGrpSpPr>
        <p:cNvPr id="1" name="Shape 47"/>
        <p:cNvGrpSpPr/>
        <p:nvPr/>
      </p:nvGrpSpPr>
      <p:grpSpPr>
        <a:xfrm>
          <a:off x="0" y="0"/>
          <a:ext cx="0" cy="0"/>
          <a:chOff x="0" y="0"/>
          <a:chExt cx="0" cy="0"/>
        </a:xfrm>
      </p:grpSpPr>
      <p:pic>
        <p:nvPicPr>
          <p:cNvPr id="48" name="Google Shape;48;p25"/>
          <p:cNvPicPr preferRelativeResize="0"/>
          <p:nvPr/>
        </p:nvPicPr>
        <p:blipFill rotWithShape="1">
          <a:blip r:embed="rId2">
            <a:alphaModFix/>
          </a:blip>
          <a:srcRect/>
          <a:stretch/>
        </p:blipFill>
        <p:spPr>
          <a:xfrm>
            <a:off x="-1" y="3340"/>
            <a:ext cx="20110047" cy="11306010"/>
          </a:xfrm>
          <a:prstGeom prst="rect">
            <a:avLst/>
          </a:prstGeom>
          <a:noFill/>
          <a:ln>
            <a:noFill/>
          </a:ln>
        </p:spPr>
      </p:pic>
      <p:sp>
        <p:nvSpPr>
          <p:cNvPr id="49" name="Google Shape;49;p25"/>
          <p:cNvSpPr txBox="1">
            <a:spLocks noGrp="1"/>
          </p:cNvSpPr>
          <p:nvPr>
            <p:ph type="title"/>
          </p:nvPr>
        </p:nvSpPr>
        <p:spPr>
          <a:xfrm>
            <a:off x="831850" y="7178675"/>
            <a:ext cx="9782022" cy="1538883"/>
          </a:xfrm>
          <a:prstGeom prst="rect">
            <a:avLst/>
          </a:prstGeom>
          <a:noFill/>
          <a:ln>
            <a:noFill/>
          </a:ln>
        </p:spPr>
        <p:txBody>
          <a:bodyPr spcFirstLastPara="1" wrap="square" lIns="0" tIns="0" rIns="0" bIns="0" anchor="t" anchorCtr="0">
            <a:spAutoFit/>
          </a:bodyPr>
          <a:lstStyle>
            <a:lvl1pPr lvl="0" algn="r">
              <a:spcBef>
                <a:spcPts val="0"/>
              </a:spcBef>
              <a:spcAft>
                <a:spcPts val="0"/>
              </a:spcAft>
              <a:buSzPts val="1400"/>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_Diseño personalizado">
  <p:cSld name="3_Diseño personalizado">
    <p:spTree>
      <p:nvGrpSpPr>
        <p:cNvPr id="1" name="Shape 50"/>
        <p:cNvGrpSpPr/>
        <p:nvPr/>
      </p:nvGrpSpPr>
      <p:grpSpPr>
        <a:xfrm>
          <a:off x="0" y="0"/>
          <a:ext cx="0" cy="0"/>
          <a:chOff x="0" y="0"/>
          <a:chExt cx="0" cy="0"/>
        </a:xfrm>
      </p:grpSpPr>
      <p:pic>
        <p:nvPicPr>
          <p:cNvPr id="51" name="Google Shape;51;p26"/>
          <p:cNvPicPr preferRelativeResize="0"/>
          <p:nvPr/>
        </p:nvPicPr>
        <p:blipFill rotWithShape="1">
          <a:blip r:embed="rId2">
            <a:alphaModFix/>
          </a:blip>
          <a:srcRect/>
          <a:stretch/>
        </p:blipFill>
        <p:spPr>
          <a:xfrm>
            <a:off x="3362" y="0"/>
            <a:ext cx="20097375" cy="11309350"/>
          </a:xfrm>
          <a:prstGeom prst="rect">
            <a:avLst/>
          </a:prstGeom>
          <a:noFill/>
          <a:ln>
            <a:noFill/>
          </a:ln>
        </p:spPr>
      </p:pic>
      <p:sp>
        <p:nvSpPr>
          <p:cNvPr id="52" name="Google Shape;52;p26"/>
          <p:cNvSpPr txBox="1">
            <a:spLocks noGrp="1"/>
          </p:cNvSpPr>
          <p:nvPr>
            <p:ph type="title"/>
          </p:nvPr>
        </p:nvSpPr>
        <p:spPr>
          <a:xfrm>
            <a:off x="6623050" y="7026275"/>
            <a:ext cx="9782022" cy="153888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4_Diseño personalizado">
  <p:cSld name="4_Diseño personalizado">
    <p:spTree>
      <p:nvGrpSpPr>
        <p:cNvPr id="1" name="Shape 53"/>
        <p:cNvGrpSpPr/>
        <p:nvPr/>
      </p:nvGrpSpPr>
      <p:grpSpPr>
        <a:xfrm>
          <a:off x="0" y="0"/>
          <a:ext cx="0" cy="0"/>
          <a:chOff x="0" y="0"/>
          <a:chExt cx="0" cy="0"/>
        </a:xfrm>
      </p:grpSpPr>
      <p:pic>
        <p:nvPicPr>
          <p:cNvPr id="54" name="Google Shape;54;p27"/>
          <p:cNvPicPr preferRelativeResize="0"/>
          <p:nvPr/>
        </p:nvPicPr>
        <p:blipFill rotWithShape="1">
          <a:blip r:embed="rId2">
            <a:alphaModFix/>
          </a:blip>
          <a:srcRect/>
          <a:stretch/>
        </p:blipFill>
        <p:spPr>
          <a:xfrm>
            <a:off x="0" y="396"/>
            <a:ext cx="20104810" cy="11308953"/>
          </a:xfrm>
          <a:prstGeom prst="rect">
            <a:avLst/>
          </a:prstGeom>
          <a:noFill/>
          <a:ln>
            <a:noFill/>
          </a:ln>
        </p:spPr>
      </p:pic>
      <p:pic>
        <p:nvPicPr>
          <p:cNvPr id="55" name="Google Shape;55;p27"/>
          <p:cNvPicPr preferRelativeResize="0"/>
          <p:nvPr/>
        </p:nvPicPr>
        <p:blipFill rotWithShape="1">
          <a:blip r:embed="rId3">
            <a:alphaModFix/>
          </a:blip>
          <a:srcRect/>
          <a:stretch/>
        </p:blipFill>
        <p:spPr>
          <a:xfrm>
            <a:off x="3362" y="0"/>
            <a:ext cx="20097375" cy="11309350"/>
          </a:xfrm>
          <a:prstGeom prst="rect">
            <a:avLst/>
          </a:prstGeom>
          <a:noFill/>
          <a:ln>
            <a:noFill/>
          </a:ln>
        </p:spPr>
      </p:pic>
      <p:sp>
        <p:nvSpPr>
          <p:cNvPr id="56" name="Google Shape;56;p27"/>
          <p:cNvSpPr/>
          <p:nvPr/>
        </p:nvSpPr>
        <p:spPr>
          <a:xfrm>
            <a:off x="4413250" y="4206875"/>
            <a:ext cx="9892434" cy="2286000"/>
          </a:xfrm>
          <a:prstGeom prst="rect">
            <a:avLst/>
          </a:prstGeom>
          <a:solidFill>
            <a:schemeClr val="dk1">
              <a:alpha val="58823"/>
            </a:schemeClr>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lt1"/>
              </a:solidFill>
            </a:endParaRPr>
          </a:p>
        </p:txBody>
      </p:sp>
      <p:sp>
        <p:nvSpPr>
          <p:cNvPr id="57" name="Google Shape;57;p27"/>
          <p:cNvSpPr txBox="1">
            <a:spLocks noGrp="1"/>
          </p:cNvSpPr>
          <p:nvPr>
            <p:ph type="title"/>
          </p:nvPr>
        </p:nvSpPr>
        <p:spPr>
          <a:xfrm>
            <a:off x="4842028" y="4534001"/>
            <a:ext cx="9020022" cy="153888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a:solidFill>
                  <a:srgbClr val="257CE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6_Diseño personalizado">
  <p:cSld name="6_Diseño personalizado">
    <p:spTree>
      <p:nvGrpSpPr>
        <p:cNvPr id="1" name="Shape 58"/>
        <p:cNvGrpSpPr/>
        <p:nvPr/>
      </p:nvGrpSpPr>
      <p:grpSpPr>
        <a:xfrm>
          <a:off x="0" y="0"/>
          <a:ext cx="0" cy="0"/>
          <a:chOff x="0" y="0"/>
          <a:chExt cx="0" cy="0"/>
        </a:xfrm>
      </p:grpSpPr>
      <p:pic>
        <p:nvPicPr>
          <p:cNvPr id="59" name="Google Shape;59;p28"/>
          <p:cNvPicPr preferRelativeResize="0"/>
          <p:nvPr/>
        </p:nvPicPr>
        <p:blipFill rotWithShape="1">
          <a:blip r:embed="rId2">
            <a:alphaModFix/>
          </a:blip>
          <a:srcRect/>
          <a:stretch/>
        </p:blipFill>
        <p:spPr>
          <a:xfrm>
            <a:off x="0" y="396"/>
            <a:ext cx="20104810" cy="11308953"/>
          </a:xfrm>
          <a:prstGeom prst="rect">
            <a:avLst/>
          </a:prstGeom>
          <a:noFill/>
          <a:ln>
            <a:noFill/>
          </a:ln>
        </p:spPr>
      </p:pic>
      <p:pic>
        <p:nvPicPr>
          <p:cNvPr id="60" name="Google Shape;60;p28"/>
          <p:cNvPicPr preferRelativeResize="0"/>
          <p:nvPr/>
        </p:nvPicPr>
        <p:blipFill rotWithShape="1">
          <a:blip r:embed="rId3">
            <a:alphaModFix/>
          </a:blip>
          <a:srcRect/>
          <a:stretch/>
        </p:blipFill>
        <p:spPr>
          <a:xfrm>
            <a:off x="3362" y="0"/>
            <a:ext cx="20097375" cy="11309350"/>
          </a:xfrm>
          <a:prstGeom prst="rect">
            <a:avLst/>
          </a:prstGeom>
          <a:noFill/>
          <a:ln>
            <a:noFill/>
          </a:ln>
        </p:spPr>
      </p:pic>
      <p:sp>
        <p:nvSpPr>
          <p:cNvPr id="61" name="Google Shape;61;p28"/>
          <p:cNvSpPr/>
          <p:nvPr/>
        </p:nvSpPr>
        <p:spPr>
          <a:xfrm>
            <a:off x="7232650" y="7880350"/>
            <a:ext cx="9892434" cy="2286000"/>
          </a:xfrm>
          <a:prstGeom prst="rect">
            <a:avLst/>
          </a:prstGeom>
          <a:solidFill>
            <a:schemeClr val="dk1">
              <a:alpha val="58823"/>
            </a:schemeClr>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lt1"/>
              </a:solidFill>
            </a:endParaRPr>
          </a:p>
        </p:txBody>
      </p:sp>
      <p:sp>
        <p:nvSpPr>
          <p:cNvPr id="62" name="Google Shape;62;p28"/>
          <p:cNvSpPr txBox="1">
            <a:spLocks noGrp="1"/>
          </p:cNvSpPr>
          <p:nvPr>
            <p:ph type="title"/>
          </p:nvPr>
        </p:nvSpPr>
        <p:spPr>
          <a:xfrm>
            <a:off x="7661428" y="8207476"/>
            <a:ext cx="9020022" cy="153888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a:solidFill>
                  <a:srgbClr val="257CE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63"/>
        <p:cNvGrpSpPr/>
        <p:nvPr/>
      </p:nvGrpSpPr>
      <p:grpSpPr>
        <a:xfrm>
          <a:off x="0" y="0"/>
          <a:ext cx="0" cy="0"/>
          <a:chOff x="0" y="0"/>
          <a:chExt cx="0" cy="0"/>
        </a:xfrm>
      </p:grpSpPr>
      <p:pic>
        <p:nvPicPr>
          <p:cNvPr id="64" name="Google Shape;64;p29"/>
          <p:cNvPicPr preferRelativeResize="0"/>
          <p:nvPr/>
        </p:nvPicPr>
        <p:blipFill rotWithShape="1">
          <a:blip r:embed="rId2">
            <a:alphaModFix/>
          </a:blip>
          <a:srcRect/>
          <a:stretch/>
        </p:blipFill>
        <p:spPr>
          <a:xfrm>
            <a:off x="0" y="396"/>
            <a:ext cx="20104810" cy="11308953"/>
          </a:xfrm>
          <a:prstGeom prst="rect">
            <a:avLst/>
          </a:prstGeom>
          <a:noFill/>
          <a:ln>
            <a:noFill/>
          </a:ln>
        </p:spPr>
      </p:pic>
      <p:pic>
        <p:nvPicPr>
          <p:cNvPr id="65" name="Google Shape;65;p29"/>
          <p:cNvPicPr preferRelativeResize="0"/>
          <p:nvPr/>
        </p:nvPicPr>
        <p:blipFill rotWithShape="1">
          <a:blip r:embed="rId3">
            <a:alphaModFix/>
          </a:blip>
          <a:srcRect/>
          <a:stretch/>
        </p:blipFill>
        <p:spPr>
          <a:xfrm>
            <a:off x="3362" y="0"/>
            <a:ext cx="20097375" cy="11309350"/>
          </a:xfrm>
          <a:prstGeom prst="rect">
            <a:avLst/>
          </a:prstGeom>
          <a:noFill/>
          <a:ln>
            <a:noFill/>
          </a:ln>
        </p:spPr>
      </p:pic>
      <p:sp>
        <p:nvSpPr>
          <p:cNvPr id="66" name="Google Shape;66;p29"/>
          <p:cNvSpPr/>
          <p:nvPr/>
        </p:nvSpPr>
        <p:spPr>
          <a:xfrm>
            <a:off x="7004050" y="7331075"/>
            <a:ext cx="9892434" cy="2286000"/>
          </a:xfrm>
          <a:prstGeom prst="rect">
            <a:avLst/>
          </a:prstGeom>
          <a:solidFill>
            <a:schemeClr val="dk1">
              <a:alpha val="58823"/>
            </a:schemeClr>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lt1"/>
              </a:solidFill>
            </a:endParaRPr>
          </a:p>
        </p:txBody>
      </p:sp>
      <p:sp>
        <p:nvSpPr>
          <p:cNvPr id="67" name="Google Shape;67;p29"/>
          <p:cNvSpPr txBox="1">
            <a:spLocks noGrp="1"/>
          </p:cNvSpPr>
          <p:nvPr>
            <p:ph type="title"/>
          </p:nvPr>
        </p:nvSpPr>
        <p:spPr>
          <a:xfrm>
            <a:off x="7432828" y="7658201"/>
            <a:ext cx="9020022" cy="153888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a:solidFill>
                  <a:srgbClr val="257CE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68"/>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6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12314421" y="714594"/>
            <a:ext cx="5259705" cy="915669"/>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58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8"/>
          <p:cNvSpPr txBox="1">
            <a:spLocks noGrp="1"/>
          </p:cNvSpPr>
          <p:nvPr>
            <p:ph type="body" idx="1"/>
          </p:nvPr>
        </p:nvSpPr>
        <p:spPr>
          <a:xfrm>
            <a:off x="1005205" y="2601150"/>
            <a:ext cx="18093690" cy="7464171"/>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2" name="Google Shape;12;p18"/>
          <p:cNvSpPr txBox="1">
            <a:spLocks noGrp="1"/>
          </p:cNvSpPr>
          <p:nvPr>
            <p:ph type="ftr" idx="11"/>
          </p:nvPr>
        </p:nvSpPr>
        <p:spPr>
          <a:xfrm>
            <a:off x="6835394" y="10517696"/>
            <a:ext cx="6433312" cy="565467"/>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8"/>
          <p:cNvSpPr txBox="1">
            <a:spLocks noGrp="1"/>
          </p:cNvSpPr>
          <p:nvPr>
            <p:ph type="dt" idx="10"/>
          </p:nvPr>
        </p:nvSpPr>
        <p:spPr>
          <a:xfrm>
            <a:off x="1005205" y="10517696"/>
            <a:ext cx="4623943" cy="56546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18"/>
          <p:cNvSpPr txBox="1">
            <a:spLocks noGrp="1"/>
          </p:cNvSpPr>
          <p:nvPr>
            <p:ph type="sldNum" idx="12"/>
          </p:nvPr>
        </p:nvSpPr>
        <p:spPr>
          <a:xfrm>
            <a:off x="14474953" y="10517696"/>
            <a:ext cx="4623943" cy="565467"/>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26.png"/><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
          <p:cNvSpPr txBox="1">
            <a:spLocks noGrp="1"/>
          </p:cNvSpPr>
          <p:nvPr>
            <p:ph type="ctrTitle"/>
          </p:nvPr>
        </p:nvSpPr>
        <p:spPr>
          <a:xfrm>
            <a:off x="2889250" y="8169275"/>
            <a:ext cx="8749511" cy="1169551"/>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dirty="0"/>
              <a:t>ANÁLISIS Y PRE PROCESAMIENTO</a:t>
            </a:r>
            <a:br>
              <a:rPr lang="es-ES" sz="3800" dirty="0"/>
            </a:br>
            <a:endParaRPr sz="3800" dirty="0"/>
          </a:p>
        </p:txBody>
      </p:sp>
      <p:sp>
        <p:nvSpPr>
          <p:cNvPr id="75" name="Google Shape;75;p1"/>
          <p:cNvSpPr txBox="1">
            <a:spLocks noGrp="1"/>
          </p:cNvSpPr>
          <p:nvPr>
            <p:ph type="subTitle" idx="1"/>
          </p:nvPr>
        </p:nvSpPr>
        <p:spPr>
          <a:xfrm>
            <a:off x="2926080" y="9554269"/>
            <a:ext cx="8712681" cy="369332"/>
          </a:xfrm>
          <a:prstGeom prst="rect">
            <a:avLst/>
          </a:prstGeom>
          <a:noFill/>
          <a:ln>
            <a:noFill/>
          </a:ln>
        </p:spPr>
        <p:txBody>
          <a:bodyPr spcFirstLastPara="1" wrap="square" lIns="0" tIns="0" rIns="0" bIns="0" anchor="t" anchorCtr="0">
            <a:spAutoFit/>
          </a:bodyPr>
          <a:lstStyle/>
          <a:p>
            <a:r>
              <a:rPr lang="es-CL" dirty="0">
                <a:latin typeface="Arial"/>
                <a:cs typeface="Arial"/>
              </a:rPr>
              <a:t>BIY7121 MINERÍA DE DATOS</a:t>
            </a:r>
            <a:endParaRPr lang="es-CL" sz="2400" dirty="0">
              <a:latin typeface="Arial"/>
              <a:cs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2"/>
          <p:cNvSpPr/>
          <p:nvPr/>
        </p:nvSpPr>
        <p:spPr>
          <a:xfrm>
            <a:off x="9518650" y="2378075"/>
            <a:ext cx="5357557" cy="1015663"/>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6000" b="1">
                <a:latin typeface="Arial Black"/>
                <a:ea typeface="Arial Black"/>
                <a:cs typeface="Arial Black"/>
                <a:sym typeface="Arial Black"/>
              </a:rPr>
              <a:t>CONTENIDO</a:t>
            </a:r>
            <a:endParaRPr/>
          </a:p>
        </p:txBody>
      </p:sp>
      <p:sp>
        <p:nvSpPr>
          <p:cNvPr id="81" name="Google Shape;81;p2"/>
          <p:cNvSpPr txBox="1"/>
          <p:nvPr/>
        </p:nvSpPr>
        <p:spPr>
          <a:xfrm>
            <a:off x="9518650" y="4020489"/>
            <a:ext cx="1066800" cy="92333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sz="6000" b="1" i="0">
                <a:solidFill>
                  <a:schemeClr val="dk1"/>
                </a:solidFill>
                <a:latin typeface="Arial Black"/>
                <a:ea typeface="Arial Black"/>
                <a:cs typeface="Arial Black"/>
                <a:sym typeface="Arial Black"/>
              </a:rPr>
              <a:t>01</a:t>
            </a:r>
            <a:endParaRPr/>
          </a:p>
        </p:txBody>
      </p:sp>
      <p:sp>
        <p:nvSpPr>
          <p:cNvPr id="82" name="Google Shape;82;p2"/>
          <p:cNvSpPr txBox="1"/>
          <p:nvPr/>
        </p:nvSpPr>
        <p:spPr>
          <a:xfrm>
            <a:off x="9617262" y="7026177"/>
            <a:ext cx="4579097" cy="461665"/>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sz="3000" b="1" i="0" dirty="0">
                <a:solidFill>
                  <a:schemeClr val="dk1"/>
                </a:solidFill>
                <a:latin typeface="Arial"/>
                <a:ea typeface="Arial"/>
                <a:cs typeface="Arial"/>
                <a:sym typeface="Arial"/>
              </a:rPr>
              <a:t>ESCALAMIENTO</a:t>
            </a:r>
            <a:endParaRPr dirty="0"/>
          </a:p>
        </p:txBody>
      </p:sp>
      <p:sp>
        <p:nvSpPr>
          <p:cNvPr id="83" name="Google Shape;83;p2"/>
          <p:cNvSpPr txBox="1"/>
          <p:nvPr/>
        </p:nvSpPr>
        <p:spPr>
          <a:xfrm>
            <a:off x="9518650" y="6264177"/>
            <a:ext cx="1066800" cy="92333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sz="6000" b="1" i="0">
                <a:solidFill>
                  <a:schemeClr val="dk1"/>
                </a:solidFill>
                <a:latin typeface="Arial Black"/>
                <a:ea typeface="Arial Black"/>
                <a:cs typeface="Arial Black"/>
                <a:sym typeface="Arial Black"/>
              </a:rPr>
              <a:t>02</a:t>
            </a:r>
            <a:endParaRPr/>
          </a:p>
        </p:txBody>
      </p:sp>
      <p:sp>
        <p:nvSpPr>
          <p:cNvPr id="84" name="Google Shape;84;p2"/>
          <p:cNvSpPr txBox="1"/>
          <p:nvPr/>
        </p:nvSpPr>
        <p:spPr>
          <a:xfrm>
            <a:off x="9617262" y="9194781"/>
            <a:ext cx="4165973" cy="461665"/>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sz="3000" b="1" dirty="0">
                <a:solidFill>
                  <a:schemeClr val="dk1"/>
                </a:solidFill>
              </a:rPr>
              <a:t>ENCODING</a:t>
            </a:r>
            <a:endParaRPr dirty="0"/>
          </a:p>
        </p:txBody>
      </p:sp>
      <p:sp>
        <p:nvSpPr>
          <p:cNvPr id="85" name="Google Shape;85;p2"/>
          <p:cNvSpPr txBox="1"/>
          <p:nvPr/>
        </p:nvSpPr>
        <p:spPr>
          <a:xfrm>
            <a:off x="9617262" y="8432781"/>
            <a:ext cx="1066800" cy="92333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sz="6000" b="1" i="0" dirty="0">
                <a:solidFill>
                  <a:schemeClr val="dk1"/>
                </a:solidFill>
                <a:latin typeface="Arial Black"/>
                <a:ea typeface="Arial Black"/>
                <a:cs typeface="Arial Black"/>
                <a:sym typeface="Arial Black"/>
              </a:rPr>
              <a:t>03</a:t>
            </a:r>
            <a:endParaRPr dirty="0"/>
          </a:p>
        </p:txBody>
      </p:sp>
      <p:sp>
        <p:nvSpPr>
          <p:cNvPr id="86" name="Google Shape;86;p2"/>
          <p:cNvSpPr txBox="1"/>
          <p:nvPr/>
        </p:nvSpPr>
        <p:spPr>
          <a:xfrm>
            <a:off x="9617262" y="4782488"/>
            <a:ext cx="4579097" cy="461665"/>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sz="3000" b="1" dirty="0">
                <a:solidFill>
                  <a:schemeClr val="dk1"/>
                </a:solidFill>
              </a:rPr>
              <a:t>INTRODUCCIÓN</a:t>
            </a:r>
            <a:endParaRPr dirty="0"/>
          </a:p>
        </p:txBody>
      </p:sp>
      <p:sp>
        <p:nvSpPr>
          <p:cNvPr id="2" name="Google Shape;85;p2">
            <a:extLst>
              <a:ext uri="{FF2B5EF4-FFF2-40B4-BE49-F238E27FC236}">
                <a16:creationId xmlns:a16="http://schemas.microsoft.com/office/drawing/2014/main" id="{36A807D9-E1E3-3CDD-E745-378CA6E38C70}"/>
              </a:ext>
            </a:extLst>
          </p:cNvPr>
          <p:cNvSpPr txBox="1"/>
          <p:nvPr/>
        </p:nvSpPr>
        <p:spPr>
          <a:xfrm>
            <a:off x="14924353" y="4020489"/>
            <a:ext cx="1066800" cy="92333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sz="6000" b="1" i="0" dirty="0">
                <a:solidFill>
                  <a:schemeClr val="dk1"/>
                </a:solidFill>
                <a:latin typeface="Arial Black"/>
                <a:ea typeface="Arial Black"/>
                <a:cs typeface="Arial Black"/>
                <a:sym typeface="Arial Black"/>
              </a:rPr>
              <a:t>04</a:t>
            </a:r>
            <a:endParaRPr dirty="0"/>
          </a:p>
        </p:txBody>
      </p:sp>
      <p:sp>
        <p:nvSpPr>
          <p:cNvPr id="3" name="Google Shape;84;p2">
            <a:extLst>
              <a:ext uri="{FF2B5EF4-FFF2-40B4-BE49-F238E27FC236}">
                <a16:creationId xmlns:a16="http://schemas.microsoft.com/office/drawing/2014/main" id="{1AF87CED-7EFB-7A2C-9AF4-A36EACF4E653}"/>
              </a:ext>
            </a:extLst>
          </p:cNvPr>
          <p:cNvSpPr txBox="1"/>
          <p:nvPr/>
        </p:nvSpPr>
        <p:spPr>
          <a:xfrm>
            <a:off x="14924353" y="4782488"/>
            <a:ext cx="4165973" cy="461665"/>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sz="3000" b="1" dirty="0">
                <a:solidFill>
                  <a:schemeClr val="dk1"/>
                </a:solidFill>
              </a:rPr>
              <a:t>CORRELACIÓN</a:t>
            </a:r>
            <a:endParaRPr dirty="0"/>
          </a:p>
        </p:txBody>
      </p:sp>
      <p:sp>
        <p:nvSpPr>
          <p:cNvPr id="4" name="Google Shape;85;p2">
            <a:extLst>
              <a:ext uri="{FF2B5EF4-FFF2-40B4-BE49-F238E27FC236}">
                <a16:creationId xmlns:a16="http://schemas.microsoft.com/office/drawing/2014/main" id="{4D36F833-05D3-05F1-62D8-DD8C78E55A7F}"/>
              </a:ext>
            </a:extLst>
          </p:cNvPr>
          <p:cNvSpPr txBox="1"/>
          <p:nvPr/>
        </p:nvSpPr>
        <p:spPr>
          <a:xfrm>
            <a:off x="14836123" y="6386698"/>
            <a:ext cx="1066800" cy="92333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sz="6000" b="1" i="0" dirty="0">
                <a:solidFill>
                  <a:schemeClr val="dk1"/>
                </a:solidFill>
                <a:latin typeface="Arial Black"/>
                <a:ea typeface="Arial Black"/>
                <a:cs typeface="Arial Black"/>
                <a:sym typeface="Arial Black"/>
              </a:rPr>
              <a:t>0</a:t>
            </a:r>
            <a:r>
              <a:rPr lang="es-ES" sz="6000" b="1" dirty="0">
                <a:solidFill>
                  <a:schemeClr val="dk1"/>
                </a:solidFill>
                <a:latin typeface="Arial Black"/>
                <a:ea typeface="Arial Black"/>
                <a:cs typeface="Arial Black"/>
                <a:sym typeface="Arial Black"/>
              </a:rPr>
              <a:t>5</a:t>
            </a:r>
            <a:endParaRPr dirty="0"/>
          </a:p>
        </p:txBody>
      </p:sp>
      <p:sp>
        <p:nvSpPr>
          <p:cNvPr id="5" name="Google Shape;84;p2">
            <a:extLst>
              <a:ext uri="{FF2B5EF4-FFF2-40B4-BE49-F238E27FC236}">
                <a16:creationId xmlns:a16="http://schemas.microsoft.com/office/drawing/2014/main" id="{A99BB70E-BD6D-E3FE-06FD-7DA0BC7CC437}"/>
              </a:ext>
            </a:extLst>
          </p:cNvPr>
          <p:cNvSpPr txBox="1"/>
          <p:nvPr/>
        </p:nvSpPr>
        <p:spPr>
          <a:xfrm>
            <a:off x="14924353" y="7079195"/>
            <a:ext cx="4165973" cy="461665"/>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sz="3000" b="1" i="0" dirty="0">
                <a:solidFill>
                  <a:schemeClr val="dk1"/>
                </a:solidFill>
                <a:latin typeface="Arial"/>
                <a:ea typeface="Arial"/>
                <a:cs typeface="Arial"/>
                <a:sym typeface="Arial"/>
              </a:rPr>
              <a:t>RESUMEN</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3"/>
          <p:cNvSpPr txBox="1">
            <a:spLocks noGrp="1"/>
          </p:cNvSpPr>
          <p:nvPr>
            <p:ph type="title"/>
          </p:nvPr>
        </p:nvSpPr>
        <p:spPr>
          <a:xfrm>
            <a:off x="4413250" y="7559675"/>
            <a:ext cx="10134600" cy="1015663"/>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ES" sz="6600" dirty="0"/>
              <a:t>INTRODUCCIÓN</a:t>
            </a:r>
            <a:endParaRPr dirty="0"/>
          </a:p>
        </p:txBody>
      </p:sp>
      <p:sp>
        <p:nvSpPr>
          <p:cNvPr id="92" name="Google Shape;92;p3"/>
          <p:cNvSpPr txBox="1"/>
          <p:nvPr/>
        </p:nvSpPr>
        <p:spPr>
          <a:xfrm>
            <a:off x="12677531" y="6082347"/>
            <a:ext cx="1905000" cy="1477328"/>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ES" sz="9600" b="1" i="0">
                <a:solidFill>
                  <a:schemeClr val="dk1"/>
                </a:solidFill>
                <a:latin typeface="Arial Black"/>
                <a:ea typeface="Arial Black"/>
                <a:cs typeface="Arial Black"/>
                <a:sym typeface="Arial Black"/>
              </a:rPr>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0"/>
          <p:cNvSpPr txBox="1"/>
          <p:nvPr/>
        </p:nvSpPr>
        <p:spPr>
          <a:xfrm>
            <a:off x="8159750" y="6250622"/>
            <a:ext cx="1905000" cy="147732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sz="9600" b="1" i="0">
                <a:solidFill>
                  <a:srgbClr val="257CE1"/>
                </a:solidFill>
                <a:latin typeface="Arial Black"/>
                <a:ea typeface="Arial Black"/>
                <a:cs typeface="Arial Black"/>
                <a:sym typeface="Arial Black"/>
              </a:rPr>
              <a:t>02</a:t>
            </a:r>
            <a:endParaRPr/>
          </a:p>
        </p:txBody>
      </p:sp>
      <p:sp>
        <p:nvSpPr>
          <p:cNvPr id="146" name="Google Shape;146;p10"/>
          <p:cNvSpPr txBox="1"/>
          <p:nvPr/>
        </p:nvSpPr>
        <p:spPr>
          <a:xfrm>
            <a:off x="1517650" y="7712075"/>
            <a:ext cx="8305800"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ES" sz="4800" b="1" i="0" dirty="0">
                <a:solidFill>
                  <a:srgbClr val="257CE1"/>
                </a:solidFill>
                <a:latin typeface="Arial"/>
                <a:ea typeface="Arial"/>
                <a:cs typeface="Arial"/>
                <a:sym typeface="Arial"/>
              </a:rPr>
              <a:t>ESCALAMIENTO</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4"/>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a:t>ESCALADO DE CARACTERÍSTICAS</a:t>
            </a:r>
            <a:endParaRPr/>
          </a:p>
        </p:txBody>
      </p:sp>
      <p:sp>
        <p:nvSpPr>
          <p:cNvPr id="98" name="Google Shape;98;p4"/>
          <p:cNvSpPr txBox="1"/>
          <p:nvPr/>
        </p:nvSpPr>
        <p:spPr>
          <a:xfrm>
            <a:off x="2432050" y="2149475"/>
            <a:ext cx="13336500" cy="40635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2400" b="1"/>
              <a:t>INTRODUCCIÓN</a:t>
            </a:r>
            <a:endParaRPr sz="2400" b="1"/>
          </a:p>
          <a:p>
            <a:pPr marL="0" lvl="0" indent="0" algn="l" rtl="0">
              <a:spcBef>
                <a:spcPts val="0"/>
              </a:spcBef>
              <a:spcAft>
                <a:spcPts val="0"/>
              </a:spcAft>
              <a:buNone/>
            </a:pPr>
            <a:endParaRPr sz="2400" b="1"/>
          </a:p>
          <a:p>
            <a:pPr marL="0" lvl="0" indent="0" algn="l" rtl="0">
              <a:spcBef>
                <a:spcPts val="0"/>
              </a:spcBef>
              <a:spcAft>
                <a:spcPts val="0"/>
              </a:spcAft>
              <a:buNone/>
            </a:pPr>
            <a:endParaRPr sz="2400" b="1"/>
          </a:p>
          <a:p>
            <a:pPr marL="0" lvl="0" indent="0" algn="l" rtl="0">
              <a:spcBef>
                <a:spcPts val="0"/>
              </a:spcBef>
              <a:spcAft>
                <a:spcPts val="0"/>
              </a:spcAft>
              <a:buNone/>
            </a:pPr>
            <a:endParaRPr sz="2400"/>
          </a:p>
          <a:p>
            <a:pPr marL="0" lvl="0" indent="0" algn="just" rtl="0">
              <a:spcBef>
                <a:spcPts val="0"/>
              </a:spcBef>
              <a:spcAft>
                <a:spcPts val="0"/>
              </a:spcAft>
              <a:buNone/>
            </a:pPr>
            <a:r>
              <a:rPr lang="es-ES" sz="2400">
                <a:solidFill>
                  <a:schemeClr val="dk1"/>
                </a:solidFill>
                <a:latin typeface="Helvetica Neue"/>
                <a:ea typeface="Helvetica Neue"/>
                <a:cs typeface="Helvetica Neue"/>
                <a:sym typeface="Helvetica Neue"/>
              </a:rPr>
              <a:t>Una de las transformaciones más importantes que hay que aplicar a los datos es el </a:t>
            </a:r>
            <a:r>
              <a:rPr lang="es-ES" sz="2400" b="1">
                <a:solidFill>
                  <a:srgbClr val="FF0000"/>
                </a:solidFill>
                <a:latin typeface="Helvetica Neue"/>
                <a:ea typeface="Helvetica Neue"/>
                <a:cs typeface="Helvetica Neue"/>
                <a:sym typeface="Helvetica Neue"/>
              </a:rPr>
              <a:t>escalado de características</a:t>
            </a:r>
            <a:r>
              <a:rPr lang="es-ES" sz="2400">
                <a:solidFill>
                  <a:schemeClr val="dk1"/>
                </a:solidFill>
                <a:latin typeface="Helvetica Neue"/>
                <a:ea typeface="Helvetica Neue"/>
                <a:cs typeface="Helvetica Neue"/>
                <a:sym typeface="Helvetica Neue"/>
              </a:rPr>
              <a:t>. Salvo algunas excepciones, </a:t>
            </a:r>
            <a:r>
              <a:rPr lang="es-ES" sz="2400" b="1">
                <a:solidFill>
                  <a:schemeClr val="dk1"/>
                </a:solidFill>
                <a:latin typeface="Helvetica Neue"/>
                <a:ea typeface="Helvetica Neue"/>
                <a:cs typeface="Helvetica Neue"/>
                <a:sym typeface="Helvetica Neue"/>
              </a:rPr>
              <a:t>los algoritmos de Machine Learning no tienen un buen rendimiento cuando los </a:t>
            </a:r>
            <a:r>
              <a:rPr lang="es-ES" sz="2400" b="1">
                <a:solidFill>
                  <a:srgbClr val="FF0000"/>
                </a:solidFill>
                <a:latin typeface="Helvetica Neue"/>
                <a:ea typeface="Helvetica Neue"/>
                <a:cs typeface="Helvetica Neue"/>
                <a:sym typeface="Helvetica Neue"/>
              </a:rPr>
              <a:t>atributos numéricos </a:t>
            </a:r>
            <a:r>
              <a:rPr lang="es-ES" sz="2400" b="1">
                <a:solidFill>
                  <a:schemeClr val="dk1"/>
                </a:solidFill>
                <a:latin typeface="Helvetica Neue"/>
                <a:ea typeface="Helvetica Neue"/>
                <a:cs typeface="Helvetica Neue"/>
                <a:sym typeface="Helvetica Neue"/>
              </a:rPr>
              <a:t>de entrada tienen escalas muy diferentes</a:t>
            </a:r>
            <a:r>
              <a:rPr lang="es-ES" sz="2400">
                <a:solidFill>
                  <a:schemeClr val="dk1"/>
                </a:solidFill>
                <a:latin typeface="Helvetica Neue"/>
                <a:ea typeface="Helvetica Neue"/>
                <a:cs typeface="Helvetica Neue"/>
                <a:sym typeface="Helvetica Neue"/>
              </a:rPr>
              <a:t>.</a:t>
            </a:r>
            <a:endParaRPr/>
          </a:p>
          <a:p>
            <a:pPr marL="0" lvl="0" indent="0" algn="just" rtl="0">
              <a:spcBef>
                <a:spcPts val="0"/>
              </a:spcBef>
              <a:spcAft>
                <a:spcPts val="0"/>
              </a:spcAft>
              <a:buNone/>
            </a:pPr>
            <a:endParaRPr sz="2400">
              <a:solidFill>
                <a:schemeClr val="dk1"/>
              </a:solidFill>
              <a:latin typeface="Helvetica Neue"/>
              <a:ea typeface="Helvetica Neue"/>
              <a:cs typeface="Helvetica Neue"/>
              <a:sym typeface="Helvetica Neue"/>
            </a:endParaRPr>
          </a:p>
          <a:p>
            <a:pPr marL="0" lvl="0" indent="0" algn="just" rtl="0">
              <a:spcBef>
                <a:spcPts val="0"/>
              </a:spcBef>
              <a:spcAft>
                <a:spcPts val="0"/>
              </a:spcAft>
              <a:buNone/>
            </a:pPr>
            <a:endParaRPr sz="2400">
              <a:latin typeface="Calibri"/>
              <a:ea typeface="Calibri"/>
              <a:cs typeface="Calibri"/>
              <a:sym typeface="Calibri"/>
            </a:endParaRPr>
          </a:p>
          <a:p>
            <a:pPr marL="0" lvl="0" indent="0" algn="l" rtl="0">
              <a:spcBef>
                <a:spcPts val="0"/>
              </a:spcBef>
              <a:spcAft>
                <a:spcPts val="0"/>
              </a:spcAft>
              <a:buNone/>
            </a:pPr>
            <a:endParaRPr sz="1800"/>
          </a:p>
        </p:txBody>
      </p:sp>
      <p:sp>
        <p:nvSpPr>
          <p:cNvPr id="99" name="Google Shape;99;p4"/>
          <p:cNvSpPr txBox="1"/>
          <p:nvPr/>
        </p:nvSpPr>
        <p:spPr>
          <a:xfrm>
            <a:off x="2584450" y="10286979"/>
            <a:ext cx="7659469"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1400"/>
              <a:t>FUENTE: Aprende Machine Learning con Scikit-Learn, Keras y TensorFlow, A.Géron, O’Reilly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5"/>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a:t>ESCALADO DE CARACTERÍSTICAS</a:t>
            </a:r>
            <a:endParaRPr/>
          </a:p>
        </p:txBody>
      </p:sp>
      <p:sp>
        <p:nvSpPr>
          <p:cNvPr id="105" name="Google Shape;105;p5"/>
          <p:cNvSpPr txBox="1"/>
          <p:nvPr/>
        </p:nvSpPr>
        <p:spPr>
          <a:xfrm>
            <a:off x="2432051" y="2149475"/>
            <a:ext cx="8229600" cy="84966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2400" b="1"/>
              <a:t>¿POR QUÉ ESCALAR?</a:t>
            </a:r>
            <a:endParaRPr/>
          </a:p>
          <a:p>
            <a:pPr marL="0" lvl="0" indent="0" algn="l" rtl="0">
              <a:spcBef>
                <a:spcPts val="0"/>
              </a:spcBef>
              <a:spcAft>
                <a:spcPts val="0"/>
              </a:spcAft>
              <a:buNone/>
            </a:pPr>
            <a:endParaRPr sz="2400"/>
          </a:p>
          <a:p>
            <a:pPr marL="0" lvl="0" indent="0" algn="just" rtl="0">
              <a:spcBef>
                <a:spcPts val="0"/>
              </a:spcBef>
              <a:spcAft>
                <a:spcPts val="0"/>
              </a:spcAft>
              <a:buNone/>
            </a:pPr>
            <a:r>
              <a:rPr lang="es-ES" sz="2400" b="0" i="0">
                <a:solidFill>
                  <a:srgbClr val="333333"/>
                </a:solidFill>
                <a:latin typeface="Helvetica Neue"/>
                <a:ea typeface="Helvetica Neue"/>
                <a:cs typeface="Helvetica Neue"/>
                <a:sym typeface="Helvetica Neue"/>
              </a:rPr>
              <a:t>La mayoría de las veces, nuestro conjunto de datos contendrá características que </a:t>
            </a:r>
            <a:r>
              <a:rPr lang="es-ES" sz="2400" b="1" i="0">
                <a:solidFill>
                  <a:srgbClr val="333333"/>
                </a:solidFill>
                <a:latin typeface="Helvetica Neue"/>
                <a:ea typeface="Helvetica Neue"/>
                <a:cs typeface="Helvetica Neue"/>
                <a:sym typeface="Helvetica Neue"/>
              </a:rPr>
              <a:t>varían mucho en magnitudes, unidades y rango</a:t>
            </a:r>
            <a:r>
              <a:rPr lang="es-ES" sz="2400" b="0" i="0">
                <a:solidFill>
                  <a:srgbClr val="333333"/>
                </a:solidFill>
                <a:latin typeface="Helvetica Neue"/>
                <a:ea typeface="Helvetica Neue"/>
                <a:cs typeface="Helvetica Neue"/>
                <a:sym typeface="Helvetica Neue"/>
              </a:rPr>
              <a:t>. Pero dado que la </a:t>
            </a:r>
            <a:r>
              <a:rPr lang="es-ES" sz="2400" b="1" i="0">
                <a:solidFill>
                  <a:srgbClr val="FF0000"/>
                </a:solidFill>
                <a:latin typeface="Helvetica Neue"/>
                <a:ea typeface="Helvetica Neue"/>
                <a:cs typeface="Helvetica Neue"/>
                <a:sym typeface="Helvetica Neue"/>
              </a:rPr>
              <a:t>mayoría de los algoritmos de aprendizaje automático usan la distancia euclidiana </a:t>
            </a:r>
            <a:r>
              <a:rPr lang="es-ES" sz="2400" b="1" i="0">
                <a:solidFill>
                  <a:srgbClr val="333333"/>
                </a:solidFill>
                <a:latin typeface="Helvetica Neue"/>
                <a:ea typeface="Helvetica Neue"/>
                <a:cs typeface="Helvetica Neue"/>
                <a:sym typeface="Helvetica Neue"/>
              </a:rPr>
              <a:t>entre dos puntos de datos en sus cálculos</a:t>
            </a:r>
            <a:r>
              <a:rPr lang="es-ES" sz="2400" b="0" i="0">
                <a:solidFill>
                  <a:srgbClr val="333333"/>
                </a:solidFill>
                <a:latin typeface="Helvetica Neue"/>
                <a:ea typeface="Helvetica Neue"/>
                <a:cs typeface="Helvetica Neue"/>
                <a:sym typeface="Helvetica Neue"/>
              </a:rPr>
              <a:t>, esto es un problema.</a:t>
            </a:r>
            <a:endParaRPr/>
          </a:p>
          <a:p>
            <a:pPr marL="0" lvl="0" indent="0" algn="just" rtl="0">
              <a:spcBef>
                <a:spcPts val="0"/>
              </a:spcBef>
              <a:spcAft>
                <a:spcPts val="0"/>
              </a:spcAft>
              <a:buNone/>
            </a:pPr>
            <a:endParaRPr sz="2400" b="0" i="0">
              <a:solidFill>
                <a:srgbClr val="333333"/>
              </a:solidFill>
              <a:latin typeface="Helvetica Neue"/>
              <a:ea typeface="Helvetica Neue"/>
              <a:cs typeface="Helvetica Neue"/>
              <a:sym typeface="Helvetica Neue"/>
            </a:endParaRPr>
          </a:p>
          <a:p>
            <a:pPr marL="0" lvl="0" indent="0" algn="just" rtl="0">
              <a:spcBef>
                <a:spcPts val="0"/>
              </a:spcBef>
              <a:spcAft>
                <a:spcPts val="0"/>
              </a:spcAft>
              <a:buNone/>
            </a:pPr>
            <a:r>
              <a:rPr lang="es-ES" sz="2400" b="0" i="0">
                <a:solidFill>
                  <a:srgbClr val="333333"/>
                </a:solidFill>
                <a:latin typeface="Helvetica Neue"/>
                <a:ea typeface="Helvetica Neue"/>
                <a:cs typeface="Helvetica Neue"/>
                <a:sym typeface="Helvetica Neue"/>
              </a:rPr>
              <a:t>Si se dejan solos, estos algoritmos </a:t>
            </a:r>
            <a:r>
              <a:rPr lang="es-ES" sz="2400">
                <a:solidFill>
                  <a:srgbClr val="333333"/>
                </a:solidFill>
                <a:latin typeface="Helvetica Neue"/>
                <a:ea typeface="Helvetica Neue"/>
                <a:cs typeface="Helvetica Neue"/>
                <a:sym typeface="Helvetica Neue"/>
              </a:rPr>
              <a:t>sólo</a:t>
            </a:r>
            <a:r>
              <a:rPr lang="es-ES" sz="2400" b="0" i="0">
                <a:solidFill>
                  <a:srgbClr val="333333"/>
                </a:solidFill>
                <a:latin typeface="Helvetica Neue"/>
                <a:ea typeface="Helvetica Neue"/>
                <a:cs typeface="Helvetica Neue"/>
                <a:sym typeface="Helvetica Neue"/>
              </a:rPr>
              <a:t> toman en cuenta la magnitud de las características y descuidan las unidades. </a:t>
            </a:r>
            <a:endParaRPr/>
          </a:p>
          <a:p>
            <a:pPr marL="0" lvl="0" indent="0" algn="just" rtl="0">
              <a:spcBef>
                <a:spcPts val="0"/>
              </a:spcBef>
              <a:spcAft>
                <a:spcPts val="0"/>
              </a:spcAft>
              <a:buNone/>
            </a:pPr>
            <a:endParaRPr sz="2400">
              <a:solidFill>
                <a:srgbClr val="333333"/>
              </a:solidFill>
              <a:latin typeface="Helvetica Neue"/>
              <a:ea typeface="Helvetica Neue"/>
              <a:cs typeface="Helvetica Neue"/>
              <a:sym typeface="Helvetica Neue"/>
            </a:endParaRPr>
          </a:p>
          <a:p>
            <a:pPr marL="0" lvl="0" indent="0" algn="just" rtl="0">
              <a:spcBef>
                <a:spcPts val="0"/>
              </a:spcBef>
              <a:spcAft>
                <a:spcPts val="0"/>
              </a:spcAft>
              <a:buNone/>
            </a:pPr>
            <a:r>
              <a:rPr lang="es-ES" sz="2400" b="0" i="0">
                <a:solidFill>
                  <a:srgbClr val="333333"/>
                </a:solidFill>
                <a:latin typeface="Helvetica Neue"/>
                <a:ea typeface="Helvetica Neue"/>
                <a:cs typeface="Helvetica Neue"/>
                <a:sym typeface="Helvetica Neue"/>
              </a:rPr>
              <a:t>Los resultados variarían mucho entre diferentes unidades, por ejemplo entre 5 kg y 5000 g. </a:t>
            </a:r>
            <a:endParaRPr/>
          </a:p>
          <a:p>
            <a:pPr marL="0" lvl="0" indent="0" algn="just" rtl="0">
              <a:spcBef>
                <a:spcPts val="0"/>
              </a:spcBef>
              <a:spcAft>
                <a:spcPts val="0"/>
              </a:spcAft>
              <a:buNone/>
            </a:pPr>
            <a:endParaRPr sz="2400">
              <a:solidFill>
                <a:srgbClr val="333333"/>
              </a:solidFill>
              <a:latin typeface="Helvetica Neue"/>
              <a:ea typeface="Helvetica Neue"/>
              <a:cs typeface="Helvetica Neue"/>
              <a:sym typeface="Helvetica Neue"/>
            </a:endParaRPr>
          </a:p>
          <a:p>
            <a:pPr marL="0" lvl="0" indent="0" algn="just" rtl="0">
              <a:spcBef>
                <a:spcPts val="0"/>
              </a:spcBef>
              <a:spcAft>
                <a:spcPts val="0"/>
              </a:spcAft>
              <a:buNone/>
            </a:pPr>
            <a:r>
              <a:rPr lang="es-ES" sz="2400" b="0" i="0">
                <a:solidFill>
                  <a:srgbClr val="333333"/>
                </a:solidFill>
                <a:latin typeface="Helvetica Neue"/>
                <a:ea typeface="Helvetica Neue"/>
                <a:cs typeface="Helvetica Neue"/>
                <a:sym typeface="Helvetica Neue"/>
              </a:rPr>
              <a:t>Las características con magnitudes altas pesarán mucho más en los cálculos de distancia que las características con magnitudes bajas. Para suprimir este efecto, necesitamos traer todas las características al mismo nivel de magnitudes. Esto se puede lograr escalando.</a:t>
            </a:r>
            <a:endParaRPr/>
          </a:p>
          <a:p>
            <a:pPr marL="0" lvl="0" indent="0" algn="just" rtl="0">
              <a:spcBef>
                <a:spcPts val="0"/>
              </a:spcBef>
              <a:spcAft>
                <a:spcPts val="0"/>
              </a:spcAft>
              <a:buNone/>
            </a:pPr>
            <a:endParaRPr sz="2400">
              <a:latin typeface="Calibri"/>
              <a:ea typeface="Calibri"/>
              <a:cs typeface="Calibri"/>
              <a:sym typeface="Calibri"/>
            </a:endParaRPr>
          </a:p>
          <a:p>
            <a:pPr marL="0" lvl="0" indent="0" algn="l" rtl="0">
              <a:spcBef>
                <a:spcPts val="0"/>
              </a:spcBef>
              <a:spcAft>
                <a:spcPts val="0"/>
              </a:spcAft>
              <a:buNone/>
            </a:pPr>
            <a:endParaRPr sz="1800"/>
          </a:p>
        </p:txBody>
      </p:sp>
      <p:sp>
        <p:nvSpPr>
          <p:cNvPr id="106" name="Google Shape;106;p5"/>
          <p:cNvSpPr txBox="1"/>
          <p:nvPr/>
        </p:nvSpPr>
        <p:spPr>
          <a:xfrm>
            <a:off x="2584450" y="10286979"/>
            <a:ext cx="7891904"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1400"/>
              <a:t>FUENTE: https://ichi.pro/es/escalado-de-caracteristicas-por-que-es-necesario-152367707910928</a:t>
            </a:r>
            <a:endParaRPr/>
          </a:p>
        </p:txBody>
      </p:sp>
      <p:pic>
        <p:nvPicPr>
          <p:cNvPr id="107" name="Google Shape;107;p5"/>
          <p:cNvPicPr preferRelativeResize="0"/>
          <p:nvPr/>
        </p:nvPicPr>
        <p:blipFill rotWithShape="1">
          <a:blip r:embed="rId3">
            <a:alphaModFix/>
          </a:blip>
          <a:srcRect/>
          <a:stretch/>
        </p:blipFill>
        <p:spPr>
          <a:xfrm>
            <a:off x="11118850" y="2454275"/>
            <a:ext cx="8477542" cy="4968842"/>
          </a:xfrm>
          <a:prstGeom prst="rect">
            <a:avLst/>
          </a:prstGeom>
          <a:noFill/>
          <a:ln>
            <a:noFill/>
          </a:ln>
        </p:spPr>
      </p:pic>
      <p:sp>
        <p:nvSpPr>
          <p:cNvPr id="108" name="Google Shape;108;p5"/>
          <p:cNvSpPr txBox="1"/>
          <p:nvPr/>
        </p:nvSpPr>
        <p:spPr>
          <a:xfrm>
            <a:off x="11880850" y="8116411"/>
            <a:ext cx="7310863" cy="1015663"/>
          </a:xfrm>
          <a:prstGeom prst="rect">
            <a:avLst/>
          </a:prstGeom>
          <a:noFill/>
          <a:ln>
            <a:noFill/>
          </a:ln>
        </p:spPr>
        <p:txBody>
          <a:bodyPr spcFirstLastPara="1" wrap="square" lIns="91425" tIns="45700" rIns="91425" bIns="45700" anchor="t" anchorCtr="0">
            <a:spAutoFit/>
          </a:bodyPr>
          <a:lstStyle/>
          <a:p>
            <a:pPr marL="0" lvl="0" indent="0" algn="just" rtl="0">
              <a:spcBef>
                <a:spcPts val="0"/>
              </a:spcBef>
              <a:spcAft>
                <a:spcPts val="0"/>
              </a:spcAft>
              <a:buNone/>
            </a:pPr>
            <a:r>
              <a:rPr lang="es-ES" sz="1400" b="0" i="0">
                <a:solidFill>
                  <a:srgbClr val="333333"/>
                </a:solidFill>
                <a:latin typeface="Helvetica Neue"/>
                <a:ea typeface="Helvetica Neue"/>
                <a:cs typeface="Helvetica Neue"/>
                <a:sym typeface="Helvetica Neue"/>
              </a:rPr>
              <a:t>En los gráficos de dispersión mostrados, puede verificar la diferencia entre escalar y no escalar. El rango (escala) es muy amplio sin escala, por lo que es difícil separar puntos. </a:t>
            </a:r>
            <a:r>
              <a:rPr lang="es-ES" sz="1400" b="1" i="0">
                <a:solidFill>
                  <a:srgbClr val="333333"/>
                </a:solidFill>
                <a:latin typeface="Helvetica Neue"/>
                <a:ea typeface="Helvetica Neue"/>
                <a:cs typeface="Helvetica Neue"/>
                <a:sym typeface="Helvetica Neue"/>
              </a:rPr>
              <a:t>Cuando se usa escala, proporciona eficiencia y buen rendimiento.</a:t>
            </a:r>
            <a:endParaRPr sz="1400" b="1">
              <a:solidFill>
                <a:srgbClr val="333333"/>
              </a:solidFill>
              <a:latin typeface="Helvetica Neue"/>
              <a:ea typeface="Helvetica Neue"/>
              <a:cs typeface="Helvetica Neue"/>
              <a:sym typeface="Helvetica Neue"/>
            </a:endParaRPr>
          </a:p>
          <a:p>
            <a:pPr marL="0" lvl="0" indent="0" algn="l" rtl="0">
              <a:spcBef>
                <a:spcPts val="0"/>
              </a:spcBef>
              <a:spcAft>
                <a:spcPts val="0"/>
              </a:spcAft>
              <a:buNone/>
            </a:pP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6"/>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a:t>ESCALADO DE CARACTERÍSTICAS</a:t>
            </a:r>
            <a:endParaRPr/>
          </a:p>
        </p:txBody>
      </p:sp>
      <p:sp>
        <p:nvSpPr>
          <p:cNvPr id="114" name="Google Shape;114;p6"/>
          <p:cNvSpPr txBox="1"/>
          <p:nvPr/>
        </p:nvSpPr>
        <p:spPr>
          <a:xfrm>
            <a:off x="2432051" y="2149475"/>
            <a:ext cx="8229600" cy="5170646"/>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2400" b="1"/>
              <a:t>NORMALIZACIÓN</a:t>
            </a:r>
            <a:endParaRPr/>
          </a:p>
          <a:p>
            <a:pPr marL="0" lvl="0" indent="0" algn="just" rtl="0">
              <a:spcBef>
                <a:spcPts val="0"/>
              </a:spcBef>
              <a:spcAft>
                <a:spcPts val="0"/>
              </a:spcAft>
              <a:buNone/>
            </a:pPr>
            <a:endParaRPr sz="2400"/>
          </a:p>
          <a:p>
            <a:pPr marL="0" lvl="0" indent="0" algn="just" rtl="0">
              <a:spcBef>
                <a:spcPts val="0"/>
              </a:spcBef>
              <a:spcAft>
                <a:spcPts val="0"/>
              </a:spcAft>
              <a:buNone/>
            </a:pPr>
            <a:r>
              <a:rPr lang="es-ES" sz="2400" b="0" i="0">
                <a:solidFill>
                  <a:srgbClr val="333333"/>
                </a:solidFill>
                <a:latin typeface="Helvetica Neue"/>
                <a:ea typeface="Helvetica Neue"/>
                <a:cs typeface="Helvetica Neue"/>
                <a:sym typeface="Helvetica Neue"/>
              </a:rPr>
              <a:t>El objetivo de la normalización es cambiar sus observaciones para que puedan describirse como una distribución normal.</a:t>
            </a:r>
            <a:endParaRPr/>
          </a:p>
          <a:p>
            <a:pPr marL="0" lvl="0" indent="0" algn="just" rtl="0">
              <a:spcBef>
                <a:spcPts val="0"/>
              </a:spcBef>
              <a:spcAft>
                <a:spcPts val="0"/>
              </a:spcAft>
              <a:buNone/>
            </a:pPr>
            <a:endParaRPr sz="2400" b="0" i="0">
              <a:solidFill>
                <a:srgbClr val="333333"/>
              </a:solidFill>
              <a:latin typeface="Helvetica Neue"/>
              <a:ea typeface="Helvetica Neue"/>
              <a:cs typeface="Helvetica Neue"/>
              <a:sym typeface="Helvetica Neue"/>
            </a:endParaRPr>
          </a:p>
          <a:p>
            <a:pPr marL="0" lvl="0" indent="0" algn="just" rtl="0">
              <a:spcBef>
                <a:spcPts val="0"/>
              </a:spcBef>
              <a:spcAft>
                <a:spcPts val="0"/>
              </a:spcAft>
              <a:buNone/>
            </a:pPr>
            <a:r>
              <a:rPr lang="es-ES" sz="2400" b="0" i="0">
                <a:solidFill>
                  <a:srgbClr val="333333"/>
                </a:solidFill>
                <a:latin typeface="Helvetica Neue"/>
                <a:ea typeface="Helvetica Neue"/>
                <a:cs typeface="Helvetica Neue"/>
                <a:sym typeface="Helvetica Neue"/>
              </a:rPr>
              <a:t>La distribución normal (distribución gaussiana), también conocida como </a:t>
            </a:r>
            <a:r>
              <a:rPr lang="es-ES" sz="2400" b="1" i="0">
                <a:solidFill>
                  <a:srgbClr val="333333"/>
                </a:solidFill>
                <a:latin typeface="Helvetica Neue"/>
                <a:ea typeface="Helvetica Neue"/>
                <a:cs typeface="Helvetica Neue"/>
                <a:sym typeface="Helvetica Neue"/>
              </a:rPr>
              <a:t>curva de campana</a:t>
            </a:r>
            <a:r>
              <a:rPr lang="es-ES" sz="2400" b="0" i="0">
                <a:solidFill>
                  <a:srgbClr val="333333"/>
                </a:solidFill>
                <a:latin typeface="Helvetica Neue"/>
                <a:ea typeface="Helvetica Neue"/>
                <a:cs typeface="Helvetica Neue"/>
                <a:sym typeface="Helvetica Neue"/>
              </a:rPr>
              <a:t> , es una distribución estadística específica en la que aproximadamente las mismas observaciones caen por encima y por debajo de la media, la media y la mediana son iguales y hay más observaciones más cercanas a la media.</a:t>
            </a:r>
            <a:endParaRPr/>
          </a:p>
          <a:p>
            <a:pPr marL="0" lvl="0" indent="0" algn="just" rtl="0">
              <a:spcBef>
                <a:spcPts val="0"/>
              </a:spcBef>
              <a:spcAft>
                <a:spcPts val="0"/>
              </a:spcAft>
              <a:buNone/>
            </a:pPr>
            <a:endParaRPr sz="2400">
              <a:latin typeface="Calibri"/>
              <a:ea typeface="Calibri"/>
              <a:cs typeface="Calibri"/>
              <a:sym typeface="Calibri"/>
            </a:endParaRPr>
          </a:p>
          <a:p>
            <a:pPr marL="0" lvl="0" indent="0" algn="l" rtl="0">
              <a:spcBef>
                <a:spcPts val="0"/>
              </a:spcBef>
              <a:spcAft>
                <a:spcPts val="0"/>
              </a:spcAft>
              <a:buNone/>
            </a:pPr>
            <a:endParaRPr sz="1800"/>
          </a:p>
        </p:txBody>
      </p:sp>
      <p:sp>
        <p:nvSpPr>
          <p:cNvPr id="115" name="Google Shape;115;p6"/>
          <p:cNvSpPr txBox="1"/>
          <p:nvPr/>
        </p:nvSpPr>
        <p:spPr>
          <a:xfrm>
            <a:off x="2584450" y="10286979"/>
            <a:ext cx="7891904"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1400"/>
              <a:t>FUENTE: https://ichi.pro/es/escalado-de-caracteristicas-por-que-es-necesario-152367707910928</a:t>
            </a:r>
            <a:endParaRPr/>
          </a:p>
        </p:txBody>
      </p:sp>
      <p:pic>
        <p:nvPicPr>
          <p:cNvPr id="116" name="Google Shape;116;p6"/>
          <p:cNvPicPr preferRelativeResize="0"/>
          <p:nvPr/>
        </p:nvPicPr>
        <p:blipFill rotWithShape="1">
          <a:blip r:embed="rId3">
            <a:alphaModFix/>
          </a:blip>
          <a:srcRect/>
          <a:stretch/>
        </p:blipFill>
        <p:spPr>
          <a:xfrm>
            <a:off x="11423650" y="2454275"/>
            <a:ext cx="7519916" cy="4419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7"/>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a:t>ESCALADO DE CARACTERÍSTICAS</a:t>
            </a:r>
            <a:endParaRPr/>
          </a:p>
        </p:txBody>
      </p:sp>
      <p:sp>
        <p:nvSpPr>
          <p:cNvPr id="122" name="Google Shape;122;p7"/>
          <p:cNvSpPr txBox="1"/>
          <p:nvPr/>
        </p:nvSpPr>
        <p:spPr>
          <a:xfrm>
            <a:off x="2432051" y="2149475"/>
            <a:ext cx="8229600" cy="7018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2400" b="1"/>
              <a:t>NORMALIZACIÓN MÍNIMO MÁXIMO</a:t>
            </a:r>
            <a:endParaRPr/>
          </a:p>
          <a:p>
            <a:pPr marL="0" lvl="0" indent="0" algn="just" rtl="0">
              <a:spcBef>
                <a:spcPts val="0"/>
              </a:spcBef>
              <a:spcAft>
                <a:spcPts val="0"/>
              </a:spcAft>
              <a:buNone/>
            </a:pPr>
            <a:endParaRPr sz="2400"/>
          </a:p>
          <a:p>
            <a:pPr marL="0" lvl="0" indent="0" algn="l" rtl="0">
              <a:spcBef>
                <a:spcPts val="0"/>
              </a:spcBef>
              <a:spcAft>
                <a:spcPts val="0"/>
              </a:spcAft>
              <a:buNone/>
            </a:pPr>
            <a:endParaRPr sz="2400" b="0" i="0">
              <a:solidFill>
                <a:srgbClr val="333333"/>
              </a:solidFill>
              <a:latin typeface="Helvetica Neue"/>
              <a:ea typeface="Helvetica Neue"/>
              <a:cs typeface="Helvetica Neue"/>
              <a:sym typeface="Helvetica Neue"/>
            </a:endParaRPr>
          </a:p>
          <a:p>
            <a:pPr marL="0" lvl="0" indent="0" algn="l" rtl="0">
              <a:spcBef>
                <a:spcPts val="0"/>
              </a:spcBef>
              <a:spcAft>
                <a:spcPts val="0"/>
              </a:spcAft>
              <a:buNone/>
            </a:pPr>
            <a:r>
              <a:rPr lang="es-ES" sz="2400">
                <a:solidFill>
                  <a:srgbClr val="333333"/>
                </a:solidFill>
                <a:latin typeface="Helvetica Neue"/>
                <a:ea typeface="Helvetica Neue"/>
                <a:cs typeface="Helvetica Neue"/>
                <a:sym typeface="Helvetica Neue"/>
              </a:rPr>
              <a:t>Se utiliza la siguiente fórmula.</a:t>
            </a:r>
            <a:endParaRPr/>
          </a:p>
          <a:p>
            <a:pPr marL="0" lvl="0" indent="0" algn="l" rtl="0">
              <a:spcBef>
                <a:spcPts val="0"/>
              </a:spcBef>
              <a:spcAft>
                <a:spcPts val="0"/>
              </a:spcAft>
              <a:buNone/>
            </a:pPr>
            <a:endParaRPr sz="2400">
              <a:solidFill>
                <a:srgbClr val="333333"/>
              </a:solidFill>
              <a:latin typeface="Helvetica Neue"/>
              <a:ea typeface="Helvetica Neue"/>
              <a:cs typeface="Helvetica Neue"/>
              <a:sym typeface="Helvetica Neue"/>
            </a:endParaRPr>
          </a:p>
          <a:p>
            <a:pPr marL="0" lvl="0" indent="0" algn="l" rtl="0">
              <a:spcBef>
                <a:spcPts val="0"/>
              </a:spcBef>
              <a:spcAft>
                <a:spcPts val="0"/>
              </a:spcAft>
              <a:buNone/>
            </a:pPr>
            <a:r>
              <a:rPr lang="es-ES" sz="2400" b="0" i="0">
                <a:solidFill>
                  <a:srgbClr val="333333"/>
                </a:solidFill>
                <a:latin typeface="Helvetica Neue"/>
                <a:ea typeface="Helvetica Neue"/>
                <a:cs typeface="Helvetica Neue"/>
                <a:sym typeface="Helvetica Neue"/>
              </a:rPr>
              <a:t>Podem</a:t>
            </a:r>
            <a:r>
              <a:rPr lang="es-ES" sz="2400">
                <a:solidFill>
                  <a:srgbClr val="333333"/>
                </a:solidFill>
                <a:latin typeface="Helvetica Neue"/>
                <a:ea typeface="Helvetica Neue"/>
                <a:cs typeface="Helvetica Neue"/>
                <a:sym typeface="Helvetica Neue"/>
              </a:rPr>
              <a:t>os</a:t>
            </a:r>
            <a:r>
              <a:rPr lang="es-ES" sz="2400" b="0" i="0">
                <a:solidFill>
                  <a:srgbClr val="333333"/>
                </a:solidFill>
                <a:latin typeface="Helvetica Neue"/>
                <a:ea typeface="Helvetica Neue"/>
                <a:cs typeface="Helvetica Neue"/>
                <a:sym typeface="Helvetica Neue"/>
              </a:rPr>
              <a:t> ver que cuando Xi=min, entonces Xnew=0, y cuando Xi=max, entonces Xnew=1.</a:t>
            </a:r>
            <a:endParaRPr/>
          </a:p>
          <a:p>
            <a:pPr marL="0" lvl="0" indent="0" algn="l" rtl="0">
              <a:spcBef>
                <a:spcPts val="0"/>
              </a:spcBef>
              <a:spcAft>
                <a:spcPts val="0"/>
              </a:spcAft>
              <a:buNone/>
            </a:pPr>
            <a:br>
              <a:rPr lang="es-ES" sz="2400" b="0" i="0">
                <a:solidFill>
                  <a:srgbClr val="333333"/>
                </a:solidFill>
                <a:latin typeface="Helvetica Neue"/>
                <a:ea typeface="Helvetica Neue"/>
                <a:cs typeface="Helvetica Neue"/>
                <a:sym typeface="Helvetica Neue"/>
              </a:rPr>
            </a:br>
            <a:r>
              <a:rPr lang="es-ES" sz="2400" b="0" i="0">
                <a:solidFill>
                  <a:srgbClr val="333333"/>
                </a:solidFill>
                <a:latin typeface="Helvetica Neue"/>
                <a:ea typeface="Helvetica Neue"/>
                <a:cs typeface="Helvetica Neue"/>
                <a:sym typeface="Helvetica Neue"/>
              </a:rPr>
              <a:t>Esto significa que el valor mínimo de X se asigna a 0 y el valor máximo de X se asigna a 1. </a:t>
            </a:r>
            <a:endParaRPr/>
          </a:p>
          <a:p>
            <a:pPr marL="0" lvl="0" indent="0" algn="l" rtl="0">
              <a:spcBef>
                <a:spcPts val="0"/>
              </a:spcBef>
              <a:spcAft>
                <a:spcPts val="0"/>
              </a:spcAft>
              <a:buNone/>
            </a:pPr>
            <a:endParaRPr sz="2400">
              <a:solidFill>
                <a:srgbClr val="333333"/>
              </a:solidFill>
              <a:latin typeface="Helvetica Neue"/>
              <a:ea typeface="Helvetica Neue"/>
              <a:cs typeface="Helvetica Neue"/>
              <a:sym typeface="Helvetica Neue"/>
            </a:endParaRPr>
          </a:p>
          <a:p>
            <a:pPr marL="0" lvl="0" indent="0" algn="l" rtl="0">
              <a:spcBef>
                <a:spcPts val="0"/>
              </a:spcBef>
              <a:spcAft>
                <a:spcPts val="0"/>
              </a:spcAft>
              <a:buNone/>
            </a:pPr>
            <a:r>
              <a:rPr lang="es-ES" sz="2400" b="0" i="0">
                <a:solidFill>
                  <a:srgbClr val="333333"/>
                </a:solidFill>
                <a:latin typeface="Helvetica Neue"/>
                <a:ea typeface="Helvetica Neue"/>
                <a:cs typeface="Helvetica Neue"/>
                <a:sym typeface="Helvetica Neue"/>
              </a:rPr>
              <a:t>Por lo tanto, </a:t>
            </a:r>
            <a:r>
              <a:rPr lang="es-ES" sz="2400" b="1" i="0">
                <a:solidFill>
                  <a:srgbClr val="333333"/>
                </a:solidFill>
                <a:latin typeface="Helvetica Neue"/>
                <a:ea typeface="Helvetica Neue"/>
                <a:cs typeface="Helvetica Neue"/>
                <a:sym typeface="Helvetica Neue"/>
              </a:rPr>
              <a:t>todo el rango de valores de X, desde el mínimo hasta el máximo, se asigna al rango de 0 a 1.</a:t>
            </a:r>
            <a:endParaRPr/>
          </a:p>
          <a:p>
            <a:pPr marL="0" lvl="0" indent="0" algn="l" rtl="0">
              <a:spcBef>
                <a:spcPts val="0"/>
              </a:spcBef>
              <a:spcAft>
                <a:spcPts val="0"/>
              </a:spcAft>
              <a:buNone/>
            </a:pPr>
            <a:endParaRPr sz="2400" b="0" i="0">
              <a:solidFill>
                <a:srgbClr val="333333"/>
              </a:solidFill>
              <a:latin typeface="Helvetica Neue"/>
              <a:ea typeface="Helvetica Neue"/>
              <a:cs typeface="Helvetica Neue"/>
              <a:sym typeface="Helvetica Neue"/>
            </a:endParaRPr>
          </a:p>
          <a:p>
            <a:pPr marL="0" lvl="0" indent="0" algn="l" rtl="0">
              <a:spcBef>
                <a:spcPts val="0"/>
              </a:spcBef>
              <a:spcAft>
                <a:spcPts val="0"/>
              </a:spcAft>
              <a:buNone/>
            </a:pPr>
            <a:r>
              <a:rPr lang="es-ES" sz="2400">
                <a:solidFill>
                  <a:srgbClr val="333333"/>
                </a:solidFill>
                <a:latin typeface="Helvetica Neue"/>
                <a:ea typeface="Helvetica Neue"/>
                <a:cs typeface="Helvetica Neue"/>
                <a:sym typeface="Helvetica Neue"/>
              </a:rPr>
              <a:t>Esta forma de escalamiento es muy sensible a los outliers.</a:t>
            </a:r>
            <a:endParaRPr/>
          </a:p>
          <a:p>
            <a:pPr marL="0" lvl="0" indent="0" algn="l" rtl="0">
              <a:spcBef>
                <a:spcPts val="0"/>
              </a:spcBef>
              <a:spcAft>
                <a:spcPts val="0"/>
              </a:spcAft>
              <a:buNone/>
            </a:pPr>
            <a:endParaRPr sz="2400">
              <a:solidFill>
                <a:srgbClr val="333333"/>
              </a:solidFill>
              <a:latin typeface="Helvetica Neue"/>
              <a:ea typeface="Helvetica Neue"/>
              <a:cs typeface="Helvetica Neue"/>
              <a:sym typeface="Helvetica Neue"/>
            </a:endParaRPr>
          </a:p>
          <a:p>
            <a:pPr marL="0" lvl="0" indent="0" algn="l" rtl="0">
              <a:spcBef>
                <a:spcPts val="0"/>
              </a:spcBef>
              <a:spcAft>
                <a:spcPts val="0"/>
              </a:spcAft>
              <a:buNone/>
            </a:pPr>
            <a:r>
              <a:rPr lang="es-ES" sz="2400" b="0" i="0">
                <a:solidFill>
                  <a:srgbClr val="333333"/>
                </a:solidFill>
                <a:latin typeface="Helvetica Neue"/>
                <a:ea typeface="Helvetica Neue"/>
                <a:cs typeface="Helvetica Neue"/>
                <a:sym typeface="Helvetica Neue"/>
              </a:rPr>
              <a:t>En </a:t>
            </a:r>
            <a:r>
              <a:rPr lang="es-ES" sz="2400">
                <a:solidFill>
                  <a:srgbClr val="333333"/>
                </a:solidFill>
                <a:latin typeface="Helvetica Neue"/>
                <a:ea typeface="Helvetica Neue"/>
                <a:cs typeface="Helvetica Neue"/>
                <a:sym typeface="Helvetica Neue"/>
              </a:rPr>
              <a:t>Python</a:t>
            </a:r>
            <a:r>
              <a:rPr lang="es-ES" sz="2400" b="0" i="0">
                <a:solidFill>
                  <a:srgbClr val="333333"/>
                </a:solidFill>
                <a:latin typeface="Helvetica Neue"/>
                <a:ea typeface="Helvetica Neue"/>
                <a:cs typeface="Helvetica Neue"/>
                <a:sym typeface="Helvetica Neue"/>
              </a:rPr>
              <a:t>, usamos MinMaxScaler.</a:t>
            </a:r>
            <a:endParaRPr/>
          </a:p>
          <a:p>
            <a:pPr marL="0" lvl="0" indent="0" algn="just" rtl="0">
              <a:spcBef>
                <a:spcPts val="0"/>
              </a:spcBef>
              <a:spcAft>
                <a:spcPts val="0"/>
              </a:spcAft>
              <a:buNone/>
            </a:pPr>
            <a:endParaRPr sz="2400">
              <a:latin typeface="Calibri"/>
              <a:ea typeface="Calibri"/>
              <a:cs typeface="Calibri"/>
              <a:sym typeface="Calibri"/>
            </a:endParaRPr>
          </a:p>
          <a:p>
            <a:pPr marL="0" lvl="0" indent="0" algn="l" rtl="0">
              <a:spcBef>
                <a:spcPts val="0"/>
              </a:spcBef>
              <a:spcAft>
                <a:spcPts val="0"/>
              </a:spcAft>
              <a:buNone/>
            </a:pPr>
            <a:endParaRPr sz="1800"/>
          </a:p>
        </p:txBody>
      </p:sp>
      <p:sp>
        <p:nvSpPr>
          <p:cNvPr id="123" name="Google Shape;123;p7"/>
          <p:cNvSpPr txBox="1"/>
          <p:nvPr/>
        </p:nvSpPr>
        <p:spPr>
          <a:xfrm>
            <a:off x="2584450" y="10286979"/>
            <a:ext cx="7891904"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1400"/>
              <a:t>FUENTE: https://ichi.pro/es/escalado-de-caracteristicas-por-que-es-necesario-152367707910928</a:t>
            </a:r>
            <a:endParaRPr/>
          </a:p>
        </p:txBody>
      </p:sp>
      <p:pic>
        <p:nvPicPr>
          <p:cNvPr id="124" name="Google Shape;124;p7"/>
          <p:cNvPicPr preferRelativeResize="0"/>
          <p:nvPr/>
        </p:nvPicPr>
        <p:blipFill rotWithShape="1">
          <a:blip r:embed="rId3">
            <a:alphaModFix/>
          </a:blip>
          <a:srcRect/>
          <a:stretch/>
        </p:blipFill>
        <p:spPr>
          <a:xfrm>
            <a:off x="12414250" y="3160809"/>
            <a:ext cx="6615560" cy="224009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8"/>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a:t>ESCALADO DE CARACTERÍSTICAS</a:t>
            </a:r>
            <a:endParaRPr/>
          </a:p>
        </p:txBody>
      </p:sp>
      <p:sp>
        <p:nvSpPr>
          <p:cNvPr id="130" name="Google Shape;130;p8"/>
          <p:cNvSpPr txBox="1"/>
          <p:nvPr/>
        </p:nvSpPr>
        <p:spPr>
          <a:xfrm>
            <a:off x="2432051" y="2149475"/>
            <a:ext cx="8229600" cy="55413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2400" b="1"/>
              <a:t>ESTANDARIZACIÓN</a:t>
            </a:r>
            <a:endParaRPr/>
          </a:p>
          <a:p>
            <a:pPr marL="0" lvl="0" indent="0" algn="just" rtl="0">
              <a:spcBef>
                <a:spcPts val="0"/>
              </a:spcBef>
              <a:spcAft>
                <a:spcPts val="0"/>
              </a:spcAft>
              <a:buNone/>
            </a:pPr>
            <a:endParaRPr sz="2400"/>
          </a:p>
          <a:p>
            <a:pPr marL="0" lvl="0" indent="0" algn="l" rtl="0">
              <a:spcBef>
                <a:spcPts val="0"/>
              </a:spcBef>
              <a:spcAft>
                <a:spcPts val="0"/>
              </a:spcAft>
              <a:buNone/>
            </a:pPr>
            <a:endParaRPr sz="2400" b="0" i="0">
              <a:solidFill>
                <a:srgbClr val="333333"/>
              </a:solidFill>
              <a:latin typeface="Helvetica Neue"/>
              <a:ea typeface="Helvetica Neue"/>
              <a:cs typeface="Helvetica Neue"/>
              <a:sym typeface="Helvetica Neue"/>
            </a:endParaRPr>
          </a:p>
          <a:p>
            <a:pPr marL="0" lvl="0" indent="0" algn="just" rtl="0">
              <a:spcBef>
                <a:spcPts val="0"/>
              </a:spcBef>
              <a:spcAft>
                <a:spcPts val="0"/>
              </a:spcAft>
              <a:buNone/>
            </a:pPr>
            <a:r>
              <a:rPr lang="es-ES" sz="2400" b="1" i="0">
                <a:solidFill>
                  <a:srgbClr val="333333"/>
                </a:solidFill>
                <a:latin typeface="Helvetica Neue"/>
                <a:ea typeface="Helvetica Neue"/>
                <a:cs typeface="Helvetica Neue"/>
                <a:sym typeface="Helvetica Neue"/>
              </a:rPr>
              <a:t>La estandarización </a:t>
            </a:r>
            <a:r>
              <a:rPr lang="es-ES" sz="2400" b="0" i="1">
                <a:solidFill>
                  <a:srgbClr val="333333"/>
                </a:solidFill>
                <a:latin typeface="Helvetica Neue"/>
                <a:ea typeface="Helvetica Neue"/>
                <a:cs typeface="Helvetica Neue"/>
                <a:sym typeface="Helvetica Neue"/>
              </a:rPr>
              <a:t>(también llamada </a:t>
            </a:r>
            <a:r>
              <a:rPr lang="es-ES" sz="2400" b="1" i="1">
                <a:solidFill>
                  <a:srgbClr val="333333"/>
                </a:solidFill>
                <a:latin typeface="Helvetica Neue"/>
                <a:ea typeface="Helvetica Neue"/>
                <a:cs typeface="Helvetica Neue"/>
                <a:sym typeface="Helvetica Neue"/>
              </a:rPr>
              <a:t>normalización de puntuación z</a:t>
            </a:r>
            <a:r>
              <a:rPr lang="es-ES" sz="2400" b="0" i="1">
                <a:solidFill>
                  <a:srgbClr val="333333"/>
                </a:solidFill>
                <a:latin typeface="Helvetica Neue"/>
                <a:ea typeface="Helvetica Neue"/>
                <a:cs typeface="Helvetica Neue"/>
                <a:sym typeface="Helvetica Neue"/>
              </a:rPr>
              <a:t> )</a:t>
            </a:r>
            <a:r>
              <a:rPr lang="es-ES" sz="2400" b="0" i="0">
                <a:solidFill>
                  <a:srgbClr val="333333"/>
                </a:solidFill>
                <a:latin typeface="Helvetica Neue"/>
                <a:ea typeface="Helvetica Neue"/>
                <a:cs typeface="Helvetica Neue"/>
                <a:sym typeface="Helvetica Neue"/>
              </a:rPr>
              <a:t> transforma sus datos de modo que la distribución resultante tenga una media de 0 y una desviación estándar de 1.</a:t>
            </a:r>
            <a:endParaRPr/>
          </a:p>
          <a:p>
            <a:pPr marL="0" lvl="0" indent="0" algn="just" rtl="0">
              <a:spcBef>
                <a:spcPts val="0"/>
              </a:spcBef>
              <a:spcAft>
                <a:spcPts val="0"/>
              </a:spcAft>
              <a:buNone/>
            </a:pPr>
            <a:endParaRPr sz="2400">
              <a:solidFill>
                <a:srgbClr val="333333"/>
              </a:solidFill>
              <a:latin typeface="Helvetica Neue"/>
              <a:ea typeface="Helvetica Neue"/>
              <a:cs typeface="Helvetica Neue"/>
              <a:sym typeface="Helvetica Neue"/>
            </a:endParaRPr>
          </a:p>
          <a:p>
            <a:pPr marL="0" lvl="0" indent="0" algn="just" rtl="0">
              <a:spcBef>
                <a:spcPts val="0"/>
              </a:spcBef>
              <a:spcAft>
                <a:spcPts val="0"/>
              </a:spcAft>
              <a:buNone/>
            </a:pPr>
            <a:r>
              <a:rPr lang="es-ES" sz="2400" b="0" i="0">
                <a:solidFill>
                  <a:srgbClr val="333333"/>
                </a:solidFill>
                <a:latin typeface="Helvetica Neue"/>
                <a:ea typeface="Helvetica Neue"/>
                <a:cs typeface="Helvetica Neue"/>
                <a:sym typeface="Helvetica Neue"/>
              </a:rPr>
              <a:t>En Python usamos la función StandardScaler.</a:t>
            </a:r>
            <a:endParaRPr/>
          </a:p>
          <a:p>
            <a:pPr marL="0" lvl="0" indent="0" algn="just" rtl="0">
              <a:spcBef>
                <a:spcPts val="0"/>
              </a:spcBef>
              <a:spcAft>
                <a:spcPts val="0"/>
              </a:spcAft>
              <a:buNone/>
            </a:pPr>
            <a:endParaRPr sz="2400">
              <a:solidFill>
                <a:srgbClr val="333333"/>
              </a:solidFill>
              <a:latin typeface="Helvetica Neue"/>
              <a:ea typeface="Helvetica Neue"/>
              <a:cs typeface="Helvetica Neue"/>
              <a:sym typeface="Helvetica Neue"/>
            </a:endParaRPr>
          </a:p>
          <a:p>
            <a:pPr marL="0" lvl="0" indent="0" algn="just" rtl="0">
              <a:spcBef>
                <a:spcPts val="0"/>
              </a:spcBef>
              <a:spcAft>
                <a:spcPts val="0"/>
              </a:spcAft>
              <a:buNone/>
            </a:pPr>
            <a:r>
              <a:rPr lang="es-ES" sz="2400">
                <a:solidFill>
                  <a:srgbClr val="333333"/>
                </a:solidFill>
                <a:latin typeface="Helvetica Neue"/>
                <a:ea typeface="Helvetica Neue"/>
                <a:cs typeface="Helvetica Neue"/>
                <a:sym typeface="Helvetica Neue"/>
              </a:rPr>
              <a:t>Es más resistente a </a:t>
            </a:r>
            <a:r>
              <a:rPr lang="es-ES" sz="2400" i="1">
                <a:solidFill>
                  <a:srgbClr val="333333"/>
                </a:solidFill>
                <a:latin typeface="Helvetica Neue"/>
                <a:ea typeface="Helvetica Neue"/>
                <a:cs typeface="Helvetica Neue"/>
                <a:sym typeface="Helvetica Neue"/>
              </a:rPr>
              <a:t>outliers</a:t>
            </a:r>
            <a:r>
              <a:rPr lang="es-ES" sz="2400">
                <a:solidFill>
                  <a:srgbClr val="333333"/>
                </a:solidFill>
                <a:latin typeface="Helvetica Neue"/>
                <a:ea typeface="Helvetica Neue"/>
                <a:cs typeface="Helvetica Neue"/>
                <a:sym typeface="Helvetica Neue"/>
              </a:rPr>
              <a:t>, pero no es muy interpretable para datos que se alejan mucho de una distribución Normal.</a:t>
            </a:r>
            <a:endParaRPr sz="2400">
              <a:solidFill>
                <a:srgbClr val="333333"/>
              </a:solidFill>
              <a:latin typeface="Helvetica Neue"/>
              <a:ea typeface="Helvetica Neue"/>
              <a:cs typeface="Helvetica Neue"/>
              <a:sym typeface="Helvetica Neue"/>
            </a:endParaRPr>
          </a:p>
          <a:p>
            <a:pPr marL="0" lvl="0" indent="0" algn="just" rtl="0">
              <a:spcBef>
                <a:spcPts val="0"/>
              </a:spcBef>
              <a:spcAft>
                <a:spcPts val="0"/>
              </a:spcAft>
              <a:buNone/>
            </a:pPr>
            <a:endParaRPr sz="2400">
              <a:solidFill>
                <a:srgbClr val="333333"/>
              </a:solidFill>
              <a:latin typeface="Helvetica Neue"/>
              <a:ea typeface="Helvetica Neue"/>
              <a:cs typeface="Helvetica Neue"/>
              <a:sym typeface="Helvetica Neue"/>
            </a:endParaRPr>
          </a:p>
          <a:p>
            <a:pPr marL="0" lvl="0" indent="0" algn="just" rtl="0">
              <a:spcBef>
                <a:spcPts val="0"/>
              </a:spcBef>
              <a:spcAft>
                <a:spcPts val="0"/>
              </a:spcAft>
              <a:buNone/>
            </a:pPr>
            <a:endParaRPr sz="1800"/>
          </a:p>
        </p:txBody>
      </p:sp>
      <p:sp>
        <p:nvSpPr>
          <p:cNvPr id="131" name="Google Shape;131;p8"/>
          <p:cNvSpPr txBox="1"/>
          <p:nvPr/>
        </p:nvSpPr>
        <p:spPr>
          <a:xfrm>
            <a:off x="2584450" y="10286979"/>
            <a:ext cx="7891904"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1400"/>
              <a:t>FUENTE: https://ichi.pro/es/escalado-de-caracteristicas-por-que-es-necesario-152367707910928</a:t>
            </a:r>
            <a:endParaRPr/>
          </a:p>
        </p:txBody>
      </p:sp>
      <p:pic>
        <p:nvPicPr>
          <p:cNvPr id="132" name="Google Shape;132;p8"/>
          <p:cNvPicPr preferRelativeResize="0"/>
          <p:nvPr/>
        </p:nvPicPr>
        <p:blipFill rotWithShape="1">
          <a:blip r:embed="rId3">
            <a:alphaModFix/>
          </a:blip>
          <a:srcRect/>
          <a:stretch/>
        </p:blipFill>
        <p:spPr>
          <a:xfrm>
            <a:off x="12338050" y="3378855"/>
            <a:ext cx="6600371" cy="227582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9"/>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a:t>ESCALADO DE CARACTERÍSTICAS</a:t>
            </a:r>
            <a:endParaRPr/>
          </a:p>
        </p:txBody>
      </p:sp>
      <p:sp>
        <p:nvSpPr>
          <p:cNvPr id="138" name="Google Shape;138;p9"/>
          <p:cNvSpPr txBox="1"/>
          <p:nvPr/>
        </p:nvSpPr>
        <p:spPr>
          <a:xfrm>
            <a:off x="2432051" y="2149475"/>
            <a:ext cx="8229600" cy="4431983"/>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2400" b="1"/>
              <a:t>COMPARACIÓN</a:t>
            </a:r>
            <a:endParaRPr/>
          </a:p>
          <a:p>
            <a:pPr marL="0" lvl="0" indent="0" algn="just" rtl="0">
              <a:spcBef>
                <a:spcPts val="0"/>
              </a:spcBef>
              <a:spcAft>
                <a:spcPts val="0"/>
              </a:spcAft>
              <a:buNone/>
            </a:pPr>
            <a:endParaRPr sz="2400"/>
          </a:p>
          <a:p>
            <a:pPr marL="0" lvl="0" indent="0" algn="l" rtl="0">
              <a:spcBef>
                <a:spcPts val="0"/>
              </a:spcBef>
              <a:spcAft>
                <a:spcPts val="0"/>
              </a:spcAft>
              <a:buNone/>
            </a:pPr>
            <a:endParaRPr sz="2400" b="0" i="0">
              <a:solidFill>
                <a:srgbClr val="333333"/>
              </a:solidFill>
              <a:latin typeface="Helvetica Neue"/>
              <a:ea typeface="Helvetica Neue"/>
              <a:cs typeface="Helvetica Neue"/>
              <a:sym typeface="Helvetica Neue"/>
            </a:endParaRPr>
          </a:p>
          <a:p>
            <a:pPr marL="0" lvl="0" indent="0" algn="just" rtl="0">
              <a:spcBef>
                <a:spcPts val="0"/>
              </a:spcBef>
              <a:spcAft>
                <a:spcPts val="0"/>
              </a:spcAft>
              <a:buNone/>
            </a:pPr>
            <a:r>
              <a:rPr lang="es-ES" sz="2400" b="1" i="0">
                <a:solidFill>
                  <a:srgbClr val="333333"/>
                </a:solidFill>
                <a:latin typeface="Helvetica Neue"/>
                <a:ea typeface="Helvetica Neue"/>
                <a:cs typeface="Helvetica Neue"/>
                <a:sym typeface="Helvetica Neue"/>
              </a:rPr>
              <a:t>Escalado vs. Normalización: ¿Cuál es la diferencia? </a:t>
            </a:r>
            <a:r>
              <a:rPr lang="es-ES" sz="2400" b="0" i="0">
                <a:solidFill>
                  <a:srgbClr val="333333"/>
                </a:solidFill>
                <a:latin typeface="Helvetica Neue"/>
                <a:ea typeface="Helvetica Neue"/>
                <a:cs typeface="Helvetica Neue"/>
                <a:sym typeface="Helvetica Neue"/>
              </a:rPr>
              <a:t>En ambos casos, está transformando los valores de las variables numéricas para que los puntos de datos transformados tengan propiedades útiles específicas. </a:t>
            </a:r>
            <a:endParaRPr/>
          </a:p>
          <a:p>
            <a:pPr marL="0" lvl="0" indent="0" algn="just" rtl="0">
              <a:spcBef>
                <a:spcPts val="0"/>
              </a:spcBef>
              <a:spcAft>
                <a:spcPts val="0"/>
              </a:spcAft>
              <a:buNone/>
            </a:pPr>
            <a:endParaRPr sz="2400">
              <a:solidFill>
                <a:srgbClr val="333333"/>
              </a:solidFill>
              <a:latin typeface="Helvetica Neue"/>
              <a:ea typeface="Helvetica Neue"/>
              <a:cs typeface="Helvetica Neue"/>
              <a:sym typeface="Helvetica Neue"/>
            </a:endParaRPr>
          </a:p>
          <a:p>
            <a:pPr marL="0" lvl="0" indent="0" algn="just" rtl="0">
              <a:spcBef>
                <a:spcPts val="0"/>
              </a:spcBef>
              <a:spcAft>
                <a:spcPts val="0"/>
              </a:spcAft>
              <a:buNone/>
            </a:pPr>
            <a:r>
              <a:rPr lang="es-ES" sz="2400" b="0" i="0">
                <a:solidFill>
                  <a:srgbClr val="333333"/>
                </a:solidFill>
                <a:latin typeface="Helvetica Neue"/>
                <a:ea typeface="Helvetica Neue"/>
                <a:cs typeface="Helvetica Neue"/>
                <a:sym typeface="Helvetica Neue"/>
              </a:rPr>
              <a:t>La diferencia es que, al escalar, está cambiando el rango de sus datos mientras que en la normalización está cambiando la forma de la distribución de sus datos.</a:t>
            </a:r>
            <a:endParaRPr sz="2400">
              <a:solidFill>
                <a:srgbClr val="333333"/>
              </a:solidFill>
              <a:latin typeface="Helvetica Neue"/>
              <a:ea typeface="Helvetica Neue"/>
              <a:cs typeface="Helvetica Neue"/>
              <a:sym typeface="Helvetica Neue"/>
            </a:endParaRPr>
          </a:p>
          <a:p>
            <a:pPr marL="0" lvl="0" indent="0" algn="just" rtl="0">
              <a:spcBef>
                <a:spcPts val="0"/>
              </a:spcBef>
              <a:spcAft>
                <a:spcPts val="0"/>
              </a:spcAft>
              <a:buNone/>
            </a:pPr>
            <a:endParaRPr sz="1800"/>
          </a:p>
        </p:txBody>
      </p:sp>
      <p:sp>
        <p:nvSpPr>
          <p:cNvPr id="139" name="Google Shape;139;p9"/>
          <p:cNvSpPr txBox="1"/>
          <p:nvPr/>
        </p:nvSpPr>
        <p:spPr>
          <a:xfrm>
            <a:off x="2584450" y="10286979"/>
            <a:ext cx="7891904"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1400"/>
              <a:t>FUENTE: https://ichi.pro/es/escalado-de-caracteristicas-por-que-es-necesario-152367707910928</a:t>
            </a:r>
            <a:endParaRPr/>
          </a:p>
        </p:txBody>
      </p:sp>
      <p:pic>
        <p:nvPicPr>
          <p:cNvPr id="140" name="Google Shape;140;p9"/>
          <p:cNvPicPr preferRelativeResize="0"/>
          <p:nvPr/>
        </p:nvPicPr>
        <p:blipFill rotWithShape="1">
          <a:blip r:embed="rId3">
            <a:alphaModFix/>
          </a:blip>
          <a:srcRect/>
          <a:stretch/>
        </p:blipFill>
        <p:spPr>
          <a:xfrm>
            <a:off x="11347450" y="3295525"/>
            <a:ext cx="8297200" cy="3806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6"/>
          <p:cNvSpPr txBox="1">
            <a:spLocks noGrp="1"/>
          </p:cNvSpPr>
          <p:nvPr>
            <p:ph type="title"/>
          </p:nvPr>
        </p:nvSpPr>
        <p:spPr>
          <a:xfrm>
            <a:off x="222250" y="7407275"/>
            <a:ext cx="10393528" cy="1015663"/>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ES" sz="6600" dirty="0"/>
              <a:t>ENCODING</a:t>
            </a:r>
            <a:endParaRPr dirty="0"/>
          </a:p>
        </p:txBody>
      </p:sp>
      <p:sp>
        <p:nvSpPr>
          <p:cNvPr id="191" name="Google Shape;191;p16"/>
          <p:cNvSpPr txBox="1"/>
          <p:nvPr/>
        </p:nvSpPr>
        <p:spPr>
          <a:xfrm>
            <a:off x="9089872" y="6188075"/>
            <a:ext cx="1905000" cy="147732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sz="9600" b="1" i="0">
                <a:solidFill>
                  <a:schemeClr val="dk1"/>
                </a:solidFill>
                <a:latin typeface="Arial Black"/>
                <a:ea typeface="Arial Black"/>
                <a:cs typeface="Arial Black"/>
                <a:sym typeface="Arial Black"/>
              </a:rPr>
              <a:t>03</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1"/>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ES"/>
              <a:t>ENCODING</a:t>
            </a:r>
            <a:endParaRPr/>
          </a:p>
        </p:txBody>
      </p:sp>
      <p:sp>
        <p:nvSpPr>
          <p:cNvPr id="152" name="Google Shape;152;p11"/>
          <p:cNvSpPr txBox="1"/>
          <p:nvPr/>
        </p:nvSpPr>
        <p:spPr>
          <a:xfrm>
            <a:off x="2432051" y="2149475"/>
            <a:ext cx="8229600" cy="6451766"/>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2400" b="1"/>
              <a:t>INTRODUCCIÓN</a:t>
            </a:r>
            <a:endParaRPr/>
          </a:p>
          <a:p>
            <a:pPr marL="0" lvl="0" indent="0" algn="just" rtl="0">
              <a:spcBef>
                <a:spcPts val="0"/>
              </a:spcBef>
              <a:spcAft>
                <a:spcPts val="0"/>
              </a:spcAft>
              <a:buNone/>
            </a:pPr>
            <a:endParaRPr sz="2400"/>
          </a:p>
          <a:p>
            <a:pPr marL="0" lvl="0" indent="0" algn="l" rtl="0">
              <a:spcBef>
                <a:spcPts val="0"/>
              </a:spcBef>
              <a:spcAft>
                <a:spcPts val="0"/>
              </a:spcAft>
              <a:buNone/>
            </a:pPr>
            <a:endParaRPr sz="2400" b="0" i="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a:solidFill>
                  <a:srgbClr val="333333"/>
                </a:solidFill>
                <a:latin typeface="Helvetica Neue"/>
                <a:ea typeface="Helvetica Neue"/>
                <a:cs typeface="Helvetica Neue"/>
                <a:sym typeface="Helvetica Neue"/>
              </a:rPr>
              <a:t>Sabemos que existen </a:t>
            </a:r>
            <a:r>
              <a:rPr lang="es-ES" sz="2400" b="1">
                <a:solidFill>
                  <a:srgbClr val="FF0000"/>
                </a:solidFill>
                <a:latin typeface="Helvetica Neue"/>
                <a:ea typeface="Helvetica Neue"/>
                <a:cs typeface="Helvetica Neue"/>
                <a:sym typeface="Helvetica Neue"/>
              </a:rPr>
              <a:t>variables categóricas ordinales y nominales</a:t>
            </a:r>
            <a:r>
              <a:rPr lang="es-ES" sz="2400">
                <a:solidFill>
                  <a:srgbClr val="333333"/>
                </a:solidFill>
                <a:latin typeface="Helvetica Neue"/>
                <a:ea typeface="Helvetica Neue"/>
                <a:cs typeface="Helvetica Neue"/>
                <a:sym typeface="Helvetica Neue"/>
              </a:rPr>
              <a:t>.</a:t>
            </a:r>
            <a:endParaRPr/>
          </a:p>
          <a:p>
            <a:pPr marL="114300" lvl="0" indent="0" algn="just" rtl="0">
              <a:lnSpc>
                <a:spcPct val="115000"/>
              </a:lnSpc>
              <a:spcBef>
                <a:spcPts val="1200"/>
              </a:spcBef>
              <a:spcAft>
                <a:spcPts val="0"/>
              </a:spcAft>
              <a:buNone/>
            </a:pPr>
            <a:r>
              <a:rPr lang="es-ES" sz="2400">
                <a:solidFill>
                  <a:srgbClr val="333333"/>
                </a:solidFill>
                <a:latin typeface="Helvetica Neue"/>
                <a:ea typeface="Helvetica Neue"/>
                <a:cs typeface="Helvetica Neue"/>
                <a:sym typeface="Helvetica Neue"/>
              </a:rPr>
              <a:t>La mayoría de los algoritmos de aprendizaje automático no pueden manejar variables categóricas a menos que las convirtamos en valores numéricos. </a:t>
            </a:r>
            <a:endParaRPr/>
          </a:p>
          <a:p>
            <a:pPr marL="114300" lvl="0" indent="0" algn="just" rtl="0">
              <a:lnSpc>
                <a:spcPct val="115000"/>
              </a:lnSpc>
              <a:spcBef>
                <a:spcPts val="1200"/>
              </a:spcBef>
              <a:spcAft>
                <a:spcPts val="0"/>
              </a:spcAft>
              <a:buNone/>
            </a:pPr>
            <a:r>
              <a:rPr lang="es-ES" sz="2400">
                <a:solidFill>
                  <a:srgbClr val="333333"/>
                </a:solidFill>
                <a:latin typeface="Helvetica Neue"/>
                <a:ea typeface="Helvetica Neue"/>
                <a:cs typeface="Helvetica Neue"/>
                <a:sym typeface="Helvetica Neue"/>
              </a:rPr>
              <a:t>El </a:t>
            </a:r>
            <a:r>
              <a:rPr lang="es-ES" sz="2400" b="1">
                <a:solidFill>
                  <a:srgbClr val="333333"/>
                </a:solidFill>
                <a:latin typeface="Helvetica Neue"/>
                <a:ea typeface="Helvetica Neue"/>
                <a:cs typeface="Helvetica Neue"/>
                <a:sym typeface="Helvetica Neue"/>
              </a:rPr>
              <a:t>rendimiento de muchos algoritmos varía en función de cómo se codifican las variables categóricas</a:t>
            </a:r>
            <a:r>
              <a:rPr lang="es-ES" sz="2400">
                <a:solidFill>
                  <a:srgbClr val="333333"/>
                </a:solidFill>
                <a:latin typeface="Helvetica Neue"/>
                <a:ea typeface="Helvetica Neue"/>
                <a:cs typeface="Helvetica Neue"/>
                <a:sym typeface="Helvetica Neue"/>
              </a:rPr>
              <a:t>.</a:t>
            </a:r>
            <a:endParaRPr/>
          </a:p>
          <a:p>
            <a:pPr marL="114300" lvl="0" indent="0" algn="just" rtl="0">
              <a:lnSpc>
                <a:spcPct val="115000"/>
              </a:lnSpc>
              <a:spcBef>
                <a:spcPts val="1200"/>
              </a:spcBef>
              <a:spcAft>
                <a:spcPts val="0"/>
              </a:spcAft>
              <a:buNone/>
            </a:pPr>
            <a:endParaRPr sz="2400">
              <a:solidFill>
                <a:srgbClr val="333333"/>
              </a:solidFill>
              <a:latin typeface="Helvetica Neue"/>
              <a:ea typeface="Helvetica Neue"/>
              <a:cs typeface="Helvetica Neue"/>
              <a:sym typeface="Helvetica Neue"/>
            </a:endParaRPr>
          </a:p>
          <a:p>
            <a:pPr marL="114300" lvl="0" indent="0" algn="just" rtl="0">
              <a:lnSpc>
                <a:spcPct val="115000"/>
              </a:lnSpc>
              <a:spcBef>
                <a:spcPts val="1200"/>
              </a:spcBef>
              <a:spcAft>
                <a:spcPts val="0"/>
              </a:spcAft>
              <a:buNone/>
            </a:pPr>
            <a:r>
              <a:rPr lang="es-ES" sz="2400">
                <a:solidFill>
                  <a:srgbClr val="333333"/>
                </a:solidFill>
                <a:latin typeface="Helvetica Neue"/>
                <a:ea typeface="Helvetica Neue"/>
                <a:cs typeface="Helvetica Neue"/>
                <a:sym typeface="Helvetica Neue"/>
              </a:rPr>
              <a:t>Hay muchas maneras en que podemos codificar estas variables categóricas como números y usarlas en un algoritmo.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2"/>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ES"/>
              <a:t>ENCODING</a:t>
            </a:r>
            <a:endParaRPr/>
          </a:p>
        </p:txBody>
      </p:sp>
      <p:sp>
        <p:nvSpPr>
          <p:cNvPr id="158" name="Google Shape;158;p12"/>
          <p:cNvSpPr txBox="1"/>
          <p:nvPr/>
        </p:nvSpPr>
        <p:spPr>
          <a:xfrm>
            <a:off x="2432050" y="1504550"/>
            <a:ext cx="8229600" cy="6260945"/>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2400" b="1"/>
              <a:t>ONE HOT ENCODING</a:t>
            </a:r>
            <a:endParaRPr/>
          </a:p>
          <a:p>
            <a:pPr marL="0" lvl="0" indent="0" algn="just" rtl="0">
              <a:spcBef>
                <a:spcPts val="0"/>
              </a:spcBef>
              <a:spcAft>
                <a:spcPts val="0"/>
              </a:spcAft>
              <a:buNone/>
            </a:pPr>
            <a:endParaRPr sz="2400"/>
          </a:p>
          <a:p>
            <a:pPr marL="0" lvl="0" indent="0" algn="l" rtl="0">
              <a:spcBef>
                <a:spcPts val="0"/>
              </a:spcBef>
              <a:spcAft>
                <a:spcPts val="0"/>
              </a:spcAft>
              <a:buNone/>
            </a:pPr>
            <a:endParaRPr sz="2400" b="0" i="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a:solidFill>
                  <a:srgbClr val="333333"/>
                </a:solidFill>
                <a:latin typeface="Helvetica Neue"/>
                <a:ea typeface="Helvetica Neue"/>
                <a:cs typeface="Helvetica Neue"/>
                <a:sym typeface="Helvetica Neue"/>
              </a:rPr>
              <a:t>En este método, asignamos cada categoría a un vector que contiene 1 y 0, lo que denota la presencia o ausencia de la característica. </a:t>
            </a:r>
            <a:endParaRPr/>
          </a:p>
          <a:p>
            <a:pPr marL="114300" lvl="0" indent="0" algn="just" rtl="0">
              <a:lnSpc>
                <a:spcPct val="115000"/>
              </a:lnSpc>
              <a:spcBef>
                <a:spcPts val="0"/>
              </a:spcBef>
              <a:spcAft>
                <a:spcPts val="0"/>
              </a:spcAft>
              <a:buNone/>
            </a:pPr>
            <a:endParaRPr sz="240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a:solidFill>
                  <a:srgbClr val="333333"/>
                </a:solidFill>
                <a:latin typeface="Helvetica Neue"/>
                <a:ea typeface="Helvetica Neue"/>
                <a:cs typeface="Helvetica Neue"/>
                <a:sym typeface="Helvetica Neue"/>
              </a:rPr>
              <a:t>El número de vectores depende del número de categorías de características. </a:t>
            </a:r>
            <a:endParaRPr/>
          </a:p>
          <a:p>
            <a:pPr marL="114300" lvl="0" indent="0" algn="just" rtl="0">
              <a:lnSpc>
                <a:spcPct val="115000"/>
              </a:lnSpc>
              <a:spcBef>
                <a:spcPts val="0"/>
              </a:spcBef>
              <a:spcAft>
                <a:spcPts val="0"/>
              </a:spcAft>
              <a:buNone/>
            </a:pPr>
            <a:endParaRPr sz="240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a:solidFill>
                  <a:srgbClr val="333333"/>
                </a:solidFill>
                <a:latin typeface="Helvetica Neue"/>
                <a:ea typeface="Helvetica Neue"/>
                <a:cs typeface="Helvetica Neue"/>
                <a:sym typeface="Helvetica Neue"/>
              </a:rPr>
              <a:t>Este </a:t>
            </a:r>
            <a:r>
              <a:rPr lang="es-ES" sz="2400" b="1">
                <a:solidFill>
                  <a:srgbClr val="333333"/>
                </a:solidFill>
                <a:latin typeface="Helvetica Neue"/>
                <a:ea typeface="Helvetica Neue"/>
                <a:cs typeface="Helvetica Neue"/>
                <a:sym typeface="Helvetica Neue"/>
              </a:rPr>
              <a:t>método produce muchas columnas que ralentizan significativamente el aprendizaje </a:t>
            </a:r>
            <a:r>
              <a:rPr lang="es-ES" sz="2400">
                <a:solidFill>
                  <a:srgbClr val="333333"/>
                </a:solidFill>
                <a:latin typeface="Helvetica Neue"/>
                <a:ea typeface="Helvetica Neue"/>
                <a:cs typeface="Helvetica Neue"/>
                <a:sym typeface="Helvetica Neue"/>
              </a:rPr>
              <a:t>si el número de la categoría es muy alto para la función. </a:t>
            </a:r>
            <a:endParaRPr/>
          </a:p>
          <a:p>
            <a:pPr marL="114300" lvl="0" indent="0" algn="just" rtl="0">
              <a:lnSpc>
                <a:spcPct val="115000"/>
              </a:lnSpc>
              <a:spcBef>
                <a:spcPts val="0"/>
              </a:spcBef>
              <a:spcAft>
                <a:spcPts val="0"/>
              </a:spcAft>
              <a:buNone/>
            </a:pPr>
            <a:endParaRPr sz="240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endParaRPr sz="2400">
              <a:solidFill>
                <a:srgbClr val="333333"/>
              </a:solidFill>
              <a:latin typeface="Helvetica Neue"/>
              <a:ea typeface="Helvetica Neue"/>
              <a:cs typeface="Helvetica Neue"/>
              <a:sym typeface="Helvetica Neue"/>
            </a:endParaRPr>
          </a:p>
        </p:txBody>
      </p:sp>
      <p:sp>
        <p:nvSpPr>
          <p:cNvPr id="159" name="Google Shape;159;p12"/>
          <p:cNvSpPr txBox="1"/>
          <p:nvPr/>
        </p:nvSpPr>
        <p:spPr>
          <a:xfrm>
            <a:off x="3575050" y="10400007"/>
            <a:ext cx="8598829"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1400"/>
              <a:t>FUENTE: https://medium.com/towards-data-science/all-about-categorical-variable-encoding-305f3361fd02</a:t>
            </a:r>
            <a:endParaRPr/>
          </a:p>
        </p:txBody>
      </p:sp>
      <p:pic>
        <p:nvPicPr>
          <p:cNvPr id="160" name="Google Shape;160;p12"/>
          <p:cNvPicPr preferRelativeResize="0"/>
          <p:nvPr/>
        </p:nvPicPr>
        <p:blipFill rotWithShape="1">
          <a:blip r:embed="rId3">
            <a:alphaModFix/>
          </a:blip>
          <a:srcRect/>
          <a:stretch/>
        </p:blipFill>
        <p:spPr>
          <a:xfrm>
            <a:off x="11271250" y="2606675"/>
            <a:ext cx="8376063" cy="515882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3"/>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ES"/>
              <a:t>ENCODING</a:t>
            </a:r>
            <a:endParaRPr/>
          </a:p>
        </p:txBody>
      </p:sp>
      <p:sp>
        <p:nvSpPr>
          <p:cNvPr id="166" name="Google Shape;166;p13"/>
          <p:cNvSpPr txBox="1"/>
          <p:nvPr/>
        </p:nvSpPr>
        <p:spPr>
          <a:xfrm>
            <a:off x="2432050" y="1504550"/>
            <a:ext cx="8229600" cy="8809335"/>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2400" b="1"/>
              <a:t>BINARY ENCODING</a:t>
            </a:r>
            <a:endParaRPr/>
          </a:p>
          <a:p>
            <a:pPr marL="0" lvl="0" indent="0" algn="just" rtl="0">
              <a:spcBef>
                <a:spcPts val="0"/>
              </a:spcBef>
              <a:spcAft>
                <a:spcPts val="0"/>
              </a:spcAft>
              <a:buNone/>
            </a:pPr>
            <a:endParaRPr sz="2400"/>
          </a:p>
          <a:p>
            <a:pPr marL="0" lvl="0" indent="0" algn="l" rtl="0">
              <a:spcBef>
                <a:spcPts val="0"/>
              </a:spcBef>
              <a:spcAft>
                <a:spcPts val="0"/>
              </a:spcAft>
              <a:buNone/>
            </a:pPr>
            <a:endParaRPr sz="2400" b="0" i="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a:solidFill>
                  <a:srgbClr val="333333"/>
                </a:solidFill>
                <a:latin typeface="Helvetica Neue"/>
                <a:ea typeface="Helvetica Neue"/>
                <a:cs typeface="Helvetica Neue"/>
                <a:sym typeface="Helvetica Neue"/>
              </a:rPr>
              <a:t>La codificación binaria convierte una categoría en dígitos binarios. </a:t>
            </a:r>
            <a:endParaRPr/>
          </a:p>
          <a:p>
            <a:pPr marL="114300" lvl="0" indent="0" algn="just" rtl="0">
              <a:lnSpc>
                <a:spcPct val="115000"/>
              </a:lnSpc>
              <a:spcBef>
                <a:spcPts val="0"/>
              </a:spcBef>
              <a:spcAft>
                <a:spcPts val="0"/>
              </a:spcAft>
              <a:buNone/>
            </a:pPr>
            <a:endParaRPr sz="240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a:solidFill>
                  <a:srgbClr val="333333"/>
                </a:solidFill>
                <a:latin typeface="Helvetica Neue"/>
                <a:ea typeface="Helvetica Neue"/>
                <a:cs typeface="Helvetica Neue"/>
                <a:sym typeface="Helvetica Neue"/>
              </a:rPr>
              <a:t>Cada dígito binario crea una columna de características. </a:t>
            </a:r>
            <a:endParaRPr/>
          </a:p>
          <a:p>
            <a:pPr marL="114300" lvl="0" indent="0" algn="just" rtl="0">
              <a:lnSpc>
                <a:spcPct val="115000"/>
              </a:lnSpc>
              <a:spcBef>
                <a:spcPts val="0"/>
              </a:spcBef>
              <a:spcAft>
                <a:spcPts val="0"/>
              </a:spcAft>
              <a:buNone/>
            </a:pPr>
            <a:endParaRPr sz="240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a:solidFill>
                  <a:srgbClr val="333333"/>
                </a:solidFill>
                <a:latin typeface="Helvetica Neue"/>
                <a:ea typeface="Helvetica Neue"/>
                <a:cs typeface="Helvetica Neue"/>
                <a:sym typeface="Helvetica Neue"/>
              </a:rPr>
              <a:t>Si hay n categorías únicas, la codificación binaria da como resultado las únicas funciones de registro (base 2)ⁿ. </a:t>
            </a:r>
            <a:endParaRPr/>
          </a:p>
          <a:p>
            <a:pPr marL="114300" lvl="0" indent="0" algn="just" rtl="0">
              <a:lnSpc>
                <a:spcPct val="115000"/>
              </a:lnSpc>
              <a:spcBef>
                <a:spcPts val="0"/>
              </a:spcBef>
              <a:spcAft>
                <a:spcPts val="0"/>
              </a:spcAft>
              <a:buNone/>
            </a:pPr>
            <a:endParaRPr sz="240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a:solidFill>
                  <a:srgbClr val="333333"/>
                </a:solidFill>
                <a:latin typeface="Helvetica Neue"/>
                <a:ea typeface="Helvetica Neue"/>
                <a:cs typeface="Helvetica Neue"/>
                <a:sym typeface="Helvetica Neue"/>
              </a:rPr>
              <a:t>En este ejemplo, tenemos cuatro características; por lo tanto, las características codificadas en binario serán tres características. </a:t>
            </a:r>
            <a:endParaRPr/>
          </a:p>
          <a:p>
            <a:pPr marL="114300" lvl="0" indent="0" algn="just" rtl="0">
              <a:lnSpc>
                <a:spcPct val="115000"/>
              </a:lnSpc>
              <a:spcBef>
                <a:spcPts val="0"/>
              </a:spcBef>
              <a:spcAft>
                <a:spcPts val="0"/>
              </a:spcAft>
              <a:buNone/>
            </a:pPr>
            <a:endParaRPr sz="240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a:solidFill>
                  <a:srgbClr val="333333"/>
                </a:solidFill>
                <a:latin typeface="Helvetica Neue"/>
                <a:ea typeface="Helvetica Neue"/>
                <a:cs typeface="Helvetica Neue"/>
                <a:sym typeface="Helvetica Neue"/>
              </a:rPr>
              <a:t>En comparación con One Hot Encoding, </a:t>
            </a:r>
            <a:r>
              <a:rPr lang="es-ES" sz="2400" b="1">
                <a:solidFill>
                  <a:srgbClr val="333333"/>
                </a:solidFill>
                <a:latin typeface="Helvetica Neue"/>
                <a:ea typeface="Helvetica Neue"/>
                <a:cs typeface="Helvetica Neue"/>
                <a:sym typeface="Helvetica Neue"/>
              </a:rPr>
              <a:t>esto requerirá menos columnas de funciones</a:t>
            </a:r>
            <a:r>
              <a:rPr lang="es-ES" sz="2400">
                <a:solidFill>
                  <a:srgbClr val="333333"/>
                </a:solidFill>
                <a:latin typeface="Helvetica Neue"/>
                <a:ea typeface="Helvetica Neue"/>
                <a:cs typeface="Helvetica Neue"/>
                <a:sym typeface="Helvetica Neue"/>
              </a:rPr>
              <a:t> (para 100 categorías, One Hot Encoding tendrá 100 funciones, mientras que para la codificación binaria, necesitaremos solo siete funciones).</a:t>
            </a:r>
            <a:endParaRPr/>
          </a:p>
          <a:p>
            <a:pPr marL="114300" lvl="0" indent="0" algn="just" rtl="0">
              <a:lnSpc>
                <a:spcPct val="115000"/>
              </a:lnSpc>
              <a:spcBef>
                <a:spcPts val="0"/>
              </a:spcBef>
              <a:spcAft>
                <a:spcPts val="0"/>
              </a:spcAft>
              <a:buNone/>
            </a:pPr>
            <a:endParaRPr sz="2400">
              <a:solidFill>
                <a:srgbClr val="333333"/>
              </a:solidFill>
              <a:latin typeface="Helvetica Neue"/>
              <a:ea typeface="Helvetica Neue"/>
              <a:cs typeface="Helvetica Neue"/>
              <a:sym typeface="Helvetica Neue"/>
            </a:endParaRPr>
          </a:p>
        </p:txBody>
      </p:sp>
      <p:sp>
        <p:nvSpPr>
          <p:cNvPr id="167" name="Google Shape;167;p13"/>
          <p:cNvSpPr txBox="1"/>
          <p:nvPr/>
        </p:nvSpPr>
        <p:spPr>
          <a:xfrm>
            <a:off x="3575050" y="10400007"/>
            <a:ext cx="8598829"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1400"/>
              <a:t>FUENTE: https://medium.com/towards-data-science/all-about-categorical-variable-encoding-305f3361fd02</a:t>
            </a:r>
            <a:endParaRPr/>
          </a:p>
        </p:txBody>
      </p:sp>
      <p:sp>
        <p:nvSpPr>
          <p:cNvPr id="168" name="Google Shape;168;p13"/>
          <p:cNvSpPr txBox="1"/>
          <p:nvPr/>
        </p:nvSpPr>
        <p:spPr>
          <a:xfrm>
            <a:off x="12871450" y="8016875"/>
            <a:ext cx="6172199" cy="2123658"/>
          </a:xfrm>
          <a:prstGeom prst="rect">
            <a:avLst/>
          </a:prstGeom>
          <a:noFill/>
          <a:ln>
            <a:noFill/>
          </a:ln>
        </p:spPr>
        <p:txBody>
          <a:bodyPr spcFirstLastPara="1" wrap="square" lIns="91425" tIns="45700" rIns="91425" bIns="45700" anchor="t" anchorCtr="0">
            <a:spAutoFit/>
          </a:bodyPr>
          <a:lstStyle/>
          <a:p>
            <a:pPr marL="342900" lvl="0" indent="-342900" algn="l" rtl="0">
              <a:spcBef>
                <a:spcPts val="0"/>
              </a:spcBef>
              <a:spcAft>
                <a:spcPts val="0"/>
              </a:spcAft>
              <a:buSzPts val="1600"/>
              <a:buFont typeface="Calibri"/>
              <a:buAutoNum type="arabicPeriod"/>
            </a:pPr>
            <a:r>
              <a:rPr lang="es-ES" sz="1600"/>
              <a:t>Las categorías se convierten primero en orden numérico a partir de 1 (el orden se crea a medida que las categorías aparecen en un conjunto de datos y no significan ninguna naturaleza ordinal).</a:t>
            </a:r>
            <a:endParaRPr/>
          </a:p>
          <a:p>
            <a:pPr marL="342900" lvl="0" indent="-342900" algn="l" rtl="0">
              <a:spcBef>
                <a:spcPts val="0"/>
              </a:spcBef>
              <a:spcAft>
                <a:spcPts val="0"/>
              </a:spcAft>
              <a:buSzPts val="1600"/>
              <a:buFont typeface="Calibri"/>
              <a:buAutoNum type="arabicPeriod"/>
            </a:pPr>
            <a:r>
              <a:rPr lang="es-ES" sz="1600"/>
              <a:t>Luego, esos números enteros se convierten en código binario, por ejemplo, 3 se convierte en 011, 4 se convierte en 100.</a:t>
            </a:r>
            <a:endParaRPr/>
          </a:p>
          <a:p>
            <a:pPr marL="342900" lvl="0" indent="-342900" algn="l" rtl="0">
              <a:spcBef>
                <a:spcPts val="0"/>
              </a:spcBef>
              <a:spcAft>
                <a:spcPts val="0"/>
              </a:spcAft>
              <a:buSzPts val="1600"/>
              <a:buFont typeface="Calibri"/>
              <a:buAutoNum type="arabicPeriod"/>
            </a:pPr>
            <a:r>
              <a:rPr lang="es-ES" sz="1600"/>
              <a:t>Luego, los dígitos del número binario forman columnas separadas.</a:t>
            </a:r>
            <a:endParaRPr sz="1600"/>
          </a:p>
        </p:txBody>
      </p:sp>
      <p:pic>
        <p:nvPicPr>
          <p:cNvPr id="169" name="Google Shape;169;p13"/>
          <p:cNvPicPr preferRelativeResize="0"/>
          <p:nvPr/>
        </p:nvPicPr>
        <p:blipFill rotWithShape="1">
          <a:blip r:embed="rId3">
            <a:alphaModFix/>
          </a:blip>
          <a:srcRect/>
          <a:stretch/>
        </p:blipFill>
        <p:spPr>
          <a:xfrm>
            <a:off x="11957050" y="1874184"/>
            <a:ext cx="7200900" cy="57626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4"/>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ES"/>
              <a:t>ENCODING</a:t>
            </a:r>
            <a:endParaRPr/>
          </a:p>
        </p:txBody>
      </p:sp>
      <p:sp>
        <p:nvSpPr>
          <p:cNvPr id="175" name="Google Shape;175;p14"/>
          <p:cNvSpPr txBox="1"/>
          <p:nvPr/>
        </p:nvSpPr>
        <p:spPr>
          <a:xfrm>
            <a:off x="2432050" y="1504550"/>
            <a:ext cx="8229600" cy="75177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2400" b="1"/>
              <a:t>LABEL ENCODING</a:t>
            </a:r>
            <a:endParaRPr/>
          </a:p>
          <a:p>
            <a:pPr marL="0" lvl="0" indent="0" algn="just" rtl="0">
              <a:spcBef>
                <a:spcPts val="0"/>
              </a:spcBef>
              <a:spcAft>
                <a:spcPts val="0"/>
              </a:spcAft>
              <a:buNone/>
            </a:pPr>
            <a:endParaRPr sz="2400"/>
          </a:p>
          <a:p>
            <a:pPr marL="0" lvl="0" indent="0" algn="l" rtl="0">
              <a:spcBef>
                <a:spcPts val="0"/>
              </a:spcBef>
              <a:spcAft>
                <a:spcPts val="0"/>
              </a:spcAft>
              <a:buNone/>
            </a:pPr>
            <a:endParaRPr sz="2400" b="0" i="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a:solidFill>
                  <a:srgbClr val="333333"/>
                </a:solidFill>
                <a:latin typeface="Helvetica Neue"/>
                <a:ea typeface="Helvetica Neue"/>
                <a:cs typeface="Helvetica Neue"/>
                <a:sym typeface="Helvetica Neue"/>
              </a:rPr>
              <a:t>En esta codificación, a cada categoría se le asigna un valor de 1 a N (donde N es el número de categorías para la función. </a:t>
            </a:r>
            <a:endParaRPr/>
          </a:p>
          <a:p>
            <a:pPr marL="114300" lvl="0" indent="0" algn="just" rtl="0">
              <a:lnSpc>
                <a:spcPct val="115000"/>
              </a:lnSpc>
              <a:spcBef>
                <a:spcPts val="0"/>
              </a:spcBef>
              <a:spcAft>
                <a:spcPts val="0"/>
              </a:spcAft>
              <a:buNone/>
            </a:pPr>
            <a:endParaRPr sz="240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b="1">
                <a:solidFill>
                  <a:srgbClr val="333333"/>
                </a:solidFill>
                <a:latin typeface="Helvetica Neue"/>
                <a:ea typeface="Helvetica Neue"/>
                <a:cs typeface="Helvetica Neue"/>
                <a:sym typeface="Helvetica Neue"/>
              </a:rPr>
              <a:t>Un problema importante con este enfoque es que no hay relación ni orden entre estas clases</a:t>
            </a:r>
            <a:r>
              <a:rPr lang="es-ES" sz="2400">
                <a:solidFill>
                  <a:srgbClr val="333333"/>
                </a:solidFill>
                <a:latin typeface="Helvetica Neue"/>
                <a:ea typeface="Helvetica Neue"/>
                <a:cs typeface="Helvetica Neue"/>
                <a:sym typeface="Helvetica Neue"/>
              </a:rPr>
              <a:t>, pero el algoritmo podría considerarlas como algún orden o alguna relación.</a:t>
            </a:r>
            <a:endParaRPr/>
          </a:p>
          <a:p>
            <a:pPr marL="114300" lvl="0" indent="0" algn="just" rtl="0">
              <a:lnSpc>
                <a:spcPct val="115000"/>
              </a:lnSpc>
              <a:spcBef>
                <a:spcPts val="0"/>
              </a:spcBef>
              <a:spcAft>
                <a:spcPts val="0"/>
              </a:spcAft>
              <a:buNone/>
            </a:pPr>
            <a:endParaRPr sz="240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a:solidFill>
                  <a:srgbClr val="333333"/>
                </a:solidFill>
                <a:latin typeface="Helvetica Neue"/>
                <a:ea typeface="Helvetica Neue"/>
                <a:cs typeface="Helvetica Neue"/>
                <a:sym typeface="Helvetica Neue"/>
              </a:rPr>
              <a:t>En el siguiente ejemplo, puede verse como Scikit Learn nos permite aplicar Label Encoding con: </a:t>
            </a:r>
            <a:endParaRPr/>
          </a:p>
          <a:p>
            <a:pPr marL="114300" lvl="0" indent="0" algn="just" rtl="0">
              <a:lnSpc>
                <a:spcPct val="115000"/>
              </a:lnSpc>
              <a:spcBef>
                <a:spcPts val="0"/>
              </a:spcBef>
              <a:spcAft>
                <a:spcPts val="0"/>
              </a:spcAft>
              <a:buNone/>
            </a:pPr>
            <a:endParaRPr sz="240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a:solidFill>
                  <a:srgbClr val="333333"/>
                </a:solidFill>
                <a:latin typeface="Helvetica Neue"/>
                <a:ea typeface="Helvetica Neue"/>
                <a:cs typeface="Helvetica Neue"/>
                <a:sym typeface="Helvetica Neue"/>
              </a:rPr>
              <a:t>(Cold&lt;Hot&lt;Very Hot&lt;Warm….0 &lt; 1 &lt; 2 &lt; 3) .</a:t>
            </a:r>
            <a:endParaRPr/>
          </a:p>
          <a:p>
            <a:pPr marL="114300" lvl="0" indent="0" algn="just" rtl="0">
              <a:lnSpc>
                <a:spcPct val="115000"/>
              </a:lnSpc>
              <a:spcBef>
                <a:spcPts val="0"/>
              </a:spcBef>
              <a:spcAft>
                <a:spcPts val="0"/>
              </a:spcAft>
              <a:buNone/>
            </a:pPr>
            <a:endParaRPr sz="240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endParaRPr sz="2400">
              <a:solidFill>
                <a:srgbClr val="333333"/>
              </a:solidFill>
              <a:latin typeface="Helvetica Neue"/>
              <a:ea typeface="Helvetica Neue"/>
              <a:cs typeface="Helvetica Neue"/>
              <a:sym typeface="Helvetica Neue"/>
            </a:endParaRPr>
          </a:p>
        </p:txBody>
      </p:sp>
      <p:sp>
        <p:nvSpPr>
          <p:cNvPr id="176" name="Google Shape;176;p14"/>
          <p:cNvSpPr txBox="1"/>
          <p:nvPr/>
        </p:nvSpPr>
        <p:spPr>
          <a:xfrm>
            <a:off x="3575050" y="10400007"/>
            <a:ext cx="8598829"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1400"/>
              <a:t>FUENTE: https://medium.com/towards-data-science/all-about-categorical-variable-encoding-305f3361fd02</a:t>
            </a:r>
            <a:endParaRPr/>
          </a:p>
        </p:txBody>
      </p:sp>
      <p:pic>
        <p:nvPicPr>
          <p:cNvPr id="177" name="Google Shape;177;p14"/>
          <p:cNvPicPr preferRelativeResize="0"/>
          <p:nvPr/>
        </p:nvPicPr>
        <p:blipFill rotWithShape="1">
          <a:blip r:embed="rId3">
            <a:alphaModFix/>
          </a:blip>
          <a:srcRect/>
          <a:stretch/>
        </p:blipFill>
        <p:spPr>
          <a:xfrm>
            <a:off x="11089748" y="2606675"/>
            <a:ext cx="8551731" cy="537365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5"/>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ES"/>
              <a:t>ENCODING</a:t>
            </a:r>
            <a:endParaRPr/>
          </a:p>
        </p:txBody>
      </p:sp>
      <p:sp>
        <p:nvSpPr>
          <p:cNvPr id="183" name="Google Shape;183;p15"/>
          <p:cNvSpPr txBox="1"/>
          <p:nvPr/>
        </p:nvSpPr>
        <p:spPr>
          <a:xfrm>
            <a:off x="2432050" y="1504550"/>
            <a:ext cx="8229600" cy="795987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2400" b="1"/>
              <a:t>ORDINAL ENCODING</a:t>
            </a:r>
            <a:endParaRPr/>
          </a:p>
          <a:p>
            <a:pPr marL="0" lvl="0" indent="0" algn="just" rtl="0">
              <a:spcBef>
                <a:spcPts val="0"/>
              </a:spcBef>
              <a:spcAft>
                <a:spcPts val="0"/>
              </a:spcAft>
              <a:buNone/>
            </a:pPr>
            <a:endParaRPr sz="2400"/>
          </a:p>
          <a:p>
            <a:pPr marL="0" lvl="0" indent="0" algn="l" rtl="0">
              <a:spcBef>
                <a:spcPts val="0"/>
              </a:spcBef>
              <a:spcAft>
                <a:spcPts val="0"/>
              </a:spcAft>
              <a:buNone/>
            </a:pPr>
            <a:endParaRPr sz="2400" b="0" i="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a:solidFill>
                  <a:srgbClr val="333333"/>
                </a:solidFill>
                <a:latin typeface="Helvetica Neue"/>
                <a:ea typeface="Helvetica Neue"/>
                <a:cs typeface="Helvetica Neue"/>
                <a:sym typeface="Helvetica Neue"/>
              </a:rPr>
              <a:t>Realizamos la codificación ordinal para </a:t>
            </a:r>
            <a:r>
              <a:rPr lang="es-ES" sz="2400" b="1">
                <a:solidFill>
                  <a:srgbClr val="333333"/>
                </a:solidFill>
                <a:latin typeface="Helvetica Neue"/>
                <a:ea typeface="Helvetica Neue"/>
                <a:cs typeface="Helvetica Neue"/>
                <a:sym typeface="Helvetica Neue"/>
              </a:rPr>
              <a:t>garantizar que la codificación de las variables conserve la naturaleza ordinal de la variable. </a:t>
            </a:r>
            <a:r>
              <a:rPr lang="es-ES" sz="2400">
                <a:solidFill>
                  <a:srgbClr val="333333"/>
                </a:solidFill>
                <a:latin typeface="Helvetica Neue"/>
                <a:ea typeface="Helvetica Neue"/>
                <a:cs typeface="Helvetica Neue"/>
                <a:sym typeface="Helvetica Neue"/>
              </a:rPr>
              <a:t>Esta codificación se ve casi similar a Label Encoder, pero es ligeramente diferente, ya que la Label Encoder no consideraría si la variable es ordinal o no, y asignará una secuencia de números enteros.</a:t>
            </a:r>
            <a:endParaRPr/>
          </a:p>
          <a:p>
            <a:pPr marL="114300" lvl="0" indent="0" algn="just" rtl="0">
              <a:lnSpc>
                <a:spcPct val="115000"/>
              </a:lnSpc>
              <a:spcBef>
                <a:spcPts val="0"/>
              </a:spcBef>
              <a:spcAft>
                <a:spcPts val="0"/>
              </a:spcAft>
              <a:buNone/>
            </a:pPr>
            <a:endParaRPr sz="240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a:solidFill>
                  <a:srgbClr val="333333"/>
                </a:solidFill>
                <a:latin typeface="Helvetica Neue"/>
                <a:ea typeface="Helvetica Neue"/>
                <a:cs typeface="Helvetica Neue"/>
                <a:sym typeface="Helvetica Neue"/>
              </a:rPr>
              <a:t>En este código usando Pandas, primero debemos asignar el orden original de la variable a través de un diccionario. Luego podemos mapear cada fila para la variable según el diccionario.</a:t>
            </a:r>
            <a:endParaRPr/>
          </a:p>
          <a:p>
            <a:pPr marL="114300" lvl="0" indent="0" algn="just" rtl="0">
              <a:lnSpc>
                <a:spcPct val="115000"/>
              </a:lnSpc>
              <a:spcBef>
                <a:spcPts val="0"/>
              </a:spcBef>
              <a:spcAft>
                <a:spcPts val="0"/>
              </a:spcAft>
              <a:buNone/>
            </a:pPr>
            <a:endParaRPr sz="240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a:solidFill>
                  <a:srgbClr val="333333"/>
                </a:solidFill>
                <a:latin typeface="Helvetica Neue"/>
                <a:ea typeface="Helvetica Neue"/>
                <a:cs typeface="Helvetica Neue"/>
                <a:sym typeface="Helvetica Neue"/>
              </a:rPr>
              <a:t>Aunque es muy sencillo, </a:t>
            </a:r>
            <a:r>
              <a:rPr lang="es-ES" sz="2400" b="1">
                <a:solidFill>
                  <a:srgbClr val="333333"/>
                </a:solidFill>
                <a:latin typeface="Helvetica Neue"/>
                <a:ea typeface="Helvetica Neue"/>
                <a:cs typeface="Helvetica Neue"/>
                <a:sym typeface="Helvetica Neue"/>
              </a:rPr>
              <a:t>requiere codificación </a:t>
            </a:r>
            <a:r>
              <a:rPr lang="es-ES" sz="2400">
                <a:solidFill>
                  <a:srgbClr val="333333"/>
                </a:solidFill>
                <a:latin typeface="Helvetica Neue"/>
                <a:ea typeface="Helvetica Neue"/>
                <a:cs typeface="Helvetica Neue"/>
                <a:sym typeface="Helvetica Neue"/>
              </a:rPr>
              <a:t>para indicar los valores ordinales y la asignación real de texto a un número entero según el orden.</a:t>
            </a:r>
            <a:endParaRPr/>
          </a:p>
          <a:p>
            <a:pPr marL="114300" lvl="0" indent="0" algn="just" rtl="0">
              <a:lnSpc>
                <a:spcPct val="115000"/>
              </a:lnSpc>
              <a:spcBef>
                <a:spcPts val="0"/>
              </a:spcBef>
              <a:spcAft>
                <a:spcPts val="0"/>
              </a:spcAft>
              <a:buNone/>
            </a:pPr>
            <a:endParaRPr sz="2400">
              <a:solidFill>
                <a:srgbClr val="333333"/>
              </a:solidFill>
              <a:latin typeface="Helvetica Neue"/>
              <a:ea typeface="Helvetica Neue"/>
              <a:cs typeface="Helvetica Neue"/>
              <a:sym typeface="Helvetica Neue"/>
            </a:endParaRPr>
          </a:p>
        </p:txBody>
      </p:sp>
      <p:sp>
        <p:nvSpPr>
          <p:cNvPr id="184" name="Google Shape;184;p15"/>
          <p:cNvSpPr txBox="1"/>
          <p:nvPr/>
        </p:nvSpPr>
        <p:spPr>
          <a:xfrm>
            <a:off x="3575050" y="10400007"/>
            <a:ext cx="8598829"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1400"/>
              <a:t>FUENTE: https://medium.com/towards-data-science/all-about-categorical-variable-encoding-305f3361fd02</a:t>
            </a:r>
            <a:endParaRPr/>
          </a:p>
        </p:txBody>
      </p:sp>
      <p:pic>
        <p:nvPicPr>
          <p:cNvPr id="185" name="Google Shape;185;p15"/>
          <p:cNvPicPr preferRelativeResize="0"/>
          <p:nvPr/>
        </p:nvPicPr>
        <p:blipFill rotWithShape="1">
          <a:blip r:embed="rId3">
            <a:alphaModFix/>
          </a:blip>
          <a:srcRect/>
          <a:stretch/>
        </p:blipFill>
        <p:spPr>
          <a:xfrm>
            <a:off x="12173879" y="2585391"/>
            <a:ext cx="6781800" cy="687903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6"/>
          <p:cNvSpPr txBox="1">
            <a:spLocks noGrp="1"/>
          </p:cNvSpPr>
          <p:nvPr>
            <p:ph type="title"/>
          </p:nvPr>
        </p:nvSpPr>
        <p:spPr>
          <a:xfrm>
            <a:off x="222250" y="7407275"/>
            <a:ext cx="10393528" cy="1015663"/>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ES" sz="6600" dirty="0"/>
              <a:t>CORRELACIÓN</a:t>
            </a:r>
            <a:endParaRPr dirty="0"/>
          </a:p>
        </p:txBody>
      </p:sp>
      <p:sp>
        <p:nvSpPr>
          <p:cNvPr id="191" name="Google Shape;191;p16"/>
          <p:cNvSpPr txBox="1"/>
          <p:nvPr/>
        </p:nvSpPr>
        <p:spPr>
          <a:xfrm>
            <a:off x="9089872" y="6188075"/>
            <a:ext cx="1905000" cy="147732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sz="9600" b="1" i="0" dirty="0">
                <a:solidFill>
                  <a:schemeClr val="dk1"/>
                </a:solidFill>
                <a:latin typeface="Arial Black"/>
                <a:ea typeface="Arial Black"/>
                <a:cs typeface="Arial Black"/>
                <a:sym typeface="Arial Black"/>
              </a:rPr>
              <a:t>04</a:t>
            </a:r>
            <a:endParaRPr dirty="0"/>
          </a:p>
        </p:txBody>
      </p:sp>
    </p:spTree>
    <p:extLst>
      <p:ext uri="{BB962C8B-B14F-4D97-AF65-F5344CB8AC3E}">
        <p14:creationId xmlns:p14="http://schemas.microsoft.com/office/powerpoint/2010/main" val="2280013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5"/>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ES" dirty="0"/>
              <a:t>CORRELACIÓN</a:t>
            </a:r>
            <a:endParaRPr dirty="0"/>
          </a:p>
        </p:txBody>
      </p:sp>
      <p:sp>
        <p:nvSpPr>
          <p:cNvPr id="183" name="Google Shape;183;p15"/>
          <p:cNvSpPr txBox="1"/>
          <p:nvPr/>
        </p:nvSpPr>
        <p:spPr>
          <a:xfrm>
            <a:off x="2432050" y="1504550"/>
            <a:ext cx="8229600" cy="714653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2400" b="1" dirty="0"/>
              <a:t>COEFICIENTE DE CORRELACIÓN</a:t>
            </a:r>
            <a:endParaRPr dirty="0"/>
          </a:p>
          <a:p>
            <a:pPr marL="0" lvl="0" indent="0" algn="just" rtl="0">
              <a:spcBef>
                <a:spcPts val="0"/>
              </a:spcBef>
              <a:spcAft>
                <a:spcPts val="0"/>
              </a:spcAft>
              <a:buNone/>
            </a:pPr>
            <a:endParaRPr sz="2400" dirty="0"/>
          </a:p>
          <a:p>
            <a:pPr marL="0" lvl="0" indent="0" algn="l" rtl="0">
              <a:spcBef>
                <a:spcPts val="0"/>
              </a:spcBef>
              <a:spcAft>
                <a:spcPts val="0"/>
              </a:spcAft>
              <a:buNone/>
            </a:pPr>
            <a:endParaRPr sz="2400" b="0" i="0" dirty="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dirty="0">
                <a:solidFill>
                  <a:srgbClr val="333333"/>
                </a:solidFill>
                <a:latin typeface="Helvetica Neue"/>
                <a:ea typeface="Helvetica Neue"/>
                <a:cs typeface="Helvetica Neue"/>
                <a:sym typeface="Helvetica Neue"/>
              </a:rPr>
              <a:t>El coeficiente de correlación es una medida estadística mediante la cual podemos determinar objetivamente la relación entre 2 variables de datos.</a:t>
            </a:r>
          </a:p>
          <a:p>
            <a:pPr marL="114300" lvl="0" indent="0" algn="just" rtl="0">
              <a:lnSpc>
                <a:spcPct val="115000"/>
              </a:lnSpc>
              <a:spcBef>
                <a:spcPts val="0"/>
              </a:spcBef>
              <a:spcAft>
                <a:spcPts val="0"/>
              </a:spcAft>
              <a:buNone/>
            </a:pPr>
            <a:endParaRPr lang="es-ES" sz="2400" dirty="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dirty="0">
                <a:solidFill>
                  <a:srgbClr val="333333"/>
                </a:solidFill>
                <a:latin typeface="Helvetica Neue"/>
                <a:ea typeface="Helvetica Neue"/>
                <a:cs typeface="Helvetica Neue"/>
                <a:sym typeface="Helvetica Neue"/>
              </a:rPr>
              <a:t>En estadística, existen varios métodos para determinar el coeficiente de correlación.</a:t>
            </a:r>
          </a:p>
          <a:p>
            <a:pPr marL="114300" lvl="0" indent="0" algn="just" rtl="0">
              <a:lnSpc>
                <a:spcPct val="115000"/>
              </a:lnSpc>
              <a:spcBef>
                <a:spcPts val="0"/>
              </a:spcBef>
              <a:spcAft>
                <a:spcPts val="0"/>
              </a:spcAft>
              <a:buNone/>
            </a:pPr>
            <a:endParaRPr lang="es-ES" sz="2400" dirty="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dirty="0">
                <a:solidFill>
                  <a:srgbClr val="333333"/>
                </a:solidFill>
                <a:latin typeface="Helvetica Neue"/>
                <a:ea typeface="Helvetica Neue"/>
                <a:cs typeface="Helvetica Neue"/>
                <a:sym typeface="Helvetica Neue"/>
              </a:rPr>
              <a:t>Existen principalmente 2 métodos para determinar el coeficiente de correlación:</a:t>
            </a:r>
          </a:p>
          <a:p>
            <a:pPr marL="114300" lvl="0" indent="0" algn="just" rtl="0">
              <a:lnSpc>
                <a:spcPct val="115000"/>
              </a:lnSpc>
              <a:spcBef>
                <a:spcPts val="0"/>
              </a:spcBef>
              <a:spcAft>
                <a:spcPts val="0"/>
              </a:spcAft>
              <a:buNone/>
            </a:pPr>
            <a:endParaRPr lang="es-ES" sz="2400" dirty="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dirty="0">
                <a:solidFill>
                  <a:srgbClr val="333333"/>
                </a:solidFill>
                <a:latin typeface="Helvetica Neue"/>
                <a:ea typeface="Helvetica Neue"/>
                <a:cs typeface="Helvetica Neue"/>
                <a:sym typeface="Helvetica Neue"/>
              </a:rPr>
              <a:t>Coeficiente de correlación de Pearson</a:t>
            </a:r>
          </a:p>
          <a:p>
            <a:pPr marL="114300" lvl="0" indent="0" algn="just" rtl="0">
              <a:lnSpc>
                <a:spcPct val="115000"/>
              </a:lnSpc>
              <a:spcBef>
                <a:spcPts val="0"/>
              </a:spcBef>
              <a:spcAft>
                <a:spcPts val="0"/>
              </a:spcAft>
              <a:buNone/>
            </a:pPr>
            <a:r>
              <a:rPr lang="es-ES" sz="2400" dirty="0">
                <a:solidFill>
                  <a:srgbClr val="333333"/>
                </a:solidFill>
                <a:latin typeface="Helvetica Neue"/>
                <a:ea typeface="Helvetica Neue"/>
                <a:cs typeface="Helvetica Neue"/>
                <a:sym typeface="Helvetica Neue"/>
              </a:rPr>
              <a:t>Coeficiente de correlación de rangos de Spearman</a:t>
            </a:r>
          </a:p>
          <a:p>
            <a:pPr marL="114300" lvl="0" indent="0" algn="just" rtl="0">
              <a:lnSpc>
                <a:spcPct val="115000"/>
              </a:lnSpc>
              <a:spcBef>
                <a:spcPts val="0"/>
              </a:spcBef>
              <a:spcAft>
                <a:spcPts val="0"/>
              </a:spcAft>
              <a:buNone/>
            </a:pPr>
            <a:endParaRPr lang="es-ES" sz="2400" dirty="0">
              <a:solidFill>
                <a:srgbClr val="333333"/>
              </a:solidFill>
              <a:latin typeface="Helvetica Neue"/>
              <a:ea typeface="Helvetica Neue"/>
              <a:cs typeface="Helvetica Neue"/>
              <a:sym typeface="Helvetica Neue"/>
            </a:endParaRPr>
          </a:p>
          <a:p>
            <a:pPr marL="114300" lvl="0" indent="0" algn="just" rtl="0">
              <a:lnSpc>
                <a:spcPct val="115000"/>
              </a:lnSpc>
              <a:spcBef>
                <a:spcPts val="0"/>
              </a:spcBef>
              <a:spcAft>
                <a:spcPts val="0"/>
              </a:spcAft>
              <a:buNone/>
            </a:pPr>
            <a:r>
              <a:rPr lang="es-ES" sz="2400" dirty="0">
                <a:solidFill>
                  <a:srgbClr val="333333"/>
                </a:solidFill>
                <a:latin typeface="Helvetica Neue"/>
                <a:ea typeface="Helvetica Neue"/>
                <a:cs typeface="Helvetica Neue"/>
                <a:sym typeface="Helvetica Neue"/>
              </a:rPr>
              <a:t>Nos centraremos, por ahora, en el primero de ellos.</a:t>
            </a:r>
            <a:endParaRPr sz="2400" dirty="0">
              <a:solidFill>
                <a:srgbClr val="333333"/>
              </a:solidFill>
              <a:latin typeface="Helvetica Neue"/>
              <a:ea typeface="Helvetica Neue"/>
              <a:cs typeface="Helvetica Neue"/>
              <a:sym typeface="Helvetica Neue"/>
            </a:endParaRPr>
          </a:p>
        </p:txBody>
      </p:sp>
      <p:pic>
        <p:nvPicPr>
          <p:cNvPr id="2" name="Imagen 1">
            <a:extLst>
              <a:ext uri="{FF2B5EF4-FFF2-40B4-BE49-F238E27FC236}">
                <a16:creationId xmlns:a16="http://schemas.microsoft.com/office/drawing/2014/main" id="{3C1DE3F7-0814-FD61-D3DB-DFFC878312B6}"/>
              </a:ext>
            </a:extLst>
          </p:cNvPr>
          <p:cNvPicPr>
            <a:picLocks noChangeAspect="1"/>
          </p:cNvPicPr>
          <p:nvPr/>
        </p:nvPicPr>
        <p:blipFill>
          <a:blip r:embed="rId3"/>
          <a:stretch>
            <a:fillRect/>
          </a:stretch>
        </p:blipFill>
        <p:spPr>
          <a:xfrm>
            <a:off x="11078720" y="4234434"/>
            <a:ext cx="8020050" cy="2390775"/>
          </a:xfrm>
          <a:prstGeom prst="rect">
            <a:avLst/>
          </a:prstGeom>
        </p:spPr>
      </p:pic>
      <p:sp>
        <p:nvSpPr>
          <p:cNvPr id="3" name="CuadroTexto 2">
            <a:extLst>
              <a:ext uri="{FF2B5EF4-FFF2-40B4-BE49-F238E27FC236}">
                <a16:creationId xmlns:a16="http://schemas.microsoft.com/office/drawing/2014/main" id="{7739A592-351D-26A9-2348-82037D4CE40D}"/>
              </a:ext>
            </a:extLst>
          </p:cNvPr>
          <p:cNvSpPr txBox="1"/>
          <p:nvPr/>
        </p:nvSpPr>
        <p:spPr>
          <a:xfrm>
            <a:off x="13955843" y="7764905"/>
            <a:ext cx="3259226" cy="307777"/>
          </a:xfrm>
          <a:prstGeom prst="rect">
            <a:avLst/>
          </a:prstGeom>
          <a:noFill/>
        </p:spPr>
        <p:txBody>
          <a:bodyPr wrap="none" rtlCol="0">
            <a:spAutoFit/>
          </a:bodyPr>
          <a:lstStyle/>
          <a:p>
            <a:r>
              <a:rPr lang="es-CL" dirty="0"/>
              <a:t>Coeficiente de Correlación de Pearson</a:t>
            </a:r>
          </a:p>
        </p:txBody>
      </p:sp>
    </p:spTree>
    <p:extLst>
      <p:ext uri="{BB962C8B-B14F-4D97-AF65-F5344CB8AC3E}">
        <p14:creationId xmlns:p14="http://schemas.microsoft.com/office/powerpoint/2010/main" val="3488866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5"/>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ES" dirty="0"/>
              <a:t>CORRELACIÓN</a:t>
            </a:r>
            <a:endParaRPr dirty="0"/>
          </a:p>
        </p:txBody>
      </p:sp>
      <p:sp>
        <p:nvSpPr>
          <p:cNvPr id="183" name="Google Shape;183;p15"/>
          <p:cNvSpPr txBox="1"/>
          <p:nvPr/>
        </p:nvSpPr>
        <p:spPr>
          <a:xfrm>
            <a:off x="2432050" y="1504550"/>
            <a:ext cx="8229600" cy="563227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2400" b="1" dirty="0"/>
              <a:t>COEFICIENTE DE CORRELACIÓN</a:t>
            </a:r>
            <a:endParaRPr dirty="0"/>
          </a:p>
          <a:p>
            <a:pPr marL="0" lvl="0" indent="0" algn="just" rtl="0">
              <a:spcBef>
                <a:spcPts val="0"/>
              </a:spcBef>
              <a:spcAft>
                <a:spcPts val="0"/>
              </a:spcAft>
              <a:buNone/>
            </a:pPr>
            <a:endParaRPr sz="2400" dirty="0"/>
          </a:p>
          <a:p>
            <a:pPr marL="0" lvl="0" indent="0" algn="l" rtl="0">
              <a:spcBef>
                <a:spcPts val="0"/>
              </a:spcBef>
              <a:spcAft>
                <a:spcPts val="0"/>
              </a:spcAft>
              <a:buNone/>
            </a:pPr>
            <a:endParaRPr sz="2400" b="0" i="0" dirty="0">
              <a:solidFill>
                <a:srgbClr val="333333"/>
              </a:solidFill>
              <a:latin typeface="Helvetica Neue"/>
              <a:ea typeface="Helvetica Neue"/>
              <a:cs typeface="Helvetica Neue"/>
              <a:sym typeface="Helvetica Neue"/>
            </a:endParaRPr>
          </a:p>
          <a:p>
            <a:pPr marL="0" lvl="0" indent="0" algn="just" rtl="0">
              <a:spcBef>
                <a:spcPts val="0"/>
              </a:spcBef>
              <a:spcAft>
                <a:spcPts val="0"/>
              </a:spcAft>
              <a:buNone/>
            </a:pPr>
            <a:r>
              <a:rPr lang="es-ES" sz="2400" dirty="0">
                <a:solidFill>
                  <a:srgbClr val="333333"/>
                </a:solidFill>
                <a:latin typeface="Helvetica Neue"/>
              </a:rPr>
              <a:t>El coeficiente de correlación de Pearson </a:t>
            </a:r>
            <a:r>
              <a:rPr lang="es-ES" sz="2400" dirty="0">
                <a:solidFill>
                  <a:srgbClr val="FF0000"/>
                </a:solidFill>
                <a:latin typeface="Helvetica Neue"/>
              </a:rPr>
              <a:t>siempre se encuentra entre +1 (correlación positiva perfecta) y –1 (correlación negativa perfecta); 0 indica que no hay correlación. </a:t>
            </a:r>
          </a:p>
          <a:p>
            <a:pPr marL="0" lvl="0" indent="0" algn="just" rtl="0">
              <a:spcBef>
                <a:spcPts val="0"/>
              </a:spcBef>
              <a:spcAft>
                <a:spcPts val="0"/>
              </a:spcAft>
              <a:buNone/>
            </a:pPr>
            <a:endParaRPr lang="es-ES" sz="2400" dirty="0">
              <a:solidFill>
                <a:srgbClr val="333333"/>
              </a:solidFill>
              <a:latin typeface="Helvetica Neue"/>
            </a:endParaRPr>
          </a:p>
          <a:p>
            <a:pPr marL="0" lvl="0" indent="0" algn="just" rtl="0">
              <a:spcBef>
                <a:spcPts val="0"/>
              </a:spcBef>
              <a:spcAft>
                <a:spcPts val="0"/>
              </a:spcAft>
              <a:buNone/>
            </a:pPr>
            <a:r>
              <a:rPr lang="es-ES" sz="2400" i="1" dirty="0">
                <a:solidFill>
                  <a:srgbClr val="333333"/>
                </a:solidFill>
                <a:latin typeface="Helvetica Neue"/>
              </a:rPr>
              <a:t>Las variables pueden tener una asociación que no sea lineal, en cuyo caso el coeficiente de correlación puede no ser una métrica útil.</a:t>
            </a:r>
          </a:p>
          <a:p>
            <a:pPr marL="0" lvl="0" indent="0" algn="just" rtl="0">
              <a:spcBef>
                <a:spcPts val="0"/>
              </a:spcBef>
              <a:spcAft>
                <a:spcPts val="0"/>
              </a:spcAft>
              <a:buNone/>
            </a:pPr>
            <a:endParaRPr lang="es-ES" sz="2400" dirty="0">
              <a:solidFill>
                <a:srgbClr val="333333"/>
              </a:solidFill>
              <a:latin typeface="Helvetica Neue"/>
            </a:endParaRPr>
          </a:p>
          <a:p>
            <a:pPr marL="0" lvl="0" indent="0" algn="just" rtl="0">
              <a:spcBef>
                <a:spcPts val="0"/>
              </a:spcBef>
              <a:spcAft>
                <a:spcPts val="0"/>
              </a:spcAft>
              <a:buNone/>
            </a:pPr>
            <a:r>
              <a:rPr lang="es-ES" sz="2400" dirty="0">
                <a:solidFill>
                  <a:srgbClr val="333333"/>
                </a:solidFill>
                <a:latin typeface="Helvetica Neue"/>
              </a:rPr>
              <a:t>A partir de una tabla de correlaciones, se puede trazar un mapa de calor para mostrar visualmente la relación entre múltiples variables. </a:t>
            </a:r>
          </a:p>
        </p:txBody>
      </p:sp>
      <p:pic>
        <p:nvPicPr>
          <p:cNvPr id="4" name="Imagen 3">
            <a:extLst>
              <a:ext uri="{FF2B5EF4-FFF2-40B4-BE49-F238E27FC236}">
                <a16:creationId xmlns:a16="http://schemas.microsoft.com/office/drawing/2014/main" id="{FCF04305-B93B-321D-67CB-36150C33E573}"/>
              </a:ext>
            </a:extLst>
          </p:cNvPr>
          <p:cNvPicPr>
            <a:picLocks noChangeAspect="1"/>
          </p:cNvPicPr>
          <p:nvPr/>
        </p:nvPicPr>
        <p:blipFill>
          <a:blip r:embed="rId3"/>
          <a:stretch>
            <a:fillRect/>
          </a:stretch>
        </p:blipFill>
        <p:spPr>
          <a:xfrm>
            <a:off x="11439540" y="2109543"/>
            <a:ext cx="8077900" cy="7090263"/>
          </a:xfrm>
          <a:prstGeom prst="rect">
            <a:avLst/>
          </a:prstGeom>
        </p:spPr>
      </p:pic>
    </p:spTree>
    <p:extLst>
      <p:ext uri="{BB962C8B-B14F-4D97-AF65-F5344CB8AC3E}">
        <p14:creationId xmlns:p14="http://schemas.microsoft.com/office/powerpoint/2010/main" val="2597495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5"/>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ES" dirty="0"/>
              <a:t>CORRELACIÓN</a:t>
            </a:r>
            <a:endParaRPr dirty="0"/>
          </a:p>
        </p:txBody>
      </p:sp>
      <p:sp>
        <p:nvSpPr>
          <p:cNvPr id="183" name="Google Shape;183;p15"/>
          <p:cNvSpPr txBox="1"/>
          <p:nvPr/>
        </p:nvSpPr>
        <p:spPr>
          <a:xfrm>
            <a:off x="2432050" y="1504550"/>
            <a:ext cx="8229600" cy="7848262"/>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ES" sz="2400" b="1" dirty="0"/>
              <a:t>COEFICIENTE DE CORRELACIÓN</a:t>
            </a:r>
            <a:endParaRPr dirty="0"/>
          </a:p>
          <a:p>
            <a:pPr marL="0" lvl="0" indent="0" algn="just" rtl="0">
              <a:spcBef>
                <a:spcPts val="0"/>
              </a:spcBef>
              <a:spcAft>
                <a:spcPts val="0"/>
              </a:spcAft>
              <a:buNone/>
            </a:pPr>
            <a:endParaRPr sz="2400" dirty="0"/>
          </a:p>
          <a:p>
            <a:pPr marL="0" lvl="0" indent="0" algn="l" rtl="0">
              <a:spcBef>
                <a:spcPts val="0"/>
              </a:spcBef>
              <a:spcAft>
                <a:spcPts val="0"/>
              </a:spcAft>
              <a:buNone/>
            </a:pPr>
            <a:endParaRPr sz="2400" b="0" i="0" dirty="0">
              <a:solidFill>
                <a:srgbClr val="333333"/>
              </a:solidFill>
              <a:latin typeface="Helvetica Neue"/>
              <a:ea typeface="Helvetica Neue"/>
              <a:cs typeface="Helvetica Neue"/>
              <a:sym typeface="Helvetica Neue"/>
            </a:endParaRPr>
          </a:p>
          <a:p>
            <a:pPr marL="0" lvl="0" indent="0" algn="just" rtl="0">
              <a:spcBef>
                <a:spcPts val="0"/>
              </a:spcBef>
              <a:spcAft>
                <a:spcPts val="0"/>
              </a:spcAft>
              <a:buNone/>
            </a:pPr>
            <a:r>
              <a:rPr lang="es-ES" sz="2400" dirty="0">
                <a:solidFill>
                  <a:srgbClr val="333333"/>
                </a:solidFill>
                <a:latin typeface="Helvetica Neue"/>
              </a:rPr>
              <a:t>Ahora, antes de calcular el coeficiente de correlación de Pearson, debemos comprender que esta fórmula supone algunos  supuestos. </a:t>
            </a:r>
          </a:p>
          <a:p>
            <a:pPr marL="0" lvl="0" indent="0" algn="just" rtl="0">
              <a:spcBef>
                <a:spcPts val="0"/>
              </a:spcBef>
              <a:spcAft>
                <a:spcPts val="0"/>
              </a:spcAft>
              <a:buNone/>
            </a:pPr>
            <a:endParaRPr lang="es-ES" sz="2400" dirty="0">
              <a:solidFill>
                <a:srgbClr val="333333"/>
              </a:solidFill>
              <a:latin typeface="Helvetica Neue"/>
            </a:endParaRPr>
          </a:p>
          <a:p>
            <a:pPr marL="0" lvl="0" indent="0" algn="just" rtl="0">
              <a:spcBef>
                <a:spcPts val="0"/>
              </a:spcBef>
              <a:spcAft>
                <a:spcPts val="0"/>
              </a:spcAft>
              <a:buNone/>
            </a:pPr>
            <a:r>
              <a:rPr lang="es-ES" sz="2400" dirty="0">
                <a:solidFill>
                  <a:srgbClr val="333333"/>
                </a:solidFill>
                <a:latin typeface="Helvetica Neue"/>
              </a:rPr>
              <a:t>Estos supuestos deben ser ciertas si queremos calcular el coeficiente de correlación utilizando esta fórmula.</a:t>
            </a:r>
          </a:p>
          <a:p>
            <a:pPr marL="0" lvl="0" indent="0" algn="just" rtl="0">
              <a:spcBef>
                <a:spcPts val="0"/>
              </a:spcBef>
              <a:spcAft>
                <a:spcPts val="0"/>
              </a:spcAft>
              <a:buNone/>
            </a:pPr>
            <a:endParaRPr lang="es-ES" sz="2400" dirty="0">
              <a:solidFill>
                <a:srgbClr val="333333"/>
              </a:solidFill>
              <a:latin typeface="Helvetica Neue"/>
            </a:endParaRPr>
          </a:p>
          <a:p>
            <a:pPr marL="342900" lvl="0" indent="-342900" algn="just" rtl="0">
              <a:spcBef>
                <a:spcPts val="0"/>
              </a:spcBef>
              <a:spcAft>
                <a:spcPts val="0"/>
              </a:spcAft>
              <a:buFont typeface="Arial" panose="020B0604020202020204" pitchFamily="34" charset="0"/>
              <a:buChar char="•"/>
            </a:pPr>
            <a:r>
              <a:rPr lang="es-ES" sz="2400" dirty="0">
                <a:solidFill>
                  <a:srgbClr val="333333"/>
                </a:solidFill>
                <a:latin typeface="Helvetica Neue"/>
              </a:rPr>
              <a:t>Relación lineal: debe haber una relación lineal entre 2 variables.</a:t>
            </a:r>
          </a:p>
          <a:p>
            <a:pPr marL="342900" lvl="0" indent="-342900" algn="just" rtl="0">
              <a:spcBef>
                <a:spcPts val="0"/>
              </a:spcBef>
              <a:spcAft>
                <a:spcPts val="0"/>
              </a:spcAft>
              <a:buFont typeface="Arial" panose="020B0604020202020204" pitchFamily="34" charset="0"/>
              <a:buChar char="•"/>
            </a:pPr>
            <a:endParaRPr lang="es-ES" sz="2400" dirty="0">
              <a:solidFill>
                <a:srgbClr val="333333"/>
              </a:solidFill>
              <a:latin typeface="Helvetica Neue"/>
            </a:endParaRPr>
          </a:p>
          <a:p>
            <a:pPr marL="342900" lvl="0" indent="-342900" algn="just" rtl="0">
              <a:spcBef>
                <a:spcPts val="0"/>
              </a:spcBef>
              <a:spcAft>
                <a:spcPts val="0"/>
              </a:spcAft>
              <a:buFont typeface="Arial" panose="020B0604020202020204" pitchFamily="34" charset="0"/>
              <a:buChar char="•"/>
            </a:pPr>
            <a:r>
              <a:rPr lang="es-ES" sz="2400" dirty="0">
                <a:solidFill>
                  <a:srgbClr val="333333"/>
                </a:solidFill>
                <a:latin typeface="Helvetica Neue"/>
              </a:rPr>
              <a:t>Distribución normal: ambas variables deben seguir aproximadamente la distribución normal.</a:t>
            </a:r>
          </a:p>
          <a:p>
            <a:pPr marL="342900" lvl="0" indent="-342900" algn="just" rtl="0">
              <a:spcBef>
                <a:spcPts val="0"/>
              </a:spcBef>
              <a:spcAft>
                <a:spcPts val="0"/>
              </a:spcAft>
              <a:buFont typeface="Arial" panose="020B0604020202020204" pitchFamily="34" charset="0"/>
              <a:buChar char="•"/>
            </a:pPr>
            <a:endParaRPr lang="es-ES" sz="2400" dirty="0">
              <a:solidFill>
                <a:srgbClr val="333333"/>
              </a:solidFill>
              <a:latin typeface="Helvetica Neue"/>
            </a:endParaRPr>
          </a:p>
          <a:p>
            <a:pPr marL="342900" lvl="0" indent="-342900" algn="just" rtl="0">
              <a:spcBef>
                <a:spcPts val="0"/>
              </a:spcBef>
              <a:spcAft>
                <a:spcPts val="0"/>
              </a:spcAft>
              <a:buFont typeface="Arial" panose="020B0604020202020204" pitchFamily="34" charset="0"/>
              <a:buChar char="•"/>
            </a:pPr>
            <a:r>
              <a:rPr lang="es-ES" sz="2400" dirty="0">
                <a:solidFill>
                  <a:srgbClr val="333333"/>
                </a:solidFill>
                <a:latin typeface="Helvetica Neue"/>
              </a:rPr>
              <a:t>Pares relacionados: cada observación en el conjunto de datos debe ser un par de valores.</a:t>
            </a:r>
          </a:p>
          <a:p>
            <a:pPr marL="342900" lvl="0" indent="-342900" algn="just" rtl="0">
              <a:spcBef>
                <a:spcPts val="0"/>
              </a:spcBef>
              <a:spcAft>
                <a:spcPts val="0"/>
              </a:spcAft>
              <a:buFont typeface="Arial" panose="020B0604020202020204" pitchFamily="34" charset="0"/>
              <a:buChar char="•"/>
            </a:pPr>
            <a:endParaRPr lang="es-ES" sz="2400" dirty="0">
              <a:solidFill>
                <a:srgbClr val="333333"/>
              </a:solidFill>
              <a:latin typeface="Helvetica Neue"/>
            </a:endParaRPr>
          </a:p>
          <a:p>
            <a:pPr marL="342900" lvl="0" indent="-342900" algn="just" rtl="0">
              <a:spcBef>
                <a:spcPts val="0"/>
              </a:spcBef>
              <a:spcAft>
                <a:spcPts val="0"/>
              </a:spcAft>
              <a:buFont typeface="Arial" panose="020B0604020202020204" pitchFamily="34" charset="0"/>
              <a:buChar char="•"/>
            </a:pPr>
            <a:r>
              <a:rPr lang="es-ES" sz="2400" dirty="0">
                <a:solidFill>
                  <a:srgbClr val="333333"/>
                </a:solidFill>
                <a:latin typeface="Helvetica Neue"/>
              </a:rPr>
              <a:t>Sin valores atípicos: no debería haber valores atípicos extremos en el conjunto de datos.</a:t>
            </a:r>
          </a:p>
        </p:txBody>
      </p:sp>
      <p:pic>
        <p:nvPicPr>
          <p:cNvPr id="3" name="Imagen 2">
            <a:extLst>
              <a:ext uri="{FF2B5EF4-FFF2-40B4-BE49-F238E27FC236}">
                <a16:creationId xmlns:a16="http://schemas.microsoft.com/office/drawing/2014/main" id="{2E224886-C38E-0E6C-DCD5-611D3386AA5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60000"/>
                    </a14:imgEffect>
                  </a14:imgLayer>
                </a14:imgProps>
              </a:ext>
            </a:extLst>
          </a:blip>
          <a:stretch>
            <a:fillRect/>
          </a:stretch>
        </p:blipFill>
        <p:spPr>
          <a:xfrm>
            <a:off x="11311569" y="2015520"/>
            <a:ext cx="8170549" cy="3153716"/>
          </a:xfrm>
          <a:prstGeom prst="rect">
            <a:avLst/>
          </a:prstGeom>
        </p:spPr>
      </p:pic>
      <p:sp>
        <p:nvSpPr>
          <p:cNvPr id="5" name="Flecha: hacia abajo 4">
            <a:extLst>
              <a:ext uri="{FF2B5EF4-FFF2-40B4-BE49-F238E27FC236}">
                <a16:creationId xmlns:a16="http://schemas.microsoft.com/office/drawing/2014/main" id="{496FCDAF-F6A5-1881-B503-52856B4BD3D5}"/>
              </a:ext>
            </a:extLst>
          </p:cNvPr>
          <p:cNvSpPr/>
          <p:nvPr/>
        </p:nvSpPr>
        <p:spPr>
          <a:xfrm>
            <a:off x="13987143" y="5362978"/>
            <a:ext cx="2819400" cy="6553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7" name="Imagen 6">
            <a:extLst>
              <a:ext uri="{FF2B5EF4-FFF2-40B4-BE49-F238E27FC236}">
                <a16:creationId xmlns:a16="http://schemas.microsoft.com/office/drawing/2014/main" id="{B84105AD-EB5E-172C-EDAF-D61667546862}"/>
              </a:ext>
            </a:extLst>
          </p:cNvPr>
          <p:cNvPicPr>
            <a:picLocks noChangeAspect="1"/>
          </p:cNvPicPr>
          <p:nvPr/>
        </p:nvPicPr>
        <p:blipFill>
          <a:blip r:embed="rId5"/>
          <a:stretch>
            <a:fillRect/>
          </a:stretch>
        </p:blipFill>
        <p:spPr>
          <a:xfrm>
            <a:off x="12539852" y="6018298"/>
            <a:ext cx="5931028" cy="4168578"/>
          </a:xfrm>
          <a:prstGeom prst="rect">
            <a:avLst/>
          </a:prstGeom>
        </p:spPr>
      </p:pic>
      <p:sp>
        <p:nvSpPr>
          <p:cNvPr id="8" name="CuadroTexto 7">
            <a:extLst>
              <a:ext uri="{FF2B5EF4-FFF2-40B4-BE49-F238E27FC236}">
                <a16:creationId xmlns:a16="http://schemas.microsoft.com/office/drawing/2014/main" id="{91414207-D5ED-9784-B439-B544EB9BDEB7}"/>
              </a:ext>
            </a:extLst>
          </p:cNvPr>
          <p:cNvSpPr txBox="1"/>
          <p:nvPr/>
        </p:nvSpPr>
        <p:spPr>
          <a:xfrm>
            <a:off x="13106400" y="10534419"/>
            <a:ext cx="4275529" cy="307777"/>
          </a:xfrm>
          <a:prstGeom prst="rect">
            <a:avLst/>
          </a:prstGeom>
          <a:noFill/>
        </p:spPr>
        <p:txBody>
          <a:bodyPr wrap="none" rtlCol="0">
            <a:spAutoFit/>
          </a:bodyPr>
          <a:lstStyle/>
          <a:p>
            <a:r>
              <a:rPr lang="es-CL" dirty="0"/>
              <a:t>Mapa de calor generado con la Librería SEABORN</a:t>
            </a:r>
          </a:p>
        </p:txBody>
      </p:sp>
    </p:spTree>
    <p:extLst>
      <p:ext uri="{BB962C8B-B14F-4D97-AF65-F5344CB8AC3E}">
        <p14:creationId xmlns:p14="http://schemas.microsoft.com/office/powerpoint/2010/main" val="20545085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9"/>
          <p:cNvSpPr txBox="1">
            <a:spLocks noGrp="1"/>
          </p:cNvSpPr>
          <p:nvPr>
            <p:ph type="title"/>
          </p:nvPr>
        </p:nvSpPr>
        <p:spPr>
          <a:xfrm>
            <a:off x="6242050" y="9007475"/>
            <a:ext cx="9020022" cy="1015663"/>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6600"/>
              <a:t>RESUMEN</a:t>
            </a:r>
            <a:endParaRPr/>
          </a:p>
        </p:txBody>
      </p:sp>
      <p:sp>
        <p:nvSpPr>
          <p:cNvPr id="304" name="Google Shape;304;p29"/>
          <p:cNvSpPr txBox="1"/>
          <p:nvPr/>
        </p:nvSpPr>
        <p:spPr>
          <a:xfrm>
            <a:off x="6276975" y="7752358"/>
            <a:ext cx="1670957" cy="147732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9600" b="1" i="0" dirty="0">
                <a:solidFill>
                  <a:srgbClr val="257CE1"/>
                </a:solidFill>
                <a:latin typeface="Arial Black"/>
                <a:ea typeface="Arial Black"/>
                <a:cs typeface="Arial Black"/>
                <a:sym typeface="Arial Black"/>
              </a:rPr>
              <a:t>05</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7"/>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ES"/>
              <a:t>RESUMEN</a:t>
            </a:r>
            <a:endParaRPr/>
          </a:p>
        </p:txBody>
      </p:sp>
      <p:sp>
        <p:nvSpPr>
          <p:cNvPr id="197" name="Google Shape;197;p17"/>
          <p:cNvSpPr txBox="1"/>
          <p:nvPr/>
        </p:nvSpPr>
        <p:spPr>
          <a:xfrm>
            <a:off x="2432050" y="2073275"/>
            <a:ext cx="14113200" cy="3379346"/>
          </a:xfrm>
          <a:prstGeom prst="rect">
            <a:avLst/>
          </a:prstGeom>
          <a:noFill/>
          <a:ln>
            <a:noFill/>
          </a:ln>
        </p:spPr>
        <p:txBody>
          <a:bodyPr spcFirstLastPara="1" wrap="square" lIns="91425" tIns="45700" rIns="91425" bIns="45700" anchor="t" anchorCtr="0">
            <a:spAutoFit/>
          </a:bodyPr>
          <a:lstStyle/>
          <a:p>
            <a:pPr marL="0" lvl="0" indent="0" algn="just" rtl="0">
              <a:spcBef>
                <a:spcPts val="0"/>
              </a:spcBef>
              <a:spcAft>
                <a:spcPts val="0"/>
              </a:spcAft>
              <a:buNone/>
            </a:pPr>
            <a:endParaRPr sz="2400" dirty="0"/>
          </a:p>
          <a:p>
            <a:pPr marL="0" lvl="0" indent="0" algn="l" rtl="0">
              <a:spcBef>
                <a:spcPts val="0"/>
              </a:spcBef>
              <a:spcAft>
                <a:spcPts val="0"/>
              </a:spcAft>
              <a:buNone/>
            </a:pPr>
            <a:endParaRPr sz="2400" b="0" i="0" dirty="0">
              <a:solidFill>
                <a:srgbClr val="333333"/>
              </a:solidFill>
              <a:latin typeface="Helvetica Neue"/>
              <a:ea typeface="Helvetica Neue"/>
              <a:cs typeface="Helvetica Neue"/>
              <a:sym typeface="Helvetica Neue"/>
            </a:endParaRPr>
          </a:p>
          <a:p>
            <a:pPr marL="457200" lvl="0" indent="-342900" algn="just" rtl="0">
              <a:lnSpc>
                <a:spcPct val="115000"/>
              </a:lnSpc>
              <a:spcBef>
                <a:spcPts val="0"/>
              </a:spcBef>
              <a:spcAft>
                <a:spcPts val="0"/>
              </a:spcAft>
              <a:buClr>
                <a:srgbClr val="000000"/>
              </a:buClr>
              <a:buSzPts val="1800"/>
              <a:buFont typeface="Noto Sans Symbols"/>
              <a:buChar char="❑"/>
            </a:pPr>
            <a:r>
              <a:rPr lang="es-ES" sz="2400" dirty="0">
                <a:solidFill>
                  <a:srgbClr val="333333"/>
                </a:solidFill>
                <a:latin typeface="Arial"/>
                <a:ea typeface="Arial"/>
                <a:cs typeface="Arial"/>
                <a:sym typeface="Arial"/>
              </a:rPr>
              <a:t>Hemos visto técnicas de ESCALADO para características numéricas.</a:t>
            </a:r>
            <a:endParaRPr dirty="0"/>
          </a:p>
          <a:p>
            <a:pPr marL="457200" lvl="0" indent="-228600" algn="just" rtl="0">
              <a:lnSpc>
                <a:spcPct val="115000"/>
              </a:lnSpc>
              <a:spcBef>
                <a:spcPts val="0"/>
              </a:spcBef>
              <a:spcAft>
                <a:spcPts val="0"/>
              </a:spcAft>
              <a:buClr>
                <a:srgbClr val="000000"/>
              </a:buClr>
              <a:buSzPts val="1800"/>
              <a:buFont typeface="Noto Sans Symbols"/>
              <a:buNone/>
            </a:pPr>
            <a:endParaRPr sz="2400" dirty="0">
              <a:solidFill>
                <a:srgbClr val="333333"/>
              </a:solidFill>
              <a:latin typeface="Arial"/>
              <a:ea typeface="Arial"/>
              <a:cs typeface="Arial"/>
              <a:sym typeface="Arial"/>
            </a:endParaRPr>
          </a:p>
          <a:p>
            <a:pPr marL="457200" lvl="0" indent="-342900" algn="just" rtl="0">
              <a:lnSpc>
                <a:spcPct val="115000"/>
              </a:lnSpc>
              <a:spcBef>
                <a:spcPts val="0"/>
              </a:spcBef>
              <a:spcAft>
                <a:spcPts val="0"/>
              </a:spcAft>
              <a:buClr>
                <a:srgbClr val="000000"/>
              </a:buClr>
              <a:buSzPts val="1800"/>
              <a:buFont typeface="Noto Sans Symbols"/>
              <a:buChar char="❑"/>
            </a:pPr>
            <a:r>
              <a:rPr lang="es-ES" sz="2400" dirty="0">
                <a:solidFill>
                  <a:srgbClr val="333333"/>
                </a:solidFill>
                <a:latin typeface="Arial"/>
                <a:ea typeface="Arial"/>
                <a:cs typeface="Arial"/>
                <a:sym typeface="Arial"/>
              </a:rPr>
              <a:t>También, </a:t>
            </a:r>
            <a:r>
              <a:rPr lang="es-ES" sz="2400" dirty="0" err="1">
                <a:solidFill>
                  <a:srgbClr val="333333"/>
                </a:solidFill>
                <a:latin typeface="Arial"/>
                <a:ea typeface="Arial"/>
                <a:cs typeface="Arial"/>
                <a:sym typeface="Arial"/>
              </a:rPr>
              <a:t>Features</a:t>
            </a:r>
            <a:r>
              <a:rPr lang="es-ES" sz="2400" dirty="0">
                <a:solidFill>
                  <a:srgbClr val="333333"/>
                </a:solidFill>
                <a:latin typeface="Arial"/>
                <a:ea typeface="Arial"/>
                <a:cs typeface="Arial"/>
                <a:sym typeface="Arial"/>
              </a:rPr>
              <a:t> </a:t>
            </a:r>
            <a:r>
              <a:rPr lang="es-ES" sz="2400" dirty="0" err="1">
                <a:solidFill>
                  <a:srgbClr val="333333"/>
                </a:solidFill>
                <a:latin typeface="Arial"/>
                <a:ea typeface="Arial"/>
                <a:cs typeface="Arial"/>
                <a:sym typeface="Arial"/>
              </a:rPr>
              <a:t>Encoding</a:t>
            </a:r>
            <a:r>
              <a:rPr lang="es-ES" sz="2400" dirty="0">
                <a:solidFill>
                  <a:srgbClr val="333333"/>
                </a:solidFill>
                <a:latin typeface="Arial"/>
                <a:ea typeface="Arial"/>
                <a:cs typeface="Arial"/>
                <a:sym typeface="Arial"/>
              </a:rPr>
              <a:t> para transformar variables categóricas.</a:t>
            </a:r>
            <a:endParaRPr dirty="0"/>
          </a:p>
          <a:p>
            <a:pPr marL="457200" lvl="0" indent="-228600" algn="just" rtl="0">
              <a:lnSpc>
                <a:spcPct val="115000"/>
              </a:lnSpc>
              <a:spcBef>
                <a:spcPts val="0"/>
              </a:spcBef>
              <a:spcAft>
                <a:spcPts val="0"/>
              </a:spcAft>
              <a:buClr>
                <a:srgbClr val="000000"/>
              </a:buClr>
              <a:buSzPts val="1800"/>
              <a:buFont typeface="Noto Sans Symbols"/>
              <a:buNone/>
            </a:pPr>
            <a:endParaRPr sz="2400" dirty="0">
              <a:solidFill>
                <a:srgbClr val="333333"/>
              </a:solidFill>
              <a:latin typeface="Arial"/>
              <a:ea typeface="Arial"/>
              <a:cs typeface="Arial"/>
              <a:sym typeface="Arial"/>
            </a:endParaRPr>
          </a:p>
          <a:p>
            <a:pPr marL="457200" lvl="0" indent="-342900" algn="just" rtl="0">
              <a:lnSpc>
                <a:spcPct val="115000"/>
              </a:lnSpc>
              <a:spcBef>
                <a:spcPts val="0"/>
              </a:spcBef>
              <a:spcAft>
                <a:spcPts val="0"/>
              </a:spcAft>
              <a:buClr>
                <a:srgbClr val="000000"/>
              </a:buClr>
              <a:buSzPts val="1800"/>
              <a:buFont typeface="Noto Sans Symbols"/>
              <a:buChar char="❑"/>
            </a:pPr>
            <a:r>
              <a:rPr lang="es-ES" sz="2400" dirty="0">
                <a:solidFill>
                  <a:srgbClr val="333333"/>
                </a:solidFill>
                <a:latin typeface="Arial"/>
                <a:ea typeface="Arial"/>
                <a:cs typeface="Arial"/>
                <a:sym typeface="Arial"/>
              </a:rPr>
              <a:t>Finalmente, análisis de correlación utilizando el Coeficiente de Correlación de Pearson.</a:t>
            </a:r>
            <a:endParaRPr dirty="0"/>
          </a:p>
          <a:p>
            <a:pPr marL="114300" lvl="0" indent="0" algn="just" rtl="0">
              <a:lnSpc>
                <a:spcPct val="115000"/>
              </a:lnSpc>
              <a:spcBef>
                <a:spcPts val="0"/>
              </a:spcBef>
              <a:spcAft>
                <a:spcPts val="0"/>
              </a:spcAft>
              <a:buNone/>
            </a:pPr>
            <a:endParaRPr sz="2400" dirty="0">
              <a:solidFill>
                <a:srgbClr val="333333"/>
              </a:solidFill>
              <a:latin typeface="Helvetica Neue"/>
              <a:ea typeface="Helvetica Neue"/>
              <a:cs typeface="Helvetica Neue"/>
              <a:sym typeface="Helvetica Neue"/>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1520</Words>
  <Application>Microsoft Office PowerPoint</Application>
  <PresentationFormat>Personalizado</PresentationFormat>
  <Paragraphs>189</Paragraphs>
  <Slides>22</Slides>
  <Notes>22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22</vt:i4>
      </vt:variant>
    </vt:vector>
  </HeadingPairs>
  <TitlesOfParts>
    <vt:vector size="28" baseType="lpstr">
      <vt:lpstr>Arial</vt:lpstr>
      <vt:lpstr>Calibri</vt:lpstr>
      <vt:lpstr>Helvetica Neue</vt:lpstr>
      <vt:lpstr>Noto Sans Symbols</vt:lpstr>
      <vt:lpstr>Arial Black</vt:lpstr>
      <vt:lpstr>Office Theme</vt:lpstr>
      <vt:lpstr>ANÁLISIS Y PRE PROCESAMIENTO </vt:lpstr>
      <vt:lpstr>Presentación de PowerPoint</vt:lpstr>
      <vt:lpstr>INTRODUCCIÓN</vt:lpstr>
      <vt:lpstr>Presentación de PowerPoint</vt:lpstr>
      <vt:lpstr>ESCALADO DE CARACTERÍSTICAS</vt:lpstr>
      <vt:lpstr>ESCALADO DE CARACTERÍSTICAS</vt:lpstr>
      <vt:lpstr>ESCALADO DE CARACTERÍSTICAS</vt:lpstr>
      <vt:lpstr>ESCALADO DE CARACTERÍSTICAS</vt:lpstr>
      <vt:lpstr>ESCALADO DE CARACTERÍSTICAS</vt:lpstr>
      <vt:lpstr>ESCALADO DE CARACTERÍSTICAS</vt:lpstr>
      <vt:lpstr>ENCODING</vt:lpstr>
      <vt:lpstr>Presentación de PowerPoint</vt:lpstr>
      <vt:lpstr>Presentación de PowerPoint</vt:lpstr>
      <vt:lpstr>Presentación de PowerPoint</vt:lpstr>
      <vt:lpstr>Presentación de PowerPoint</vt:lpstr>
      <vt:lpstr>Presentación de PowerPoint</vt:lpstr>
      <vt:lpstr>CORRELACIÓN</vt:lpstr>
      <vt:lpstr>Presentación de PowerPoint</vt:lpstr>
      <vt:lpstr>Presentación de PowerPoint</vt:lpstr>
      <vt:lpstr>Presentación de PowerPoint</vt:lpstr>
      <vt:lpstr>RESUMEN</vt:lpstr>
      <vt:lpstr>RESUMEN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Y PROCESAMIENTO </dc:title>
  <dc:creator>Daniela Taito R.</dc:creator>
  <cp:lastModifiedBy>guillermo pinto</cp:lastModifiedBy>
  <cp:revision>2</cp:revision>
  <dcterms:created xsi:type="dcterms:W3CDTF">2022-07-20T19:15:37Z</dcterms:created>
  <dcterms:modified xsi:type="dcterms:W3CDTF">2023-11-13T02:13:48Z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2022-07-20T00:00:00Z</vt:filetime>
  </property>
  <property fmtid="{D5CDD505-2E9C-101B-9397-08002B2CF9AE}" pid="3" name="Creator">
    <vt:lpwstr>Adobe Illustrator 26.3 (Macintosh)</vt:lpwstr>
  </property>
  <property fmtid="{D5CDD505-2E9C-101B-9397-08002B2CF9AE}" pid="4" name="CreatorVersion">
    <vt:lpwstr>21.0.0</vt:lpwstr>
  </property>
  <property fmtid="{D5CDD505-2E9C-101B-9397-08002B2CF9AE}" pid="5" name="LastSaved">
    <vt:filetime>2022-07-20T00:00:00Z</vt:filetime>
  </property>
  <property fmtid="{D5CDD505-2E9C-101B-9397-08002B2CF9AE}" pid="6" name="Producer">
    <vt:lpwstr>Adobe PDF library 15.00</vt:lpwstr>
  </property>
  <property fmtid="{D5CDD505-2E9C-101B-9397-08002B2CF9AE}" pid="7" name="ContentTypeId">
    <vt:lpwstr>0x0101004E9A3AE23414AD41A4F4D6368514CED2</vt:lpwstr>
  </property>
</Properties>
</file>