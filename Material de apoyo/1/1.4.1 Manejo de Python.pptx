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28"/>
  </p:notesMasterIdLst>
  <p:sldIdLst>
    <p:sldId id="261" r:id="rId5"/>
    <p:sldId id="337" r:id="rId6"/>
    <p:sldId id="344" r:id="rId7"/>
    <p:sldId id="339" r:id="rId8"/>
    <p:sldId id="352" r:id="rId9"/>
    <p:sldId id="353" r:id="rId10"/>
    <p:sldId id="270" r:id="rId11"/>
    <p:sldId id="340" r:id="rId12"/>
    <p:sldId id="354" r:id="rId13"/>
    <p:sldId id="355" r:id="rId14"/>
    <p:sldId id="356" r:id="rId15"/>
    <p:sldId id="357" r:id="rId16"/>
    <p:sldId id="358" r:id="rId17"/>
    <p:sldId id="327" r:id="rId18"/>
    <p:sldId id="341" r:id="rId19"/>
    <p:sldId id="359" r:id="rId20"/>
    <p:sldId id="360" r:id="rId21"/>
    <p:sldId id="361" r:id="rId22"/>
    <p:sldId id="362" r:id="rId23"/>
    <p:sldId id="363" r:id="rId24"/>
    <p:sldId id="364" r:id="rId25"/>
    <p:sldId id="332" r:id="rId26"/>
    <p:sldId id="342" r:id="rId27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57CE1"/>
    <a:srgbClr val="C2D501"/>
    <a:srgbClr val="DB0532"/>
    <a:srgbClr val="B14EC4"/>
    <a:srgbClr val="FF595A"/>
    <a:srgbClr val="D39F17"/>
    <a:srgbClr val="58C0E9"/>
    <a:srgbClr val="DC0031"/>
    <a:srgbClr val="EF7821"/>
    <a:srgbClr val="C4D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F62716E-6C1E-4C2F-A415-A4BBC109B0C8}" v="13" dt="2023-11-14T22:56:34.048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42" autoAdjust="0"/>
    <p:restoredTop sz="94558"/>
  </p:normalViewPr>
  <p:slideViewPr>
    <p:cSldViewPr>
      <p:cViewPr varScale="1">
        <p:scale>
          <a:sx n="59" d="100"/>
          <a:sy n="59" d="100"/>
        </p:scale>
        <p:origin x="144" y="28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D35674-3C19-9844-8370-EE59E1CD260A}" type="datetimeFigureOut">
              <a:rPr lang="es-CL" smtClean="0"/>
              <a:t>14-11-2023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s-ES"/>
              <a:t>Editar los estilos de texto del patrón
Segundo nivel
Tercer nivel
Cuarto nivel
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C2C890-E6DE-1A45-98C6-E722FA6368D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413941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9F4E23B3-D17D-BBDA-CF94-0F577C2DCC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6"/>
            <a:ext cx="20104810" cy="1130895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838209" y="8700548"/>
            <a:ext cx="6781800" cy="5847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00">
                <a:solidFill>
                  <a:schemeClr val="bg1"/>
                </a:solidFill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838209" y="9612314"/>
            <a:ext cx="8712681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dirty="0"/>
          </a:p>
        </p:txBody>
      </p:sp>
      <p:sp>
        <p:nvSpPr>
          <p:cNvPr id="14" name="object 10">
            <a:extLst>
              <a:ext uri="{FF2B5EF4-FFF2-40B4-BE49-F238E27FC236}">
                <a16:creationId xmlns:a16="http://schemas.microsoft.com/office/drawing/2014/main" id="{60E109FA-AB96-844B-8998-73B547E74E45}"/>
              </a:ext>
            </a:extLst>
          </p:cNvPr>
          <p:cNvSpPr/>
          <p:nvPr userDrawn="1"/>
        </p:nvSpPr>
        <p:spPr>
          <a:xfrm>
            <a:off x="2838209" y="9464675"/>
            <a:ext cx="8841105" cy="0"/>
          </a:xfrm>
          <a:custGeom>
            <a:avLst/>
            <a:gdLst/>
            <a:ahLst/>
            <a:cxnLst/>
            <a:rect l="l" t="t" r="r" b="b"/>
            <a:pathLst>
              <a:path w="8841105">
                <a:moveTo>
                  <a:pt x="0" y="0"/>
                </a:moveTo>
                <a:lnTo>
                  <a:pt x="8840652" y="0"/>
                </a:lnTo>
              </a:path>
            </a:pathLst>
          </a:custGeom>
          <a:ln w="10470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71AAB55C-247D-ECE0-5655-F1E1F2AF1A4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3340"/>
            <a:ext cx="20110047" cy="11306010"/>
          </a:xfrm>
          <a:prstGeom prst="rect">
            <a:avLst/>
          </a:prstGeom>
        </p:spPr>
      </p:pic>
      <p:sp>
        <p:nvSpPr>
          <p:cNvPr id="10" name="Título 1">
            <a:extLst>
              <a:ext uri="{FF2B5EF4-FFF2-40B4-BE49-F238E27FC236}">
                <a16:creationId xmlns:a16="http://schemas.microsoft.com/office/drawing/2014/main" id="{2F0E50CD-FEFD-B21C-4BE3-4F2AA3739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7178675"/>
            <a:ext cx="9782022" cy="1538883"/>
          </a:xfrm>
        </p:spPr>
        <p:txBody>
          <a:bodyPr/>
          <a:lstStyle>
            <a:lvl1pPr algn="r">
              <a:defRPr sz="5000"/>
            </a:lvl1pPr>
          </a:lstStyle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774612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121D21F6-64EA-9F7E-F1FC-89374B30965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2" y="0"/>
            <a:ext cx="20097375" cy="11309350"/>
          </a:xfrm>
          <a:prstGeom prst="rect">
            <a:avLst/>
          </a:prstGeom>
        </p:spPr>
      </p:pic>
      <p:sp>
        <p:nvSpPr>
          <p:cNvPr id="10" name="Título 1">
            <a:extLst>
              <a:ext uri="{FF2B5EF4-FFF2-40B4-BE49-F238E27FC236}">
                <a16:creationId xmlns:a16="http://schemas.microsoft.com/office/drawing/2014/main" id="{994F59E7-28C4-825A-1194-67522AF99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1650" y="7483475"/>
            <a:ext cx="9782022" cy="1538883"/>
          </a:xfrm>
        </p:spPr>
        <p:txBody>
          <a:bodyPr/>
          <a:lstStyle>
            <a:lvl1pPr algn="l">
              <a:defRPr sz="5000"/>
            </a:lvl1pPr>
          </a:lstStyle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87451F99-8CB8-50AA-1CC0-54512CBB6F1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2" y="0"/>
            <a:ext cx="20097375" cy="11309350"/>
          </a:xfrm>
          <a:prstGeom prst="rect">
            <a:avLst/>
          </a:prstGeom>
        </p:spPr>
      </p:pic>
      <p:sp>
        <p:nvSpPr>
          <p:cNvPr id="9" name="Título 1">
            <a:extLst>
              <a:ext uri="{FF2B5EF4-FFF2-40B4-BE49-F238E27FC236}">
                <a16:creationId xmlns:a16="http://schemas.microsoft.com/office/drawing/2014/main" id="{2C83ACDF-F359-C1DD-3AF9-368B761AA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3050" y="7026275"/>
            <a:ext cx="9782022" cy="1538883"/>
          </a:xfrm>
        </p:spPr>
        <p:txBody>
          <a:bodyPr/>
          <a:lstStyle>
            <a:lvl1pPr algn="l">
              <a:defRPr sz="5000"/>
            </a:lvl1pPr>
          </a:lstStyle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343363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2F738965-FD99-AFAE-3CAA-5CEAF99952B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2" y="0"/>
            <a:ext cx="20097375" cy="11309350"/>
          </a:xfrm>
          <a:prstGeom prst="rect">
            <a:avLst/>
          </a:prstGeom>
        </p:spPr>
      </p:pic>
      <p:sp>
        <p:nvSpPr>
          <p:cNvPr id="11" name="Título 1">
            <a:extLst>
              <a:ext uri="{FF2B5EF4-FFF2-40B4-BE49-F238E27FC236}">
                <a16:creationId xmlns:a16="http://schemas.microsoft.com/office/drawing/2014/main" id="{4AB59064-93F0-56FE-006F-C58F84A82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0" y="6950075"/>
            <a:ext cx="9782022" cy="1538883"/>
          </a:xfrm>
        </p:spPr>
        <p:txBody>
          <a:bodyPr/>
          <a:lstStyle>
            <a:lvl1pPr algn="r">
              <a:defRPr sz="5000"/>
            </a:lvl1pPr>
          </a:lstStyle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n 21">
            <a:extLst>
              <a:ext uri="{FF2B5EF4-FFF2-40B4-BE49-F238E27FC236}">
                <a16:creationId xmlns:a16="http://schemas.microsoft.com/office/drawing/2014/main" id="{3973E67C-611D-F88A-80C1-185A9B8D413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6"/>
            <a:ext cx="20104810" cy="11308953"/>
          </a:xfrm>
          <a:prstGeom prst="rect">
            <a:avLst/>
          </a:prstGeom>
        </p:spPr>
      </p:pic>
      <p:pic>
        <p:nvPicPr>
          <p:cNvPr id="28" name="Imagen 27">
            <a:extLst>
              <a:ext uri="{FF2B5EF4-FFF2-40B4-BE49-F238E27FC236}">
                <a16:creationId xmlns:a16="http://schemas.microsoft.com/office/drawing/2014/main" id="{3E466965-0C09-5FCB-13FD-111D1D2AD25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2" y="0"/>
            <a:ext cx="20097375" cy="11309350"/>
          </a:xfrm>
          <a:prstGeom prst="rect">
            <a:avLst/>
          </a:prstGeom>
        </p:spPr>
      </p:pic>
      <p:sp>
        <p:nvSpPr>
          <p:cNvPr id="29" name="Rectángulo 28">
            <a:extLst>
              <a:ext uri="{FF2B5EF4-FFF2-40B4-BE49-F238E27FC236}">
                <a16:creationId xmlns:a16="http://schemas.microsoft.com/office/drawing/2014/main" id="{98C6A4D7-FDE0-20C5-1EB3-30217CE5E1DC}"/>
              </a:ext>
            </a:extLst>
          </p:cNvPr>
          <p:cNvSpPr/>
          <p:nvPr userDrawn="1"/>
        </p:nvSpPr>
        <p:spPr>
          <a:xfrm>
            <a:off x="4413250" y="4206875"/>
            <a:ext cx="9892434" cy="2286000"/>
          </a:xfrm>
          <a:prstGeom prst="rect">
            <a:avLst/>
          </a:prstGeom>
          <a:solidFill>
            <a:schemeClr val="tx1"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30" name="Título 1">
            <a:extLst>
              <a:ext uri="{FF2B5EF4-FFF2-40B4-BE49-F238E27FC236}">
                <a16:creationId xmlns:a16="http://schemas.microsoft.com/office/drawing/2014/main" id="{EE9CC866-5882-3C12-E5D7-404765C18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2028" y="4534001"/>
            <a:ext cx="9020022" cy="1538883"/>
          </a:xfrm>
        </p:spPr>
        <p:txBody>
          <a:bodyPr/>
          <a:lstStyle>
            <a:lvl1pPr algn="l">
              <a:defRPr sz="5000">
                <a:solidFill>
                  <a:srgbClr val="257CE1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0385869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n 20">
            <a:extLst>
              <a:ext uri="{FF2B5EF4-FFF2-40B4-BE49-F238E27FC236}">
                <a16:creationId xmlns:a16="http://schemas.microsoft.com/office/drawing/2014/main" id="{FADFFD87-E732-F006-B065-62B946429B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6"/>
            <a:ext cx="20104810" cy="11308953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5FB62982-E03B-E5B0-2921-4742F850F5A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2" y="0"/>
            <a:ext cx="20097375" cy="11309350"/>
          </a:xfrm>
          <a:prstGeom prst="rect">
            <a:avLst/>
          </a:prstGeom>
        </p:spPr>
      </p:pic>
      <p:sp>
        <p:nvSpPr>
          <p:cNvPr id="24" name="Rectángulo 23">
            <a:extLst>
              <a:ext uri="{FF2B5EF4-FFF2-40B4-BE49-F238E27FC236}">
                <a16:creationId xmlns:a16="http://schemas.microsoft.com/office/drawing/2014/main" id="{FA473640-6785-830B-E009-5E08A060B6B1}"/>
              </a:ext>
            </a:extLst>
          </p:cNvPr>
          <p:cNvSpPr/>
          <p:nvPr userDrawn="1"/>
        </p:nvSpPr>
        <p:spPr>
          <a:xfrm>
            <a:off x="7232650" y="7880350"/>
            <a:ext cx="9892434" cy="2286000"/>
          </a:xfrm>
          <a:prstGeom prst="rect">
            <a:avLst/>
          </a:prstGeom>
          <a:solidFill>
            <a:schemeClr val="tx1"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25" name="Título 1">
            <a:extLst>
              <a:ext uri="{FF2B5EF4-FFF2-40B4-BE49-F238E27FC236}">
                <a16:creationId xmlns:a16="http://schemas.microsoft.com/office/drawing/2014/main" id="{B55FBF2B-6203-81C7-B7DD-070ABE20B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1428" y="8207476"/>
            <a:ext cx="9020022" cy="1538883"/>
          </a:xfrm>
        </p:spPr>
        <p:txBody>
          <a:bodyPr/>
          <a:lstStyle>
            <a:lvl1pPr algn="l">
              <a:defRPr sz="5000">
                <a:solidFill>
                  <a:srgbClr val="257CE1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7110974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438F75-3EE0-1345-84D2-95B57EB1A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2050" y="714594"/>
            <a:ext cx="16988263" cy="738664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14BF04F1-8F4E-3E46-A3B2-80F47EADF391}"/>
              </a:ext>
            </a:extLst>
          </p:cNvPr>
          <p:cNvSpPr/>
          <p:nvPr userDrawn="1"/>
        </p:nvSpPr>
        <p:spPr>
          <a:xfrm>
            <a:off x="-6350" y="656116"/>
            <a:ext cx="2243455" cy="1060450"/>
          </a:xfrm>
          <a:custGeom>
            <a:avLst/>
            <a:gdLst/>
            <a:ahLst/>
            <a:cxnLst/>
            <a:rect l="l" t="t" r="r" b="b"/>
            <a:pathLst>
              <a:path w="2243455" h="1060450">
                <a:moveTo>
                  <a:pt x="2243429" y="0"/>
                </a:moveTo>
                <a:lnTo>
                  <a:pt x="0" y="0"/>
                </a:lnTo>
                <a:lnTo>
                  <a:pt x="0" y="1059999"/>
                </a:lnTo>
                <a:lnTo>
                  <a:pt x="2243429" y="1059999"/>
                </a:lnTo>
                <a:lnTo>
                  <a:pt x="2243429" y="0"/>
                </a:lnTo>
                <a:close/>
              </a:path>
            </a:pathLst>
          </a:custGeom>
          <a:solidFill>
            <a:srgbClr val="257C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7932DF43-D838-5B47-A92B-B88C568B4A19}"/>
              </a:ext>
            </a:extLst>
          </p:cNvPr>
          <p:cNvSpPr/>
          <p:nvPr userDrawn="1"/>
        </p:nvSpPr>
        <p:spPr>
          <a:xfrm>
            <a:off x="16938421" y="10202309"/>
            <a:ext cx="1576070" cy="511175"/>
          </a:xfrm>
          <a:custGeom>
            <a:avLst/>
            <a:gdLst/>
            <a:ahLst/>
            <a:cxnLst/>
            <a:rect l="l" t="t" r="r" b="b"/>
            <a:pathLst>
              <a:path w="1576069" h="511175">
                <a:moveTo>
                  <a:pt x="441172" y="241312"/>
                </a:moveTo>
                <a:lnTo>
                  <a:pt x="435267" y="179641"/>
                </a:lnTo>
                <a:lnTo>
                  <a:pt x="418414" y="127673"/>
                </a:lnTo>
                <a:lnTo>
                  <a:pt x="392747" y="86601"/>
                </a:lnTo>
                <a:lnTo>
                  <a:pt x="391845" y="85153"/>
                </a:lnTo>
                <a:lnTo>
                  <a:pt x="356819" y="51803"/>
                </a:lnTo>
                <a:lnTo>
                  <a:pt x="322008" y="30734"/>
                </a:lnTo>
                <a:lnTo>
                  <a:pt x="322008" y="245008"/>
                </a:lnTo>
                <a:lnTo>
                  <a:pt x="316534" y="299389"/>
                </a:lnTo>
                <a:lnTo>
                  <a:pt x="300723" y="343433"/>
                </a:lnTo>
                <a:lnTo>
                  <a:pt x="275463" y="377329"/>
                </a:lnTo>
                <a:lnTo>
                  <a:pt x="241617" y="401231"/>
                </a:lnTo>
                <a:lnTo>
                  <a:pt x="200088" y="415315"/>
                </a:lnTo>
                <a:lnTo>
                  <a:pt x="151752" y="419722"/>
                </a:lnTo>
                <a:lnTo>
                  <a:pt x="141351" y="419684"/>
                </a:lnTo>
                <a:lnTo>
                  <a:pt x="130746" y="419442"/>
                </a:lnTo>
                <a:lnTo>
                  <a:pt x="120827" y="418769"/>
                </a:lnTo>
                <a:lnTo>
                  <a:pt x="112496" y="417474"/>
                </a:lnTo>
                <a:lnTo>
                  <a:pt x="112496" y="91033"/>
                </a:lnTo>
                <a:lnTo>
                  <a:pt x="121107" y="89408"/>
                </a:lnTo>
                <a:lnTo>
                  <a:pt x="132499" y="87985"/>
                </a:lnTo>
                <a:lnTo>
                  <a:pt x="146659" y="86982"/>
                </a:lnTo>
                <a:lnTo>
                  <a:pt x="163588" y="86601"/>
                </a:lnTo>
                <a:lnTo>
                  <a:pt x="209257" y="90881"/>
                </a:lnTo>
                <a:lnTo>
                  <a:pt x="248094" y="103809"/>
                </a:lnTo>
                <a:lnTo>
                  <a:pt x="279438" y="125552"/>
                </a:lnTo>
                <a:lnTo>
                  <a:pt x="302653" y="156235"/>
                </a:lnTo>
                <a:lnTo>
                  <a:pt x="317055" y="196011"/>
                </a:lnTo>
                <a:lnTo>
                  <a:pt x="322008" y="245008"/>
                </a:lnTo>
                <a:lnTo>
                  <a:pt x="322008" y="30734"/>
                </a:lnTo>
                <a:lnTo>
                  <a:pt x="318211" y="28422"/>
                </a:lnTo>
                <a:lnTo>
                  <a:pt x="272313" y="12306"/>
                </a:lnTo>
                <a:lnTo>
                  <a:pt x="217411" y="2997"/>
                </a:lnTo>
                <a:lnTo>
                  <a:pt x="151752" y="0"/>
                </a:lnTo>
                <a:lnTo>
                  <a:pt x="110134" y="685"/>
                </a:lnTo>
                <a:lnTo>
                  <a:pt x="70319" y="2768"/>
                </a:lnTo>
                <a:lnTo>
                  <a:pt x="33286" y="6235"/>
                </a:lnTo>
                <a:lnTo>
                  <a:pt x="0" y="11099"/>
                </a:lnTo>
                <a:lnTo>
                  <a:pt x="0" y="500392"/>
                </a:lnTo>
                <a:lnTo>
                  <a:pt x="23342" y="503123"/>
                </a:lnTo>
                <a:lnTo>
                  <a:pt x="52374" y="505485"/>
                </a:lnTo>
                <a:lnTo>
                  <a:pt x="87236" y="507161"/>
                </a:lnTo>
                <a:lnTo>
                  <a:pt x="128054" y="507796"/>
                </a:lnTo>
                <a:lnTo>
                  <a:pt x="184556" y="505294"/>
                </a:lnTo>
                <a:lnTo>
                  <a:pt x="236435" y="497713"/>
                </a:lnTo>
                <a:lnTo>
                  <a:pt x="283159" y="484936"/>
                </a:lnTo>
                <a:lnTo>
                  <a:pt x="324205" y="466864"/>
                </a:lnTo>
                <a:lnTo>
                  <a:pt x="359016" y="443407"/>
                </a:lnTo>
                <a:lnTo>
                  <a:pt x="382054" y="419722"/>
                </a:lnTo>
                <a:lnTo>
                  <a:pt x="385749" y="415925"/>
                </a:lnTo>
                <a:lnTo>
                  <a:pt x="408393" y="382181"/>
                </a:lnTo>
                <a:lnTo>
                  <a:pt x="425894" y="341972"/>
                </a:lnTo>
                <a:lnTo>
                  <a:pt x="437172" y="295097"/>
                </a:lnTo>
                <a:lnTo>
                  <a:pt x="441172" y="241312"/>
                </a:lnTo>
                <a:close/>
              </a:path>
              <a:path w="1576069" h="511175">
                <a:moveTo>
                  <a:pt x="827582" y="502602"/>
                </a:moveTo>
                <a:lnTo>
                  <a:pt x="826490" y="478307"/>
                </a:lnTo>
                <a:lnTo>
                  <a:pt x="825538" y="450888"/>
                </a:lnTo>
                <a:lnTo>
                  <a:pt x="824865" y="420268"/>
                </a:lnTo>
                <a:lnTo>
                  <a:pt x="824611" y="386397"/>
                </a:lnTo>
                <a:lnTo>
                  <a:pt x="824611" y="140639"/>
                </a:lnTo>
                <a:lnTo>
                  <a:pt x="712089" y="140639"/>
                </a:lnTo>
                <a:lnTo>
                  <a:pt x="712089" y="365671"/>
                </a:lnTo>
                <a:lnTo>
                  <a:pt x="710628" y="373811"/>
                </a:lnTo>
                <a:lnTo>
                  <a:pt x="688695" y="406768"/>
                </a:lnTo>
                <a:lnTo>
                  <a:pt x="651395" y="419722"/>
                </a:lnTo>
                <a:lnTo>
                  <a:pt x="625627" y="413918"/>
                </a:lnTo>
                <a:lnTo>
                  <a:pt x="607910" y="397230"/>
                </a:lnTo>
                <a:lnTo>
                  <a:pt x="597687" y="370674"/>
                </a:lnTo>
                <a:lnTo>
                  <a:pt x="594398" y="335330"/>
                </a:lnTo>
                <a:lnTo>
                  <a:pt x="594398" y="140639"/>
                </a:lnTo>
                <a:lnTo>
                  <a:pt x="481888" y="140639"/>
                </a:lnTo>
                <a:lnTo>
                  <a:pt x="481888" y="353072"/>
                </a:lnTo>
                <a:lnTo>
                  <a:pt x="488022" y="412394"/>
                </a:lnTo>
                <a:lnTo>
                  <a:pt x="505383" y="456869"/>
                </a:lnTo>
                <a:lnTo>
                  <a:pt x="532409" y="487451"/>
                </a:lnTo>
                <a:lnTo>
                  <a:pt x="567537" y="505091"/>
                </a:lnTo>
                <a:lnTo>
                  <a:pt x="609206" y="510768"/>
                </a:lnTo>
                <a:lnTo>
                  <a:pt x="652399" y="504634"/>
                </a:lnTo>
                <a:lnTo>
                  <a:pt x="684987" y="489483"/>
                </a:lnTo>
                <a:lnTo>
                  <a:pt x="707986" y="470154"/>
                </a:lnTo>
                <a:lnTo>
                  <a:pt x="722452" y="451535"/>
                </a:lnTo>
                <a:lnTo>
                  <a:pt x="724674" y="451535"/>
                </a:lnTo>
                <a:lnTo>
                  <a:pt x="729869" y="502602"/>
                </a:lnTo>
                <a:lnTo>
                  <a:pt x="827582" y="502602"/>
                </a:lnTo>
                <a:close/>
              </a:path>
              <a:path w="1576069" h="511175">
                <a:moveTo>
                  <a:pt x="1244155" y="318274"/>
                </a:moveTo>
                <a:lnTo>
                  <a:pt x="1238161" y="266484"/>
                </a:lnTo>
                <a:lnTo>
                  <a:pt x="1220876" y="221424"/>
                </a:lnTo>
                <a:lnTo>
                  <a:pt x="1193355" y="184315"/>
                </a:lnTo>
                <a:lnTo>
                  <a:pt x="1156639" y="156324"/>
                </a:lnTo>
                <a:lnTo>
                  <a:pt x="1127175" y="144729"/>
                </a:lnTo>
                <a:lnTo>
                  <a:pt x="1127175" y="321259"/>
                </a:lnTo>
                <a:lnTo>
                  <a:pt x="1122210" y="365747"/>
                </a:lnTo>
                <a:lnTo>
                  <a:pt x="1107948" y="400088"/>
                </a:lnTo>
                <a:lnTo>
                  <a:pt x="1085354" y="422224"/>
                </a:lnTo>
                <a:lnTo>
                  <a:pt x="1055395" y="430072"/>
                </a:lnTo>
                <a:lnTo>
                  <a:pt x="1054658" y="430072"/>
                </a:lnTo>
                <a:lnTo>
                  <a:pt x="1023213" y="421817"/>
                </a:lnTo>
                <a:lnTo>
                  <a:pt x="1000239" y="399072"/>
                </a:lnTo>
                <a:lnTo>
                  <a:pt x="986155" y="364807"/>
                </a:lnTo>
                <a:lnTo>
                  <a:pt x="981367" y="322008"/>
                </a:lnTo>
                <a:lnTo>
                  <a:pt x="985443" y="282206"/>
                </a:lnTo>
                <a:lnTo>
                  <a:pt x="998397" y="247332"/>
                </a:lnTo>
                <a:lnTo>
                  <a:pt x="1021346" y="222580"/>
                </a:lnTo>
                <a:lnTo>
                  <a:pt x="1055395" y="213169"/>
                </a:lnTo>
                <a:lnTo>
                  <a:pt x="1088174" y="222580"/>
                </a:lnTo>
                <a:lnTo>
                  <a:pt x="1110437" y="247230"/>
                </a:lnTo>
                <a:lnTo>
                  <a:pt x="1123149" y="281889"/>
                </a:lnTo>
                <a:lnTo>
                  <a:pt x="1127175" y="321259"/>
                </a:lnTo>
                <a:lnTo>
                  <a:pt x="1127175" y="144729"/>
                </a:lnTo>
                <a:lnTo>
                  <a:pt x="1111783" y="138658"/>
                </a:lnTo>
                <a:lnTo>
                  <a:pt x="1059827" y="132511"/>
                </a:lnTo>
                <a:lnTo>
                  <a:pt x="1012253" y="136982"/>
                </a:lnTo>
                <a:lnTo>
                  <a:pt x="970229" y="150050"/>
                </a:lnTo>
                <a:lnTo>
                  <a:pt x="934402" y="171119"/>
                </a:lnTo>
                <a:lnTo>
                  <a:pt x="905395" y="199644"/>
                </a:lnTo>
                <a:lnTo>
                  <a:pt x="883894" y="235051"/>
                </a:lnTo>
                <a:lnTo>
                  <a:pt x="870508" y="276745"/>
                </a:lnTo>
                <a:lnTo>
                  <a:pt x="865911" y="324192"/>
                </a:lnTo>
                <a:lnTo>
                  <a:pt x="872426" y="378625"/>
                </a:lnTo>
                <a:lnTo>
                  <a:pt x="890930" y="424548"/>
                </a:lnTo>
                <a:lnTo>
                  <a:pt x="919835" y="461340"/>
                </a:lnTo>
                <a:lnTo>
                  <a:pt x="957567" y="488378"/>
                </a:lnTo>
                <a:lnTo>
                  <a:pt x="1002538" y="505066"/>
                </a:lnTo>
                <a:lnTo>
                  <a:pt x="1053160" y="510755"/>
                </a:lnTo>
                <a:lnTo>
                  <a:pt x="1053896" y="510755"/>
                </a:lnTo>
                <a:lnTo>
                  <a:pt x="1094740" y="507009"/>
                </a:lnTo>
                <a:lnTo>
                  <a:pt x="1133703" y="495655"/>
                </a:lnTo>
                <a:lnTo>
                  <a:pt x="1169187" y="476491"/>
                </a:lnTo>
                <a:lnTo>
                  <a:pt x="1199578" y="449364"/>
                </a:lnTo>
                <a:lnTo>
                  <a:pt x="1223276" y="414070"/>
                </a:lnTo>
                <a:lnTo>
                  <a:pt x="1238669" y="370433"/>
                </a:lnTo>
                <a:lnTo>
                  <a:pt x="1244155" y="318274"/>
                </a:lnTo>
                <a:close/>
              </a:path>
              <a:path w="1576069" h="511175">
                <a:moveTo>
                  <a:pt x="1575854" y="146558"/>
                </a:moveTo>
                <a:lnTo>
                  <a:pt x="1556600" y="140614"/>
                </a:lnTo>
                <a:lnTo>
                  <a:pt x="1535125" y="136194"/>
                </a:lnTo>
                <a:lnTo>
                  <a:pt x="1512544" y="133451"/>
                </a:lnTo>
                <a:lnTo>
                  <a:pt x="1489964" y="132499"/>
                </a:lnTo>
                <a:lnTo>
                  <a:pt x="1436065" y="137604"/>
                </a:lnTo>
                <a:lnTo>
                  <a:pt x="1389964" y="152133"/>
                </a:lnTo>
                <a:lnTo>
                  <a:pt x="1351838" y="174917"/>
                </a:lnTo>
                <a:lnTo>
                  <a:pt x="1321866" y="204762"/>
                </a:lnTo>
                <a:lnTo>
                  <a:pt x="1300238" y="240499"/>
                </a:lnTo>
                <a:lnTo>
                  <a:pt x="1287132" y="280949"/>
                </a:lnTo>
                <a:lnTo>
                  <a:pt x="1282712" y="324942"/>
                </a:lnTo>
                <a:lnTo>
                  <a:pt x="1287195" y="371144"/>
                </a:lnTo>
                <a:lnTo>
                  <a:pt x="1300264" y="411645"/>
                </a:lnTo>
                <a:lnTo>
                  <a:pt x="1321346" y="445947"/>
                </a:lnTo>
                <a:lnTo>
                  <a:pt x="1349870" y="473532"/>
                </a:lnTo>
                <a:lnTo>
                  <a:pt x="1385277" y="493864"/>
                </a:lnTo>
                <a:lnTo>
                  <a:pt x="1426984" y="506450"/>
                </a:lnTo>
                <a:lnTo>
                  <a:pt x="1474431" y="510755"/>
                </a:lnTo>
                <a:lnTo>
                  <a:pt x="1505470" y="509460"/>
                </a:lnTo>
                <a:lnTo>
                  <a:pt x="1556994" y="500468"/>
                </a:lnTo>
                <a:lnTo>
                  <a:pt x="1561782" y="410832"/>
                </a:lnTo>
                <a:lnTo>
                  <a:pt x="1548282" y="415810"/>
                </a:lnTo>
                <a:lnTo>
                  <a:pt x="1533182" y="419531"/>
                </a:lnTo>
                <a:lnTo>
                  <a:pt x="1516278" y="421868"/>
                </a:lnTo>
                <a:lnTo>
                  <a:pt x="1497355" y="422681"/>
                </a:lnTo>
                <a:lnTo>
                  <a:pt x="1458760" y="416090"/>
                </a:lnTo>
                <a:lnTo>
                  <a:pt x="1427226" y="396582"/>
                </a:lnTo>
                <a:lnTo>
                  <a:pt x="1405966" y="364591"/>
                </a:lnTo>
                <a:lnTo>
                  <a:pt x="1398155" y="320522"/>
                </a:lnTo>
                <a:lnTo>
                  <a:pt x="1404683" y="279692"/>
                </a:lnTo>
                <a:lnTo>
                  <a:pt x="1424178" y="247599"/>
                </a:lnTo>
                <a:lnTo>
                  <a:pt x="1454924" y="226606"/>
                </a:lnTo>
                <a:lnTo>
                  <a:pt x="1495171" y="219087"/>
                </a:lnTo>
                <a:lnTo>
                  <a:pt x="1515630" y="219989"/>
                </a:lnTo>
                <a:lnTo>
                  <a:pt x="1532737" y="222427"/>
                </a:lnTo>
                <a:lnTo>
                  <a:pt x="1546796" y="225971"/>
                </a:lnTo>
                <a:lnTo>
                  <a:pt x="1558086" y="230212"/>
                </a:lnTo>
                <a:lnTo>
                  <a:pt x="1575854" y="14655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9DEB8F4A-6C01-284B-B123-A27D152597CD}"/>
              </a:ext>
            </a:extLst>
          </p:cNvPr>
          <p:cNvSpPr/>
          <p:nvPr userDrawn="1"/>
        </p:nvSpPr>
        <p:spPr>
          <a:xfrm>
            <a:off x="18623540" y="10245307"/>
            <a:ext cx="378460" cy="469900"/>
          </a:xfrm>
          <a:custGeom>
            <a:avLst/>
            <a:gdLst/>
            <a:ahLst/>
            <a:cxnLst/>
            <a:rect l="l" t="t" r="r" b="b"/>
            <a:pathLst>
              <a:path w="378459" h="469900">
                <a:moveTo>
                  <a:pt x="377967" y="0"/>
                </a:moveTo>
                <a:lnTo>
                  <a:pt x="273688" y="0"/>
                </a:lnTo>
                <a:lnTo>
                  <a:pt x="273688" y="266117"/>
                </a:lnTo>
                <a:lnTo>
                  <a:pt x="268116" y="319317"/>
                </a:lnTo>
                <a:lnTo>
                  <a:pt x="251744" y="356757"/>
                </a:lnTo>
                <a:lnTo>
                  <a:pt x="225083" y="378889"/>
                </a:lnTo>
                <a:lnTo>
                  <a:pt x="188643" y="386166"/>
                </a:lnTo>
                <a:lnTo>
                  <a:pt x="152992" y="378600"/>
                </a:lnTo>
                <a:lnTo>
                  <a:pt x="126738" y="355987"/>
                </a:lnTo>
                <a:lnTo>
                  <a:pt x="110518" y="318451"/>
                </a:lnTo>
                <a:lnTo>
                  <a:pt x="104970" y="266117"/>
                </a:lnTo>
                <a:lnTo>
                  <a:pt x="104970" y="0"/>
                </a:lnTo>
                <a:lnTo>
                  <a:pt x="0" y="0"/>
                </a:lnTo>
                <a:lnTo>
                  <a:pt x="0" y="257897"/>
                </a:lnTo>
                <a:lnTo>
                  <a:pt x="4140" y="316080"/>
                </a:lnTo>
                <a:lnTo>
                  <a:pt x="16320" y="364420"/>
                </a:lnTo>
                <a:lnTo>
                  <a:pt x="36180" y="403244"/>
                </a:lnTo>
                <a:lnTo>
                  <a:pt x="63360" y="432875"/>
                </a:lnTo>
                <a:lnTo>
                  <a:pt x="97498" y="453638"/>
                </a:lnTo>
                <a:lnTo>
                  <a:pt x="138234" y="465858"/>
                </a:lnTo>
                <a:lnTo>
                  <a:pt x="185209" y="469860"/>
                </a:lnTo>
                <a:lnTo>
                  <a:pt x="233897" y="465682"/>
                </a:lnTo>
                <a:lnTo>
                  <a:pt x="276216" y="453068"/>
                </a:lnTo>
                <a:lnTo>
                  <a:pt x="311756" y="431899"/>
                </a:lnTo>
                <a:lnTo>
                  <a:pt x="340111" y="402056"/>
                </a:lnTo>
                <a:lnTo>
                  <a:pt x="360870" y="363417"/>
                </a:lnTo>
                <a:lnTo>
                  <a:pt x="373625" y="315865"/>
                </a:lnTo>
                <a:lnTo>
                  <a:pt x="377967" y="259280"/>
                </a:lnTo>
                <a:lnTo>
                  <a:pt x="37796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5">
            <a:extLst>
              <a:ext uri="{FF2B5EF4-FFF2-40B4-BE49-F238E27FC236}">
                <a16:creationId xmlns:a16="http://schemas.microsoft.com/office/drawing/2014/main" id="{50440F77-9AF6-2142-A93F-4B5F6DDBD871}"/>
              </a:ext>
            </a:extLst>
          </p:cNvPr>
          <p:cNvGrpSpPr/>
          <p:nvPr userDrawn="1"/>
        </p:nvGrpSpPr>
        <p:grpSpPr>
          <a:xfrm>
            <a:off x="19053919" y="10117702"/>
            <a:ext cx="427355" cy="597535"/>
            <a:chOff x="19053919" y="10117702"/>
            <a:chExt cx="427355" cy="597535"/>
          </a:xfrm>
        </p:grpSpPr>
        <p:sp>
          <p:nvSpPr>
            <p:cNvPr id="10" name="object 6">
              <a:extLst>
                <a:ext uri="{FF2B5EF4-FFF2-40B4-BE49-F238E27FC236}">
                  <a16:creationId xmlns:a16="http://schemas.microsoft.com/office/drawing/2014/main" id="{B5FF8718-DC05-C046-A01E-6155D9ABE0D5}"/>
                </a:ext>
              </a:extLst>
            </p:cNvPr>
            <p:cNvSpPr/>
            <p:nvPr/>
          </p:nvSpPr>
          <p:spPr>
            <a:xfrm>
              <a:off x="19053919" y="10237764"/>
              <a:ext cx="366395" cy="477520"/>
            </a:xfrm>
            <a:custGeom>
              <a:avLst/>
              <a:gdLst/>
              <a:ahLst/>
              <a:cxnLst/>
              <a:rect l="l" t="t" r="r" b="b"/>
              <a:pathLst>
                <a:path w="366394" h="477520">
                  <a:moveTo>
                    <a:pt x="252421" y="0"/>
                  </a:moveTo>
                  <a:lnTo>
                    <a:pt x="206913" y="3226"/>
                  </a:lnTo>
                  <a:lnTo>
                    <a:pt x="164136" y="12810"/>
                  </a:lnTo>
                  <a:lnTo>
                    <a:pt x="124791" y="28603"/>
                  </a:lnTo>
                  <a:lnTo>
                    <a:pt x="89578" y="50459"/>
                  </a:lnTo>
                  <a:lnTo>
                    <a:pt x="59197" y="78232"/>
                  </a:lnTo>
                  <a:lnTo>
                    <a:pt x="34348" y="111776"/>
                  </a:lnTo>
                  <a:lnTo>
                    <a:pt x="15732" y="150943"/>
                  </a:lnTo>
                  <a:lnTo>
                    <a:pt x="4049" y="195587"/>
                  </a:lnTo>
                  <a:lnTo>
                    <a:pt x="0" y="245563"/>
                  </a:lnTo>
                  <a:lnTo>
                    <a:pt x="3849" y="293331"/>
                  </a:lnTo>
                  <a:lnTo>
                    <a:pt x="15359" y="337340"/>
                  </a:lnTo>
                  <a:lnTo>
                    <a:pt x="34475" y="376785"/>
                  </a:lnTo>
                  <a:lnTo>
                    <a:pt x="61138" y="410861"/>
                  </a:lnTo>
                  <a:lnTo>
                    <a:pt x="95292" y="438765"/>
                  </a:lnTo>
                  <a:lnTo>
                    <a:pt x="136882" y="459692"/>
                  </a:lnTo>
                  <a:lnTo>
                    <a:pt x="185849" y="472838"/>
                  </a:lnTo>
                  <a:lnTo>
                    <a:pt x="242139" y="477399"/>
                  </a:lnTo>
                  <a:lnTo>
                    <a:pt x="281711" y="475535"/>
                  </a:lnTo>
                  <a:lnTo>
                    <a:pt x="315367" y="470716"/>
                  </a:lnTo>
                  <a:lnTo>
                    <a:pt x="342072" y="464093"/>
                  </a:lnTo>
                  <a:lnTo>
                    <a:pt x="360795" y="456823"/>
                  </a:lnTo>
                  <a:lnTo>
                    <a:pt x="345036" y="375213"/>
                  </a:lnTo>
                  <a:lnTo>
                    <a:pt x="327174" y="381031"/>
                  </a:lnTo>
                  <a:lnTo>
                    <a:pt x="305583" y="385825"/>
                  </a:lnTo>
                  <a:lnTo>
                    <a:pt x="281936" y="389081"/>
                  </a:lnTo>
                  <a:lnTo>
                    <a:pt x="257908" y="390281"/>
                  </a:lnTo>
                  <a:lnTo>
                    <a:pt x="206680" y="383477"/>
                  </a:lnTo>
                  <a:lnTo>
                    <a:pt x="165463" y="363832"/>
                  </a:lnTo>
                  <a:lnTo>
                    <a:pt x="135046" y="332499"/>
                  </a:lnTo>
                  <a:lnTo>
                    <a:pt x="116217" y="290629"/>
                  </a:lnTo>
                  <a:lnTo>
                    <a:pt x="109766" y="239374"/>
                  </a:lnTo>
                  <a:lnTo>
                    <a:pt x="117134" y="183960"/>
                  </a:lnTo>
                  <a:lnTo>
                    <a:pt x="137767" y="141083"/>
                  </a:lnTo>
                  <a:lnTo>
                    <a:pt x="169464" y="110615"/>
                  </a:lnTo>
                  <a:lnTo>
                    <a:pt x="210018" y="92429"/>
                  </a:lnTo>
                  <a:lnTo>
                    <a:pt x="257227" y="86395"/>
                  </a:lnTo>
                  <a:lnTo>
                    <a:pt x="283580" y="87824"/>
                  </a:lnTo>
                  <a:lnTo>
                    <a:pt x="307041" y="91638"/>
                  </a:lnTo>
                  <a:lnTo>
                    <a:pt x="327548" y="97129"/>
                  </a:lnTo>
                  <a:lnTo>
                    <a:pt x="345036" y="103588"/>
                  </a:lnTo>
                  <a:lnTo>
                    <a:pt x="366302" y="20575"/>
                  </a:lnTo>
                  <a:lnTo>
                    <a:pt x="348314" y="13309"/>
                  </a:lnTo>
                  <a:lnTo>
                    <a:pt x="322736" y="6686"/>
                  </a:lnTo>
                  <a:lnTo>
                    <a:pt x="290470" y="1864"/>
                  </a:lnTo>
                  <a:lnTo>
                    <a:pt x="25242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7">
              <a:extLst>
                <a:ext uri="{FF2B5EF4-FFF2-40B4-BE49-F238E27FC236}">
                  <a16:creationId xmlns:a16="http://schemas.microsoft.com/office/drawing/2014/main" id="{680319A8-C88C-E845-B967-74CD5DD4CA96}"/>
                </a:ext>
              </a:extLst>
            </p:cNvPr>
            <p:cNvPicPr/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9368634" y="10117702"/>
              <a:ext cx="112300" cy="11226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913852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2">
            <a:extLst>
              <a:ext uri="{FF2B5EF4-FFF2-40B4-BE49-F238E27FC236}">
                <a16:creationId xmlns:a16="http://schemas.microsoft.com/office/drawing/2014/main" id="{248CA032-B7CF-AC47-80C3-3DC0FECADE87}"/>
              </a:ext>
            </a:extLst>
          </p:cNvPr>
          <p:cNvSpPr/>
          <p:nvPr userDrawn="1"/>
        </p:nvSpPr>
        <p:spPr>
          <a:xfrm>
            <a:off x="727227" y="10202309"/>
            <a:ext cx="1576070" cy="511175"/>
          </a:xfrm>
          <a:custGeom>
            <a:avLst/>
            <a:gdLst/>
            <a:ahLst/>
            <a:cxnLst/>
            <a:rect l="l" t="t" r="r" b="b"/>
            <a:pathLst>
              <a:path w="1576070" h="511175">
                <a:moveTo>
                  <a:pt x="441172" y="241312"/>
                </a:moveTo>
                <a:lnTo>
                  <a:pt x="435267" y="179641"/>
                </a:lnTo>
                <a:lnTo>
                  <a:pt x="418414" y="127673"/>
                </a:lnTo>
                <a:lnTo>
                  <a:pt x="392747" y="86601"/>
                </a:lnTo>
                <a:lnTo>
                  <a:pt x="391845" y="85153"/>
                </a:lnTo>
                <a:lnTo>
                  <a:pt x="356819" y="51803"/>
                </a:lnTo>
                <a:lnTo>
                  <a:pt x="322008" y="30734"/>
                </a:lnTo>
                <a:lnTo>
                  <a:pt x="322008" y="245008"/>
                </a:lnTo>
                <a:lnTo>
                  <a:pt x="316547" y="299389"/>
                </a:lnTo>
                <a:lnTo>
                  <a:pt x="300736" y="343433"/>
                </a:lnTo>
                <a:lnTo>
                  <a:pt x="275463" y="377329"/>
                </a:lnTo>
                <a:lnTo>
                  <a:pt x="241617" y="401231"/>
                </a:lnTo>
                <a:lnTo>
                  <a:pt x="200088" y="415315"/>
                </a:lnTo>
                <a:lnTo>
                  <a:pt x="151752" y="419722"/>
                </a:lnTo>
                <a:lnTo>
                  <a:pt x="141351" y="419684"/>
                </a:lnTo>
                <a:lnTo>
                  <a:pt x="130746" y="419442"/>
                </a:lnTo>
                <a:lnTo>
                  <a:pt x="120827" y="418769"/>
                </a:lnTo>
                <a:lnTo>
                  <a:pt x="112496" y="417474"/>
                </a:lnTo>
                <a:lnTo>
                  <a:pt x="112496" y="91033"/>
                </a:lnTo>
                <a:lnTo>
                  <a:pt x="121119" y="89408"/>
                </a:lnTo>
                <a:lnTo>
                  <a:pt x="132499" y="87985"/>
                </a:lnTo>
                <a:lnTo>
                  <a:pt x="146659" y="86982"/>
                </a:lnTo>
                <a:lnTo>
                  <a:pt x="163601" y="86601"/>
                </a:lnTo>
                <a:lnTo>
                  <a:pt x="209257" y="90881"/>
                </a:lnTo>
                <a:lnTo>
                  <a:pt x="248094" y="103809"/>
                </a:lnTo>
                <a:lnTo>
                  <a:pt x="279450" y="125552"/>
                </a:lnTo>
                <a:lnTo>
                  <a:pt x="302653" y="156235"/>
                </a:lnTo>
                <a:lnTo>
                  <a:pt x="317055" y="196011"/>
                </a:lnTo>
                <a:lnTo>
                  <a:pt x="322008" y="245008"/>
                </a:lnTo>
                <a:lnTo>
                  <a:pt x="322008" y="30734"/>
                </a:lnTo>
                <a:lnTo>
                  <a:pt x="318211" y="28422"/>
                </a:lnTo>
                <a:lnTo>
                  <a:pt x="272313" y="12306"/>
                </a:lnTo>
                <a:lnTo>
                  <a:pt x="217411" y="2997"/>
                </a:lnTo>
                <a:lnTo>
                  <a:pt x="151752" y="0"/>
                </a:lnTo>
                <a:lnTo>
                  <a:pt x="110134" y="685"/>
                </a:lnTo>
                <a:lnTo>
                  <a:pt x="70319" y="2768"/>
                </a:lnTo>
                <a:lnTo>
                  <a:pt x="33286" y="6235"/>
                </a:lnTo>
                <a:lnTo>
                  <a:pt x="0" y="11099"/>
                </a:lnTo>
                <a:lnTo>
                  <a:pt x="0" y="500392"/>
                </a:lnTo>
                <a:lnTo>
                  <a:pt x="23342" y="503123"/>
                </a:lnTo>
                <a:lnTo>
                  <a:pt x="52374" y="505485"/>
                </a:lnTo>
                <a:lnTo>
                  <a:pt x="87236" y="507161"/>
                </a:lnTo>
                <a:lnTo>
                  <a:pt x="128054" y="507796"/>
                </a:lnTo>
                <a:lnTo>
                  <a:pt x="184556" y="505294"/>
                </a:lnTo>
                <a:lnTo>
                  <a:pt x="236435" y="497713"/>
                </a:lnTo>
                <a:lnTo>
                  <a:pt x="283171" y="484936"/>
                </a:lnTo>
                <a:lnTo>
                  <a:pt x="324205" y="466864"/>
                </a:lnTo>
                <a:lnTo>
                  <a:pt x="359029" y="443407"/>
                </a:lnTo>
                <a:lnTo>
                  <a:pt x="382054" y="419722"/>
                </a:lnTo>
                <a:lnTo>
                  <a:pt x="385749" y="415925"/>
                </a:lnTo>
                <a:lnTo>
                  <a:pt x="408393" y="382181"/>
                </a:lnTo>
                <a:lnTo>
                  <a:pt x="425894" y="341972"/>
                </a:lnTo>
                <a:lnTo>
                  <a:pt x="437172" y="295097"/>
                </a:lnTo>
                <a:lnTo>
                  <a:pt x="441172" y="241312"/>
                </a:lnTo>
                <a:close/>
              </a:path>
              <a:path w="1576070" h="511175">
                <a:moveTo>
                  <a:pt x="827582" y="502602"/>
                </a:moveTo>
                <a:lnTo>
                  <a:pt x="826503" y="478307"/>
                </a:lnTo>
                <a:lnTo>
                  <a:pt x="825550" y="450888"/>
                </a:lnTo>
                <a:lnTo>
                  <a:pt x="824865" y="420268"/>
                </a:lnTo>
                <a:lnTo>
                  <a:pt x="824611" y="386397"/>
                </a:lnTo>
                <a:lnTo>
                  <a:pt x="824611" y="140639"/>
                </a:lnTo>
                <a:lnTo>
                  <a:pt x="712089" y="140639"/>
                </a:lnTo>
                <a:lnTo>
                  <a:pt x="712089" y="365671"/>
                </a:lnTo>
                <a:lnTo>
                  <a:pt x="710641" y="373811"/>
                </a:lnTo>
                <a:lnTo>
                  <a:pt x="688695" y="406768"/>
                </a:lnTo>
                <a:lnTo>
                  <a:pt x="651395" y="419722"/>
                </a:lnTo>
                <a:lnTo>
                  <a:pt x="625627" y="413918"/>
                </a:lnTo>
                <a:lnTo>
                  <a:pt x="607910" y="397230"/>
                </a:lnTo>
                <a:lnTo>
                  <a:pt x="597687" y="370674"/>
                </a:lnTo>
                <a:lnTo>
                  <a:pt x="594398" y="335330"/>
                </a:lnTo>
                <a:lnTo>
                  <a:pt x="594398" y="140639"/>
                </a:lnTo>
                <a:lnTo>
                  <a:pt x="481888" y="140639"/>
                </a:lnTo>
                <a:lnTo>
                  <a:pt x="481888" y="353072"/>
                </a:lnTo>
                <a:lnTo>
                  <a:pt x="488022" y="412394"/>
                </a:lnTo>
                <a:lnTo>
                  <a:pt x="505383" y="456869"/>
                </a:lnTo>
                <a:lnTo>
                  <a:pt x="532409" y="487451"/>
                </a:lnTo>
                <a:lnTo>
                  <a:pt x="567537" y="505091"/>
                </a:lnTo>
                <a:lnTo>
                  <a:pt x="609206" y="510768"/>
                </a:lnTo>
                <a:lnTo>
                  <a:pt x="652399" y="504634"/>
                </a:lnTo>
                <a:lnTo>
                  <a:pt x="684987" y="489483"/>
                </a:lnTo>
                <a:lnTo>
                  <a:pt x="707986" y="470154"/>
                </a:lnTo>
                <a:lnTo>
                  <a:pt x="722452" y="451535"/>
                </a:lnTo>
                <a:lnTo>
                  <a:pt x="724674" y="451535"/>
                </a:lnTo>
                <a:lnTo>
                  <a:pt x="729869" y="502602"/>
                </a:lnTo>
                <a:lnTo>
                  <a:pt x="827582" y="502602"/>
                </a:lnTo>
                <a:close/>
              </a:path>
              <a:path w="1576070" h="511175">
                <a:moveTo>
                  <a:pt x="1244155" y="318274"/>
                </a:moveTo>
                <a:lnTo>
                  <a:pt x="1238161" y="266484"/>
                </a:lnTo>
                <a:lnTo>
                  <a:pt x="1220889" y="221424"/>
                </a:lnTo>
                <a:lnTo>
                  <a:pt x="1193355" y="184315"/>
                </a:lnTo>
                <a:lnTo>
                  <a:pt x="1156652" y="156324"/>
                </a:lnTo>
                <a:lnTo>
                  <a:pt x="1127175" y="144729"/>
                </a:lnTo>
                <a:lnTo>
                  <a:pt x="1127175" y="321259"/>
                </a:lnTo>
                <a:lnTo>
                  <a:pt x="1122210" y="365747"/>
                </a:lnTo>
                <a:lnTo>
                  <a:pt x="1107948" y="400088"/>
                </a:lnTo>
                <a:lnTo>
                  <a:pt x="1085354" y="422224"/>
                </a:lnTo>
                <a:lnTo>
                  <a:pt x="1055395" y="430072"/>
                </a:lnTo>
                <a:lnTo>
                  <a:pt x="1054658" y="430072"/>
                </a:lnTo>
                <a:lnTo>
                  <a:pt x="1023213" y="421817"/>
                </a:lnTo>
                <a:lnTo>
                  <a:pt x="1000252" y="399072"/>
                </a:lnTo>
                <a:lnTo>
                  <a:pt x="986155" y="364807"/>
                </a:lnTo>
                <a:lnTo>
                  <a:pt x="981367" y="322008"/>
                </a:lnTo>
                <a:lnTo>
                  <a:pt x="985443" y="282206"/>
                </a:lnTo>
                <a:lnTo>
                  <a:pt x="998397" y="247332"/>
                </a:lnTo>
                <a:lnTo>
                  <a:pt x="1021359" y="222580"/>
                </a:lnTo>
                <a:lnTo>
                  <a:pt x="1055395" y="213169"/>
                </a:lnTo>
                <a:lnTo>
                  <a:pt x="1088174" y="222580"/>
                </a:lnTo>
                <a:lnTo>
                  <a:pt x="1110449" y="247230"/>
                </a:lnTo>
                <a:lnTo>
                  <a:pt x="1123149" y="281889"/>
                </a:lnTo>
                <a:lnTo>
                  <a:pt x="1127175" y="321259"/>
                </a:lnTo>
                <a:lnTo>
                  <a:pt x="1127175" y="144729"/>
                </a:lnTo>
                <a:lnTo>
                  <a:pt x="1111783" y="138658"/>
                </a:lnTo>
                <a:lnTo>
                  <a:pt x="1059827" y="132511"/>
                </a:lnTo>
                <a:lnTo>
                  <a:pt x="1012253" y="136982"/>
                </a:lnTo>
                <a:lnTo>
                  <a:pt x="970229" y="150050"/>
                </a:lnTo>
                <a:lnTo>
                  <a:pt x="934402" y="171119"/>
                </a:lnTo>
                <a:lnTo>
                  <a:pt x="905408" y="199644"/>
                </a:lnTo>
                <a:lnTo>
                  <a:pt x="883894" y="235051"/>
                </a:lnTo>
                <a:lnTo>
                  <a:pt x="870508" y="276745"/>
                </a:lnTo>
                <a:lnTo>
                  <a:pt x="865911" y="324192"/>
                </a:lnTo>
                <a:lnTo>
                  <a:pt x="872426" y="378625"/>
                </a:lnTo>
                <a:lnTo>
                  <a:pt x="890930" y="424548"/>
                </a:lnTo>
                <a:lnTo>
                  <a:pt x="919848" y="461340"/>
                </a:lnTo>
                <a:lnTo>
                  <a:pt x="957580" y="488378"/>
                </a:lnTo>
                <a:lnTo>
                  <a:pt x="1002538" y="505066"/>
                </a:lnTo>
                <a:lnTo>
                  <a:pt x="1053160" y="510755"/>
                </a:lnTo>
                <a:lnTo>
                  <a:pt x="1053909" y="510755"/>
                </a:lnTo>
                <a:lnTo>
                  <a:pt x="1094740" y="507009"/>
                </a:lnTo>
                <a:lnTo>
                  <a:pt x="1133703" y="495655"/>
                </a:lnTo>
                <a:lnTo>
                  <a:pt x="1169187" y="476491"/>
                </a:lnTo>
                <a:lnTo>
                  <a:pt x="1199578" y="449364"/>
                </a:lnTo>
                <a:lnTo>
                  <a:pt x="1223276" y="414070"/>
                </a:lnTo>
                <a:lnTo>
                  <a:pt x="1238669" y="370433"/>
                </a:lnTo>
                <a:lnTo>
                  <a:pt x="1244155" y="318274"/>
                </a:lnTo>
                <a:close/>
              </a:path>
              <a:path w="1576070" h="511175">
                <a:moveTo>
                  <a:pt x="1575854" y="146558"/>
                </a:moveTo>
                <a:lnTo>
                  <a:pt x="1556600" y="140614"/>
                </a:lnTo>
                <a:lnTo>
                  <a:pt x="1535125" y="136194"/>
                </a:lnTo>
                <a:lnTo>
                  <a:pt x="1512557" y="133451"/>
                </a:lnTo>
                <a:lnTo>
                  <a:pt x="1489964" y="132499"/>
                </a:lnTo>
                <a:lnTo>
                  <a:pt x="1436077" y="137604"/>
                </a:lnTo>
                <a:lnTo>
                  <a:pt x="1389964" y="152133"/>
                </a:lnTo>
                <a:lnTo>
                  <a:pt x="1351838" y="174917"/>
                </a:lnTo>
                <a:lnTo>
                  <a:pt x="1321866" y="204762"/>
                </a:lnTo>
                <a:lnTo>
                  <a:pt x="1300238" y="240499"/>
                </a:lnTo>
                <a:lnTo>
                  <a:pt x="1287132" y="280949"/>
                </a:lnTo>
                <a:lnTo>
                  <a:pt x="1282712" y="324942"/>
                </a:lnTo>
                <a:lnTo>
                  <a:pt x="1287195" y="371144"/>
                </a:lnTo>
                <a:lnTo>
                  <a:pt x="1300264" y="411645"/>
                </a:lnTo>
                <a:lnTo>
                  <a:pt x="1321346" y="445947"/>
                </a:lnTo>
                <a:lnTo>
                  <a:pt x="1349870" y="473532"/>
                </a:lnTo>
                <a:lnTo>
                  <a:pt x="1385277" y="493864"/>
                </a:lnTo>
                <a:lnTo>
                  <a:pt x="1426984" y="506450"/>
                </a:lnTo>
                <a:lnTo>
                  <a:pt x="1474431" y="510755"/>
                </a:lnTo>
                <a:lnTo>
                  <a:pt x="1505470" y="509460"/>
                </a:lnTo>
                <a:lnTo>
                  <a:pt x="1556994" y="500468"/>
                </a:lnTo>
                <a:lnTo>
                  <a:pt x="1561782" y="410832"/>
                </a:lnTo>
                <a:lnTo>
                  <a:pt x="1548282" y="415810"/>
                </a:lnTo>
                <a:lnTo>
                  <a:pt x="1533194" y="419531"/>
                </a:lnTo>
                <a:lnTo>
                  <a:pt x="1516278" y="421868"/>
                </a:lnTo>
                <a:lnTo>
                  <a:pt x="1497355" y="422681"/>
                </a:lnTo>
                <a:lnTo>
                  <a:pt x="1458760" y="416090"/>
                </a:lnTo>
                <a:lnTo>
                  <a:pt x="1427226" y="396582"/>
                </a:lnTo>
                <a:lnTo>
                  <a:pt x="1405966" y="364591"/>
                </a:lnTo>
                <a:lnTo>
                  <a:pt x="1398155" y="320522"/>
                </a:lnTo>
                <a:lnTo>
                  <a:pt x="1404683" y="279692"/>
                </a:lnTo>
                <a:lnTo>
                  <a:pt x="1424178" y="247599"/>
                </a:lnTo>
                <a:lnTo>
                  <a:pt x="1454924" y="226606"/>
                </a:lnTo>
                <a:lnTo>
                  <a:pt x="1495171" y="219087"/>
                </a:lnTo>
                <a:lnTo>
                  <a:pt x="1515630" y="219989"/>
                </a:lnTo>
                <a:lnTo>
                  <a:pt x="1532737" y="222427"/>
                </a:lnTo>
                <a:lnTo>
                  <a:pt x="1546796" y="225971"/>
                </a:lnTo>
                <a:lnTo>
                  <a:pt x="1558086" y="230212"/>
                </a:lnTo>
                <a:lnTo>
                  <a:pt x="1575854" y="14655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3">
            <a:extLst>
              <a:ext uri="{FF2B5EF4-FFF2-40B4-BE49-F238E27FC236}">
                <a16:creationId xmlns:a16="http://schemas.microsoft.com/office/drawing/2014/main" id="{AB72D184-1BCC-8E4D-AB97-E7C9B55D20C7}"/>
              </a:ext>
            </a:extLst>
          </p:cNvPr>
          <p:cNvSpPr/>
          <p:nvPr userDrawn="1"/>
        </p:nvSpPr>
        <p:spPr>
          <a:xfrm>
            <a:off x="2412348" y="10245307"/>
            <a:ext cx="378460" cy="469900"/>
          </a:xfrm>
          <a:custGeom>
            <a:avLst/>
            <a:gdLst/>
            <a:ahLst/>
            <a:cxnLst/>
            <a:rect l="l" t="t" r="r" b="b"/>
            <a:pathLst>
              <a:path w="378460" h="469900">
                <a:moveTo>
                  <a:pt x="377967" y="0"/>
                </a:moveTo>
                <a:lnTo>
                  <a:pt x="273688" y="0"/>
                </a:lnTo>
                <a:lnTo>
                  <a:pt x="273688" y="266117"/>
                </a:lnTo>
                <a:lnTo>
                  <a:pt x="268116" y="319317"/>
                </a:lnTo>
                <a:lnTo>
                  <a:pt x="251744" y="356757"/>
                </a:lnTo>
                <a:lnTo>
                  <a:pt x="225083" y="378889"/>
                </a:lnTo>
                <a:lnTo>
                  <a:pt x="188643" y="386166"/>
                </a:lnTo>
                <a:lnTo>
                  <a:pt x="152992" y="378600"/>
                </a:lnTo>
                <a:lnTo>
                  <a:pt x="126738" y="355987"/>
                </a:lnTo>
                <a:lnTo>
                  <a:pt x="110518" y="318451"/>
                </a:lnTo>
                <a:lnTo>
                  <a:pt x="104970" y="266117"/>
                </a:lnTo>
                <a:lnTo>
                  <a:pt x="104970" y="0"/>
                </a:lnTo>
                <a:lnTo>
                  <a:pt x="0" y="0"/>
                </a:lnTo>
                <a:lnTo>
                  <a:pt x="0" y="257897"/>
                </a:lnTo>
                <a:lnTo>
                  <a:pt x="4140" y="316080"/>
                </a:lnTo>
                <a:lnTo>
                  <a:pt x="16320" y="364420"/>
                </a:lnTo>
                <a:lnTo>
                  <a:pt x="36180" y="403244"/>
                </a:lnTo>
                <a:lnTo>
                  <a:pt x="63360" y="432875"/>
                </a:lnTo>
                <a:lnTo>
                  <a:pt x="97498" y="453638"/>
                </a:lnTo>
                <a:lnTo>
                  <a:pt x="138234" y="465858"/>
                </a:lnTo>
                <a:lnTo>
                  <a:pt x="185209" y="469860"/>
                </a:lnTo>
                <a:lnTo>
                  <a:pt x="233897" y="465682"/>
                </a:lnTo>
                <a:lnTo>
                  <a:pt x="276216" y="453068"/>
                </a:lnTo>
                <a:lnTo>
                  <a:pt x="311756" y="431899"/>
                </a:lnTo>
                <a:lnTo>
                  <a:pt x="340111" y="402056"/>
                </a:lnTo>
                <a:lnTo>
                  <a:pt x="360870" y="363417"/>
                </a:lnTo>
                <a:lnTo>
                  <a:pt x="373625" y="315865"/>
                </a:lnTo>
                <a:lnTo>
                  <a:pt x="377967" y="259280"/>
                </a:lnTo>
                <a:lnTo>
                  <a:pt x="37796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3" name="object 4">
            <a:extLst>
              <a:ext uri="{FF2B5EF4-FFF2-40B4-BE49-F238E27FC236}">
                <a16:creationId xmlns:a16="http://schemas.microsoft.com/office/drawing/2014/main" id="{A2800012-DA06-CF45-A47A-D4B30EA37B75}"/>
              </a:ext>
            </a:extLst>
          </p:cNvPr>
          <p:cNvGrpSpPr/>
          <p:nvPr userDrawn="1"/>
        </p:nvGrpSpPr>
        <p:grpSpPr>
          <a:xfrm>
            <a:off x="2842727" y="10117702"/>
            <a:ext cx="427355" cy="597535"/>
            <a:chOff x="2842727" y="10117702"/>
            <a:chExt cx="427355" cy="597535"/>
          </a:xfrm>
        </p:grpSpPr>
        <p:sp>
          <p:nvSpPr>
            <p:cNvPr id="14" name="object 5">
              <a:extLst>
                <a:ext uri="{FF2B5EF4-FFF2-40B4-BE49-F238E27FC236}">
                  <a16:creationId xmlns:a16="http://schemas.microsoft.com/office/drawing/2014/main" id="{039AC548-D805-B546-AF98-3B421C054969}"/>
                </a:ext>
              </a:extLst>
            </p:cNvPr>
            <p:cNvSpPr/>
            <p:nvPr/>
          </p:nvSpPr>
          <p:spPr>
            <a:xfrm>
              <a:off x="2842727" y="10237764"/>
              <a:ext cx="366395" cy="477520"/>
            </a:xfrm>
            <a:custGeom>
              <a:avLst/>
              <a:gdLst/>
              <a:ahLst/>
              <a:cxnLst/>
              <a:rect l="l" t="t" r="r" b="b"/>
              <a:pathLst>
                <a:path w="366394" h="477520">
                  <a:moveTo>
                    <a:pt x="252421" y="0"/>
                  </a:moveTo>
                  <a:lnTo>
                    <a:pt x="206913" y="3226"/>
                  </a:lnTo>
                  <a:lnTo>
                    <a:pt x="164136" y="12810"/>
                  </a:lnTo>
                  <a:lnTo>
                    <a:pt x="124791" y="28603"/>
                  </a:lnTo>
                  <a:lnTo>
                    <a:pt x="89578" y="50459"/>
                  </a:lnTo>
                  <a:lnTo>
                    <a:pt x="59197" y="78232"/>
                  </a:lnTo>
                  <a:lnTo>
                    <a:pt x="34348" y="111776"/>
                  </a:lnTo>
                  <a:lnTo>
                    <a:pt x="15732" y="150943"/>
                  </a:lnTo>
                  <a:lnTo>
                    <a:pt x="4049" y="195587"/>
                  </a:lnTo>
                  <a:lnTo>
                    <a:pt x="0" y="245563"/>
                  </a:lnTo>
                  <a:lnTo>
                    <a:pt x="3849" y="293331"/>
                  </a:lnTo>
                  <a:lnTo>
                    <a:pt x="15359" y="337340"/>
                  </a:lnTo>
                  <a:lnTo>
                    <a:pt x="34475" y="376785"/>
                  </a:lnTo>
                  <a:lnTo>
                    <a:pt x="61138" y="410861"/>
                  </a:lnTo>
                  <a:lnTo>
                    <a:pt x="95292" y="438765"/>
                  </a:lnTo>
                  <a:lnTo>
                    <a:pt x="136882" y="459692"/>
                  </a:lnTo>
                  <a:lnTo>
                    <a:pt x="185849" y="472838"/>
                  </a:lnTo>
                  <a:lnTo>
                    <a:pt x="242139" y="477399"/>
                  </a:lnTo>
                  <a:lnTo>
                    <a:pt x="281711" y="475535"/>
                  </a:lnTo>
                  <a:lnTo>
                    <a:pt x="315367" y="470716"/>
                  </a:lnTo>
                  <a:lnTo>
                    <a:pt x="342072" y="464093"/>
                  </a:lnTo>
                  <a:lnTo>
                    <a:pt x="360795" y="456823"/>
                  </a:lnTo>
                  <a:lnTo>
                    <a:pt x="345036" y="375213"/>
                  </a:lnTo>
                  <a:lnTo>
                    <a:pt x="327174" y="381031"/>
                  </a:lnTo>
                  <a:lnTo>
                    <a:pt x="305583" y="385825"/>
                  </a:lnTo>
                  <a:lnTo>
                    <a:pt x="281936" y="389081"/>
                  </a:lnTo>
                  <a:lnTo>
                    <a:pt x="257908" y="390281"/>
                  </a:lnTo>
                  <a:lnTo>
                    <a:pt x="206680" y="383477"/>
                  </a:lnTo>
                  <a:lnTo>
                    <a:pt x="165463" y="363832"/>
                  </a:lnTo>
                  <a:lnTo>
                    <a:pt x="135046" y="332499"/>
                  </a:lnTo>
                  <a:lnTo>
                    <a:pt x="116217" y="290629"/>
                  </a:lnTo>
                  <a:lnTo>
                    <a:pt x="109766" y="239374"/>
                  </a:lnTo>
                  <a:lnTo>
                    <a:pt x="117134" y="183960"/>
                  </a:lnTo>
                  <a:lnTo>
                    <a:pt x="137767" y="141083"/>
                  </a:lnTo>
                  <a:lnTo>
                    <a:pt x="169464" y="110615"/>
                  </a:lnTo>
                  <a:lnTo>
                    <a:pt x="210018" y="92429"/>
                  </a:lnTo>
                  <a:lnTo>
                    <a:pt x="257227" y="86395"/>
                  </a:lnTo>
                  <a:lnTo>
                    <a:pt x="283580" y="87824"/>
                  </a:lnTo>
                  <a:lnTo>
                    <a:pt x="307041" y="91638"/>
                  </a:lnTo>
                  <a:lnTo>
                    <a:pt x="327548" y="97129"/>
                  </a:lnTo>
                  <a:lnTo>
                    <a:pt x="345036" y="103588"/>
                  </a:lnTo>
                  <a:lnTo>
                    <a:pt x="366302" y="20575"/>
                  </a:lnTo>
                  <a:lnTo>
                    <a:pt x="348314" y="13309"/>
                  </a:lnTo>
                  <a:lnTo>
                    <a:pt x="322736" y="6686"/>
                  </a:lnTo>
                  <a:lnTo>
                    <a:pt x="290470" y="1864"/>
                  </a:lnTo>
                  <a:lnTo>
                    <a:pt x="25242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6">
              <a:extLst>
                <a:ext uri="{FF2B5EF4-FFF2-40B4-BE49-F238E27FC236}">
                  <a16:creationId xmlns:a16="http://schemas.microsoft.com/office/drawing/2014/main" id="{DAA5A1C9-3FFD-F741-93B2-F1CDA55129CC}"/>
                </a:ext>
              </a:extLst>
            </p:cNvPr>
            <p:cNvPicPr/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157442" y="10117702"/>
              <a:ext cx="112300" cy="112268"/>
            </a:xfrm>
            <a:prstGeom prst="rect">
              <a:avLst/>
            </a:prstGeom>
          </p:spPr>
        </p:pic>
      </p:grpSp>
      <p:sp>
        <p:nvSpPr>
          <p:cNvPr id="16" name="object 7">
            <a:extLst>
              <a:ext uri="{FF2B5EF4-FFF2-40B4-BE49-F238E27FC236}">
                <a16:creationId xmlns:a16="http://schemas.microsoft.com/office/drawing/2014/main" id="{2AF2BE2F-4D9A-CF4D-AF78-BAD6CC1B2837}"/>
              </a:ext>
            </a:extLst>
          </p:cNvPr>
          <p:cNvSpPr/>
          <p:nvPr userDrawn="1"/>
        </p:nvSpPr>
        <p:spPr>
          <a:xfrm>
            <a:off x="17840597" y="656116"/>
            <a:ext cx="2243455" cy="1060450"/>
          </a:xfrm>
          <a:custGeom>
            <a:avLst/>
            <a:gdLst/>
            <a:ahLst/>
            <a:cxnLst/>
            <a:rect l="l" t="t" r="r" b="b"/>
            <a:pathLst>
              <a:path w="2243455" h="1060450">
                <a:moveTo>
                  <a:pt x="2243429" y="0"/>
                </a:moveTo>
                <a:lnTo>
                  <a:pt x="0" y="0"/>
                </a:lnTo>
                <a:lnTo>
                  <a:pt x="0" y="1059999"/>
                </a:lnTo>
                <a:lnTo>
                  <a:pt x="2243429" y="1059999"/>
                </a:lnTo>
                <a:lnTo>
                  <a:pt x="2243429" y="0"/>
                </a:lnTo>
                <a:close/>
              </a:path>
            </a:pathLst>
          </a:custGeom>
          <a:solidFill>
            <a:srgbClr val="257C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Marcador de texto 17">
            <a:extLst>
              <a:ext uri="{FF2B5EF4-FFF2-40B4-BE49-F238E27FC236}">
                <a16:creationId xmlns:a16="http://schemas.microsoft.com/office/drawing/2014/main" id="{E6AC5AA0-C4FD-A742-898F-2F81DD6B4DF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27227" y="755454"/>
            <a:ext cx="16792423" cy="738664"/>
          </a:xfrm>
        </p:spPr>
        <p:txBody>
          <a:bodyPr/>
          <a:lstStyle>
            <a:lvl1pPr algn="r">
              <a:defRPr sz="48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dirty="0"/>
              <a:t>Editar los estilos de texto del patrón</a:t>
            </a:r>
            <a:endParaRPr lang="es-CL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n 19">
            <a:extLst>
              <a:ext uri="{FF2B5EF4-FFF2-40B4-BE49-F238E27FC236}">
                <a16:creationId xmlns:a16="http://schemas.microsoft.com/office/drawing/2014/main" id="{293DC4AC-3CD1-B728-F1D4-9297A3D9EA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6"/>
            <a:ext cx="20104810" cy="11308953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75BA927C-DF3C-76F9-F858-D08E957A4C0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40"/>
            <a:ext cx="20109342" cy="11305614"/>
          </a:xfrm>
          <a:prstGeom prst="rect">
            <a:avLst/>
          </a:prstGeom>
        </p:spPr>
      </p:pic>
      <p:sp>
        <p:nvSpPr>
          <p:cNvPr id="23" name="Rectángulo 22">
            <a:extLst>
              <a:ext uri="{FF2B5EF4-FFF2-40B4-BE49-F238E27FC236}">
                <a16:creationId xmlns:a16="http://schemas.microsoft.com/office/drawing/2014/main" id="{B6946770-F426-2FD2-6657-14F29D5A8E25}"/>
              </a:ext>
            </a:extLst>
          </p:cNvPr>
          <p:cNvSpPr/>
          <p:nvPr userDrawn="1"/>
        </p:nvSpPr>
        <p:spPr>
          <a:xfrm>
            <a:off x="755650" y="6264275"/>
            <a:ext cx="9892434" cy="2286000"/>
          </a:xfrm>
          <a:prstGeom prst="rect">
            <a:avLst/>
          </a:prstGeom>
          <a:solidFill>
            <a:schemeClr val="tx1"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24" name="Título 1">
            <a:extLst>
              <a:ext uri="{FF2B5EF4-FFF2-40B4-BE49-F238E27FC236}">
                <a16:creationId xmlns:a16="http://schemas.microsoft.com/office/drawing/2014/main" id="{38E6F079-F9D6-8270-ADE8-DE597BD21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4428" y="6591401"/>
            <a:ext cx="9020022" cy="1538883"/>
          </a:xfrm>
        </p:spPr>
        <p:txBody>
          <a:bodyPr/>
          <a:lstStyle>
            <a:lvl1pPr algn="l">
              <a:defRPr sz="5000">
                <a:solidFill>
                  <a:srgbClr val="257CE1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n 18">
            <a:extLst>
              <a:ext uri="{FF2B5EF4-FFF2-40B4-BE49-F238E27FC236}">
                <a16:creationId xmlns:a16="http://schemas.microsoft.com/office/drawing/2014/main" id="{CC49A5DC-7F63-7053-BF30-9BEB915A861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6"/>
            <a:ext cx="20104810" cy="11308953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97E369C9-9696-52E0-3D5A-4A3A83A9C22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2" y="0"/>
            <a:ext cx="20097375" cy="11309350"/>
          </a:xfrm>
          <a:prstGeom prst="rect">
            <a:avLst/>
          </a:prstGeom>
        </p:spPr>
      </p:pic>
      <p:sp>
        <p:nvSpPr>
          <p:cNvPr id="24" name="Rectángulo 23">
            <a:extLst>
              <a:ext uri="{FF2B5EF4-FFF2-40B4-BE49-F238E27FC236}">
                <a16:creationId xmlns:a16="http://schemas.microsoft.com/office/drawing/2014/main" id="{EDE5CBD5-32E9-715D-214E-87F7F64407EA}"/>
              </a:ext>
            </a:extLst>
          </p:cNvPr>
          <p:cNvSpPr/>
          <p:nvPr userDrawn="1"/>
        </p:nvSpPr>
        <p:spPr>
          <a:xfrm>
            <a:off x="7004050" y="7331075"/>
            <a:ext cx="9892434" cy="2286000"/>
          </a:xfrm>
          <a:prstGeom prst="rect">
            <a:avLst/>
          </a:prstGeom>
          <a:solidFill>
            <a:schemeClr val="tx1"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25" name="Título 1">
            <a:extLst>
              <a:ext uri="{FF2B5EF4-FFF2-40B4-BE49-F238E27FC236}">
                <a16:creationId xmlns:a16="http://schemas.microsoft.com/office/drawing/2014/main" id="{FA2B3E84-593C-1926-74EE-AA7B31F62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2828" y="7658201"/>
            <a:ext cx="9020022" cy="1538883"/>
          </a:xfrm>
        </p:spPr>
        <p:txBody>
          <a:bodyPr/>
          <a:lstStyle>
            <a:lvl1pPr algn="l">
              <a:defRPr sz="5000">
                <a:solidFill>
                  <a:srgbClr val="257CE1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6545789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2212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2707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314421" y="714594"/>
            <a:ext cx="5259705" cy="91566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11/14/2023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2" r:id="rId2"/>
    <p:sldLayoutId id="2147483662" r:id="rId3"/>
    <p:sldLayoutId id="2147483669" r:id="rId4"/>
    <p:sldLayoutId id="2147483664" r:id="rId5"/>
    <p:sldLayoutId id="2147483670" r:id="rId6"/>
    <p:sldLayoutId id="2147483677" r:id="rId7"/>
    <p:sldLayoutId id="2147483666" r:id="rId8"/>
    <p:sldLayoutId id="2147483665" r:id="rId9"/>
    <p:sldLayoutId id="2147483663" r:id="rId10"/>
    <p:sldLayoutId id="2147483673" r:id="rId11"/>
    <p:sldLayoutId id="2147483671" r:id="rId12"/>
    <p:sldLayoutId id="2147483678" r:id="rId13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hyperlink" Target="https://datascientest.com/es/python-o-r-que-elegir" TargetMode="Externa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70841C-0ACF-DE6F-43AC-3E3396A292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89250" y="8169275"/>
            <a:ext cx="8749511" cy="1169551"/>
          </a:xfrm>
        </p:spPr>
        <p:txBody>
          <a:bodyPr/>
          <a:lstStyle/>
          <a:p>
            <a:r>
              <a:rPr lang="es-CL" sz="3800" spc="-10" dirty="0"/>
              <a:t>MANEJO DE</a:t>
            </a:r>
            <a:br>
              <a:rPr lang="es-CL" sz="3800" spc="-10" dirty="0"/>
            </a:br>
            <a:r>
              <a:rPr lang="es-CL" sz="3800" spc="-10" dirty="0"/>
              <a:t>PYTHON</a:t>
            </a:r>
            <a:endParaRPr lang="es-CL" sz="380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839BAB8-5980-04D6-9003-ABBE79FC69B7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2926080" y="9554269"/>
            <a:ext cx="8712681" cy="369332"/>
          </a:xfrm>
        </p:spPr>
        <p:txBody>
          <a:bodyPr/>
          <a:lstStyle/>
          <a:p>
            <a:r>
              <a:rPr lang="es-CL" dirty="0">
                <a:latin typeface="Arial"/>
                <a:cs typeface="Arial"/>
              </a:rPr>
              <a:t>BIY7121 MINERÍA DE DATOS</a:t>
            </a:r>
            <a:endParaRPr lang="es-CL" sz="24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42932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FFB337F0-2FCC-924F-952C-07C673B763B0}"/>
              </a:ext>
            </a:extLst>
          </p:cNvPr>
          <p:cNvSpPr/>
          <p:nvPr/>
        </p:nvSpPr>
        <p:spPr>
          <a:xfrm>
            <a:off x="9518650" y="2378075"/>
            <a:ext cx="5357557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L" sz="6000" b="1" dirty="0">
                <a:latin typeface="Arial Black" panose="020B0604020202020204" pitchFamily="34" charset="0"/>
                <a:cs typeface="Arial Black" panose="020B0604020202020204" pitchFamily="34" charset="0"/>
              </a:rPr>
              <a:t>CONTENIDO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8A3E674A-F038-D144-A91A-8FBF8FFE0F11}"/>
              </a:ext>
            </a:extLst>
          </p:cNvPr>
          <p:cNvSpPr txBox="1">
            <a:spLocks/>
          </p:cNvSpPr>
          <p:nvPr/>
        </p:nvSpPr>
        <p:spPr>
          <a:xfrm>
            <a:off x="9518650" y="4020489"/>
            <a:ext cx="1066800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l"/>
            <a:r>
              <a:rPr lang="es-CL" sz="6000" dirty="0">
                <a:latin typeface="Arial Black" panose="020B0604020202020204" pitchFamily="34" charset="0"/>
                <a:cs typeface="Arial Black" panose="020B0604020202020204" pitchFamily="34" charset="0"/>
              </a:rPr>
              <a:t>01</a:t>
            </a: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BB375BB0-38DE-5947-A049-E37CBB392147}"/>
              </a:ext>
            </a:extLst>
          </p:cNvPr>
          <p:cNvSpPr txBox="1">
            <a:spLocks/>
          </p:cNvSpPr>
          <p:nvPr/>
        </p:nvSpPr>
        <p:spPr>
          <a:xfrm>
            <a:off x="9617262" y="7026177"/>
            <a:ext cx="4579097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l"/>
            <a:r>
              <a:rPr lang="es-CL" sz="3000" dirty="0"/>
              <a:t>NUMPY</a:t>
            </a:r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D2775DA9-AA36-2B46-A647-A78656981246}"/>
              </a:ext>
            </a:extLst>
          </p:cNvPr>
          <p:cNvSpPr txBox="1">
            <a:spLocks/>
          </p:cNvSpPr>
          <p:nvPr/>
        </p:nvSpPr>
        <p:spPr>
          <a:xfrm>
            <a:off x="9518650" y="6264177"/>
            <a:ext cx="1066800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l"/>
            <a:r>
              <a:rPr lang="es-CL" sz="6000" dirty="0">
                <a:latin typeface="Arial Black" panose="020B0604020202020204" pitchFamily="34" charset="0"/>
                <a:cs typeface="Arial Black" panose="020B0604020202020204" pitchFamily="34" charset="0"/>
              </a:rPr>
              <a:t>02</a:t>
            </a:r>
          </a:p>
        </p:txBody>
      </p:sp>
      <p:sp>
        <p:nvSpPr>
          <p:cNvPr id="16" name="Título 1">
            <a:extLst>
              <a:ext uri="{FF2B5EF4-FFF2-40B4-BE49-F238E27FC236}">
                <a16:creationId xmlns:a16="http://schemas.microsoft.com/office/drawing/2014/main" id="{5AD2299A-27D1-AA45-A043-C0D64B734853}"/>
              </a:ext>
            </a:extLst>
          </p:cNvPr>
          <p:cNvSpPr txBox="1">
            <a:spLocks/>
          </p:cNvSpPr>
          <p:nvPr/>
        </p:nvSpPr>
        <p:spPr>
          <a:xfrm>
            <a:off x="9617262" y="9194781"/>
            <a:ext cx="4165973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l"/>
            <a:r>
              <a:rPr lang="es-CL" sz="3000" dirty="0"/>
              <a:t>PANDAS</a:t>
            </a:r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5FEE1E9F-D6A8-614C-BB95-3AFA463327D0}"/>
              </a:ext>
            </a:extLst>
          </p:cNvPr>
          <p:cNvSpPr txBox="1">
            <a:spLocks/>
          </p:cNvSpPr>
          <p:nvPr/>
        </p:nvSpPr>
        <p:spPr>
          <a:xfrm>
            <a:off x="9617262" y="8432781"/>
            <a:ext cx="1066800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l"/>
            <a:r>
              <a:rPr lang="es-CL" sz="6000" dirty="0">
                <a:latin typeface="Arial Black" panose="020B0604020202020204" pitchFamily="34" charset="0"/>
                <a:cs typeface="Arial Black" panose="020B0604020202020204" pitchFamily="34" charset="0"/>
              </a:rPr>
              <a:t>03</a:t>
            </a:r>
          </a:p>
        </p:txBody>
      </p:sp>
      <p:sp>
        <p:nvSpPr>
          <p:cNvPr id="21" name="Título 1">
            <a:extLst>
              <a:ext uri="{FF2B5EF4-FFF2-40B4-BE49-F238E27FC236}">
                <a16:creationId xmlns:a16="http://schemas.microsoft.com/office/drawing/2014/main" id="{325E44F9-8B81-FD43-8DCF-00283585DD6D}"/>
              </a:ext>
            </a:extLst>
          </p:cNvPr>
          <p:cNvSpPr txBox="1">
            <a:spLocks/>
          </p:cNvSpPr>
          <p:nvPr/>
        </p:nvSpPr>
        <p:spPr>
          <a:xfrm>
            <a:off x="9617262" y="4782488"/>
            <a:ext cx="4579097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l"/>
            <a:r>
              <a:rPr lang="es-CL" sz="3000" dirty="0"/>
              <a:t>INTRODUCCION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EFE992D-1CA3-14C0-F902-6542723FD1C3}"/>
              </a:ext>
            </a:extLst>
          </p:cNvPr>
          <p:cNvSpPr txBox="1">
            <a:spLocks/>
          </p:cNvSpPr>
          <p:nvPr/>
        </p:nvSpPr>
        <p:spPr>
          <a:xfrm>
            <a:off x="14771968" y="4782489"/>
            <a:ext cx="4728882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es-CL" sz="3000" dirty="0"/>
              <a:t>RESUMEN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47002DBB-23A6-9BA0-FF76-8B2A5E9F6159}"/>
              </a:ext>
            </a:extLst>
          </p:cNvPr>
          <p:cNvSpPr txBox="1">
            <a:spLocks/>
          </p:cNvSpPr>
          <p:nvPr/>
        </p:nvSpPr>
        <p:spPr>
          <a:xfrm>
            <a:off x="14656174" y="4020489"/>
            <a:ext cx="1066800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l"/>
            <a:r>
              <a:rPr lang="es-CL" sz="6000" dirty="0">
                <a:latin typeface="Arial Black" panose="020B0604020202020204" pitchFamily="34" charset="0"/>
                <a:cs typeface="Arial Black" panose="020B0604020202020204" pitchFamily="34" charset="0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979444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87A9F761-F66D-564C-A85F-5D24B1E7B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3250" y="7559675"/>
            <a:ext cx="10134600" cy="1015663"/>
          </a:xfrm>
        </p:spPr>
        <p:txBody>
          <a:bodyPr/>
          <a:lstStyle/>
          <a:p>
            <a:pPr algn="r"/>
            <a:r>
              <a:rPr lang="es-CL" sz="6600" dirty="0"/>
              <a:t>INTRODUCCIÓN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DC622BE7-4A49-A749-B2F2-EA3AD97A1AEF}"/>
              </a:ext>
            </a:extLst>
          </p:cNvPr>
          <p:cNvSpPr txBox="1">
            <a:spLocks/>
          </p:cNvSpPr>
          <p:nvPr/>
        </p:nvSpPr>
        <p:spPr>
          <a:xfrm>
            <a:off x="12677531" y="6082347"/>
            <a:ext cx="1905000" cy="147732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r"/>
            <a:r>
              <a:rPr lang="es-CL" sz="9600" dirty="0">
                <a:latin typeface="Arial Black" panose="020B0604020202020204" pitchFamily="34" charset="0"/>
                <a:cs typeface="Arial Black" panose="020B0604020202020204" pitchFamily="34" charset="0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1175710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11FCC6-3B49-9D46-8B62-80E94C906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INTRODUCCIÓN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F4D9069-61BC-606E-6D98-4D82B593F24F}"/>
              </a:ext>
            </a:extLst>
          </p:cNvPr>
          <p:cNvSpPr txBox="1"/>
          <p:nvPr/>
        </p:nvSpPr>
        <p:spPr>
          <a:xfrm>
            <a:off x="2279650" y="2682875"/>
            <a:ext cx="89154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s-ES" sz="2800" dirty="0">
                <a:sym typeface="Calibri"/>
              </a:rPr>
              <a:t>Python es un lenguaje de programación </a:t>
            </a:r>
            <a:r>
              <a:rPr lang="es-ES" sz="2800" u="sng" dirty="0">
                <a:sym typeface="Calibri"/>
              </a:rPr>
              <a:t>interpretado</a:t>
            </a:r>
            <a:r>
              <a:rPr lang="es-ES" sz="2800" dirty="0">
                <a:sym typeface="Calibri"/>
              </a:rPr>
              <a:t> cuya filosofía hace hincapié en una sintaxis que favorezca un código legible.</a:t>
            </a: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lang="es-ES" sz="2800" dirty="0"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s-ES" sz="2800" dirty="0">
                <a:sym typeface="Calibri"/>
              </a:rPr>
              <a:t>Se trata de un </a:t>
            </a:r>
            <a:r>
              <a:rPr lang="es-ES" sz="2800" dirty="0">
                <a:solidFill>
                  <a:srgbClr val="FF0000"/>
                </a:solidFill>
                <a:sym typeface="Calibri"/>
              </a:rPr>
              <a:t>lenguaje de programación multiparadigma</a:t>
            </a:r>
            <a:r>
              <a:rPr lang="es-ES" sz="2800" dirty="0">
                <a:sym typeface="Calibri"/>
              </a:rPr>
              <a:t>, ya que soporta orientación a objetos, programación imperativa y programación funcional (en menor medida)</a:t>
            </a:r>
            <a:r>
              <a:rPr lang="es-ES" sz="2800" dirty="0"/>
              <a:t>.</a:t>
            </a:r>
            <a:endParaRPr lang="es-CL" sz="28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23F22C7-B6A8-91F4-27E1-9EB6EED92A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66650" y="2294134"/>
            <a:ext cx="6373416" cy="39833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49623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11FCC6-3B49-9D46-8B62-80E94C906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INTRODUCCIÓN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F4D9069-61BC-606E-6D98-4D82B593F24F}"/>
              </a:ext>
            </a:extLst>
          </p:cNvPr>
          <p:cNvSpPr txBox="1"/>
          <p:nvPr/>
        </p:nvSpPr>
        <p:spPr>
          <a:xfrm>
            <a:off x="2279650" y="2682875"/>
            <a:ext cx="8915400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s-ES" sz="2800" dirty="0">
                <a:solidFill>
                  <a:srgbClr val="FF0000"/>
                </a:solidFill>
              </a:rPr>
              <a:t>Anaconda es una distribución gratuita y de código abierto de los lenguajes de programación Python y R para procesamiento de datos a gran escala, análisis predictivo y computación científica</a:t>
            </a:r>
            <a:r>
              <a:rPr lang="es-ES" sz="2800" dirty="0"/>
              <a:t>, cuyo objetivo es simplificar la administración y la implementación de paquetes. </a:t>
            </a: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lang="es-ES" sz="2800" dirty="0"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s-ES" sz="2800" dirty="0"/>
              <a:t>Anaconda facilita la instalación de todas las bibliotecas y paquetes que necesita para un proyecto Python de una sola vez. </a:t>
            </a: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lang="es-ES" sz="2800" dirty="0"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s-ES" sz="2800" dirty="0"/>
              <a:t>Todo lo que tiene que hacer es crear un "entorno </a:t>
            </a:r>
            <a:r>
              <a:rPr lang="es-ES" sz="2800" dirty="0" err="1"/>
              <a:t>conda</a:t>
            </a:r>
            <a:r>
              <a:rPr lang="es-ES" sz="2800" dirty="0"/>
              <a:t>" para su proyecto y luego instalar las bibliotecas requeridas usando el comando "</a:t>
            </a:r>
            <a:r>
              <a:rPr lang="es-ES" sz="2800" dirty="0" err="1"/>
              <a:t>conda</a:t>
            </a:r>
            <a:r>
              <a:rPr lang="es-ES" sz="2800" dirty="0"/>
              <a:t> </a:t>
            </a:r>
            <a:r>
              <a:rPr lang="es-ES" sz="2800" dirty="0" err="1"/>
              <a:t>install</a:t>
            </a:r>
            <a:r>
              <a:rPr lang="es-ES" sz="2800" dirty="0"/>
              <a:t>".</a:t>
            </a:r>
            <a:endParaRPr lang="es-CL" sz="280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F98EB5C9-4177-8A07-1C06-229BBE4425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61850" y="3521075"/>
            <a:ext cx="60960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09010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11FCC6-3B49-9D46-8B62-80E94C906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INTRODUCCIÓN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F4D9069-61BC-606E-6D98-4D82B593F24F}"/>
              </a:ext>
            </a:extLst>
          </p:cNvPr>
          <p:cNvSpPr txBox="1"/>
          <p:nvPr/>
        </p:nvSpPr>
        <p:spPr>
          <a:xfrm>
            <a:off x="2279650" y="2682875"/>
            <a:ext cx="8915400" cy="7417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0">
              <a:buClr>
                <a:srgbClr val="000000"/>
              </a:buClr>
              <a:buSzPts val="2800"/>
            </a:pPr>
            <a:r>
              <a:rPr lang="es-ES" sz="2800" dirty="0">
                <a:solidFill>
                  <a:schemeClr val="tx1"/>
                </a:solidFill>
              </a:rPr>
              <a:t>Google </a:t>
            </a:r>
            <a:r>
              <a:rPr lang="es-ES" sz="2800" dirty="0" err="1">
                <a:solidFill>
                  <a:schemeClr val="tx1"/>
                </a:solidFill>
              </a:rPr>
              <a:t>Colaboratory</a:t>
            </a:r>
            <a:r>
              <a:rPr lang="es-ES" sz="2800" dirty="0">
                <a:solidFill>
                  <a:schemeClr val="tx1"/>
                </a:solidFill>
              </a:rPr>
              <a:t>, comúnmente conocido como </a:t>
            </a:r>
            <a:r>
              <a:rPr lang="es-ES" sz="2800" dirty="0">
                <a:solidFill>
                  <a:srgbClr val="C00000"/>
                </a:solidFill>
              </a:rPr>
              <a:t>GOOGLE COLAB</a:t>
            </a:r>
            <a:r>
              <a:rPr lang="es-ES" sz="2800" dirty="0">
                <a:solidFill>
                  <a:schemeClr val="tx1"/>
                </a:solidFill>
              </a:rPr>
              <a:t>, es un servicio gratuito en la nube proporcionado por Google. </a:t>
            </a:r>
          </a:p>
          <a:p>
            <a:pPr algn="just" rtl="0">
              <a:buClr>
                <a:srgbClr val="000000"/>
              </a:buClr>
              <a:buSzPts val="2800"/>
            </a:pPr>
            <a:endParaRPr lang="es-ES" sz="2800" dirty="0">
              <a:solidFill>
                <a:schemeClr val="tx1"/>
              </a:solidFill>
            </a:endParaRPr>
          </a:p>
          <a:p>
            <a:pPr algn="just" rtl="0">
              <a:buClr>
                <a:srgbClr val="000000"/>
              </a:buClr>
              <a:buSzPts val="2800"/>
            </a:pPr>
            <a:r>
              <a:rPr lang="es-ES" sz="2800" dirty="0">
                <a:solidFill>
                  <a:schemeClr val="tx1"/>
                </a:solidFill>
              </a:rPr>
              <a:t>Permite a los usuarios escribir y ejecutar código Python a través del navegador, sin necesidad de ninguna configuración previa. </a:t>
            </a:r>
          </a:p>
          <a:p>
            <a:pPr algn="just" rtl="0">
              <a:buClr>
                <a:srgbClr val="000000"/>
              </a:buClr>
              <a:buSzPts val="2800"/>
            </a:pPr>
            <a:endParaRPr lang="es-ES" sz="2800" dirty="0">
              <a:solidFill>
                <a:schemeClr val="tx1"/>
              </a:solidFill>
            </a:endParaRPr>
          </a:p>
          <a:p>
            <a:pPr algn="just" rtl="0">
              <a:buClr>
                <a:srgbClr val="000000"/>
              </a:buClr>
              <a:buSzPts val="2800"/>
            </a:pPr>
            <a:r>
              <a:rPr lang="es-ES" sz="2800" dirty="0">
                <a:solidFill>
                  <a:schemeClr val="tx1"/>
                </a:solidFill>
              </a:rPr>
              <a:t>Es particularmente popular para ciencia de datos, por varias razones:</a:t>
            </a:r>
          </a:p>
          <a:p>
            <a:pPr algn="just" rtl="0">
              <a:buClr>
                <a:srgbClr val="000000"/>
              </a:buClr>
              <a:buSzPts val="2800"/>
            </a:pPr>
            <a:endParaRPr lang="es-ES" sz="2800" dirty="0">
              <a:solidFill>
                <a:schemeClr val="tx1"/>
              </a:solidFill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s-ES" sz="2800" b="1" i="0" dirty="0">
                <a:solidFill>
                  <a:srgbClr val="15171A"/>
                </a:solidFill>
                <a:effectLst/>
                <a:latin typeface="inherit"/>
              </a:rPr>
              <a:t>No requiere configuración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s-ES" sz="2800" b="1" i="0" dirty="0">
                <a:solidFill>
                  <a:srgbClr val="15171A"/>
                </a:solidFill>
                <a:effectLst/>
                <a:latin typeface="inherit"/>
              </a:rPr>
              <a:t>Colaboración y Compartir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s-ES" sz="2800" b="1" i="0" dirty="0">
                <a:solidFill>
                  <a:srgbClr val="15171A"/>
                </a:solidFill>
                <a:effectLst/>
                <a:latin typeface="inherit"/>
              </a:rPr>
              <a:t>Acceso gratuito a GPU</a:t>
            </a:r>
            <a:endParaRPr lang="es-ES" sz="2800" b="0" i="0" dirty="0">
              <a:solidFill>
                <a:srgbClr val="15171A"/>
              </a:solidFill>
              <a:effectLst/>
              <a:latin typeface="inherit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s-ES" sz="2800" b="1" i="0" dirty="0">
                <a:solidFill>
                  <a:srgbClr val="15171A"/>
                </a:solidFill>
                <a:effectLst/>
                <a:latin typeface="inherit"/>
              </a:rPr>
              <a:t>Entorno de Codificación Interactivo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s-ES" sz="2800" b="1" i="0" dirty="0">
                <a:solidFill>
                  <a:srgbClr val="15171A"/>
                </a:solidFill>
                <a:effectLst/>
                <a:latin typeface="inherit"/>
              </a:rPr>
              <a:t>Control de versiones</a:t>
            </a:r>
            <a:r>
              <a:rPr lang="es-ES" sz="2800" b="0" i="0" dirty="0">
                <a:solidFill>
                  <a:srgbClr val="15171A"/>
                </a:solidFill>
                <a:effectLst/>
                <a:latin typeface="inherit"/>
              </a:rPr>
              <a:t>: </a:t>
            </a:r>
          </a:p>
          <a:p>
            <a:pPr algn="just" rtl="0">
              <a:buClr>
                <a:srgbClr val="000000"/>
              </a:buClr>
              <a:buSzPts val="2800"/>
            </a:pPr>
            <a:endParaRPr lang="es-CL" sz="2800" dirty="0">
              <a:solidFill>
                <a:schemeClr val="tx1"/>
              </a:solidFill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2DB864E6-3FA0-F5AB-B750-5F32352033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33250" y="3444875"/>
            <a:ext cx="6773333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20520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025BEF-C6CB-D142-BFA0-F95C5E30A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7050" y="7712075"/>
            <a:ext cx="8305800" cy="738664"/>
          </a:xfrm>
        </p:spPr>
        <p:txBody>
          <a:bodyPr/>
          <a:lstStyle/>
          <a:p>
            <a:pPr algn="r"/>
            <a:r>
              <a:rPr lang="es-CL" sz="4800" dirty="0"/>
              <a:t>TÍTULO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94FE4634-98DF-A44A-92BF-86BBAE37A404}"/>
              </a:ext>
            </a:extLst>
          </p:cNvPr>
          <p:cNvSpPr txBox="1">
            <a:spLocks/>
          </p:cNvSpPr>
          <p:nvPr/>
        </p:nvSpPr>
        <p:spPr>
          <a:xfrm>
            <a:off x="8159750" y="6250622"/>
            <a:ext cx="1905000" cy="147732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l"/>
            <a:r>
              <a:rPr lang="es-CL" sz="9600" dirty="0">
                <a:solidFill>
                  <a:srgbClr val="257CE1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02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8B7ACE31-74A9-95B3-1599-372FB822D0E6}"/>
              </a:ext>
            </a:extLst>
          </p:cNvPr>
          <p:cNvSpPr txBox="1">
            <a:spLocks/>
          </p:cNvSpPr>
          <p:nvPr/>
        </p:nvSpPr>
        <p:spPr>
          <a:xfrm>
            <a:off x="1517650" y="7712075"/>
            <a:ext cx="8305800" cy="7386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 sz="5000" b="1" i="0">
                <a:solidFill>
                  <a:srgbClr val="257CE1"/>
                </a:solidFill>
                <a:latin typeface="Arial"/>
                <a:ea typeface="+mj-ea"/>
                <a:cs typeface="Arial"/>
              </a:defRPr>
            </a:lvl1pPr>
          </a:lstStyle>
          <a:p>
            <a:pPr algn="r"/>
            <a:r>
              <a:rPr lang="es-CL" sz="4800" dirty="0"/>
              <a:t>NUMPY</a:t>
            </a:r>
          </a:p>
        </p:txBody>
      </p:sp>
    </p:spTree>
    <p:extLst>
      <p:ext uri="{BB962C8B-B14F-4D97-AF65-F5344CB8AC3E}">
        <p14:creationId xmlns:p14="http://schemas.microsoft.com/office/powerpoint/2010/main" val="2257653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D5B4D40B-2281-FF4E-A378-6A0062B17D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CL" dirty="0"/>
              <a:t>Librería NUMPY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74B26D9-6484-8A3D-D1C7-2F2BBF65A190}"/>
              </a:ext>
            </a:extLst>
          </p:cNvPr>
          <p:cNvSpPr txBox="1"/>
          <p:nvPr/>
        </p:nvSpPr>
        <p:spPr>
          <a:xfrm>
            <a:off x="2002856" y="2376854"/>
            <a:ext cx="7798705" cy="7417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800" b="1" dirty="0"/>
              <a:t>NUMPY</a:t>
            </a:r>
            <a:r>
              <a:rPr lang="es-ES" sz="2800" dirty="0"/>
              <a:t> es una librería de Python especializada en el cálculo numérico y el análisis de datos, especialmente para un gran volumen de datos.</a:t>
            </a:r>
          </a:p>
          <a:p>
            <a:pPr algn="just"/>
            <a:endParaRPr lang="es-ES" sz="2800" dirty="0"/>
          </a:p>
          <a:p>
            <a:pPr algn="just"/>
            <a:r>
              <a:rPr lang="es-ES" sz="2800" dirty="0"/>
              <a:t>Incorpora una nueva clase de objetos llamados </a:t>
            </a:r>
            <a:r>
              <a:rPr lang="es-ES" sz="2800" dirty="0" err="1">
                <a:solidFill>
                  <a:srgbClr val="C00000"/>
                </a:solidFill>
              </a:rPr>
              <a:t>arrays</a:t>
            </a:r>
            <a:r>
              <a:rPr lang="es-ES" sz="2800" dirty="0"/>
              <a:t> que permite representar colecciones de datos de un mismo tipo en varias dimensiones, y funciones muy eficientes para su manipulación.</a:t>
            </a:r>
          </a:p>
          <a:p>
            <a:pPr algn="just"/>
            <a:endParaRPr lang="es-ES" sz="2800" dirty="0"/>
          </a:p>
          <a:p>
            <a:pPr algn="just"/>
            <a:r>
              <a:rPr lang="es-ES" sz="2800" dirty="0"/>
              <a:t>La ventaja de </a:t>
            </a:r>
            <a:r>
              <a:rPr lang="es-ES" sz="2800" dirty="0" err="1"/>
              <a:t>Numpy</a:t>
            </a:r>
            <a:r>
              <a:rPr lang="es-ES" sz="2800" dirty="0"/>
              <a:t> frente a las listas predefinidas en Python es que el procesamiento de los </a:t>
            </a:r>
            <a:r>
              <a:rPr lang="es-ES" sz="2800" dirty="0" err="1"/>
              <a:t>arrays</a:t>
            </a:r>
            <a:r>
              <a:rPr lang="es-ES" sz="2800" dirty="0"/>
              <a:t> se realiza mucho más rápido (hasta 50 veces más) que las listas, lo cual la hace ideal para el procesamiento de vectores y matrices de grandes dimensiones.</a:t>
            </a:r>
          </a:p>
          <a:p>
            <a:pPr algn="just"/>
            <a:endParaRPr lang="es-CL" sz="2800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7EAF0CC6-851A-0950-B1AF-78B78606E5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95050" y="3521075"/>
            <a:ext cx="76200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173999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D5B4D40B-2281-FF4E-A378-6A0062B17D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CL" dirty="0"/>
              <a:t>Librería NUMPY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74B26D9-6484-8A3D-D1C7-2F2BBF65A190}"/>
              </a:ext>
            </a:extLst>
          </p:cNvPr>
          <p:cNvSpPr txBox="1"/>
          <p:nvPr/>
        </p:nvSpPr>
        <p:spPr>
          <a:xfrm>
            <a:off x="2002856" y="2376854"/>
            <a:ext cx="779870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800" b="1" dirty="0"/>
              <a:t>La clase objetos ARRAY.</a:t>
            </a:r>
            <a:endParaRPr lang="es-ES" sz="2800" dirty="0"/>
          </a:p>
          <a:p>
            <a:pPr algn="just"/>
            <a:endParaRPr lang="es-ES" sz="2800" dirty="0"/>
          </a:p>
          <a:p>
            <a:pPr algn="just"/>
            <a:r>
              <a:rPr lang="es-ES" sz="2800" dirty="0"/>
              <a:t>Un array es una estructura de datos de un mismo tipo organizada en forma de tabla o cuadrícula de distintas dimensiones.</a:t>
            </a:r>
          </a:p>
          <a:p>
            <a:pPr algn="just"/>
            <a:endParaRPr lang="es-ES" sz="2800" dirty="0"/>
          </a:p>
          <a:p>
            <a:pPr algn="just"/>
            <a:r>
              <a:rPr lang="es-ES" sz="2800" dirty="0"/>
              <a:t>Las dimensiones de un array también se conocen como ejes</a:t>
            </a:r>
          </a:p>
          <a:p>
            <a:pPr algn="just"/>
            <a:endParaRPr lang="es-ES" sz="2800" dirty="0"/>
          </a:p>
          <a:p>
            <a:pPr algn="just"/>
            <a:endParaRPr lang="es-ES" sz="2800" dirty="0"/>
          </a:p>
          <a:p>
            <a:pPr algn="just"/>
            <a:endParaRPr lang="es-CL" sz="2800" dirty="0"/>
          </a:p>
        </p:txBody>
      </p:sp>
      <p:pic>
        <p:nvPicPr>
          <p:cNvPr id="5125" name="Picture 5" descr="numpy_arrays">
            <a:extLst>
              <a:ext uri="{FF2B5EF4-FFF2-40B4-BE49-F238E27FC236}">
                <a16:creationId xmlns:a16="http://schemas.microsoft.com/office/drawing/2014/main" id="{806292F8-CE34-4743-7C2C-E86567E985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66822" y="3216275"/>
            <a:ext cx="8282408" cy="4626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34760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D5B4D40B-2281-FF4E-A378-6A0062B17D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CL" dirty="0"/>
              <a:t>Librería NUMPY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74B26D9-6484-8A3D-D1C7-2F2BBF65A190}"/>
              </a:ext>
            </a:extLst>
          </p:cNvPr>
          <p:cNvSpPr txBox="1"/>
          <p:nvPr/>
        </p:nvSpPr>
        <p:spPr>
          <a:xfrm>
            <a:off x="1898650" y="2149475"/>
            <a:ext cx="9296400" cy="77867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800" b="1" dirty="0"/>
              <a:t>Creación de </a:t>
            </a:r>
            <a:r>
              <a:rPr lang="es-ES" sz="2800" b="1" dirty="0" err="1"/>
              <a:t>arrays</a:t>
            </a:r>
            <a:endParaRPr lang="es-ES" sz="2800" b="1" dirty="0"/>
          </a:p>
          <a:p>
            <a:pPr algn="just"/>
            <a:endParaRPr lang="es-ES" sz="2800" b="1" dirty="0"/>
          </a:p>
          <a:p>
            <a:pPr algn="just"/>
            <a:r>
              <a:rPr lang="es-ES" sz="2800" dirty="0"/>
              <a:t>Para crear un array se utiliza la siguiente función de </a:t>
            </a:r>
            <a:r>
              <a:rPr lang="es-ES" sz="2800" dirty="0" err="1"/>
              <a:t>NumPy</a:t>
            </a:r>
            <a:endParaRPr lang="es-ES" sz="2800" dirty="0"/>
          </a:p>
          <a:p>
            <a:pPr algn="just"/>
            <a:endParaRPr lang="es-ES" sz="2800" dirty="0"/>
          </a:p>
          <a:p>
            <a:pPr algn="just"/>
            <a:r>
              <a:rPr lang="es-ES" sz="2800" b="1" dirty="0" err="1">
                <a:solidFill>
                  <a:srgbClr val="C00000"/>
                </a:solidFill>
              </a:rPr>
              <a:t>np.array</a:t>
            </a:r>
            <a:r>
              <a:rPr lang="es-ES" sz="2800" b="1" dirty="0">
                <a:solidFill>
                  <a:srgbClr val="C00000"/>
                </a:solidFill>
              </a:rPr>
              <a:t>(lista) </a:t>
            </a:r>
            <a:r>
              <a:rPr lang="es-ES" sz="2800" dirty="0"/>
              <a:t>: Crea un array a partir de la lista o tupla lista y devuelve una referencia a él. El número de dimensiones del array dependerá de las listas o tuplas anidadas en lista:</a:t>
            </a:r>
          </a:p>
          <a:p>
            <a:pPr algn="just"/>
            <a:endParaRPr lang="es-ES" sz="2800" dirty="0"/>
          </a:p>
          <a:p>
            <a:pPr algn="just"/>
            <a:r>
              <a:rPr lang="es-ES" sz="2000" dirty="0"/>
              <a:t>Para una lista de valores se crea un array de una dimensión, también conocido como vector.</a:t>
            </a:r>
          </a:p>
          <a:p>
            <a:pPr algn="just"/>
            <a:endParaRPr lang="es-ES" sz="2000" dirty="0"/>
          </a:p>
          <a:p>
            <a:pPr algn="just"/>
            <a:r>
              <a:rPr lang="es-ES" sz="2000" dirty="0"/>
              <a:t>Para una lista de listas de valores se crea un array de dos dimensiones, también conocido como matriz.</a:t>
            </a:r>
          </a:p>
          <a:p>
            <a:pPr algn="just"/>
            <a:endParaRPr lang="es-ES" sz="2000" dirty="0"/>
          </a:p>
          <a:p>
            <a:pPr algn="just"/>
            <a:r>
              <a:rPr lang="es-ES" sz="2000" dirty="0"/>
              <a:t>Para una lista de listas de listas de valores se crea un array de tres dimensiones, también conocido como cubo.</a:t>
            </a:r>
          </a:p>
          <a:p>
            <a:pPr algn="just"/>
            <a:endParaRPr lang="es-ES" sz="2000" dirty="0"/>
          </a:p>
          <a:p>
            <a:pPr algn="just"/>
            <a:r>
              <a:rPr lang="es-ES" sz="2000" dirty="0"/>
              <a:t>Y así sucesivamente. No hay límite en el número de dimensiones del array más allá de la memoria disponible en el sistema.</a:t>
            </a:r>
            <a:endParaRPr lang="es-CL" sz="200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2894318-368E-245F-F35E-8D68105809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28450" y="2941076"/>
            <a:ext cx="8067675" cy="4919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7860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D5B4D40B-2281-FF4E-A378-6A0062B17D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CL" dirty="0"/>
              <a:t>Librería NUMPY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74B26D9-6484-8A3D-D1C7-2F2BBF65A190}"/>
              </a:ext>
            </a:extLst>
          </p:cNvPr>
          <p:cNvSpPr txBox="1"/>
          <p:nvPr/>
        </p:nvSpPr>
        <p:spPr>
          <a:xfrm>
            <a:off x="1898650" y="2149475"/>
            <a:ext cx="9296400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800" b="1" dirty="0"/>
              <a:t>Acceso a los elementos de un array.</a:t>
            </a:r>
          </a:p>
          <a:p>
            <a:pPr algn="just"/>
            <a:endParaRPr lang="es-ES" sz="2800" dirty="0"/>
          </a:p>
          <a:p>
            <a:pPr algn="just"/>
            <a:r>
              <a:rPr lang="es-ES" sz="2800" dirty="0"/>
              <a:t>Para acceder a los elementos contenidos en un array se usan índices al igual que para acceder a los elementos de una lista, pero indicando los índices de cada dimensión separados por comas.</a:t>
            </a:r>
          </a:p>
          <a:p>
            <a:pPr algn="just"/>
            <a:endParaRPr lang="es-ES" sz="2800" dirty="0"/>
          </a:p>
          <a:p>
            <a:pPr algn="just"/>
            <a:r>
              <a:rPr lang="es-ES" sz="2800" dirty="0"/>
              <a:t>Al igual que para listas, los índices de cada dimensión comienzan en 0.</a:t>
            </a:r>
          </a:p>
          <a:p>
            <a:pPr algn="just"/>
            <a:endParaRPr lang="es-ES" sz="2800" dirty="0"/>
          </a:p>
          <a:p>
            <a:pPr algn="just"/>
            <a:r>
              <a:rPr lang="es-ES" sz="2800" dirty="0"/>
              <a:t>También es posible obtener </a:t>
            </a:r>
            <a:r>
              <a:rPr lang="es-ES" sz="2800" dirty="0" err="1"/>
              <a:t>subarrays</a:t>
            </a:r>
            <a:r>
              <a:rPr lang="es-ES" sz="2800" dirty="0"/>
              <a:t> con el operador dos puntos : indicando el índice inicial y el siguiente al final para cada dimensión, de nuevo separados por comas</a:t>
            </a:r>
            <a:endParaRPr lang="es-CL" sz="28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23E9E46-6F8B-2A50-C9FE-B6407840C7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52250" y="3230905"/>
            <a:ext cx="8167963" cy="236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8707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D5B4D40B-2281-FF4E-A378-6A0062B17D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CL" dirty="0"/>
              <a:t>Librería NUMPY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74B26D9-6484-8A3D-D1C7-2F2BBF65A190}"/>
              </a:ext>
            </a:extLst>
          </p:cNvPr>
          <p:cNvSpPr txBox="1"/>
          <p:nvPr/>
        </p:nvSpPr>
        <p:spPr>
          <a:xfrm>
            <a:off x="1898650" y="2149475"/>
            <a:ext cx="9296400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800" b="1" dirty="0"/>
              <a:t>Operaciones matemáticas con </a:t>
            </a:r>
            <a:r>
              <a:rPr lang="es-ES" sz="2800" b="1" dirty="0" err="1"/>
              <a:t>arrays</a:t>
            </a:r>
            <a:endParaRPr lang="es-ES" sz="2800" b="1" dirty="0"/>
          </a:p>
          <a:p>
            <a:pPr algn="just"/>
            <a:endParaRPr lang="es-ES" sz="2800" dirty="0"/>
          </a:p>
          <a:p>
            <a:pPr algn="just"/>
            <a:r>
              <a:rPr lang="es-ES" sz="2800" dirty="0"/>
              <a:t>Existen dos formas de realizar operaciones matemáticas con </a:t>
            </a:r>
            <a:r>
              <a:rPr lang="es-ES" sz="2800" dirty="0" err="1"/>
              <a:t>arrays</a:t>
            </a:r>
            <a:r>
              <a:rPr lang="es-ES" sz="2800" dirty="0"/>
              <a:t>: </a:t>
            </a:r>
            <a:r>
              <a:rPr lang="es-ES" sz="2800" dirty="0">
                <a:solidFill>
                  <a:srgbClr val="C00000"/>
                </a:solidFill>
              </a:rPr>
              <a:t>a nivel de elemento y a nivel de array</a:t>
            </a:r>
            <a:r>
              <a:rPr lang="es-ES" sz="2800" dirty="0"/>
              <a:t>.</a:t>
            </a:r>
          </a:p>
          <a:p>
            <a:pPr algn="just"/>
            <a:endParaRPr lang="es-ES" sz="2800" dirty="0"/>
          </a:p>
          <a:p>
            <a:pPr algn="just"/>
            <a:r>
              <a:rPr lang="es-ES" sz="2800" dirty="0"/>
              <a:t>Las operaciones a nivel de elemento operan los elementos que ocupan la misma posición en dos </a:t>
            </a:r>
            <a:r>
              <a:rPr lang="es-ES" sz="2800" dirty="0" err="1"/>
              <a:t>arrays</a:t>
            </a:r>
            <a:r>
              <a:rPr lang="es-ES" sz="2800" dirty="0"/>
              <a:t>. Se necesitan, por tanto, dos </a:t>
            </a:r>
            <a:r>
              <a:rPr lang="es-ES" sz="2800" dirty="0" err="1"/>
              <a:t>arrays</a:t>
            </a:r>
            <a:r>
              <a:rPr lang="es-ES" sz="2800" dirty="0"/>
              <a:t> con las mismas dimensiones y el resultado es una array de la misma dimensión.</a:t>
            </a:r>
          </a:p>
          <a:p>
            <a:pPr algn="just"/>
            <a:endParaRPr lang="es-ES" sz="2800" dirty="0"/>
          </a:p>
          <a:p>
            <a:pPr algn="just"/>
            <a:r>
              <a:rPr lang="es-ES" sz="2800" dirty="0"/>
              <a:t>Los operadores </a:t>
            </a:r>
            <a:r>
              <a:rPr lang="es-ES" sz="2800" dirty="0" err="1"/>
              <a:t>mamemáticos</a:t>
            </a:r>
            <a:r>
              <a:rPr lang="es-ES" sz="2800" dirty="0"/>
              <a:t> +, -, *, /, %, ** se utilizan para la realizar suma, resta, producto, cociente, resto y potencia a nivel de elemento.</a:t>
            </a:r>
            <a:endParaRPr lang="es-CL" sz="280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85A61405-A368-9BCA-A9F0-935DC1E9D1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99849" y="3216275"/>
            <a:ext cx="8418679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4265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D5B4D40B-2281-FF4E-A378-6A0062B17D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CL" dirty="0"/>
              <a:t>Librería NUMPY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74B26D9-6484-8A3D-D1C7-2F2BBF65A190}"/>
              </a:ext>
            </a:extLst>
          </p:cNvPr>
          <p:cNvSpPr txBox="1"/>
          <p:nvPr/>
        </p:nvSpPr>
        <p:spPr>
          <a:xfrm>
            <a:off x="1898650" y="2149475"/>
            <a:ext cx="92964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800" b="1" dirty="0"/>
              <a:t>Álgebra matricial</a:t>
            </a:r>
          </a:p>
          <a:p>
            <a:pPr algn="just"/>
            <a:endParaRPr lang="es-ES" sz="2800" dirty="0"/>
          </a:p>
          <a:p>
            <a:pPr algn="just"/>
            <a:r>
              <a:rPr lang="es-ES" sz="2800" b="1" dirty="0" err="1"/>
              <a:t>Numpy</a:t>
            </a:r>
            <a:r>
              <a:rPr lang="es-ES" sz="2800" dirty="0"/>
              <a:t> incorpora funciones para realizar las principales operaciones algebraicas con vectores y matrices.</a:t>
            </a:r>
          </a:p>
          <a:p>
            <a:pPr algn="just"/>
            <a:endParaRPr lang="es-ES" sz="2800" dirty="0"/>
          </a:p>
          <a:p>
            <a:pPr algn="just"/>
            <a:r>
              <a:rPr lang="es-ES" sz="2800" dirty="0"/>
              <a:t>Por ejemplo, </a:t>
            </a:r>
            <a:r>
              <a:rPr lang="es-ES" sz="2800" dirty="0">
                <a:solidFill>
                  <a:srgbClr val="C00000"/>
                </a:solidFill>
              </a:rPr>
              <a:t>multiplicación entre matrices</a:t>
            </a:r>
            <a:r>
              <a:rPr lang="es-ES" sz="2800" dirty="0"/>
              <a:t>.</a:t>
            </a:r>
          </a:p>
          <a:p>
            <a:pPr algn="just"/>
            <a:endParaRPr lang="es-ES" sz="2800" dirty="0"/>
          </a:p>
          <a:p>
            <a:pPr algn="just"/>
            <a:r>
              <a:rPr lang="es-ES" sz="2800" dirty="0"/>
              <a:t>En la imagen, se devuelve el producto matricial de las matrices a y b siempre y cuando sus dimensiones sean compatibles.</a:t>
            </a:r>
          </a:p>
          <a:p>
            <a:pPr algn="just"/>
            <a:endParaRPr lang="es-ES" sz="2800" dirty="0"/>
          </a:p>
          <a:p>
            <a:pPr algn="just"/>
            <a:endParaRPr lang="es-CL" sz="28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88D67DE-3031-8DC4-53BC-0B8963C275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576050" y="3140075"/>
            <a:ext cx="8412542" cy="281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42933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624723-9968-7E43-AF4C-4EA396BDB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250" y="7407275"/>
            <a:ext cx="10393528" cy="1015663"/>
          </a:xfrm>
        </p:spPr>
        <p:txBody>
          <a:bodyPr/>
          <a:lstStyle/>
          <a:p>
            <a:r>
              <a:rPr lang="es-CL" sz="6600" dirty="0"/>
              <a:t>PANDAS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E4D7CDB3-E365-8648-9D80-6AFDB724300B}"/>
              </a:ext>
            </a:extLst>
          </p:cNvPr>
          <p:cNvSpPr txBox="1">
            <a:spLocks/>
          </p:cNvSpPr>
          <p:nvPr/>
        </p:nvSpPr>
        <p:spPr>
          <a:xfrm>
            <a:off x="9089872" y="6188075"/>
            <a:ext cx="1905000" cy="147732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l"/>
            <a:r>
              <a:rPr lang="es-CL" sz="9600" dirty="0">
                <a:latin typeface="Arial Black" panose="020B0604020202020204" pitchFamily="34" charset="0"/>
                <a:cs typeface="Arial Black" panose="020B0604020202020204" pitchFamily="34" charset="0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735245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32B839-E8CF-BF4D-93B8-0EE81E2A4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Librería PANDAS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80AC1F8-F5E3-EED1-E241-DFBFD3CD9269}"/>
              </a:ext>
            </a:extLst>
          </p:cNvPr>
          <p:cNvSpPr txBox="1"/>
          <p:nvPr/>
        </p:nvSpPr>
        <p:spPr>
          <a:xfrm>
            <a:off x="2051050" y="2864123"/>
            <a:ext cx="8610600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Pandas</a:t>
            </a:r>
            <a:r>
              <a:rPr lang="es-ES" sz="2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es una de las principales librerías de Python, que es un lenguaje de programación orientado a objetos de alto nivel muy popular entre los Data </a:t>
            </a:r>
            <a:r>
              <a:rPr lang="es-ES" sz="28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Scientists</a:t>
            </a:r>
            <a:r>
              <a:rPr lang="es-ES" sz="2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lang="es-ES" sz="20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ES"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ES"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Las estructuras más utilizadas en este módulo son las </a:t>
            </a:r>
            <a:r>
              <a:rPr lang="es-ES" sz="28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Series y los </a:t>
            </a:r>
            <a:r>
              <a:rPr lang="es-ES" sz="28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DataFrames</a:t>
            </a:r>
            <a:r>
              <a:rPr lang="es-ES" sz="28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lang="es-ES" sz="20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ES"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diferencia de las Series, que son objetos correspondientes a paneles </a:t>
            </a:r>
            <a:r>
              <a:rPr lang="es-ES" sz="28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unidimensionales</a:t>
            </a:r>
            <a:r>
              <a:rPr lang="es-ES" sz="2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los </a:t>
            </a:r>
            <a:r>
              <a:rPr lang="es-ES" sz="28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DataFrames</a:t>
            </a:r>
            <a:r>
              <a:rPr lang="es-ES" sz="2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son paneles </a:t>
            </a:r>
            <a:r>
              <a:rPr lang="es-ES" sz="28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bidimensionales</a:t>
            </a:r>
            <a:r>
              <a:rPr lang="es-ES" sz="2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compuestos por filas y columnas, que permiten destacar las relaciones entre las distintas variables de la serie de datos.</a:t>
            </a:r>
            <a:endParaRPr lang="es-ES" sz="200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F23EAA7-6BF5-14BD-F275-722BDE0D18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19050" y="4740275"/>
            <a:ext cx="5188146" cy="2103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8114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32B839-E8CF-BF4D-93B8-0EE81E2A4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Librería PANDAS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80AC1F8-F5E3-EED1-E241-DFBFD3CD9269}"/>
              </a:ext>
            </a:extLst>
          </p:cNvPr>
          <p:cNvSpPr txBox="1"/>
          <p:nvPr/>
        </p:nvSpPr>
        <p:spPr>
          <a:xfrm>
            <a:off x="2051050" y="2864123"/>
            <a:ext cx="8610600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El formato de estas estructuras puede compararse con los diccionarios de Python. Efectivamente, las claves son los nombres de las columnas y los valores son las Series. Su estructura puede considerarse similar a la de una hoja de cálculo de Excel.</a:t>
            </a:r>
            <a:endParaRPr lang="es-ES" sz="2800" dirty="0">
              <a:solidFill>
                <a:srgbClr val="000000"/>
              </a:solidFill>
              <a:latin typeface="Arial"/>
              <a:cs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ES" sz="280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Cada fila contiene datos específicos de varias columnas, que son variables. El nombre de las filas de un </a:t>
            </a:r>
            <a:r>
              <a:rPr lang="es-ES" sz="2800" dirty="0" err="1">
                <a:solidFill>
                  <a:srgbClr val="000000"/>
                </a:solidFill>
                <a:latin typeface="Arial"/>
                <a:cs typeface="Arial"/>
                <a:sym typeface="Arial"/>
              </a:rPr>
              <a:t>DataFrame</a:t>
            </a:r>
            <a:r>
              <a:rPr lang="es-ES" sz="280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 se llama «</a:t>
            </a:r>
            <a:r>
              <a:rPr lang="es-ES" sz="2800" dirty="0" err="1">
                <a:solidFill>
                  <a:srgbClr val="000000"/>
                </a:solidFill>
                <a:latin typeface="Arial"/>
                <a:cs typeface="Arial"/>
                <a:sym typeface="Arial"/>
              </a:rPr>
              <a:t>index</a:t>
            </a:r>
            <a:r>
              <a:rPr lang="es-ES" sz="280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» que, por defecto, empieza siempre por 0.</a:t>
            </a:r>
            <a:endParaRPr lang="es-ES" sz="2800" dirty="0">
              <a:solidFill>
                <a:srgbClr val="000000"/>
              </a:solidFill>
              <a:latin typeface="Arial"/>
              <a:cs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ES" sz="2800" dirty="0">
              <a:solidFill>
                <a:srgbClr val="000000"/>
              </a:solidFill>
              <a:latin typeface="Arial"/>
              <a:cs typeface="Arial"/>
              <a:sym typeface="Rubik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 </a:t>
            </a:r>
            <a:endParaRPr lang="es-ES" sz="200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211165C-CFE9-22B3-1854-F1BF08A4C1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76050" y="3140075"/>
            <a:ext cx="7504826" cy="4194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5210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32B839-E8CF-BF4D-93B8-0EE81E2A4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Librería PANDAS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80AC1F8-F5E3-EED1-E241-DFBFD3CD9269}"/>
              </a:ext>
            </a:extLst>
          </p:cNvPr>
          <p:cNvSpPr txBox="1"/>
          <p:nvPr/>
        </p:nvSpPr>
        <p:spPr>
          <a:xfrm>
            <a:off x="2051050" y="2864123"/>
            <a:ext cx="861060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Para importar una serie de datos, la librería Pandas propone un método muy práctico que es </a:t>
            </a:r>
            <a:r>
              <a:rPr lang="es-ES" sz="2800" dirty="0" err="1">
                <a:solidFill>
                  <a:srgbClr val="C00000"/>
                </a:solidFill>
                <a:latin typeface="Arial"/>
                <a:cs typeface="Arial"/>
                <a:sym typeface="Arial"/>
              </a:rPr>
              <a:t>pd.read_csv</a:t>
            </a:r>
            <a:r>
              <a:rPr lang="es-ES" sz="2800" dirty="0">
                <a:solidFill>
                  <a:srgbClr val="C00000"/>
                </a:solidFill>
                <a:latin typeface="Arial"/>
                <a:cs typeface="Arial"/>
                <a:sym typeface="Arial"/>
              </a:rPr>
              <a:t>(). </a:t>
            </a:r>
            <a:endParaRPr lang="es-ES" sz="2800" dirty="0">
              <a:solidFill>
                <a:srgbClr val="C00000"/>
              </a:solidFill>
              <a:latin typeface="Arial"/>
              <a:cs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ES" sz="280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Si el archivo que contiene la serie de datos está en otro formato que no sea el de </a:t>
            </a:r>
            <a:r>
              <a:rPr lang="es-ES" sz="2800" dirty="0" err="1">
                <a:solidFill>
                  <a:srgbClr val="000000"/>
                </a:solidFill>
                <a:latin typeface="Arial"/>
                <a:cs typeface="Arial"/>
                <a:sym typeface="Arial"/>
              </a:rPr>
              <a:t>Comma</a:t>
            </a:r>
            <a:r>
              <a:rPr lang="es-ES" sz="280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 </a:t>
            </a:r>
            <a:r>
              <a:rPr lang="es-ES" sz="2800" dirty="0" err="1">
                <a:solidFill>
                  <a:srgbClr val="000000"/>
                </a:solidFill>
                <a:latin typeface="Arial"/>
                <a:cs typeface="Arial"/>
                <a:sym typeface="Arial"/>
              </a:rPr>
              <a:t>Separated</a:t>
            </a:r>
            <a:r>
              <a:rPr lang="es-ES" sz="280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 Value, basta con cambiar la terminación del método por el tipo de archivo correcto. </a:t>
            </a:r>
            <a:endParaRPr lang="es-ES" sz="2800" dirty="0">
              <a:solidFill>
                <a:srgbClr val="000000"/>
              </a:solidFill>
              <a:latin typeface="Arial"/>
              <a:cs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ES" sz="280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Por ejemplo, un archivo de Excel se importará de la siguiente manera: </a:t>
            </a:r>
            <a:r>
              <a:rPr lang="es-ES" sz="2800" dirty="0" err="1">
                <a:solidFill>
                  <a:srgbClr val="000000"/>
                </a:solidFill>
                <a:latin typeface="Arial"/>
                <a:cs typeface="Arial"/>
                <a:sym typeface="Arial"/>
              </a:rPr>
              <a:t>pd.read_excel</a:t>
            </a:r>
            <a:r>
              <a:rPr lang="es-ES" sz="280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(). Este método importa la serie de datos en una estructura </a:t>
            </a:r>
            <a:r>
              <a:rPr lang="es-ES" sz="2800" dirty="0" err="1">
                <a:solidFill>
                  <a:srgbClr val="000000"/>
                </a:solidFill>
                <a:latin typeface="Arial"/>
                <a:cs typeface="Arial"/>
                <a:sym typeface="Arial"/>
              </a:rPr>
              <a:t>DataFrame</a:t>
            </a:r>
            <a:r>
              <a:rPr lang="es-ES" sz="280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.</a:t>
            </a: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ES" sz="200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2A56B48-9174-CA0D-1D21-34BEA6948B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76050" y="3140075"/>
            <a:ext cx="7504826" cy="4194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5740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32B839-E8CF-BF4D-93B8-0EE81E2A4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Librería PANDAS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80AC1F8-F5E3-EED1-E241-DFBFD3CD9269}"/>
              </a:ext>
            </a:extLst>
          </p:cNvPr>
          <p:cNvSpPr txBox="1"/>
          <p:nvPr/>
        </p:nvSpPr>
        <p:spPr>
          <a:xfrm>
            <a:off x="2051050" y="2864123"/>
            <a:ext cx="9144000" cy="7848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Cuando se importa la serie de datos, es necesario tener una visión general del </a:t>
            </a:r>
            <a:r>
              <a:rPr lang="es-ES" sz="28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DataFrame</a:t>
            </a:r>
            <a:r>
              <a:rPr lang="es-ES" sz="2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lang="es-ES" sz="2000" dirty="0"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ES"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primer paso es utilizar el </a:t>
            </a:r>
            <a:r>
              <a:rPr lang="es-ES" sz="28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atributo </a:t>
            </a:r>
            <a:r>
              <a:rPr lang="es-ES" sz="2800" b="1" i="0" u="none" strike="noStrike" cap="none" dirty="0" err="1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shape</a:t>
            </a:r>
            <a:r>
              <a:rPr lang="es-ES" sz="2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que permite conocer la dimensión del </a:t>
            </a:r>
            <a:r>
              <a:rPr lang="es-ES" sz="28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DataFrame</a:t>
            </a:r>
            <a:r>
              <a:rPr lang="es-ES" sz="2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y devolver una tupla (</a:t>
            </a:r>
            <a:r>
              <a:rPr lang="es-ES" sz="28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número_de_filas</a:t>
            </a:r>
            <a:r>
              <a:rPr lang="es-ES" sz="2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s-ES" sz="28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número_de_columnas</a:t>
            </a:r>
            <a:r>
              <a:rPr lang="es-ES" sz="2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). </a:t>
            </a:r>
            <a:endParaRPr lang="es-ES" sz="2000" dirty="0"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ES"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ES"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Para entender la serie de datos, hay tres métodos muy útiles para ver las filas del </a:t>
            </a:r>
            <a:r>
              <a:rPr lang="es-ES" sz="28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DataFrame</a:t>
            </a:r>
            <a:r>
              <a:rPr lang="es-ES" sz="2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:</a:t>
            </a:r>
            <a:endParaRPr lang="es-ES" sz="2000" dirty="0"/>
          </a:p>
          <a:p>
            <a:pPr marL="0" marR="0" lvl="0" indent="-1778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s-ES" sz="2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</a:t>
            </a:r>
            <a:r>
              <a:rPr lang="es-ES" sz="28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método </a:t>
            </a:r>
            <a:r>
              <a:rPr lang="es-ES" sz="2800" b="1" i="0" u="none" strike="noStrike" cap="none" dirty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head() </a:t>
            </a:r>
            <a:r>
              <a:rPr lang="es-ES" sz="2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devuelve las cinco primeras filas del </a:t>
            </a:r>
            <a:r>
              <a:rPr lang="es-ES" sz="28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DataFrame</a:t>
            </a:r>
            <a:r>
              <a:rPr lang="es-ES" sz="2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si no se especifica un número entre paréntesis.</a:t>
            </a:r>
            <a:endParaRPr lang="es-ES" sz="2000" dirty="0"/>
          </a:p>
          <a:p>
            <a:pPr marL="0" marR="0" lvl="0" indent="-1778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s-ES" sz="2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Por otro lado, el </a:t>
            </a:r>
            <a:r>
              <a:rPr lang="es-ES" sz="28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método </a:t>
            </a:r>
            <a:r>
              <a:rPr lang="es-ES" sz="2800" b="1" i="0" u="none" strike="noStrike" cap="none" dirty="0" err="1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tail</a:t>
            </a:r>
            <a:r>
              <a:rPr lang="es-ES" sz="2800" b="1" i="0" u="none" strike="noStrike" cap="none" dirty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() </a:t>
            </a:r>
            <a:r>
              <a:rPr lang="es-ES" sz="2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permite visualizar las últimas cinco líneas del </a:t>
            </a:r>
            <a:r>
              <a:rPr lang="es-ES" sz="28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DataFrame</a:t>
            </a:r>
            <a:r>
              <a:rPr lang="es-ES" sz="2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lang="es-ES" sz="2000" dirty="0"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lang="es-ES"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Estos dos métodos permiten visualizar el principio y el final de la serie de datos</a:t>
            </a:r>
            <a:endParaRPr lang="es-ES" sz="200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2A56B48-9174-CA0D-1D21-34BEA6948B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76050" y="3140075"/>
            <a:ext cx="7504826" cy="4194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33092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32B839-E8CF-BF4D-93B8-0EE81E2A4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Librería PANDAS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80AC1F8-F5E3-EED1-E241-DFBFD3CD9269}"/>
              </a:ext>
            </a:extLst>
          </p:cNvPr>
          <p:cNvSpPr txBox="1"/>
          <p:nvPr/>
        </p:nvSpPr>
        <p:spPr>
          <a:xfrm>
            <a:off x="2051050" y="2864123"/>
            <a:ext cx="91440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Podemos filtrar nuestros datos utilizando el </a:t>
            </a:r>
            <a:r>
              <a:rPr lang="es-ES" sz="2800" b="1" i="0" u="none" strike="noStrike" cap="none" dirty="0" err="1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slice</a:t>
            </a:r>
            <a:r>
              <a:rPr lang="es-ES" sz="28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lang="es-ES" sz="2000" dirty="0"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ES"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ES"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Por ejemplo, </a:t>
            </a:r>
            <a:r>
              <a:rPr lang="es-ES" sz="28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df</a:t>
            </a:r>
            <a:r>
              <a:rPr lang="es-ES" sz="2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[:2] devuelve las dos primeras filas de nuestro </a:t>
            </a:r>
            <a:r>
              <a:rPr lang="es-ES" sz="28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DataFrame</a:t>
            </a:r>
            <a:r>
              <a:rPr lang="es-ES" sz="2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No hay que olvidar que el último número es exógeno al resultado, lo que significa que en el ejemplo, el </a:t>
            </a:r>
            <a:r>
              <a:rPr lang="es-ES" sz="28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slicing</a:t>
            </a:r>
            <a:r>
              <a:rPr lang="es-ES" sz="2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devolverá las filas al índice 0 y 1</a:t>
            </a:r>
            <a:endParaRPr lang="es-ES" sz="200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2A56B48-9174-CA0D-1D21-34BEA6948B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76050" y="3140075"/>
            <a:ext cx="7504826" cy="4194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96461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32B839-E8CF-BF4D-93B8-0EE81E2A4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Librería PANDAS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80AC1F8-F5E3-EED1-E241-DFBFD3CD9269}"/>
              </a:ext>
            </a:extLst>
          </p:cNvPr>
          <p:cNvSpPr txBox="1"/>
          <p:nvPr/>
        </p:nvSpPr>
        <p:spPr>
          <a:xfrm>
            <a:off x="2051050" y="2864123"/>
            <a:ext cx="914400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Como se explicó en la introducción, los </a:t>
            </a:r>
            <a:r>
              <a:rPr lang="es-ES" sz="28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DataFrames</a:t>
            </a:r>
            <a:r>
              <a:rPr lang="es-ES" sz="2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son tablas bidimensionales, que corresponden a los ejes de las filas (eje = 0) y de las columnas (eje = 1). Se pueden añadir tantas filas o columnas como sea necesario, especificando el eje en el que queremos añadir estos nuevos valores.</a:t>
            </a:r>
            <a:endParaRPr lang="es-ES" sz="2000" dirty="0"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ES"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 interesante de los </a:t>
            </a:r>
            <a:r>
              <a:rPr lang="es-ES" sz="28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DataFrames</a:t>
            </a:r>
            <a:r>
              <a:rPr lang="es-ES" sz="2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es que es muy fácil recuperar, cambiar, cargar o buscar datos en esta estructura. </a:t>
            </a:r>
            <a:endParaRPr lang="es-ES" sz="2000" dirty="0"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ES"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2A56B48-9174-CA0D-1D21-34BEA6948B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76050" y="3140075"/>
            <a:ext cx="7504826" cy="4194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54063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32B839-E8CF-BF4D-93B8-0EE81E2A4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Librería PANDAS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80AC1F8-F5E3-EED1-E241-DFBFD3CD9269}"/>
              </a:ext>
            </a:extLst>
          </p:cNvPr>
          <p:cNvSpPr txBox="1"/>
          <p:nvPr/>
        </p:nvSpPr>
        <p:spPr>
          <a:xfrm>
            <a:off x="2051050" y="2864123"/>
            <a:ext cx="91440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 el </a:t>
            </a:r>
            <a:r>
              <a:rPr lang="es-ES" sz="28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DataFrame</a:t>
            </a:r>
            <a:r>
              <a:rPr lang="es-ES" sz="2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tiene diez variables diferentes, se puede saber cuáles son sus nombres utilizando el </a:t>
            </a:r>
            <a:r>
              <a:rPr lang="es-ES" sz="28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atributo </a:t>
            </a:r>
            <a:r>
              <a:rPr lang="es-ES" sz="2800" b="1" i="0" u="none" strike="noStrike" cap="none" dirty="0" err="1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df.columns</a:t>
            </a:r>
            <a:r>
              <a:rPr lang="es-ES" sz="2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Pero cuando la serie de datos tiene ochocientas columnas, la visualización de los nombres de las variables no será completa. </a:t>
            </a:r>
            <a:endParaRPr lang="es-ES" sz="2000" dirty="0"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ES"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Para resolver este problema, se puede utilizar el método</a:t>
            </a:r>
            <a:r>
              <a:rPr lang="es-ES" sz="28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r>
              <a:rPr lang="es-ES" sz="2800" b="1" i="0" u="none" strike="noStrike" cap="none" dirty="0" err="1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df.columns.toList</a:t>
            </a:r>
            <a:r>
              <a:rPr lang="es-ES" sz="2800" b="1" i="0" u="none" strike="noStrike" cap="none" dirty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(), </a:t>
            </a:r>
            <a:r>
              <a:rPr lang="es-ES" sz="2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que permite almacenar los nombres de las columnas en una lista de </a:t>
            </a:r>
            <a:r>
              <a:rPr lang="es-ES" sz="2800" b="0" i="0" u="sng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Python</a:t>
            </a:r>
            <a:r>
              <a:rPr lang="es-ES" sz="2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lang="es-ES" sz="2000" dirty="0"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ES"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2A56B48-9174-CA0D-1D21-34BEA6948B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76050" y="3140075"/>
            <a:ext cx="7504826" cy="4194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15390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7D15BE-E3B2-F743-9878-F149B7D92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2050" y="9007475"/>
            <a:ext cx="9020022" cy="1015663"/>
          </a:xfrm>
        </p:spPr>
        <p:txBody>
          <a:bodyPr/>
          <a:lstStyle/>
          <a:p>
            <a:r>
              <a:rPr lang="es-CL" sz="6600" dirty="0"/>
              <a:t>RESUMEN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9224DE7A-4464-F54B-B074-7663E7D43917}"/>
              </a:ext>
            </a:extLst>
          </p:cNvPr>
          <p:cNvSpPr txBox="1">
            <a:spLocks/>
          </p:cNvSpPr>
          <p:nvPr/>
        </p:nvSpPr>
        <p:spPr>
          <a:xfrm>
            <a:off x="6276975" y="7752358"/>
            <a:ext cx="1670957" cy="147732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l"/>
            <a:r>
              <a:rPr lang="es-CL" sz="9600" dirty="0">
                <a:solidFill>
                  <a:srgbClr val="257CE1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520246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CBCD8BF0-1144-D34D-8793-D9BC0214A66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CL" dirty="0"/>
              <a:t>RESUMEN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27F119F-996A-54C1-08D8-A05CBD0E1453}"/>
              </a:ext>
            </a:extLst>
          </p:cNvPr>
          <p:cNvSpPr txBox="1"/>
          <p:nvPr/>
        </p:nvSpPr>
        <p:spPr>
          <a:xfrm>
            <a:off x="2279650" y="2682875"/>
            <a:ext cx="121920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800" b="1" dirty="0">
                <a:latin typeface="Arial" panose="020B0604020202020204" pitchFamily="34" charset="0"/>
                <a:cs typeface="Arial" panose="020B0604020202020204" pitchFamily="34" charset="0"/>
              </a:rPr>
              <a:t>En esta presentación, hemos visto:</a:t>
            </a:r>
          </a:p>
          <a:p>
            <a:endParaRPr lang="es-CL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s-ES" sz="2800" dirty="0">
                <a:latin typeface="Arial" panose="020B0604020202020204" pitchFamily="34" charset="0"/>
                <a:cs typeface="Arial" panose="020B0604020202020204" pitchFamily="34" charset="0"/>
              </a:rPr>
              <a:t>Introducción a Python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s-E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s-ES" sz="2800" dirty="0">
                <a:latin typeface="Arial" panose="020B0604020202020204" pitchFamily="34" charset="0"/>
                <a:cs typeface="Arial" panose="020B0604020202020204" pitchFamily="34" charset="0"/>
              </a:rPr>
              <a:t>Librería NUMPY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s-E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s-ES" sz="2800" dirty="0">
                <a:latin typeface="Arial" panose="020B0604020202020204" pitchFamily="34" charset="0"/>
                <a:cs typeface="Arial" panose="020B0604020202020204" pitchFamily="34" charset="0"/>
              </a:rPr>
              <a:t>Librería PANDAS</a:t>
            </a:r>
          </a:p>
          <a:p>
            <a:pPr algn="just"/>
            <a:endParaRPr lang="es-CL" sz="2000" dirty="0"/>
          </a:p>
        </p:txBody>
      </p:sp>
    </p:spTree>
    <p:extLst>
      <p:ext uri="{BB962C8B-B14F-4D97-AF65-F5344CB8AC3E}">
        <p14:creationId xmlns:p14="http://schemas.microsoft.com/office/powerpoint/2010/main" val="30569588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45b625c-c26a-47f6-b683-8d6b2db36159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ECEAD85B01C7F40A02717BA9EC5A5ED" ma:contentTypeVersion="7" ma:contentTypeDescription="Crear nuevo documento." ma:contentTypeScope="" ma:versionID="a68664926a6846fedb67b85086ae7753">
  <xsd:schema xmlns:xsd="http://www.w3.org/2001/XMLSchema" xmlns:xs="http://www.w3.org/2001/XMLSchema" xmlns:p="http://schemas.microsoft.com/office/2006/metadata/properties" xmlns:ns3="b45b625c-c26a-47f6-b683-8d6b2db36159" xmlns:ns4="e5b8f56d-7793-429f-909c-9567ca729807" targetNamespace="http://schemas.microsoft.com/office/2006/metadata/properties" ma:root="true" ma:fieldsID="a05628b75d71c75c525c57950d78beaf" ns3:_="" ns4:_="">
    <xsd:import namespace="b45b625c-c26a-47f6-b683-8d6b2db36159"/>
    <xsd:import namespace="e5b8f56d-7793-429f-909c-9567ca72980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5b625c-c26a-47f6-b683-8d6b2db3615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b8f56d-7793-429f-909c-9567ca729807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Hash de la sugerencia para compartir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4C43652-73DC-4C77-8E79-F06010C18C3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D821600-D61B-433B-B6F8-A294D9BC75DD}">
  <ds:schemaRefs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b45b625c-c26a-47f6-b683-8d6b2db36159"/>
    <ds:schemaRef ds:uri="http://purl.org/dc/dcmitype/"/>
    <ds:schemaRef ds:uri="http://schemas.openxmlformats.org/package/2006/metadata/core-properties"/>
    <ds:schemaRef ds:uri="http://purl.org/dc/terms/"/>
    <ds:schemaRef ds:uri="e5b8f56d-7793-429f-909c-9567ca729807"/>
    <ds:schemaRef ds:uri="http://schemas.microsoft.com/office/2006/metadata/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A5275FD3-3236-4AFF-BEDD-DDB3D38264E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45b625c-c26a-47f6-b683-8d6b2db36159"/>
    <ds:schemaRef ds:uri="e5b8f56d-7793-429f-909c-9567ca72980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4111</TotalTime>
  <Words>1375</Words>
  <Application>Microsoft Office PowerPoint</Application>
  <PresentationFormat>Personalizado</PresentationFormat>
  <Paragraphs>144</Paragraphs>
  <Slides>23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29" baseType="lpstr">
      <vt:lpstr>Arial</vt:lpstr>
      <vt:lpstr>Arial Black</vt:lpstr>
      <vt:lpstr>Calibri</vt:lpstr>
      <vt:lpstr>inherit</vt:lpstr>
      <vt:lpstr>Wingdings</vt:lpstr>
      <vt:lpstr>Office Theme</vt:lpstr>
      <vt:lpstr>MANEJO DE PYTHON</vt:lpstr>
      <vt:lpstr>Presentación de PowerPoint</vt:lpstr>
      <vt:lpstr>INTRODUCCIÓN</vt:lpstr>
      <vt:lpstr>INTRODUCCIÓN</vt:lpstr>
      <vt:lpstr>INTRODUCCIÓN</vt:lpstr>
      <vt:lpstr>INTRODUCCIÓN</vt:lpstr>
      <vt:lpstr>TÍTULO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PANDAS</vt:lpstr>
      <vt:lpstr>Librería PANDAS</vt:lpstr>
      <vt:lpstr>Librería PANDAS</vt:lpstr>
      <vt:lpstr>Librería PANDAS</vt:lpstr>
      <vt:lpstr>Librería PANDAS</vt:lpstr>
      <vt:lpstr>Librería PANDAS</vt:lpstr>
      <vt:lpstr>Librería PANDAS</vt:lpstr>
      <vt:lpstr>Librería PANDAS</vt:lpstr>
      <vt:lpstr>RESUMEN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</dc:title>
  <dc:creator>Daniela Taito R.</dc:creator>
  <cp:lastModifiedBy>Guillermoeugenio Pinto Fuentes</cp:lastModifiedBy>
  <cp:revision>229</cp:revision>
  <dcterms:created xsi:type="dcterms:W3CDTF">2022-07-20T19:15:37Z</dcterms:created>
  <dcterms:modified xsi:type="dcterms:W3CDTF">2023-11-14T23:40:00Z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2022-07-20T00:00:00Z</vt:filetime>
  </property>
  <property fmtid="{D5CDD505-2E9C-101B-9397-08002B2CF9AE}" pid="3" name="Creator">
    <vt:lpwstr>Adobe Illustrator 26.3 (Macintosh)</vt:lpwstr>
  </property>
  <property fmtid="{D5CDD505-2E9C-101B-9397-08002B2CF9AE}" pid="4" name="CreatorVersion">
    <vt:lpwstr>21.0.0</vt:lpwstr>
  </property>
  <property fmtid="{D5CDD505-2E9C-101B-9397-08002B2CF9AE}" pid="5" name="LastSaved">
    <vt:filetime>2022-07-20T00:00:00Z</vt:filetime>
  </property>
  <property fmtid="{D5CDD505-2E9C-101B-9397-08002B2CF9AE}" pid="6" name="Producer">
    <vt:lpwstr>Adobe PDF library 15.00</vt:lpwstr>
  </property>
  <property fmtid="{D5CDD505-2E9C-101B-9397-08002B2CF9AE}" pid="7" name="ContentTypeId">
    <vt:lpwstr>0x010100BECEAD85B01C7F40A02717BA9EC5A5ED</vt:lpwstr>
  </property>
</Properties>
</file>