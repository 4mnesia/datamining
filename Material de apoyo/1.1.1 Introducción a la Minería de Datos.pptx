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2"/>
  </p:notesMasterIdLst>
  <p:sldIdLst>
    <p:sldId id="261" r:id="rId5"/>
    <p:sldId id="337" r:id="rId6"/>
    <p:sldId id="344" r:id="rId7"/>
    <p:sldId id="339" r:id="rId8"/>
    <p:sldId id="345" r:id="rId9"/>
    <p:sldId id="346" r:id="rId10"/>
    <p:sldId id="270" r:id="rId11"/>
    <p:sldId id="340" r:id="rId12"/>
    <p:sldId id="347" r:id="rId13"/>
    <p:sldId id="348" r:id="rId14"/>
    <p:sldId id="349" r:id="rId15"/>
    <p:sldId id="350" r:id="rId16"/>
    <p:sldId id="351" r:id="rId17"/>
    <p:sldId id="327" r:id="rId18"/>
    <p:sldId id="341" r:id="rId19"/>
    <p:sldId id="332" r:id="rId20"/>
    <p:sldId id="342" r:id="rId2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2" autoAdjust="0"/>
    <p:restoredTop sz="94558"/>
  </p:normalViewPr>
  <p:slideViewPr>
    <p:cSldViewPr>
      <p:cViewPr varScale="1">
        <p:scale>
          <a:sx n="48" d="100"/>
          <a:sy n="48" d="100"/>
        </p:scale>
        <p:origin x="60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07-11-2023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8749511" cy="1169551"/>
          </a:xfrm>
        </p:spPr>
        <p:txBody>
          <a:bodyPr/>
          <a:lstStyle/>
          <a:p>
            <a:r>
              <a:rPr lang="es-CL" sz="3800" spc="-10" dirty="0"/>
              <a:t>INTRODUCCIÓN A LA</a:t>
            </a:r>
            <a:br>
              <a:rPr lang="es-CL" sz="3800" dirty="0"/>
            </a:br>
            <a:r>
              <a:rPr lang="es-CL" sz="3800" dirty="0"/>
              <a:t>MINERÍA DE DATOS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39BAB8-5980-04D6-9003-ABBE79FC69B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926080" y="9554269"/>
            <a:ext cx="8712681" cy="369332"/>
          </a:xfrm>
        </p:spPr>
        <p:txBody>
          <a:bodyPr/>
          <a:lstStyle/>
          <a:p>
            <a:r>
              <a:rPr lang="es-CL" dirty="0">
                <a:latin typeface="Arial"/>
                <a:cs typeface="Arial"/>
              </a:rPr>
              <a:t>BIY7121 MINERÍA DE DATOS</a:t>
            </a:r>
            <a:endParaRPr lang="es-CL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B375BB0-38DE-5947-A049-E37CBB392147}"/>
              </a:ext>
            </a:extLst>
          </p:cNvPr>
          <p:cNvSpPr txBox="1">
            <a:spLocks/>
          </p:cNvSpPr>
          <p:nvPr/>
        </p:nvSpPr>
        <p:spPr>
          <a:xfrm>
            <a:off x="9617262" y="7026177"/>
            <a:ext cx="4579097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DISCIPLINAS INVOLUCRADAS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2775DA9-AA36-2B46-A647-A78656981246}"/>
              </a:ext>
            </a:extLst>
          </p:cNvPr>
          <p:cNvSpPr txBox="1">
            <a:spLocks/>
          </p:cNvSpPr>
          <p:nvPr/>
        </p:nvSpPr>
        <p:spPr>
          <a:xfrm>
            <a:off x="9518650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5AD2299A-27D1-AA45-A043-C0D64B734853}"/>
              </a:ext>
            </a:extLst>
          </p:cNvPr>
          <p:cNvSpPr txBox="1">
            <a:spLocks/>
          </p:cNvSpPr>
          <p:nvPr/>
        </p:nvSpPr>
        <p:spPr>
          <a:xfrm>
            <a:off x="9617262" y="9194781"/>
            <a:ext cx="416597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APLICACIONES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5FEE1E9F-D6A8-614C-BB95-3AFA463327D0}"/>
              </a:ext>
            </a:extLst>
          </p:cNvPr>
          <p:cNvSpPr txBox="1">
            <a:spLocks/>
          </p:cNvSpPr>
          <p:nvPr/>
        </p:nvSpPr>
        <p:spPr>
          <a:xfrm>
            <a:off x="9617262" y="8432781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INTRODUCCION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FE992D-1CA3-14C0-F902-6542723FD1C3}"/>
              </a:ext>
            </a:extLst>
          </p:cNvPr>
          <p:cNvSpPr txBox="1">
            <a:spLocks/>
          </p:cNvSpPr>
          <p:nvPr/>
        </p:nvSpPr>
        <p:spPr>
          <a:xfrm>
            <a:off x="14771968" y="4782489"/>
            <a:ext cx="47288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CL" sz="3000" dirty="0"/>
              <a:t>RESUMEN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7002DBB-23A6-9BA0-FF76-8B2A5E9F6159}"/>
              </a:ext>
            </a:extLst>
          </p:cNvPr>
          <p:cNvSpPr txBox="1">
            <a:spLocks/>
          </p:cNvSpPr>
          <p:nvPr/>
        </p:nvSpPr>
        <p:spPr>
          <a:xfrm>
            <a:off x="14656174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A9F761-F66D-564C-A85F-5D24B1E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0" y="7559675"/>
            <a:ext cx="10134600" cy="1015663"/>
          </a:xfrm>
        </p:spPr>
        <p:txBody>
          <a:bodyPr/>
          <a:lstStyle/>
          <a:p>
            <a:pPr algn="r"/>
            <a:r>
              <a:rPr lang="es-CL" sz="6600" dirty="0"/>
              <a:t>INTRODUCCIÓN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C622BE7-4A49-A749-B2F2-EA3AD97A1AEF}"/>
              </a:ext>
            </a:extLst>
          </p:cNvPr>
          <p:cNvSpPr txBox="1">
            <a:spLocks/>
          </p:cNvSpPr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75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Este </a:t>
            </a:r>
            <a:r>
              <a:rPr lang="es-ES" sz="2800" b="1" dirty="0"/>
              <a:t>crecimiento explosivo del volumen de datos </a:t>
            </a:r>
            <a:r>
              <a:rPr lang="es-ES" sz="2800" dirty="0"/>
              <a:t>disponibles es resultado de la informatización de nuestra sociedad y del </a:t>
            </a:r>
            <a:r>
              <a:rPr lang="es-ES" sz="2800" b="1" dirty="0"/>
              <a:t>rápido desarrollo </a:t>
            </a:r>
            <a:r>
              <a:rPr lang="es-ES" sz="2800" dirty="0"/>
              <a:t>de potentes sistemas informáticos, sensores y herramientas de recopilación, almacenamiento y publicación de datos.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Miles de millones de búsquedas en la Web respaldados por los motores de búsqueda procesan decenas de </a:t>
            </a:r>
            <a:r>
              <a:rPr lang="es-ES" sz="2800" b="1" dirty="0" err="1"/>
              <a:t>petabytes</a:t>
            </a:r>
            <a:r>
              <a:rPr lang="es-ES" sz="2800" dirty="0"/>
              <a:t> de datos diariamente. </a:t>
            </a:r>
            <a:r>
              <a:rPr lang="es-ES" sz="2800" b="1" dirty="0"/>
              <a:t>Las herramientas de las redes sociales</a:t>
            </a:r>
            <a:r>
              <a:rPr lang="es-ES" sz="2800" dirty="0"/>
              <a:t> se han convertido cada vez más popular, produciendo una enorme cantidad de textos, imágenes y videos, generando diversos tipos de comunidades web y redes sociales.</a:t>
            </a:r>
            <a:endParaRPr lang="es-CL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610392-ADFB-52B0-6FF3-C4C573143DA6}"/>
              </a:ext>
            </a:extLst>
          </p:cNvPr>
          <p:cNvSpPr txBox="1"/>
          <p:nvPr/>
        </p:nvSpPr>
        <p:spPr>
          <a:xfrm>
            <a:off x="2432050" y="9998075"/>
            <a:ext cx="5586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Data </a:t>
            </a:r>
            <a:r>
              <a:rPr lang="es-CL" sz="1400" dirty="0" err="1"/>
              <a:t>Mining</a:t>
            </a:r>
            <a:r>
              <a:rPr lang="es-CL" sz="1400" dirty="0"/>
              <a:t> </a:t>
            </a:r>
            <a:r>
              <a:rPr lang="es-CL" sz="1400" dirty="0" err="1"/>
              <a:t>Concepts</a:t>
            </a:r>
            <a:r>
              <a:rPr lang="es-CL" sz="1400" dirty="0"/>
              <a:t> and </a:t>
            </a:r>
            <a:r>
              <a:rPr lang="es-CL" sz="1400" dirty="0" err="1"/>
              <a:t>Techniques</a:t>
            </a:r>
            <a:r>
              <a:rPr lang="es-CL" sz="1400" dirty="0"/>
              <a:t>. </a:t>
            </a:r>
            <a:r>
              <a:rPr lang="es-CL" sz="1400" dirty="0" err="1"/>
              <a:t>Jiawei</a:t>
            </a:r>
            <a:r>
              <a:rPr lang="es-CL" sz="1400" dirty="0"/>
              <a:t> Han y otros.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915D7A-1766-A282-0CEE-AE97449AC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3250" y="3463925"/>
            <a:ext cx="7777163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Esencialmente, la minería de datos </a:t>
            </a:r>
            <a:r>
              <a:rPr lang="es-ES" sz="2800" b="1" dirty="0"/>
              <a:t>es el proceso de descubrir patrones, modelos y otras clases de  conocimiento a partir de  grandes conjuntos de datos</a:t>
            </a:r>
            <a:r>
              <a:rPr lang="es-ES" sz="2800" dirty="0"/>
              <a:t>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El término minería de datos, apareció en la década de 1990.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Aunque lo correcto sería decir “minería del conocimiento a partir de datos”, el nombre de esta disciplina se popularizó como </a:t>
            </a:r>
            <a:r>
              <a:rPr lang="es-ES" sz="2800" b="1" dirty="0"/>
              <a:t>Minería de Datos</a:t>
            </a:r>
            <a:r>
              <a:rPr lang="es-ES" sz="2800" dirty="0"/>
              <a:t>.</a:t>
            </a:r>
            <a:endParaRPr lang="es-CL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610392-ADFB-52B0-6FF3-C4C573143DA6}"/>
              </a:ext>
            </a:extLst>
          </p:cNvPr>
          <p:cNvSpPr txBox="1"/>
          <p:nvPr/>
        </p:nvSpPr>
        <p:spPr>
          <a:xfrm>
            <a:off x="2432050" y="9998075"/>
            <a:ext cx="5586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Data </a:t>
            </a:r>
            <a:r>
              <a:rPr lang="es-CL" sz="1400" dirty="0" err="1"/>
              <a:t>Mining</a:t>
            </a:r>
            <a:r>
              <a:rPr lang="es-CL" sz="1400" dirty="0"/>
              <a:t> </a:t>
            </a:r>
            <a:r>
              <a:rPr lang="es-CL" sz="1400" dirty="0" err="1"/>
              <a:t>Concepts</a:t>
            </a:r>
            <a:r>
              <a:rPr lang="es-CL" sz="1400" dirty="0"/>
              <a:t> and </a:t>
            </a:r>
            <a:r>
              <a:rPr lang="es-CL" sz="1400" dirty="0" err="1"/>
              <a:t>Techniques</a:t>
            </a:r>
            <a:r>
              <a:rPr lang="es-CL" sz="1400" dirty="0"/>
              <a:t>. </a:t>
            </a:r>
            <a:r>
              <a:rPr lang="es-CL" sz="1400" dirty="0" err="1"/>
              <a:t>Jiawei</a:t>
            </a:r>
            <a:r>
              <a:rPr lang="es-CL" sz="1400" dirty="0"/>
              <a:t> Han y otros.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491A61-2F0B-3872-8B6C-30949ACA9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9050" y="2073275"/>
            <a:ext cx="5863063" cy="619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01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Aunque las organizaciones tienen muchos datos que han ido almacenando durante años, no necesariamente son lo suficientemente rápidas para descubrir conocimiento en dichos datos y así, utilizar dicho conocimiento para llevar a cabo mejores acciones en su quehacer.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 minería de datos </a:t>
            </a:r>
            <a:r>
              <a:rPr lang="es-ES" sz="2800" b="1" dirty="0"/>
              <a:t>no obtiene información extensional (datos) sino intensional (conocimiento)</a:t>
            </a:r>
          </a:p>
          <a:p>
            <a:pPr algn="just"/>
            <a:r>
              <a:rPr lang="es-ES" sz="2800" dirty="0"/>
              <a:t>y, además, este conocimiento no es, generalmente, una parametrización de ningún modelo preestablecido o intuido por el usuario, sino que </a:t>
            </a:r>
            <a:r>
              <a:rPr lang="es-ES" sz="2800" b="1" dirty="0"/>
              <a:t>es un modelo novedoso y original, extraído completamente a través de diversas técnicas y herramientas</a:t>
            </a:r>
            <a:r>
              <a:rPr lang="es-ES" sz="2800" dirty="0"/>
              <a:t>.</a:t>
            </a:r>
            <a:endParaRPr lang="es-CL" sz="2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656630-67DB-FDE5-C569-4FBCA57F7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02" y="1920875"/>
            <a:ext cx="7001492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5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5BEF-C6CB-D142-BFA0-F95C5E3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050" y="7712075"/>
            <a:ext cx="8305800" cy="738664"/>
          </a:xfrm>
        </p:spPr>
        <p:txBody>
          <a:bodyPr/>
          <a:lstStyle/>
          <a:p>
            <a:pPr algn="r"/>
            <a:r>
              <a:rPr lang="es-CL" sz="4800" dirty="0"/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DISCIPLINAS INVOLUCRADAS</a:t>
            </a:r>
          </a:p>
        </p:txBody>
      </p:sp>
    </p:spTree>
    <p:extLst>
      <p:ext uri="{BB962C8B-B14F-4D97-AF65-F5344CB8AC3E}">
        <p14:creationId xmlns:p14="http://schemas.microsoft.com/office/powerpoint/2010/main" val="22576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DISCIPLINAS INVOLUCRADAS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4130675"/>
            <a:ext cx="77987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Como disciplina que estudia </a:t>
            </a:r>
            <a:r>
              <a:rPr lang="es-ES" sz="2800" b="1" dirty="0"/>
              <a:t>métodos eficientes y eficaces para descubrir patrones y conocimientos</a:t>
            </a:r>
            <a:r>
              <a:rPr lang="es-ES" sz="2800" dirty="0"/>
              <a:t>, a partir de varios tipos de conjuntos de datos masivos, la minería de datos convoca múltiples disciplinas.</a:t>
            </a:r>
            <a:endParaRPr lang="es-CL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0176C1-B225-0E3C-E33C-AB228F729F95}"/>
              </a:ext>
            </a:extLst>
          </p:cNvPr>
          <p:cNvSpPr txBox="1"/>
          <p:nvPr/>
        </p:nvSpPr>
        <p:spPr>
          <a:xfrm>
            <a:off x="3536652" y="10266005"/>
            <a:ext cx="5586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Data </a:t>
            </a:r>
            <a:r>
              <a:rPr lang="es-CL" sz="1400" dirty="0" err="1"/>
              <a:t>Mining</a:t>
            </a:r>
            <a:r>
              <a:rPr lang="es-CL" sz="1400" dirty="0"/>
              <a:t> </a:t>
            </a:r>
            <a:r>
              <a:rPr lang="es-CL" sz="1400" dirty="0" err="1"/>
              <a:t>Concepts</a:t>
            </a:r>
            <a:r>
              <a:rPr lang="es-CL" sz="1400" dirty="0"/>
              <a:t> and </a:t>
            </a:r>
            <a:r>
              <a:rPr lang="es-CL" sz="1400" dirty="0" err="1"/>
              <a:t>Techniques</a:t>
            </a:r>
            <a:r>
              <a:rPr lang="es-CL" sz="1400" dirty="0"/>
              <a:t>. </a:t>
            </a:r>
            <a:r>
              <a:rPr lang="es-CL" sz="1400" dirty="0" err="1"/>
              <a:t>Jiawei</a:t>
            </a:r>
            <a:r>
              <a:rPr lang="es-CL" sz="1400" dirty="0"/>
              <a:t> Han y otros.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5FB6DCA-7AA6-C2FA-538C-E522AF0DB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648" y="3216275"/>
            <a:ext cx="9476778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99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DISCIPLINAS INVOLUCRADAS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2051050" y="2161411"/>
            <a:ext cx="86106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MINERÍA DE DATOS Y ESTADÍSTICA</a:t>
            </a:r>
            <a:r>
              <a:rPr lang="es-ES" sz="2800" dirty="0"/>
              <a:t>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 estadística estudia la recopilación, el análisis, la interpretación o explicación y la presentación de datos.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 investigación estadística desarrolla </a:t>
            </a:r>
            <a:r>
              <a:rPr lang="es-ES" sz="2800" b="1" dirty="0"/>
              <a:t>herramientas de predicción y pronóstico</a:t>
            </a:r>
            <a:r>
              <a:rPr lang="es-ES" sz="2800" dirty="0"/>
              <a:t> utilizando datos y modelos estadísticos. Los métodos estadísticos se pueden utilizar para </a:t>
            </a:r>
            <a:r>
              <a:rPr lang="es-ES" sz="2800" b="1" dirty="0"/>
              <a:t>resumir o describir </a:t>
            </a:r>
            <a:r>
              <a:rPr lang="es-ES" sz="2800" dirty="0"/>
              <a:t>una colección de datos.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Las estadísticas son útiles para </a:t>
            </a:r>
            <a:r>
              <a:rPr lang="es-ES" sz="2800" b="1" dirty="0"/>
              <a:t>extraer varios patrones </a:t>
            </a:r>
            <a:r>
              <a:rPr lang="es-ES" sz="2800" dirty="0"/>
              <a:t>a partir de datos y para comprender los mecanismos subyacentes que generan y afectan los patrones.</a:t>
            </a:r>
            <a:endParaRPr lang="es-CL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0176C1-B225-0E3C-E33C-AB228F729F95}"/>
              </a:ext>
            </a:extLst>
          </p:cNvPr>
          <p:cNvSpPr txBox="1"/>
          <p:nvPr/>
        </p:nvSpPr>
        <p:spPr>
          <a:xfrm>
            <a:off x="3536652" y="10266005"/>
            <a:ext cx="5586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Data </a:t>
            </a:r>
            <a:r>
              <a:rPr lang="es-CL" sz="1400" dirty="0" err="1"/>
              <a:t>Mining</a:t>
            </a:r>
            <a:r>
              <a:rPr lang="es-CL" sz="1400" dirty="0"/>
              <a:t> </a:t>
            </a:r>
            <a:r>
              <a:rPr lang="es-CL" sz="1400" dirty="0" err="1"/>
              <a:t>Concepts</a:t>
            </a:r>
            <a:r>
              <a:rPr lang="es-CL" sz="1400" dirty="0"/>
              <a:t> and </a:t>
            </a:r>
            <a:r>
              <a:rPr lang="es-CL" sz="1400" dirty="0" err="1"/>
              <a:t>Techniques</a:t>
            </a:r>
            <a:r>
              <a:rPr lang="es-CL" sz="1400" dirty="0"/>
              <a:t>. </a:t>
            </a:r>
            <a:r>
              <a:rPr lang="es-CL" sz="1400" dirty="0" err="1"/>
              <a:t>Jiawei</a:t>
            </a:r>
            <a:r>
              <a:rPr lang="es-CL" sz="1400" dirty="0"/>
              <a:t> Han y otros.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9D641A-D94A-9AF3-43EC-B3F1F21C2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0850" y="3444875"/>
            <a:ext cx="7268925" cy="486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67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DISCIPLINAS INVOLUCRADAS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2051050" y="2161411"/>
            <a:ext cx="86106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MINERÍA DE DATOS Y MACHINE LEARNING</a:t>
            </a:r>
            <a:r>
              <a:rPr lang="es-ES" sz="2800" dirty="0"/>
              <a:t>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El aprendizaje automático (Machine </a:t>
            </a:r>
            <a:r>
              <a:rPr lang="es-ES" sz="2800" dirty="0" err="1"/>
              <a:t>Learning</a:t>
            </a:r>
            <a:r>
              <a:rPr lang="es-ES" sz="2800" dirty="0"/>
              <a:t>) investiga cómo las computadoras pueden aprender (o mejorar su rendimiento) basándose en datos.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Aunque la Minería de Datos y el Aprendizaje Automático </a:t>
            </a:r>
            <a:r>
              <a:rPr lang="es-ES" sz="2800" b="1" dirty="0"/>
              <a:t>comparten muchas similitudes</a:t>
            </a:r>
            <a:r>
              <a:rPr lang="es-ES" sz="2800" dirty="0"/>
              <a:t>, se diferencian en, por ejemplo, el volumen de datos a procesar, a diferencia del Aprendizaje Automático, la Minería de Datos funciona con conjunto de datos muy grandes.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 minería de datos profundiza en </a:t>
            </a:r>
            <a:r>
              <a:rPr lang="es-ES" sz="2800" b="1" dirty="0"/>
              <a:t>dominios de aplicaciones concretas y con uso intensivo de datos</a:t>
            </a:r>
            <a:r>
              <a:rPr lang="es-ES" sz="2800" dirty="0"/>
              <a:t>.</a:t>
            </a:r>
            <a:endParaRPr lang="es-CL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0176C1-B225-0E3C-E33C-AB228F729F95}"/>
              </a:ext>
            </a:extLst>
          </p:cNvPr>
          <p:cNvSpPr txBox="1"/>
          <p:nvPr/>
        </p:nvSpPr>
        <p:spPr>
          <a:xfrm>
            <a:off x="3536652" y="10266005"/>
            <a:ext cx="5586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Data </a:t>
            </a:r>
            <a:r>
              <a:rPr lang="es-CL" sz="1400" dirty="0" err="1"/>
              <a:t>Mining</a:t>
            </a:r>
            <a:r>
              <a:rPr lang="es-CL" sz="1400" dirty="0"/>
              <a:t> </a:t>
            </a:r>
            <a:r>
              <a:rPr lang="es-CL" sz="1400" dirty="0" err="1"/>
              <a:t>Concepts</a:t>
            </a:r>
            <a:r>
              <a:rPr lang="es-CL" sz="1400" dirty="0"/>
              <a:t> and </a:t>
            </a:r>
            <a:r>
              <a:rPr lang="es-CL" sz="1400" dirty="0" err="1"/>
              <a:t>Techniques</a:t>
            </a:r>
            <a:r>
              <a:rPr lang="es-CL" sz="1400" dirty="0"/>
              <a:t>. </a:t>
            </a:r>
            <a:r>
              <a:rPr lang="es-CL" sz="1400" dirty="0" err="1"/>
              <a:t>Jiawei</a:t>
            </a:r>
            <a:r>
              <a:rPr lang="es-CL" sz="1400" dirty="0"/>
              <a:t> Han y otros.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55076B-E572-503D-42DC-E91A35E6A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7450" y="3264664"/>
            <a:ext cx="8310076" cy="588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97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DISCIPLINAS INVOLUCRADAS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2051050" y="2161411"/>
            <a:ext cx="86106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MINERÍA DE DATOS Y BASES DE DATOS</a:t>
            </a:r>
            <a:r>
              <a:rPr lang="es-ES" sz="2800" dirty="0"/>
              <a:t>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 tecnología de bases de datos es bien conocida por su escalabilidad en el procesamiento de conjuntos de datos muy grandes y relativamente estructurados.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Muchas tareas de minería de datos necesitan manejar grandes conjuntos de datos incluyendo transmisión rápida de estos en tiempo real.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 minería de datos puede hacer un </a:t>
            </a:r>
            <a:r>
              <a:rPr lang="es-ES" sz="2800" b="1" dirty="0"/>
              <a:t>buen uso de las tecnologías de bases de datos escalables para lograr una alta eficiencia y escalabilidad en grandes conjuntos de datos</a:t>
            </a:r>
            <a:r>
              <a:rPr lang="es-ES" sz="2800" dirty="0"/>
              <a:t>. </a:t>
            </a:r>
          </a:p>
          <a:p>
            <a:pPr algn="just"/>
            <a:endParaRPr lang="es-ES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0176C1-B225-0E3C-E33C-AB228F729F95}"/>
              </a:ext>
            </a:extLst>
          </p:cNvPr>
          <p:cNvSpPr txBox="1"/>
          <p:nvPr/>
        </p:nvSpPr>
        <p:spPr>
          <a:xfrm>
            <a:off x="3536652" y="10266005"/>
            <a:ext cx="5586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Data </a:t>
            </a:r>
            <a:r>
              <a:rPr lang="es-CL" sz="1400" dirty="0" err="1"/>
              <a:t>Mining</a:t>
            </a:r>
            <a:r>
              <a:rPr lang="es-CL" sz="1400" dirty="0"/>
              <a:t> </a:t>
            </a:r>
            <a:r>
              <a:rPr lang="es-CL" sz="1400" dirty="0" err="1"/>
              <a:t>Concepts</a:t>
            </a:r>
            <a:r>
              <a:rPr lang="es-CL" sz="1400" dirty="0"/>
              <a:t> and </a:t>
            </a:r>
            <a:r>
              <a:rPr lang="es-CL" sz="1400" dirty="0" err="1"/>
              <a:t>Techniques</a:t>
            </a:r>
            <a:r>
              <a:rPr lang="es-CL" sz="1400" dirty="0"/>
              <a:t>. </a:t>
            </a:r>
            <a:r>
              <a:rPr lang="es-CL" sz="1400" dirty="0" err="1"/>
              <a:t>Jiawei</a:t>
            </a:r>
            <a:r>
              <a:rPr lang="es-CL" sz="1400" dirty="0"/>
              <a:t> Han y otros.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C87BF72-2800-FE37-9F2D-82791AE99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250" y="3368675"/>
            <a:ext cx="766064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991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DISCIPLINAS INVOLUCRADAS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2051050" y="2161411"/>
            <a:ext cx="86106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MINERÍA DE DATOS Y DATA SCIENCE</a:t>
            </a:r>
            <a:r>
              <a:rPr lang="es-ES" sz="2800" dirty="0"/>
              <a:t>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Con la enorme cantidad de datos en casi todas las disciplinas y diversos tipos de aplicaciones, Big Data y Ciencia de Datos se han convertido en palabras de moda en los últimos años.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Big Data generalmente se refiere a </a:t>
            </a:r>
            <a:r>
              <a:rPr lang="es-ES" sz="2800" b="1" dirty="0"/>
              <a:t>enormes cantidades de datos estructurados y no estructurados</a:t>
            </a:r>
            <a:r>
              <a:rPr lang="es-ES" sz="2800" dirty="0"/>
              <a:t> de diversas formas, y la Ciencia de Datos es una </a:t>
            </a:r>
            <a:r>
              <a:rPr lang="es-ES" sz="2800" b="1" dirty="0"/>
              <a:t>disciplina interdisciplinaria </a:t>
            </a:r>
            <a:r>
              <a:rPr lang="es-ES" sz="2800" dirty="0"/>
              <a:t>que utiliza métodos, procesos, algoritmos y sistemas científicos para extraer conocimientos e ideas a partir de datos masivos.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Claramente, la minería de datos juega un papel esencial en la ciencia de datos.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0176C1-B225-0E3C-E33C-AB228F729F95}"/>
              </a:ext>
            </a:extLst>
          </p:cNvPr>
          <p:cNvSpPr txBox="1"/>
          <p:nvPr/>
        </p:nvSpPr>
        <p:spPr>
          <a:xfrm>
            <a:off x="3536652" y="10266005"/>
            <a:ext cx="5586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Data </a:t>
            </a:r>
            <a:r>
              <a:rPr lang="es-CL" sz="1400" dirty="0" err="1"/>
              <a:t>Mining</a:t>
            </a:r>
            <a:r>
              <a:rPr lang="es-CL" sz="1400" dirty="0"/>
              <a:t> </a:t>
            </a:r>
            <a:r>
              <a:rPr lang="es-CL" sz="1400" dirty="0" err="1"/>
              <a:t>Concepts</a:t>
            </a:r>
            <a:r>
              <a:rPr lang="es-CL" sz="1400" dirty="0"/>
              <a:t> and </a:t>
            </a:r>
            <a:r>
              <a:rPr lang="es-CL" sz="1400" dirty="0" err="1"/>
              <a:t>Techniques</a:t>
            </a:r>
            <a:r>
              <a:rPr lang="es-CL" sz="1400" dirty="0"/>
              <a:t>. </a:t>
            </a:r>
            <a:r>
              <a:rPr lang="es-CL" sz="1400" dirty="0" err="1"/>
              <a:t>Jiawei</a:t>
            </a:r>
            <a:r>
              <a:rPr lang="es-CL" sz="1400" dirty="0"/>
              <a:t> Han y otros.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DD742A-66E4-A19E-4F66-3AB9E63FE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850" y="3597275"/>
            <a:ext cx="8561895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15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DISCIPLINAS INVOLUCRADAS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2051050" y="2161411"/>
            <a:ext cx="8610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MINERÍA DE DATOS Y OTRAS DISCIPLINAS</a:t>
            </a:r>
            <a:r>
              <a:rPr lang="es-ES" sz="2800" dirty="0"/>
              <a:t>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b="1" dirty="0"/>
              <a:t>La mayoría de los datos del mundo real no están estructurados</a:t>
            </a:r>
            <a:r>
              <a:rPr lang="es-ES" sz="2800" dirty="0"/>
              <a:t>, se encuentran en forma de texto en lenguaje natural, imágenes o audio y vídeo.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Por tanto, el procesamiento del lenguaje natural, la visión por computadora, el reconocimiento de patrones, el procesamiento de señales de </a:t>
            </a:r>
            <a:r>
              <a:rPr lang="es-ES" sz="2800" dirty="0" err="1"/>
              <a:t>audiovideo</a:t>
            </a:r>
            <a:r>
              <a:rPr lang="es-ES" sz="2800" dirty="0"/>
              <a:t>, ofrecen una ayuda fundamental para el manejo de dichos datos.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Manejar cualquier tipo especial de datos requiere mucho conocimiento para integrarse en el diseño de los algoritmos de Minería de Datos.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0176C1-B225-0E3C-E33C-AB228F729F95}"/>
              </a:ext>
            </a:extLst>
          </p:cNvPr>
          <p:cNvSpPr txBox="1"/>
          <p:nvPr/>
        </p:nvSpPr>
        <p:spPr>
          <a:xfrm>
            <a:off x="3536652" y="10266005"/>
            <a:ext cx="5586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Data </a:t>
            </a:r>
            <a:r>
              <a:rPr lang="es-CL" sz="1400" dirty="0" err="1"/>
              <a:t>Mining</a:t>
            </a:r>
            <a:r>
              <a:rPr lang="es-CL" sz="1400" dirty="0"/>
              <a:t> </a:t>
            </a:r>
            <a:r>
              <a:rPr lang="es-CL" sz="1400" dirty="0" err="1"/>
              <a:t>Concepts</a:t>
            </a:r>
            <a:r>
              <a:rPr lang="es-CL" sz="1400" dirty="0"/>
              <a:t> and </a:t>
            </a:r>
            <a:r>
              <a:rPr lang="es-CL" sz="1400" dirty="0" err="1"/>
              <a:t>Techniques</a:t>
            </a:r>
            <a:r>
              <a:rPr lang="es-CL" sz="1400" dirty="0"/>
              <a:t>. </a:t>
            </a:r>
            <a:r>
              <a:rPr lang="es-CL" sz="1400" dirty="0" err="1"/>
              <a:t>Jiawei</a:t>
            </a:r>
            <a:r>
              <a:rPr lang="es-CL" sz="1400" dirty="0"/>
              <a:t> Han y otros.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799456-9023-BCCD-50CE-218328B35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650" y="3736264"/>
            <a:ext cx="8149000" cy="383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577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0" y="7407275"/>
            <a:ext cx="10393528" cy="1015663"/>
          </a:xfrm>
        </p:spPr>
        <p:txBody>
          <a:bodyPr/>
          <a:lstStyle/>
          <a:p>
            <a:r>
              <a:rPr lang="es-CL" sz="6600" dirty="0"/>
              <a:t>APLICACIONES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52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APLICACIONES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C54083-D7F4-43CF-DB95-060923F61B68}"/>
              </a:ext>
            </a:extLst>
          </p:cNvPr>
          <p:cNvSpPr txBox="1"/>
          <p:nvPr/>
        </p:nvSpPr>
        <p:spPr>
          <a:xfrm>
            <a:off x="3496577" y="10246119"/>
            <a:ext cx="8760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Bruce, Peter; Bruce, Andrew; </a:t>
            </a:r>
            <a:r>
              <a:rPr lang="es-CL" sz="1400" dirty="0" err="1"/>
              <a:t>Gedeck</a:t>
            </a:r>
            <a:r>
              <a:rPr lang="es-CL" sz="1400" dirty="0"/>
              <a:t>, Peter. </a:t>
            </a:r>
            <a:r>
              <a:rPr lang="es-CL" sz="1400" dirty="0" err="1"/>
              <a:t>Practical</a:t>
            </a:r>
            <a:r>
              <a:rPr lang="es-CL" sz="1400" dirty="0"/>
              <a:t> </a:t>
            </a:r>
            <a:r>
              <a:rPr lang="es-CL" sz="1400" dirty="0" err="1"/>
              <a:t>Statistics</a:t>
            </a:r>
            <a:r>
              <a:rPr lang="es-CL" sz="1400" dirty="0"/>
              <a:t> </a:t>
            </a:r>
            <a:r>
              <a:rPr lang="es-CL" sz="1400" dirty="0" err="1"/>
              <a:t>for</a:t>
            </a:r>
            <a:r>
              <a:rPr lang="es-CL" sz="1400" dirty="0"/>
              <a:t> Data </a:t>
            </a:r>
            <a:r>
              <a:rPr lang="es-CL" sz="1400" dirty="0" err="1"/>
              <a:t>Scientists</a:t>
            </a:r>
            <a:r>
              <a:rPr lang="es-CL" sz="1400" dirty="0"/>
              <a:t> . O'Reilly Media.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64123"/>
            <a:ext cx="8610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La Minería de Datos ha tenido grandes éxitos en muchas aplicaciones.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Podremos mencionar la bio informática, la ingeniería de software, como aplicaciones muy particulares.</a:t>
            </a:r>
          </a:p>
          <a:p>
            <a:pPr algn="just"/>
            <a:endParaRPr lang="es-ES" sz="2800" dirty="0"/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Aunque las aplicaciones más populares y exitosas están relacionadas con </a:t>
            </a:r>
            <a:r>
              <a:rPr lang="es-ES" sz="2800" b="1" dirty="0"/>
              <a:t>Business </a:t>
            </a:r>
            <a:r>
              <a:rPr lang="es-ES" sz="2800" b="1" dirty="0" err="1"/>
              <a:t>Intelligence</a:t>
            </a:r>
            <a:r>
              <a:rPr lang="es-ES" sz="2800" dirty="0"/>
              <a:t>, </a:t>
            </a:r>
            <a:r>
              <a:rPr lang="es-ES" sz="2800" b="1" dirty="0"/>
              <a:t>motores de búsqueda en la web, medios y redes sociales, biología, ciencias médicas y atención de salud</a:t>
            </a:r>
            <a:r>
              <a:rPr lang="es-ES" sz="2800" dirty="0"/>
              <a:t> 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B2C7688-A7B9-DB8C-EB18-71E57B5518C0}"/>
              </a:ext>
            </a:extLst>
          </p:cNvPr>
          <p:cNvSpPr txBox="1"/>
          <p:nvPr/>
        </p:nvSpPr>
        <p:spPr>
          <a:xfrm>
            <a:off x="11804650" y="2024159"/>
            <a:ext cx="7398023" cy="681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</a:pPr>
            <a:r>
              <a:rPr lang="es-ES" sz="2800" b="1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ALGUNAS APLICACIONES</a:t>
            </a:r>
          </a:p>
          <a:p>
            <a:pPr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</a:pPr>
            <a:endParaRPr lang="es-ES" sz="2800" b="1" u="none" strike="noStrike" cap="none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•"/>
            </a:pPr>
            <a:r>
              <a:rPr lang="es-ES" sz="2800" b="1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Detección de fraudes y problemas de seguridad cibernética</a:t>
            </a:r>
            <a:endParaRPr lang="es-ES" sz="280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•"/>
            </a:pPr>
            <a:r>
              <a:rPr lang="es-ES" sz="2800" b="1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Gestión de riesgos</a:t>
            </a:r>
            <a:endParaRPr lang="es-ES" sz="280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•"/>
            </a:pPr>
            <a:r>
              <a:rPr lang="es-ES" sz="2800" b="1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Anticipación a las demandas de recursos</a:t>
            </a:r>
            <a:endParaRPr lang="es-ES" sz="280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•"/>
            </a:pPr>
            <a:r>
              <a:rPr lang="es-ES" sz="2800" b="1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Aumento en las tasas de respuesta de campañas</a:t>
            </a:r>
            <a:endParaRPr lang="es-ES" sz="280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•"/>
            </a:pPr>
            <a:r>
              <a:rPr lang="es-ES" sz="2800" b="1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Generación de mejores ofertas</a:t>
            </a:r>
            <a:endParaRPr lang="es-ES" sz="280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•"/>
            </a:pPr>
            <a:r>
              <a:rPr lang="es-ES" sz="2800" b="1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Fidelización de clientes</a:t>
            </a:r>
            <a:endParaRPr lang="es-ES" sz="280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•"/>
            </a:pPr>
            <a:r>
              <a:rPr lang="es-ES" sz="2800" b="1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Identificación de efectos adversos de medicamentos</a:t>
            </a:r>
            <a:endParaRPr lang="es-ES" sz="280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•"/>
            </a:pPr>
            <a:r>
              <a:rPr lang="es-ES" sz="2800" b="1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Entre otras muchas cosa</a:t>
            </a:r>
            <a:r>
              <a:rPr lang="es-ES" sz="2800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lang="es-ES" sz="2800" b="1" u="none" strike="noStrike" cap="none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67811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15BE-E3B2-F743-9878-F149B7D9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0" y="9007475"/>
            <a:ext cx="9020022" cy="1015663"/>
          </a:xfrm>
        </p:spPr>
        <p:txBody>
          <a:bodyPr/>
          <a:lstStyle/>
          <a:p>
            <a:r>
              <a:rPr lang="es-CL" sz="6600" dirty="0"/>
              <a:t>RESUMEN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224DE7A-4464-F54B-B074-7663E7D43917}"/>
              </a:ext>
            </a:extLst>
          </p:cNvPr>
          <p:cNvSpPr txBox="1">
            <a:spLocks/>
          </p:cNvSpPr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24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BCD8BF0-1144-D34D-8793-D9BC0214A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RESUMEN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F119F-996A-54C1-08D8-A05CBD0E1453}"/>
              </a:ext>
            </a:extLst>
          </p:cNvPr>
          <p:cNvSpPr txBox="1"/>
          <p:nvPr/>
        </p:nvSpPr>
        <p:spPr>
          <a:xfrm>
            <a:off x="2279650" y="2682875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>
                <a:latin typeface="Arial" panose="020B0604020202020204" pitchFamily="34" charset="0"/>
                <a:cs typeface="Arial" panose="020B0604020202020204" pitchFamily="34" charset="0"/>
              </a:rPr>
              <a:t>En esta presentación, hemos visto:</a:t>
            </a:r>
          </a:p>
          <a:p>
            <a:endParaRPr lang="es-C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Introducción a Minería de Datos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Disciplinas involucradas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Aplicaciones</a:t>
            </a:r>
          </a:p>
          <a:p>
            <a:pPr algn="just"/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05695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4056</TotalTime>
  <Words>1044</Words>
  <Application>Microsoft Office PowerPoint</Application>
  <PresentationFormat>Personalizado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Wingdings</vt:lpstr>
      <vt:lpstr>Office Theme</vt:lpstr>
      <vt:lpstr>INTRODUCCIÓN A LA MINERÍA DE DATOS</vt:lpstr>
      <vt:lpstr>Presentación de PowerPoint</vt:lpstr>
      <vt:lpstr>INTRODUCCIÓN</vt:lpstr>
      <vt:lpstr>INTRODUCCIÓN</vt:lpstr>
      <vt:lpstr>INTRODUCCIÓN</vt:lpstr>
      <vt:lpstr>INTRODUCCIÓN</vt:lpstr>
      <vt:lpstr>TÍTULO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APLICACIONES</vt:lpstr>
      <vt:lpstr>APLICACIONES</vt:lpstr>
      <vt:lpstr>RESUMEN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guillermo pinto</cp:lastModifiedBy>
  <cp:revision>227</cp:revision>
  <dcterms:created xsi:type="dcterms:W3CDTF">2022-07-20T19:15:37Z</dcterms:created>
  <dcterms:modified xsi:type="dcterms:W3CDTF">2023-11-08T02:04:59Z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